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0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7" autoAdjust="0"/>
    <p:restoredTop sz="98725" autoAdjust="0"/>
  </p:normalViewPr>
  <p:slideViewPr>
    <p:cSldViewPr>
      <p:cViewPr varScale="1">
        <p:scale>
          <a:sx n="92" d="100"/>
          <a:sy n="92" d="100"/>
        </p:scale>
        <p:origin x="1027" y="86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0A80DFF-CE71-4236-8014-42D547D7E9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7584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2C2AD4B0-66B9-4253-9C6B-2188122212FE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389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62915D32-4816-48E3-B1BC-801BFD56D4B9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362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5.3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91070" y="2230031"/>
            <a:ext cx="2995730" cy="374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0589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49A8B49D-0834-4E3D-A6F9-D9DBFCBD8DF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4985933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27CE37B9-BEDA-4007-AE85-7B0DF3BA659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92301524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7C02E3CB-E79F-4574-A8D7-F01E039478C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39254609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D64E725D-0453-4AC4-AFD5-2C359D7CBE9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08352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38C1EA66-E164-46DB-90AE-606F5E60D96F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10359114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86C889C5-628D-482A-B8AC-6F1E4FE7454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3190810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A124D899-141E-4319-916E-99268732031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0284554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8924E6F0-E42B-433D-8775-EE169D2552C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06795494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77BCF4F3-AA94-4AA8-8E2D-C75C9BE74FA0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88459029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A4BAB42F-FF1C-4BEB-BDDE-820B4C487F7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779965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5.3- </a:t>
            </a:r>
            <a:fld id="{3915D518-E2D2-41D8-B6A1-1D4432B606B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9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CHÉO HÓA MA TRẬN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9F0B9FB3-D30C-40A6-95AD-4AB78208D3F8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CHÉO HÓA MA TRẬN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609600" indent="-609600"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sz="2800" b="1" dirty="0" err="1">
                <a:cs typeface="Times New Roman" panose="02020603050405020304" pitchFamily="18" charset="0"/>
              </a:rPr>
              <a:t>Ví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dụ</a:t>
            </a:r>
            <a:r>
              <a:rPr lang="en-US" altLang="en-US" sz="2800" b="1" dirty="0">
                <a:cs typeface="Times New Roman" panose="02020603050405020304" pitchFamily="18" charset="0"/>
              </a:rPr>
              <a:t> 2:</a:t>
            </a:r>
            <a:r>
              <a:rPr lang="en-US" altLang="en-US" sz="2800" dirty="0">
                <a:cs typeface="Times New Roman" panose="02020603050405020304" pitchFamily="18" charset="0"/>
              </a:rPr>
              <a:t> Cho                       . </a:t>
            </a:r>
            <a:r>
              <a:rPr lang="en-US" altLang="en-US" sz="2800" dirty="0" err="1">
                <a:cs typeface="Times New Roman" panose="02020603050405020304" pitchFamily="18" charset="0"/>
              </a:rPr>
              <a:t>Tìm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thức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A</a:t>
            </a:r>
            <a:r>
              <a:rPr lang="en-US" altLang="en-US" sz="2800" i="1" baseline="30000" dirty="0" err="1">
                <a:cs typeface="Times New Roman" panose="02020603050405020304" pitchFamily="18" charset="0"/>
              </a:rPr>
              <a:t>k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trước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    ,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	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sz="2800" b="1" dirty="0" err="1">
                <a:cs typeface="Times New Roman" panose="02020603050405020304" pitchFamily="18" charset="0"/>
              </a:rPr>
              <a:t>Lời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giải</a:t>
            </a:r>
            <a:r>
              <a:rPr lang="en-US" altLang="en-US" sz="2800" b="1" dirty="0">
                <a:cs typeface="Times New Roman" panose="02020603050405020304" pitchFamily="18" charset="0"/>
              </a:rPr>
              <a:t>: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thức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tiêu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chuẩn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để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tìm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đảo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       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cs typeface="Times New Roman" panose="02020603050405020304" pitchFamily="18" charset="0"/>
              </a:rPr>
              <a:t> ta   </a:t>
            </a: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31646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115670"/>
              </p:ext>
            </p:extLst>
          </p:nvPr>
        </p:nvGraphicFramePr>
        <p:xfrm>
          <a:off x="2514600" y="1397000"/>
          <a:ext cx="19812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6" name="Equation" r:id="rId4" imgW="2082800" imgH="1143000" progId="">
                  <p:embed/>
                </p:oleObj>
              </mc:Choice>
              <mc:Fallback>
                <p:oleObj name="Equation" r:id="rId4" imgW="2082800" imgH="11430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397000"/>
                        <a:ext cx="1981200" cy="1087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8" name="Object 52"/>
          <p:cNvGraphicFramePr>
            <a:graphicFrameLocks noChangeAspect="1"/>
          </p:cNvGraphicFramePr>
          <p:nvPr/>
        </p:nvGraphicFramePr>
        <p:xfrm>
          <a:off x="3149600" y="2692400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7" name="Equation" r:id="rId6" imgW="1726451" imgH="393529" progId="">
                  <p:embed/>
                </p:oleObj>
              </mc:Choice>
              <mc:Fallback>
                <p:oleObj name="Equation" r:id="rId6" imgW="1726451" imgH="393529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2692400"/>
                        <a:ext cx="1727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9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494369"/>
              </p:ext>
            </p:extLst>
          </p:nvPr>
        </p:nvGraphicFramePr>
        <p:xfrm>
          <a:off x="2133600" y="3429000"/>
          <a:ext cx="22098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8" name="Equation" r:id="rId8" imgW="2273300" imgH="1143000" progId="">
                  <p:embed/>
                </p:oleObj>
              </mc:Choice>
              <mc:Fallback>
                <p:oleObj name="Equation" r:id="rId8" imgW="2273300" imgH="11430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429000"/>
                        <a:ext cx="2209800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70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246681"/>
              </p:ext>
            </p:extLst>
          </p:nvPr>
        </p:nvGraphicFramePr>
        <p:xfrm>
          <a:off x="5486400" y="3467100"/>
          <a:ext cx="18288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9" name="Equation" r:id="rId10" imgW="1892300" imgH="1143000" progId="">
                  <p:embed/>
                </p:oleObj>
              </mc:Choice>
              <mc:Fallback>
                <p:oleObj name="Equation" r:id="rId10" imgW="1892300" imgH="11430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467100"/>
                        <a:ext cx="1828800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71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486359"/>
              </p:ext>
            </p:extLst>
          </p:nvPr>
        </p:nvGraphicFramePr>
        <p:xfrm>
          <a:off x="1155700" y="5257800"/>
          <a:ext cx="6858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0" name="Equation" r:id="rId12" imgW="761669" imgH="330057" progId="">
                  <p:embed/>
                </p:oleObj>
              </mc:Choice>
              <mc:Fallback>
                <p:oleObj name="Equation" r:id="rId12" imgW="761669" imgH="330057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5257800"/>
                        <a:ext cx="685800" cy="296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72" name="Object 56"/>
          <p:cNvGraphicFramePr>
            <a:graphicFrameLocks noChangeAspect="1"/>
          </p:cNvGraphicFramePr>
          <p:nvPr/>
        </p:nvGraphicFramePr>
        <p:xfrm>
          <a:off x="3581400" y="5486400"/>
          <a:ext cx="23622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1" name="Equation" r:id="rId14" imgW="2489200" imgH="1143000" progId="">
                  <p:embed/>
                </p:oleObj>
              </mc:Choice>
              <mc:Fallback>
                <p:oleObj name="Equation" r:id="rId14" imgW="2489200" imgH="11430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486400"/>
                        <a:ext cx="2362200" cy="1084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B7A105B3-F4D6-472F-86FD-FA2EEC5D3069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CHÉO HÓA MA TRẬN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839200" cy="4953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bẳng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nữa</a:t>
            </a:r>
            <a:r>
              <a:rPr lang="en-US" altLang="en-US" sz="2800" dirty="0"/>
              <a:t>, </a:t>
            </a:r>
          </a:p>
        </p:txBody>
      </p:sp>
      <p:graphicFrame>
        <p:nvGraphicFramePr>
          <p:cNvPr id="735236" name="Object 4"/>
          <p:cNvGraphicFramePr>
            <a:graphicFrameLocks noChangeAspect="1"/>
          </p:cNvGraphicFramePr>
          <p:nvPr/>
        </p:nvGraphicFramePr>
        <p:xfrm>
          <a:off x="533400" y="2057400"/>
          <a:ext cx="81661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Equation" r:id="rId3" imgW="8166100" imgH="2209800" progId="">
                  <p:embed/>
                </p:oleObj>
              </mc:Choice>
              <mc:Fallback>
                <p:oleObj name="Equation" r:id="rId3" imgW="8166100" imgH="22098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057400"/>
                        <a:ext cx="8166100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37" name="Object 5"/>
          <p:cNvGraphicFramePr>
            <a:graphicFrameLocks noChangeAspect="1"/>
          </p:cNvGraphicFramePr>
          <p:nvPr/>
        </p:nvGraphicFramePr>
        <p:xfrm>
          <a:off x="228600" y="5334000"/>
          <a:ext cx="86868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Equation" r:id="rId5" imgW="9194800" imgH="850900" progId="">
                  <p:embed/>
                </p:oleObj>
              </mc:Choice>
              <mc:Fallback>
                <p:oleObj name="Equation" r:id="rId5" imgW="9194800" imgH="8509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0"/>
                        <a:ext cx="8686800" cy="80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1ADF0FB8-F0A4-4646-90E0-BCD9E3D1038B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CHÉO HÓA MA TRẬN</a:t>
            </a:r>
          </a:p>
        </p:txBody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,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vuông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chéo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hóa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được</a:t>
            </a:r>
            <a:r>
              <a:rPr lang="en-US" altLang="en-US" sz="2800" b="1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               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i="1" dirty="0"/>
              <a:t>D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362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903606"/>
              </p:ext>
            </p:extLst>
          </p:nvPr>
        </p:nvGraphicFramePr>
        <p:xfrm>
          <a:off x="3124200" y="1435100"/>
          <a:ext cx="76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Equation" r:id="rId3" imgW="761669" imgH="355446" progId="">
                  <p:embed/>
                </p:oleObj>
              </mc:Choice>
              <mc:Fallback>
                <p:oleObj name="Equation" r:id="rId3" imgW="761669" imgH="355446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435100"/>
                        <a:ext cx="762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1" name="Object 5"/>
          <p:cNvGraphicFramePr>
            <a:graphicFrameLocks noChangeAspect="1"/>
          </p:cNvGraphicFramePr>
          <p:nvPr/>
        </p:nvGraphicFramePr>
        <p:xfrm>
          <a:off x="990600" y="1905000"/>
          <a:ext cx="7099300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Equation" r:id="rId5" imgW="7099300" imgH="2489200" progId="">
                  <p:embed/>
                </p:oleObj>
              </mc:Choice>
              <mc:Fallback>
                <p:oleObj name="Equation" r:id="rId5" imgW="7099300" imgH="24892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905000"/>
                        <a:ext cx="7099300" cy="248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067585"/>
              </p:ext>
            </p:extLst>
          </p:nvPr>
        </p:nvGraphicFramePr>
        <p:xfrm>
          <a:off x="1447800" y="5321300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Equation" r:id="rId7" imgW="1726451" imgH="393529" progId="">
                  <p:embed/>
                </p:oleObj>
              </mc:Choice>
              <mc:Fallback>
                <p:oleObj name="Equation" r:id="rId7" imgW="1726451" imgH="393529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321300"/>
                        <a:ext cx="1727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DB5911B8-A308-4BC8-BA18-8BF52E8F7823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CHÉO HÓA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728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49530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>
                    <a:solidFill>
                      <a:srgbClr val="077C97"/>
                    </a:solidFill>
                  </a:rPr>
                  <a:t>Định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5: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chéo hóa 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n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 riêng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.</a:t>
                </a:r>
              </a:p>
              <a:p>
                <a:pPr marL="0" indent="0" eaLnBrk="1" hangingPunct="1">
                  <a:buNone/>
                </a:pPr>
                <a:endParaRPr lang="en-US" altLang="en-US" sz="2800" dirty="0"/>
              </a:p>
              <a:p>
                <a:pPr lvl="1" eaLnBrk="1" hangingPunct="1"/>
                <a:r>
                  <a:rPr lang="en-US" altLang="en-US" sz="2400" dirty="0" err="1"/>
                  <a:t>Thực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vậy</a:t>
                </a:r>
                <a:r>
                  <a:rPr lang="en-US" altLang="en-US" sz="2400" dirty="0"/>
                  <a:t>,                   ,   </a:t>
                </a:r>
                <a:r>
                  <a:rPr lang="en-US" altLang="en-US" sz="2400" dirty="0" err="1"/>
                  <a:t>với</a:t>
                </a:r>
                <a:r>
                  <a:rPr lang="en-US" altLang="en-US" sz="2400" dirty="0"/>
                  <a:t> </a:t>
                </a:r>
                <a:r>
                  <a:rPr lang="en-US" altLang="en-US" sz="2400" i="1" dirty="0"/>
                  <a:t>D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là</a:t>
                </a:r>
                <a:r>
                  <a:rPr lang="en-US" altLang="en-US" sz="2400" dirty="0"/>
                  <a:t> ma </a:t>
                </a:r>
                <a:r>
                  <a:rPr lang="en-US" altLang="en-US" sz="2400" dirty="0" err="1"/>
                  <a:t>trận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đường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chéo</a:t>
                </a:r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nếu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và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chỉ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nếu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cột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của</a:t>
                </a:r>
                <a:r>
                  <a:rPr lang="en-US" altLang="en-US" sz="2400" dirty="0"/>
                  <a:t> </a:t>
                </a:r>
                <a:r>
                  <a:rPr lang="en-US" altLang="en-US" sz="2400" i="1" dirty="0"/>
                  <a:t>P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là</a:t>
                </a:r>
                <a:r>
                  <a:rPr lang="en-US" altLang="en-US" sz="2400" dirty="0"/>
                  <a:t> </a:t>
                </a:r>
                <a:r>
                  <a:rPr lang="en-US" altLang="en-US" sz="2400" i="1" dirty="0"/>
                  <a:t>n</a:t>
                </a:r>
                <a:r>
                  <a:rPr lang="en-US" altLang="en-US" sz="2400" dirty="0"/>
                  <a:t> </a:t>
                </a:r>
                <a:r>
                  <a:rPr lang="vi-VN" altLang="en-US" sz="2400" dirty="0"/>
                  <a:t>vectơ riêng </a:t>
                </a:r>
                <a:r>
                  <a:rPr lang="en-US" altLang="en-US" sz="2400" dirty="0" err="1"/>
                  <a:t>độc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lập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tuyến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tính</a:t>
                </a:r>
                <a:r>
                  <a:rPr lang="en-US" altLang="en-US" sz="2400" dirty="0"/>
                  <a:t> </a:t>
                </a:r>
                <a:r>
                  <a:rPr lang="vi-VN" altLang="en-US" sz="2400" dirty="0"/>
                  <a:t>ủa</a:t>
                </a:r>
                <a:r>
                  <a:rPr lang="en-US" altLang="en-US" sz="2400" dirty="0"/>
                  <a:t> </a:t>
                </a:r>
                <a:r>
                  <a:rPr lang="en-US" altLang="en-US" sz="2400" i="1" dirty="0"/>
                  <a:t>A</a:t>
                </a:r>
                <a:r>
                  <a:rPr lang="en-US" altLang="en-US" sz="2400" dirty="0"/>
                  <a:t>. </a:t>
                </a:r>
                <a:r>
                  <a:rPr lang="en-US" altLang="en-US" sz="2400" dirty="0" err="1"/>
                  <a:t>Trong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trường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hợp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này</a:t>
                </a:r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các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thành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phần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đường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chéo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của</a:t>
                </a:r>
                <a:r>
                  <a:rPr lang="en-US" altLang="en-US" sz="2400" dirty="0"/>
                  <a:t> </a:t>
                </a:r>
                <a:r>
                  <a:rPr lang="en-US" altLang="en-US" sz="2400" i="1" dirty="0"/>
                  <a:t>D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là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giá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trị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riêng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của</a:t>
                </a:r>
                <a:r>
                  <a:rPr lang="en-US" altLang="en-US" sz="2400" dirty="0"/>
                  <a:t> </a:t>
                </a:r>
                <a:r>
                  <a:rPr lang="en-US" altLang="en-US" sz="2400" i="1" dirty="0"/>
                  <a:t>A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tương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ứng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với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các</a:t>
                </a:r>
                <a:r>
                  <a:rPr lang="en-US" altLang="en-US" sz="2400" dirty="0"/>
                  <a:t> </a:t>
                </a:r>
                <a:r>
                  <a:rPr lang="vi-VN" altLang="en-US" sz="2400" dirty="0"/>
                  <a:t>vectơ riêng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trong</a:t>
                </a:r>
                <a:r>
                  <a:rPr lang="en-US" altLang="en-US" sz="2400" dirty="0"/>
                  <a:t> </a:t>
                </a:r>
                <a:r>
                  <a:rPr lang="en-US" altLang="en-US" sz="2400" i="1" dirty="0"/>
                  <a:t>P</a:t>
                </a:r>
                <a:r>
                  <a:rPr lang="en-US" altLang="en-US" sz="2400" dirty="0"/>
                  <a:t>.</a:t>
                </a:r>
              </a:p>
              <a:p>
                <a:pPr lvl="1" eaLnBrk="1" hangingPunct="1"/>
                <a:endParaRPr lang="en-US" altLang="en-US" sz="2400" dirty="0"/>
              </a:p>
              <a:p>
                <a:pPr lvl="1" eaLnBrk="1" hangingPunct="1"/>
                <a:r>
                  <a:rPr lang="en-US" altLang="en-US" sz="2400" dirty="0" err="1"/>
                  <a:t>Nói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cách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khác</a:t>
                </a:r>
                <a:r>
                  <a:rPr lang="en-US" altLang="en-US" sz="2400" dirty="0"/>
                  <a:t>, </a:t>
                </a:r>
                <a:r>
                  <a:rPr lang="en-US" altLang="en-US" sz="2400" i="1" dirty="0"/>
                  <a:t>A</a:t>
                </a:r>
                <a:r>
                  <a:rPr lang="en-US" altLang="en-US" sz="2400" dirty="0"/>
                  <a:t> </a:t>
                </a:r>
                <a:r>
                  <a:rPr lang="vi-VN" altLang="en-US" sz="2400" dirty="0"/>
                  <a:t>chéo hóa được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nếu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và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chỉ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nếu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có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đủ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các</a:t>
                </a:r>
                <a:r>
                  <a:rPr lang="en-US" altLang="en-US" sz="2400" dirty="0"/>
                  <a:t> </a:t>
                </a:r>
                <a:r>
                  <a:rPr lang="vi-VN" altLang="en-US" sz="2400" dirty="0"/>
                  <a:t>vectơ riêng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để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lập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nên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một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sở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của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400" dirty="0"/>
                  <a:t>. Ta </a:t>
                </a:r>
                <a:r>
                  <a:rPr lang="en-US" altLang="en-US" sz="2400" dirty="0" err="1"/>
                  <a:t>gọi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một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sở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như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vậy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là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một</a:t>
                </a:r>
                <a:r>
                  <a:rPr lang="en-US" altLang="en-US" sz="2400" dirty="0"/>
                  <a:t> </a:t>
                </a:r>
                <a:r>
                  <a:rPr lang="en-US" altLang="en-US" sz="2400" b="1" dirty="0" err="1"/>
                  <a:t>cơ</a:t>
                </a:r>
                <a:r>
                  <a:rPr lang="en-US" altLang="en-US" sz="2400" b="1" dirty="0"/>
                  <a:t> </a:t>
                </a:r>
                <a:r>
                  <a:rPr lang="en-US" altLang="en-US" sz="2400" b="1" dirty="0" err="1"/>
                  <a:t>sở</a:t>
                </a:r>
                <a:r>
                  <a:rPr lang="en-US" altLang="en-US" sz="2400" dirty="0"/>
                  <a:t> </a:t>
                </a:r>
                <a:r>
                  <a:rPr lang="vi-VN" altLang="en-US" sz="2400" b="1" dirty="0"/>
                  <a:t>vectơ riêng</a:t>
                </a:r>
                <a:r>
                  <a:rPr lang="en-US" altLang="en-US" sz="2400" b="1" dirty="0"/>
                  <a:t> </a:t>
                </a:r>
                <a:r>
                  <a:rPr lang="en-US" altLang="en-US" sz="2400" b="1" dirty="0" err="1"/>
                  <a:t>của</a:t>
                </a:r>
                <a14:m>
                  <m:oMath xmlns:m="http://schemas.openxmlformats.org/officeDocument/2006/math">
                    <m:r>
                      <a:rPr lang="en-US" altLang="en-US" sz="2400" b="1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sz="2400" dirty="0"/>
              </a:p>
            </p:txBody>
          </p:sp>
        </mc:Choice>
        <mc:Fallback>
          <p:sp>
            <p:nvSpPr>
              <p:cNvPr id="7372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4953000"/>
              </a:xfrm>
              <a:blipFill>
                <a:blip r:embed="rId3"/>
                <a:stretch>
                  <a:fillRect l="-1481" t="-1355" b="-3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72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161005"/>
              </p:ext>
            </p:extLst>
          </p:nvPr>
        </p:nvGraphicFramePr>
        <p:xfrm>
          <a:off x="2743200" y="14605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4" imgW="774364" imgH="253890" progId="">
                  <p:embed/>
                </p:oleObj>
              </mc:Choice>
              <mc:Fallback>
                <p:oleObj name="Equation" r:id="rId4" imgW="774364" imgH="25389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4605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204064"/>
              </p:ext>
            </p:extLst>
          </p:nvPr>
        </p:nvGraphicFramePr>
        <p:xfrm>
          <a:off x="2514600" y="2667000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6" imgW="1726451" imgH="393529" progId="">
                  <p:embed/>
                </p:oleObj>
              </mc:Choice>
              <mc:Fallback>
                <p:oleObj name="Equation" r:id="rId6" imgW="1726451" imgH="393529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667000"/>
                        <a:ext cx="1727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1739F81E-3F57-4C89-9FEA-4F052E60A928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CHÉO HÓA MA TRẬN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3340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Đầu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D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thì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								        (1)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while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                                                          (2)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738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233772"/>
              </p:ext>
            </p:extLst>
          </p:nvPr>
        </p:nvGraphicFramePr>
        <p:xfrm>
          <a:off x="8064500" y="1350962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Equation" r:id="rId3" imgW="774364" imgH="253890" progId="">
                  <p:embed/>
                </p:oleObj>
              </mc:Choice>
              <mc:Fallback>
                <p:oleObj name="Equation" r:id="rId3" imgW="774364" imgH="25389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0" y="1350962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779031"/>
              </p:ext>
            </p:extLst>
          </p:nvPr>
        </p:nvGraphicFramePr>
        <p:xfrm>
          <a:off x="304800" y="2879725"/>
          <a:ext cx="80010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Equation" r:id="rId5" imgW="8140700" imgH="558800" progId="">
                  <p:embed/>
                </p:oleObj>
              </mc:Choice>
              <mc:Fallback>
                <p:oleObj name="Equation" r:id="rId5" imgW="8140700" imgH="5588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879725"/>
                        <a:ext cx="8001000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0" name="Object 6"/>
          <p:cNvGraphicFramePr>
            <a:graphicFrameLocks noChangeAspect="1"/>
          </p:cNvGraphicFramePr>
          <p:nvPr/>
        </p:nvGraphicFramePr>
        <p:xfrm>
          <a:off x="381000" y="3886200"/>
          <a:ext cx="8153400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8" name="Equation" r:id="rId7" imgW="8420100" imgH="2387600" progId="">
                  <p:embed/>
                </p:oleObj>
              </mc:Choice>
              <mc:Fallback>
                <p:oleObj name="Equation" r:id="rId7" imgW="8420100" imgH="23876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86200"/>
                        <a:ext cx="8153400" cy="2312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BD0FCE44-99CF-404E-AC01-10315F65E3EF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CHÉO HÓA MA TRẬN</a:t>
            </a:r>
          </a:p>
        </p:txBody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763000" cy="51816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Giờ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vi-VN" altLang="en-US" sz="2800" dirty="0"/>
              <a:t>chéo hóa 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     .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vế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có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</a:t>
            </a:r>
          </a:p>
          <a:p>
            <a:pPr eaLnBrk="1" hangingPunct="1"/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(1)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(2)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                    (3)</a:t>
            </a:r>
          </a:p>
          <a:p>
            <a:pPr eaLnBrk="1" hangingPunct="1"/>
            <a:r>
              <a:rPr lang="en-US" altLang="en-US" sz="2800" dirty="0"/>
              <a:t>Cho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                    (4)</a:t>
            </a:r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39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034544"/>
              </p:ext>
            </p:extLst>
          </p:nvPr>
        </p:nvGraphicFramePr>
        <p:xfrm>
          <a:off x="5181600" y="1308100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Equation" r:id="rId3" imgW="1726451" imgH="393529" progId="">
                  <p:embed/>
                </p:oleObj>
              </mc:Choice>
              <mc:Fallback>
                <p:oleObj name="Equation" r:id="rId3" imgW="1726451" imgH="393529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308100"/>
                        <a:ext cx="1727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411604"/>
              </p:ext>
            </p:extLst>
          </p:nvPr>
        </p:nvGraphicFramePr>
        <p:xfrm>
          <a:off x="3619500" y="2278495"/>
          <a:ext cx="153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name="Equation" r:id="rId5" imgW="1536700" imgH="330200" progId="">
                  <p:embed/>
                </p:oleObj>
              </mc:Choice>
              <mc:Fallback>
                <p:oleObj name="Equation" r:id="rId5" imgW="1536700" imgH="3302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2278495"/>
                        <a:ext cx="1536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133584"/>
              </p:ext>
            </p:extLst>
          </p:nvPr>
        </p:nvGraphicFramePr>
        <p:xfrm>
          <a:off x="457200" y="3632200"/>
          <a:ext cx="7874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name="Equation" r:id="rId7" imgW="7874000" imgH="558800" progId="">
                  <p:embed/>
                </p:oleObj>
              </mc:Choice>
              <mc:Fallback>
                <p:oleObj name="Equation" r:id="rId7" imgW="7874000" imgH="5588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32200"/>
                        <a:ext cx="78740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231439"/>
              </p:ext>
            </p:extLst>
          </p:nvPr>
        </p:nvGraphicFramePr>
        <p:xfrm>
          <a:off x="1308100" y="4838700"/>
          <a:ext cx="5930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3" name="Equation" r:id="rId9" imgW="5930900" imgH="482600" progId="">
                  <p:embed/>
                </p:oleObj>
              </mc:Choice>
              <mc:Fallback>
                <p:oleObj name="Equation" r:id="rId9" imgW="5930900" imgH="4826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4838700"/>
                        <a:ext cx="5930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6E04A410-44FD-4A03-A237-49D0DB9082FC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CHÉO HÓA MA TRẬN</a:t>
            </a:r>
          </a:p>
        </p:txBody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(4)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v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vectơ 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>
                <a:cs typeface="Times New Roman" panose="02020603050405020304" pitchFamily="18" charset="0"/>
              </a:rPr>
              <a:t>Lập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luận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này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mình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chiều</a:t>
            </a:r>
            <a:r>
              <a:rPr lang="en-US" altLang="en-US" sz="2800" dirty="0">
                <a:cs typeface="Times New Roman" panose="02020603050405020304" pitchFamily="18" charset="0"/>
              </a:rPr>
              <a:t> “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”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phát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thứ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nhất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thứ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hai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cùng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phát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thứ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lí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>
                <a:cs typeface="Times New Roman" panose="02020603050405020304" pitchFamily="18" charset="0"/>
              </a:rPr>
              <a:t>Cuối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cùng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vectơ 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tùy</a:t>
            </a:r>
            <a:r>
              <a:rPr lang="en-US" altLang="en-US" sz="2800" dirty="0">
                <a:cs typeface="Times New Roman" panose="02020603050405020304" pitchFamily="18" charset="0"/>
              </a:rPr>
              <a:t> ý </a:t>
            </a:r>
            <a:r>
              <a:rPr lang="en-US" altLang="en-US" sz="2800" b="1" dirty="0"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v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dùng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chúng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để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dung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để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tạo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D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4FAFEF1B-6A1D-4D66-96B1-746ECDFFDADD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CHÉO HÓA MA TRẬN</a:t>
            </a:r>
          </a:p>
        </p:txBody>
      </p:sp>
      <p:sp>
        <p:nvSpPr>
          <p:cNvPr id="74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>
                <a:cs typeface="Times New Roman" panose="02020603050405020304" pitchFamily="18" charset="0"/>
              </a:rPr>
              <a:t>Từ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phương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trình</a:t>
            </a:r>
            <a:r>
              <a:rPr lang="en-US" altLang="en-US" sz="2800" dirty="0">
                <a:cs typeface="Times New Roman" panose="02020603050405020304" pitchFamily="18" charset="0"/>
              </a:rPr>
              <a:t> (1)–(3),                  .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 riêng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tế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 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),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               hay                 .</a:t>
            </a:r>
          </a:p>
        </p:txBody>
      </p:sp>
      <p:graphicFrame>
        <p:nvGraphicFramePr>
          <p:cNvPr id="741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541278"/>
              </p:ext>
            </p:extLst>
          </p:nvPr>
        </p:nvGraphicFramePr>
        <p:xfrm>
          <a:off x="2590800" y="4512772"/>
          <a:ext cx="153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Equation" r:id="rId3" imgW="1536700" imgH="330200" progId="">
                  <p:embed/>
                </p:oleObj>
              </mc:Choice>
              <mc:Fallback>
                <p:oleObj name="Equation" r:id="rId3" imgW="1536700" imgH="3302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512772"/>
                        <a:ext cx="1536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85682"/>
              </p:ext>
            </p:extLst>
          </p:nvPr>
        </p:nvGraphicFramePr>
        <p:xfrm>
          <a:off x="4826000" y="4449272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Equation" r:id="rId5" imgW="1726451" imgH="393529" progId="">
                  <p:embed/>
                </p:oleObj>
              </mc:Choice>
              <mc:Fallback>
                <p:oleObj name="Equation" r:id="rId5" imgW="1726451" imgH="393529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0" y="4449272"/>
                        <a:ext cx="1727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871979"/>
              </p:ext>
            </p:extLst>
          </p:nvPr>
        </p:nvGraphicFramePr>
        <p:xfrm>
          <a:off x="5092700" y="1524000"/>
          <a:ext cx="153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Equation" r:id="rId7" imgW="1536700" imgH="330200" progId="">
                  <p:embed/>
                </p:oleObj>
              </mc:Choice>
              <mc:Fallback>
                <p:oleObj name="Equation" r:id="rId7" imgW="1536700" imgH="3302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1524000"/>
                        <a:ext cx="1536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E2C69600-7137-41F3-BC0C-4C582D954518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CHÉO HÓA CÁC  MA TRẬN</a:t>
            </a:r>
            <a:endParaRPr lang="en-US" altLang="en-US" dirty="0"/>
          </a:p>
        </p:txBody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3: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hóa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i="1" dirty="0"/>
              <a:t>D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                   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bốn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5.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i="1" dirty="0" err="1"/>
              <a:t>Bước</a:t>
            </a:r>
            <a:r>
              <a:rPr lang="en-US" altLang="en-US" sz="2800" i="1" dirty="0"/>
              <a:t> 1. </a:t>
            </a:r>
            <a:r>
              <a:rPr lang="en-US" altLang="en-US" sz="2800" b="1" i="1" dirty="0" err="1"/>
              <a:t>Tìm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các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giá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trị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riêng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của</a:t>
            </a:r>
            <a:r>
              <a:rPr lang="en-US" altLang="en-US" sz="2800" b="1" i="1" dirty="0"/>
              <a:t> A.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Ở </a:t>
            </a:r>
            <a:r>
              <a:rPr lang="en-US" altLang="en-US" sz="2800" dirty="0" err="1"/>
              <a:t>đây</a:t>
            </a:r>
            <a:r>
              <a:rPr lang="en-US" altLang="en-US" sz="2800" dirty="0"/>
              <a:t>, </a:t>
            </a:r>
            <a:r>
              <a:rPr lang="vi-VN" altLang="en-US" sz="2800" dirty="0"/>
              <a:t>phương trình đặc trưng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hóa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:</a:t>
            </a:r>
          </a:p>
        </p:txBody>
      </p:sp>
      <p:graphicFrame>
        <p:nvGraphicFramePr>
          <p:cNvPr id="742404" name="Object 4"/>
          <p:cNvGraphicFramePr>
            <a:graphicFrameLocks noChangeAspect="1"/>
          </p:cNvGraphicFramePr>
          <p:nvPr/>
        </p:nvGraphicFramePr>
        <p:xfrm>
          <a:off x="2819400" y="1676400"/>
          <a:ext cx="2895600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Equation" r:id="rId3" imgW="3073400" imgH="1778000" progId="">
                  <p:embed/>
                </p:oleObj>
              </mc:Choice>
              <mc:Fallback>
                <p:oleObj name="Equation" r:id="rId3" imgW="3073400" imgH="17780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676400"/>
                        <a:ext cx="2895600" cy="167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903555"/>
              </p:ext>
            </p:extLst>
          </p:nvPr>
        </p:nvGraphicFramePr>
        <p:xfrm>
          <a:off x="4953000" y="3396904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name="Equation" r:id="rId5" imgW="1726451" imgH="393529" progId="">
                  <p:embed/>
                </p:oleObj>
              </mc:Choice>
              <mc:Fallback>
                <p:oleObj name="Equation" r:id="rId5" imgW="1726451" imgH="393529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396904"/>
                        <a:ext cx="1727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B2C3806E-E0AC-4142-9239-CEF674B36F2A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CHÉO HÓA CÁC  MA TRẬN</a:t>
            </a:r>
            <a:endParaRPr lang="en-US" altLang="en-US" dirty="0"/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.</a:t>
            </a:r>
          </a:p>
          <a:p>
            <a:pPr eaLnBrk="1" hangingPunct="1"/>
            <a:r>
              <a:rPr lang="en-US" altLang="en-US" sz="2800" i="1" dirty="0" err="1"/>
              <a:t>Bước</a:t>
            </a:r>
            <a:r>
              <a:rPr lang="en-US" altLang="en-US" sz="2800" i="1" dirty="0"/>
              <a:t> 2. </a:t>
            </a:r>
            <a:r>
              <a:rPr lang="en-US" altLang="en-US" sz="2800" b="1" i="1" dirty="0" err="1"/>
              <a:t>Tìm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ba</a:t>
            </a:r>
            <a:r>
              <a:rPr lang="en-US" altLang="en-US" sz="2800" b="1" i="1" dirty="0"/>
              <a:t> </a:t>
            </a:r>
            <a:r>
              <a:rPr lang="vi-VN" altLang="en-US" sz="2800" b="1" i="1" dirty="0"/>
              <a:t>vectơ riêng </a:t>
            </a:r>
            <a:r>
              <a:rPr lang="en-US" altLang="en-US" sz="2800" b="1" i="1" dirty="0" err="1"/>
              <a:t>độc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lập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tuyến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tính</a:t>
            </a:r>
            <a:r>
              <a:rPr lang="en-US" altLang="en-US" sz="2800" b="1" i="1" dirty="0"/>
              <a:t> </a:t>
            </a:r>
            <a:r>
              <a:rPr lang="vi-VN" altLang="en-US" sz="2800" b="1" i="1" dirty="0"/>
              <a:t>của</a:t>
            </a:r>
            <a:r>
              <a:rPr lang="en-US" altLang="en-US" sz="2800" b="1" i="1" dirty="0"/>
              <a:t> A.</a:t>
            </a:r>
          </a:p>
          <a:p>
            <a:pPr eaLnBrk="1" hangingPunct="1"/>
            <a:r>
              <a:rPr lang="en-US" altLang="en-US" sz="2800" dirty="0" err="1"/>
              <a:t>Cần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ba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Đây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mấu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5 </a:t>
            </a:r>
            <a:r>
              <a:rPr lang="en-US" altLang="en-US" sz="2800" dirty="0" err="1"/>
              <a:t>nói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thẻ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hóa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44452" name="Object 4"/>
          <p:cNvGraphicFramePr>
            <a:graphicFrameLocks noChangeAspect="1"/>
          </p:cNvGraphicFramePr>
          <p:nvPr/>
        </p:nvGraphicFramePr>
        <p:xfrm>
          <a:off x="2209800" y="1371600"/>
          <a:ext cx="48768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0" name="Equation" r:id="rId3" imgW="4876800" imgH="1117600" progId="">
                  <p:embed/>
                </p:oleObj>
              </mc:Choice>
              <mc:Fallback>
                <p:oleObj name="Equation" r:id="rId3" imgW="4876800" imgH="11176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71600"/>
                        <a:ext cx="4876800" cy="111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284682"/>
              </p:ext>
            </p:extLst>
          </p:nvPr>
        </p:nvGraphicFramePr>
        <p:xfrm>
          <a:off x="3657600" y="3035300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1" name="Equation" r:id="rId5" imgW="761669" imgH="342751" progId="">
                  <p:embed/>
                </p:oleObj>
              </mc:Choice>
              <mc:Fallback>
                <p:oleObj name="Equation" r:id="rId5" imgW="761669" imgH="342751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035300"/>
                        <a:ext cx="762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890959"/>
              </p:ext>
            </p:extLst>
          </p:nvPr>
        </p:nvGraphicFramePr>
        <p:xfrm>
          <a:off x="5105400" y="3035300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2" name="Equation" r:id="rId7" imgW="1066800" imgH="342900" progId="">
                  <p:embed/>
                </p:oleObj>
              </mc:Choice>
              <mc:Fallback>
                <p:oleObj name="Equation" r:id="rId7" imgW="1066800" imgH="3429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035300"/>
                        <a:ext cx="1066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708550"/>
              </p:ext>
            </p:extLst>
          </p:nvPr>
        </p:nvGraphicFramePr>
        <p:xfrm>
          <a:off x="5105400" y="4079875"/>
          <a:ext cx="660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3" name="Equation" r:id="rId9" imgW="710891" imgH="342751" progId="">
                  <p:embed/>
                </p:oleObj>
              </mc:Choice>
              <mc:Fallback>
                <p:oleObj name="Equation" r:id="rId9" imgW="710891" imgH="342751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079875"/>
                        <a:ext cx="6604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36014BB1-29EB-4DE5-9AE4-7CFAC1057BF6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CHÉO HÓA CÁC  MA TRẬN</a:t>
            </a:r>
            <a:endParaRPr lang="en-US" altLang="en-US" dirty="0"/>
          </a:p>
        </p:txBody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                                 </a:t>
            </a:r>
            <a:r>
              <a:rPr lang="en-US" altLang="en-US" sz="2800" dirty="0" err="1"/>
              <a:t>và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.    </a:t>
            </a:r>
          </a:p>
        </p:txBody>
      </p:sp>
      <p:graphicFrame>
        <p:nvGraphicFramePr>
          <p:cNvPr id="7454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27602"/>
              </p:ext>
            </p:extLst>
          </p:nvPr>
        </p:nvGraphicFramePr>
        <p:xfrm>
          <a:off x="2476500" y="1130300"/>
          <a:ext cx="24765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4" name="Equation" r:id="rId3" imgW="2476500" imgH="1778000" progId="">
                  <p:embed/>
                </p:oleObj>
              </mc:Choice>
              <mc:Fallback>
                <p:oleObj name="Equation" r:id="rId3" imgW="2476500" imgH="17780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1130300"/>
                        <a:ext cx="24765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059608"/>
              </p:ext>
            </p:extLst>
          </p:nvPr>
        </p:nvGraphicFramePr>
        <p:xfrm>
          <a:off x="2438400" y="3175000"/>
          <a:ext cx="28194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Equation" r:id="rId5" imgW="2819400" imgH="1778000" progId="">
                  <p:embed/>
                </p:oleObj>
              </mc:Choice>
              <mc:Fallback>
                <p:oleObj name="Equation" r:id="rId5" imgW="2819400" imgH="17780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175000"/>
                        <a:ext cx="28194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8" name="Object 6"/>
          <p:cNvGraphicFramePr>
            <a:graphicFrameLocks noChangeAspect="1"/>
          </p:cNvGraphicFramePr>
          <p:nvPr/>
        </p:nvGraphicFramePr>
        <p:xfrm>
          <a:off x="5829300" y="3175000"/>
          <a:ext cx="15494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6" name="Equation" r:id="rId7" imgW="1549400" imgH="1778000" progId="">
                  <p:embed/>
                </p:oleObj>
              </mc:Choice>
              <mc:Fallback>
                <p:oleObj name="Equation" r:id="rId7" imgW="1549400" imgH="17780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3175000"/>
                        <a:ext cx="15494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4D6BE141-BD38-4C10-942C-0DAEC140884F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CHÉO HÓA CÁC  MA TRẬN</a:t>
            </a:r>
            <a:endParaRPr lang="en-US" altLang="en-US" dirty="0"/>
          </a:p>
        </p:txBody>
      </p:sp>
      <p:sp>
        <p:nvSpPr>
          <p:cNvPr id="74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91600" cy="5257800"/>
          </a:xfrm>
        </p:spPr>
        <p:txBody>
          <a:bodyPr/>
          <a:lstStyle/>
          <a:p>
            <a:pPr eaLnBrk="1" hangingPunct="1"/>
            <a:r>
              <a:rPr lang="en-US" altLang="en-US" sz="2800" i="1" dirty="0" err="1"/>
              <a:t>Bước</a:t>
            </a:r>
            <a:r>
              <a:rPr lang="en-US" altLang="en-US" sz="2800" i="1" dirty="0"/>
              <a:t> 3. </a:t>
            </a:r>
            <a:r>
              <a:rPr lang="en-US" altLang="en-US" sz="2800" b="1" i="1" dirty="0" err="1"/>
              <a:t>Lập</a:t>
            </a:r>
            <a:r>
              <a:rPr lang="en-US" altLang="en-US" sz="2800" b="1" i="1" dirty="0"/>
              <a:t> P </a:t>
            </a:r>
            <a:r>
              <a:rPr lang="en-US" altLang="en-US" sz="2800" b="1" i="1" dirty="0" err="1"/>
              <a:t>từ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các</a:t>
            </a:r>
            <a:r>
              <a:rPr lang="en-US" altLang="en-US" sz="2800" b="1" i="1" dirty="0"/>
              <a:t> </a:t>
            </a:r>
            <a:r>
              <a:rPr lang="vi-VN" altLang="en-US" sz="2800" b="1" i="1" dirty="0"/>
              <a:t>vectơ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trong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bước</a:t>
            </a:r>
            <a:r>
              <a:rPr lang="en-US" altLang="en-US" sz="2800" b="1" i="1" dirty="0"/>
              <a:t> 2.</a:t>
            </a:r>
          </a:p>
          <a:p>
            <a:pPr eaLnBrk="1" hangingPunct="1"/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trọng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bước</a:t>
            </a:r>
            <a:r>
              <a:rPr lang="en-US" altLang="en-US" sz="2800" dirty="0"/>
              <a:t> 2, </a:t>
            </a:r>
            <a:r>
              <a:rPr lang="en-US" altLang="en-US" sz="2800" dirty="0" err="1"/>
              <a:t>lập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i="1" dirty="0"/>
          </a:p>
          <a:p>
            <a:pPr eaLnBrk="1" hangingPunct="1"/>
            <a:r>
              <a:rPr lang="en-US" altLang="en-US" sz="2800" i="1" dirty="0" err="1"/>
              <a:t>Bước</a:t>
            </a:r>
            <a:r>
              <a:rPr lang="en-US" altLang="en-US" sz="2800" i="1" dirty="0"/>
              <a:t> 4</a:t>
            </a:r>
            <a:r>
              <a:rPr lang="en-US" altLang="en-US" sz="2800" b="1" i="1" dirty="0"/>
              <a:t>. </a:t>
            </a:r>
            <a:r>
              <a:rPr lang="en-US" altLang="en-US" sz="2800" b="1" i="1" dirty="0" err="1"/>
              <a:t>Lập</a:t>
            </a:r>
            <a:r>
              <a:rPr lang="en-US" altLang="en-US" sz="2800" b="1" i="1" dirty="0"/>
              <a:t> D </a:t>
            </a:r>
            <a:r>
              <a:rPr lang="en-US" altLang="en-US" sz="2800" b="1" i="1" dirty="0" err="1"/>
              <a:t>từ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các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giá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trị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riêng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tương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ứng</a:t>
            </a:r>
            <a:r>
              <a:rPr lang="en-US" altLang="en-US" sz="2800" b="1" i="1" dirty="0"/>
              <a:t>.</a:t>
            </a:r>
          </a:p>
          <a:p>
            <a:pPr eaLnBrk="1" hangingPunct="1"/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đặt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46500" name="Object 4"/>
          <p:cNvGraphicFramePr>
            <a:graphicFrameLocks noChangeAspect="1"/>
          </p:cNvGraphicFramePr>
          <p:nvPr/>
        </p:nvGraphicFramePr>
        <p:xfrm>
          <a:off x="1828800" y="2819400"/>
          <a:ext cx="5257800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Equation" r:id="rId3" imgW="5486400" imgH="1778000" progId="">
                  <p:embed/>
                </p:oleObj>
              </mc:Choice>
              <mc:Fallback>
                <p:oleObj name="Equation" r:id="rId3" imgW="5486400" imgH="17780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19400"/>
                        <a:ext cx="5257800" cy="170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B7C98EFB-707A-4F6C-AE5F-C9E689D57BDA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CHÉO HÓA CÁC  MA TRẬN</a:t>
            </a:r>
            <a:endParaRPr lang="en-US" altLang="en-US" dirty="0"/>
          </a:p>
        </p:txBody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5334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           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lần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vi-VN" altLang="en-US" sz="2800" dirty="0"/>
              <a:t>vectơ riêng</a:t>
            </a:r>
            <a:r>
              <a:rPr lang="en-US" altLang="en-US" sz="2800" dirty="0"/>
              <a:t>s </a:t>
            </a:r>
            <a:r>
              <a:rPr lang="vi-VN" altLang="en-US" sz="2800" dirty="0"/>
              <a:t>tương ứng với</a:t>
            </a:r>
            <a:r>
              <a:rPr lang="en-US" altLang="en-US" sz="2800" dirty="0"/>
              <a:t>            :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tránh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      , 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                 .</a:t>
            </a:r>
          </a:p>
          <a:p>
            <a:pPr eaLnBrk="1" hangingPunct="1"/>
            <a:r>
              <a:rPr lang="en-US" altLang="en-US" sz="2800" dirty="0" err="1"/>
              <a:t>Tính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7475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439658"/>
              </p:ext>
            </p:extLst>
          </p:nvPr>
        </p:nvGraphicFramePr>
        <p:xfrm>
          <a:off x="4495800" y="1231900"/>
          <a:ext cx="9906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8" name="Equation" r:id="rId3" imgW="1066800" imgH="342900" progId="">
                  <p:embed/>
                </p:oleObj>
              </mc:Choice>
              <mc:Fallback>
                <p:oleObj name="Equation" r:id="rId3" imgW="1066800" imgH="3429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231900"/>
                        <a:ext cx="990600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39059"/>
              </p:ext>
            </p:extLst>
          </p:nvPr>
        </p:nvGraphicFramePr>
        <p:xfrm>
          <a:off x="6019800" y="1663700"/>
          <a:ext cx="990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9" name="Equation" r:id="rId5" imgW="1066800" imgH="342900" progId="">
                  <p:embed/>
                </p:oleObj>
              </mc:Choice>
              <mc:Fallback>
                <p:oleObj name="Equation" r:id="rId5" imgW="1066800" imgH="3429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663700"/>
                        <a:ext cx="9906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6" name="Object 6"/>
          <p:cNvGraphicFramePr>
            <a:graphicFrameLocks noChangeAspect="1"/>
          </p:cNvGraphicFramePr>
          <p:nvPr/>
        </p:nvGraphicFramePr>
        <p:xfrm>
          <a:off x="3352800" y="2057400"/>
          <a:ext cx="2667000" cy="162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0" name="Equation" r:id="rId7" imgW="2921000" imgH="1778000" progId="">
                  <p:embed/>
                </p:oleObj>
              </mc:Choice>
              <mc:Fallback>
                <p:oleObj name="Equation" r:id="rId7" imgW="2921000" imgH="17780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057400"/>
                        <a:ext cx="2667000" cy="162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890094"/>
              </p:ext>
            </p:extLst>
          </p:nvPr>
        </p:nvGraphicFramePr>
        <p:xfrm>
          <a:off x="2847340" y="365252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1" name="Equation" r:id="rId9" imgW="520474" imgH="393529" progId="">
                  <p:embed/>
                </p:oleObj>
              </mc:Choice>
              <mc:Fallback>
                <p:oleObj name="Equation" r:id="rId9" imgW="520474" imgH="393529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340" y="365252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544938"/>
              </p:ext>
            </p:extLst>
          </p:nvPr>
        </p:nvGraphicFramePr>
        <p:xfrm>
          <a:off x="6705600" y="3695700"/>
          <a:ext cx="157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2" name="Equation" r:id="rId11" imgW="1574800" imgH="330200" progId="">
                  <p:embed/>
                </p:oleObj>
              </mc:Choice>
              <mc:Fallback>
                <p:oleObj name="Equation" r:id="rId11" imgW="1574800" imgH="3302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695700"/>
                        <a:ext cx="15748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9" name="Object 9"/>
          <p:cNvGraphicFramePr>
            <a:graphicFrameLocks noChangeAspect="1"/>
          </p:cNvGraphicFramePr>
          <p:nvPr/>
        </p:nvGraphicFramePr>
        <p:xfrm>
          <a:off x="609600" y="4724400"/>
          <a:ext cx="7924800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3" name="Equation" r:id="rId13" imgW="8458200" imgH="1778000" progId="">
                  <p:embed/>
                </p:oleObj>
              </mc:Choice>
              <mc:Fallback>
                <p:oleObj name="Equation" r:id="rId13" imgW="8458200" imgH="17780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724400"/>
                        <a:ext cx="7924800" cy="166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C326C3EC-11EA-4064-9970-0B0F64D58DC0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CHÉO HÓA CÁC  MA TRẬN</a:t>
            </a:r>
            <a:endParaRPr lang="en-US" altLang="en-US" dirty="0"/>
          </a:p>
        </p:txBody>
      </p:sp>
      <p:sp>
        <p:nvSpPr>
          <p:cNvPr id="74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6: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vi-VN" altLang="en-US" sz="2800" dirty="0"/>
              <a:t>chéo hóa được</a:t>
            </a:r>
            <a:r>
              <a:rPr lang="en-US" altLang="en-US" sz="2800" dirty="0"/>
              <a:t>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</a:t>
            </a:r>
            <a:r>
              <a:rPr lang="en-US" altLang="en-US" sz="2800" dirty="0"/>
              <a:t> Cho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</a:t>
            </a:r>
            <a:r>
              <a:rPr lang="en-US" altLang="en-US" sz="2800" dirty="0"/>
              <a:t> </a:t>
            </a:r>
            <a:r>
              <a:rPr lang="vi-VN" altLang="en-US" sz="2800" dirty="0"/>
              <a:t>vectơ riêng</a:t>
            </a:r>
            <a:r>
              <a:rPr lang="en-US" altLang="en-US" sz="2800" dirty="0"/>
              <a:t> </a:t>
            </a:r>
            <a:r>
              <a:rPr lang="vi-VN" altLang="en-US" sz="2800" dirty="0"/>
              <a:t>tương ứng với</a:t>
            </a:r>
            <a:r>
              <a:rPr lang="en-US" altLang="en-US" sz="2800" dirty="0"/>
              <a:t> n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Thì</a:t>
            </a:r>
            <a:r>
              <a:rPr lang="en-US" altLang="en-US" sz="2800" dirty="0"/>
              <a:t> 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2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Mục</a:t>
            </a:r>
            <a:r>
              <a:rPr lang="en-US" altLang="en-US" sz="2800" dirty="0"/>
              <a:t> 5.1.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vi-VN" altLang="en-US" sz="2800" dirty="0"/>
              <a:t>chéo hóa được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5.</a:t>
            </a:r>
          </a:p>
        </p:txBody>
      </p:sp>
      <p:graphicFrame>
        <p:nvGraphicFramePr>
          <p:cNvPr id="748548" name="Object 4"/>
          <p:cNvGraphicFramePr>
            <a:graphicFrameLocks noChangeAspect="1"/>
          </p:cNvGraphicFramePr>
          <p:nvPr/>
        </p:nvGraphicFramePr>
        <p:xfrm>
          <a:off x="533400" y="1371600"/>
          <a:ext cx="784860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Equation" r:id="rId3" imgW="8293100" imgH="1778000" progId="">
                  <p:embed/>
                </p:oleObj>
              </mc:Choice>
              <mc:Fallback>
                <p:oleObj name="Equation" r:id="rId3" imgW="8293100" imgH="17780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371600"/>
                        <a:ext cx="7848600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5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257959"/>
              </p:ext>
            </p:extLst>
          </p:nvPr>
        </p:nvGraphicFramePr>
        <p:xfrm>
          <a:off x="2743200" y="33909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1" name="Equation" r:id="rId5" imgW="774364" imgH="253890" progId="">
                  <p:embed/>
                </p:oleObj>
              </mc:Choice>
              <mc:Fallback>
                <p:oleObj name="Equation" r:id="rId5" imgW="774364" imgH="25389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3909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422EC9E3-7FB6-4FB1-BF5E-6675CC274F05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CÓ CÁC GIÁ TRỊ RIÊNG KHÔNG PHÂN BIỆT</a:t>
            </a:r>
          </a:p>
        </p:txBody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thiết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n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hóa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/>
              <a:t>3 x 3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 3 </a:t>
            </a:r>
            <a:r>
              <a:rPr lang="vi-VN" altLang="en-US" sz="2800" dirty="0"/>
              <a:t>chéo hóa 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mặc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dù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 riêng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v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2. </a:t>
            </a:r>
          </a:p>
        </p:txBody>
      </p:sp>
      <p:graphicFrame>
        <p:nvGraphicFramePr>
          <p:cNvPr id="7495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69503"/>
              </p:ext>
            </p:extLst>
          </p:nvPr>
        </p:nvGraphicFramePr>
        <p:xfrm>
          <a:off x="4711700" y="15367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" name="Equation" r:id="rId3" imgW="774364" imgH="253890" progId="">
                  <p:embed/>
                </p:oleObj>
              </mc:Choice>
              <mc:Fallback>
                <p:oleObj name="Equation" r:id="rId3" imgW="774364" imgH="25389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15367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5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80058"/>
              </p:ext>
            </p:extLst>
          </p:nvPr>
        </p:nvGraphicFramePr>
        <p:xfrm>
          <a:off x="2197100" y="39370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0" name="Equation" r:id="rId5" imgW="774364" imgH="253890" progId="">
                  <p:embed/>
                </p:oleObj>
              </mc:Choice>
              <mc:Fallback>
                <p:oleObj name="Equation" r:id="rId5" imgW="774364" imgH="25389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39370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574" name="Object 6"/>
          <p:cNvGraphicFramePr>
            <a:graphicFrameLocks noChangeAspect="1"/>
          </p:cNvGraphicFramePr>
          <p:nvPr/>
        </p:nvGraphicFramePr>
        <p:xfrm>
          <a:off x="812800" y="4724400"/>
          <a:ext cx="26670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1" name="Equation" r:id="rId7" imgW="2768600" imgH="558800" progId="">
                  <p:embed/>
                </p:oleObj>
              </mc:Choice>
              <mc:Fallback>
                <p:oleObj name="Equation" r:id="rId7" imgW="2768600" imgH="5588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4724400"/>
                        <a:ext cx="266700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C415A98B-85D8-4AF0-9491-789AB75A31B3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CÓ CÁC GIÁ TRỊ RIÊNG KHÔNG PHÂN BIỆT</a:t>
            </a:r>
          </a:p>
        </p:txBody>
      </p:sp>
      <p:sp>
        <p:nvSpPr>
          <p:cNvPr id="75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vi-VN" altLang="en-US" sz="2800" dirty="0"/>
              <a:t>chéo hóa 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ít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hơn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vẫn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,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theo.</a:t>
            </a:r>
            <a:endParaRPr lang="en-US" altLang="en-US" sz="2800" dirty="0"/>
          </a:p>
          <a:p>
            <a:pPr marL="609600" indent="-609600"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7:</a:t>
            </a:r>
            <a:r>
              <a:rPr lang="en-US" altLang="en-US" sz="2800" dirty="0"/>
              <a:t> Cho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p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, </a:t>
            </a:r>
            <a:r>
              <a:rPr lang="en-US" altLang="en-US" sz="2800" dirty="0" err="1">
                <a:cs typeface="Times New Roman" panose="02020603050405020304" pitchFamily="18" charset="0"/>
              </a:rPr>
              <a:t>chiều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gian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k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nhỏ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hơn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hoặc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bội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k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7505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843510"/>
              </p:ext>
            </p:extLst>
          </p:nvPr>
        </p:nvGraphicFramePr>
        <p:xfrm>
          <a:off x="2590800" y="4267200"/>
          <a:ext cx="13716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Equation" r:id="rId3" imgW="1422400" imgH="431800" progId="">
                  <p:embed/>
                </p:oleObj>
              </mc:Choice>
              <mc:Fallback>
                <p:oleObj name="Equation" r:id="rId3" imgW="1422400" imgH="4318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267200"/>
                        <a:ext cx="137160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5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488923"/>
              </p:ext>
            </p:extLst>
          </p:nvPr>
        </p:nvGraphicFramePr>
        <p:xfrm>
          <a:off x="4038600" y="34290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Equation" r:id="rId5" imgW="774364" imgH="253890" progId="">
                  <p:embed/>
                </p:oleObj>
              </mc:Choice>
              <mc:Fallback>
                <p:oleObj name="Equation" r:id="rId5" imgW="774364" imgH="25389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4290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5.3- </a:t>
            </a:r>
            <a:fld id="{E7F56803-E5C3-44EF-B86D-6F9ACAEC0F27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CÓ CÁC GIÁ TRỊ RIÊNG KHÔNG PHÂN BIỆT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16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2"/>
                </a:pPr>
                <a:r>
                  <a:rPr lang="en-US" altLang="en-US" sz="2800" dirty="0"/>
                  <a:t>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chéo hóa 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tổng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riêng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bằng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n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xảy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(</a:t>
                </a:r>
                <a:r>
                  <a:rPr lang="en-US" altLang="en-US" sz="2800" i="1" dirty="0" err="1"/>
                  <a:t>i</a:t>
                </a:r>
                <a:r>
                  <a:rPr lang="en-US" altLang="en-US" sz="2800" dirty="0"/>
                  <a:t>) </a:t>
                </a:r>
                <a:r>
                  <a:rPr lang="en-US" altLang="en-US" sz="2800" dirty="0" err="1"/>
                  <a:t>đa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đặc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trưng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hóa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hoàn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toàn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(</a:t>
                </a:r>
                <a:r>
                  <a:rPr lang="en-US" altLang="en-US" sz="2800" i="1" dirty="0"/>
                  <a:t>ii</a:t>
                </a:r>
                <a:r>
                  <a:rPr lang="en-US" altLang="en-US" sz="2800" dirty="0"/>
                  <a:t>)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riêng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l-GR" altLang="en-US" sz="2800" dirty="0">
                    <a:cs typeface="Times New Roman" panose="02020603050405020304" pitchFamily="18" charset="0"/>
                  </a:rPr>
                  <a:t>λ</a:t>
                </a:r>
                <a:r>
                  <a:rPr lang="en-US" altLang="en-US" sz="2800" i="1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bội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</a:t>
                </a:r>
                <a:r>
                  <a:rPr lang="el-GR" altLang="en-US" sz="2800" dirty="0">
                    <a:cs typeface="Times New Roman" panose="02020603050405020304" pitchFamily="18" charset="0"/>
                  </a:rPr>
                  <a:t>λ</a:t>
                </a:r>
                <a:r>
                  <a:rPr lang="en-US" altLang="en-US" sz="2800" i="1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2"/>
                </a:pP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2"/>
                </a:pPr>
                <a:r>
                  <a:rPr lang="en-US" altLang="en-US" sz="28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chéo hóa được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>
                    <a:latin typeface="Euclid Math One" pitchFamily="18" charset="2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i="1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riêng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tương ứng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>
                    <a:latin typeface="Euclid Math One" pitchFamily="18" charset="2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…, </a:t>
                </a:r>
                <a:r>
                  <a:rPr lang="en-US" altLang="en-US" sz="2800" dirty="0" err="1">
                    <a:latin typeface="Euclid Math One" pitchFamily="18" charset="2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i="1" baseline="-25000" dirty="0" err="1">
                    <a:cs typeface="Times New Roman" panose="02020603050405020304" pitchFamily="18" charset="0"/>
                  </a:rPr>
                  <a:t>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 riêng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516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  <a:blipFill>
                <a:blip r:embed="rId2"/>
                <a:stretch>
                  <a:fillRect t="-1240" r="-741" b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14530</TotalTime>
  <Words>1370</Words>
  <Application>Microsoft Office PowerPoint</Application>
  <PresentationFormat>On-screen Show (4:3)</PresentationFormat>
  <Paragraphs>170</Paragraphs>
  <Slides>18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Arial Narrow</vt:lpstr>
      <vt:lpstr>Bookshelf Symbol 2</vt:lpstr>
      <vt:lpstr>Cambria Math</vt:lpstr>
      <vt:lpstr>Euclid Math One</vt:lpstr>
      <vt:lpstr>Symbol</vt:lpstr>
      <vt:lpstr>Times New Roman</vt:lpstr>
      <vt:lpstr>Wingdings</vt:lpstr>
      <vt:lpstr>Blends</vt:lpstr>
      <vt:lpstr>Equation</vt:lpstr>
      <vt:lpstr>Giá Trị Riêng và Vectơ Riêng</vt:lpstr>
      <vt:lpstr>CHÉO HÓA MA TRẬN</vt:lpstr>
      <vt:lpstr>CHÉO HÓA MA TRẬN</vt:lpstr>
      <vt:lpstr>CHÉO HÓA MA TRẬN</vt:lpstr>
      <vt:lpstr>ĐỊNH LÍ CHÉO HÓA MA TRẬN</vt:lpstr>
      <vt:lpstr>ĐỊNH LÍ CHÉO HÓA MA TRẬN</vt:lpstr>
      <vt:lpstr>ĐỊNH LÍ CHÉO HÓA MA TRẬN</vt:lpstr>
      <vt:lpstr>ĐỊNH LÍ CHÉO HÓA MA TRẬN</vt:lpstr>
      <vt:lpstr>ĐỊNH LÍ CHÉO HÓA MA TRẬN</vt:lpstr>
      <vt:lpstr>CHÉO HÓA CÁC  MA TRẬN</vt:lpstr>
      <vt:lpstr>CHÉO HÓA CÁC  MA TRẬN</vt:lpstr>
      <vt:lpstr>CHÉO HÓA CÁC  MA TRẬN</vt:lpstr>
      <vt:lpstr>CHÉO HÓA CÁC  MA TRẬN</vt:lpstr>
      <vt:lpstr>CHÉO HÓA CÁC  MA TRẬN</vt:lpstr>
      <vt:lpstr>CHÉO HÓA CÁC  MA TRẬN</vt:lpstr>
      <vt:lpstr>MA TRẬN CÓ CÁC GIÁ TRỊ RIÊNG KHÔNG PHÂN BIỆT</vt:lpstr>
      <vt:lpstr>MA TRẬN CÓ CÁC GIÁ TRỊ RIÊNG KHÔNG PHÂN BIỆT</vt:lpstr>
      <vt:lpstr>MA TRẬN CÓ CÁC GIÁ TRỊ RIÊNG KHÔNG PHÂN BIỆT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1387</cp:revision>
  <dcterms:created xsi:type="dcterms:W3CDTF">2005-10-22T18:34:54Z</dcterms:created>
  <dcterms:modified xsi:type="dcterms:W3CDTF">2016-08-05T06:16:40Z</dcterms:modified>
</cp:coreProperties>
</file>