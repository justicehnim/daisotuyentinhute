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7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0" autoAdjust="0"/>
    <p:restoredTop sz="98725" autoAdjust="0"/>
  </p:normalViewPr>
  <p:slideViewPr>
    <p:cSldViewPr>
      <p:cViewPr varScale="1">
        <p:scale>
          <a:sx n="92" d="100"/>
          <a:sy n="92" d="100"/>
        </p:scale>
        <p:origin x="1205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8ED877F-097D-4109-A15A-C3379E1C7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57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440E218D-C5E4-4CFF-B240-3C81594B8A37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435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671615CA-D172-4D2F-AB02-8568334410CF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3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5.2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1988" y="2230768"/>
            <a:ext cx="3104812" cy="387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3014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E4B68B80-474C-485E-AD81-0706B8BEEC8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19316176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C7DB99DB-13D6-4CBA-8EB4-FE5B79AA89E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77570030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9D4EA286-AAA2-4F5B-86F6-934247AD250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498885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7CCAFD22-26B5-413D-B6FE-D0F32E553CD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5450002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CF22EBFD-866C-48F2-BB0C-95AA5592B08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2931597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6C00C660-E924-478E-A1F4-D50203B137E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27621326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24AD77AC-E12A-43C7-94A9-ADBC042355F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9095514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A405587F-93A6-4F17-9394-0939D98264C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1867262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06BAAE75-8B3A-4475-91EC-B299F0CE30A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5228516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094A4F72-0508-4EE8-BDD9-6290F4D8BA3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17192149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5.2- </a:t>
            </a:r>
            <a:fld id="{F4101D12-AAD1-42BD-830A-DC42CA6EA668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PHƯƠNG TRÌNH ĐẶC TRƯNG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F20D048C-A77F-4807-BF9F-CCF259ECA95A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2460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THỨC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Cho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         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, Cho </a:t>
            </a:r>
            <a:r>
              <a:rPr lang="en-US" altLang="en-US" sz="2800" i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bậc</a:t>
            </a:r>
            <a:r>
              <a:rPr lang="en-US" altLang="en-US" sz="2800" dirty="0">
                <a:cs typeface="Times New Roman" panose="02020603050405020304" pitchFamily="18" charset="0"/>
              </a:rPr>
              <a:t> thang </a:t>
            </a:r>
            <a:r>
              <a:rPr lang="en-US" altLang="en-US" sz="2800" dirty="0" err="1">
                <a:cs typeface="Times New Roman" panose="02020603050405020304" pitchFamily="18" charset="0"/>
              </a:rPr>
              <a:t>tùy</a:t>
            </a:r>
            <a:r>
              <a:rPr lang="en-US" altLang="en-US" sz="2800" dirty="0">
                <a:cs typeface="Times New Roman" panose="02020603050405020304" pitchFamily="18" charset="0"/>
              </a:rPr>
              <a:t> ý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từ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thế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hàng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hoán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hàng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phép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vô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hướng</a:t>
            </a:r>
            <a:r>
              <a:rPr lang="en-US" altLang="en-US" sz="2800" dirty="0">
                <a:cs typeface="Times New Roman" panose="02020603050405020304" pitchFamily="18" charset="0"/>
              </a:rPr>
              <a:t>),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hoán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hàng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thức</a:t>
            </a:r>
            <a:r>
              <a:rPr lang="en-US" altLang="en-US" sz="2800" dirty="0">
                <a:cs typeface="Times New Roman" panose="02020603050405020304" pitchFamily="18" charset="0"/>
              </a:rPr>
              <a:t> of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kí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hiệu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det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chéo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u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u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nn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U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u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11</a:t>
            </a:r>
            <a:r>
              <a:rPr lang="en-US" altLang="en-US" sz="2800" dirty="0">
                <a:cs typeface="Times New Roman" panose="02020603050405020304" pitchFamily="18" charset="0"/>
              </a:rPr>
              <a:t>, …,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u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nn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chốt</a:t>
            </a:r>
            <a:r>
              <a:rPr lang="en-US" altLang="en-US" sz="2800" dirty="0">
                <a:cs typeface="Times New Roman" panose="02020603050405020304" pitchFamily="18" charset="0"/>
              </a:rPr>
              <a:t> (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u</a:t>
            </a:r>
            <a:r>
              <a:rPr lang="en-US" altLang="en-US" sz="2800" i="1" baseline="-25000" dirty="0" err="1">
                <a:cs typeface="Times New Roman" panose="02020603050405020304" pitchFamily="18" charset="0"/>
              </a:rPr>
              <a:t>ii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800" dirty="0">
                <a:cs typeface="Times New Roman" panose="02020603050405020304" pitchFamily="18" charset="0"/>
              </a:rPr>
              <a:t> 1).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31646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87429"/>
              </p:ext>
            </p:extLst>
          </p:nvPr>
        </p:nvGraphicFramePr>
        <p:xfrm>
          <a:off x="3124200" y="14351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351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584059"/>
              </p:ext>
            </p:extLst>
          </p:nvPr>
        </p:nvGraphicFramePr>
        <p:xfrm>
          <a:off x="6858000" y="3352800"/>
          <a:ext cx="762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Equation" r:id="rId6" imgW="812447" imgH="482391" progId="">
                  <p:embed/>
                </p:oleObj>
              </mc:Choice>
              <mc:Fallback>
                <p:oleObj name="Equation" r:id="rId6" imgW="812447" imgH="482391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352800"/>
                        <a:ext cx="762000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288216"/>
              </p:ext>
            </p:extLst>
          </p:nvPr>
        </p:nvGraphicFramePr>
        <p:xfrm>
          <a:off x="2133600" y="5486400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Equation" r:id="rId8" imgW="990170" imgH="482391" progId="">
                  <p:embed/>
                </p:oleObj>
              </mc:Choice>
              <mc:Fallback>
                <p:oleObj name="Equation" r:id="rId8" imgW="990170" imgH="482391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486400"/>
                        <a:ext cx="990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0" y="4572000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642956E3-789D-4A3F-A584-ED528CF9F7C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THỨC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686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altLang="en-US" sz="2800" dirty="0"/>
              <a:t>Ngược 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u</a:t>
            </a:r>
            <a:r>
              <a:rPr lang="en-US" altLang="en-US" sz="2800" i="1" baseline="-25000" dirty="0" err="1"/>
              <a:t>ii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i="1" dirty="0"/>
              <a:t>u</a:t>
            </a:r>
            <a:r>
              <a:rPr lang="en-US" altLang="en-US" sz="2800" baseline="-25000" dirty="0"/>
              <a:t>11</a:t>
            </a:r>
            <a:r>
              <a:rPr lang="en-US" altLang="en-US" sz="2800" dirty="0"/>
              <a:t>… </a:t>
            </a:r>
            <a:r>
              <a:rPr lang="en-US" altLang="en-US" sz="2800" i="1" dirty="0" err="1"/>
              <a:t>u</a:t>
            </a:r>
            <a:r>
              <a:rPr lang="en-US" altLang="en-US" sz="2800" i="1" baseline="-25000" dirty="0" err="1"/>
              <a:t>nn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,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A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</a:t>
            </a:r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655770"/>
              </p:ext>
            </p:extLst>
          </p:nvPr>
        </p:nvGraphicFramePr>
        <p:xfrm>
          <a:off x="381000" y="3429000"/>
          <a:ext cx="47371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3" imgW="4737100" imgH="1828800" progId="Equation.DSMT4">
                  <p:embed/>
                </p:oleObj>
              </mc:Choice>
              <mc:Fallback>
                <p:oleObj name="Equation" r:id="rId3" imgW="4737100" imgH="1828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429000"/>
                        <a:ext cx="47371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B8A68567-1EB9-4602-BC52-B441B1A3A5C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THỨC</a:t>
            </a:r>
          </a:p>
        </p:txBody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5334000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b="1" dirty="0"/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: </a:t>
            </a:r>
          </a:p>
        </p:txBody>
      </p:sp>
      <p:graphicFrame>
        <p:nvGraphicFramePr>
          <p:cNvPr id="736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152560"/>
              </p:ext>
            </p:extLst>
          </p:nvPr>
        </p:nvGraphicFramePr>
        <p:xfrm>
          <a:off x="4800600" y="1562100"/>
          <a:ext cx="28575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3" imgW="2857500" imgH="1778000" progId="">
                  <p:embed/>
                </p:oleObj>
              </mc:Choice>
              <mc:Fallback>
                <p:oleObj name="Equation" r:id="rId3" imgW="2857500" imgH="1778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62100"/>
                        <a:ext cx="28575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1" name="Object 5"/>
          <p:cNvGraphicFramePr>
            <a:graphicFrameLocks noChangeAspect="1"/>
          </p:cNvGraphicFramePr>
          <p:nvPr/>
        </p:nvGraphicFramePr>
        <p:xfrm>
          <a:off x="457200" y="4648200"/>
          <a:ext cx="8458200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5" imgW="8699500" imgH="1778000" progId="">
                  <p:embed/>
                </p:oleObj>
              </mc:Choice>
              <mc:Fallback>
                <p:oleObj name="Equation" r:id="rId5" imgW="8699500" imgH="17780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648200"/>
                        <a:ext cx="8458200" cy="172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257800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5246043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5246042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EA015C8E-52D7-493B-BD6B-BCF31BAB7C99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THỨC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                                      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Bước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cộng</a:t>
            </a:r>
            <a:r>
              <a:rPr lang="en-US" altLang="en-US" sz="2800" dirty="0"/>
              <a:t>          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3: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                               ,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979469"/>
              </p:ext>
            </p:extLst>
          </p:nvPr>
        </p:nvGraphicFramePr>
        <p:xfrm>
          <a:off x="3657600" y="1447800"/>
          <a:ext cx="335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3" imgW="3441700" imgH="482600" progId="">
                  <p:embed/>
                </p:oleObj>
              </mc:Choice>
              <mc:Fallback>
                <p:oleObj name="Equation" r:id="rId3" imgW="3441700" imgH="482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33528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116424"/>
              </p:ext>
            </p:extLst>
          </p:nvPr>
        </p:nvGraphicFramePr>
        <p:xfrm>
          <a:off x="3200400" y="2806700"/>
          <a:ext cx="8382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5" imgW="875920" imgH="355446" progId="">
                  <p:embed/>
                </p:oleObj>
              </mc:Choice>
              <mc:Fallback>
                <p:oleObj name="Equation" r:id="rId5" imgW="875920" imgH="355446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6700"/>
                        <a:ext cx="8382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986630"/>
              </p:ext>
            </p:extLst>
          </p:nvPr>
        </p:nvGraphicFramePr>
        <p:xfrm>
          <a:off x="1371600" y="3352800"/>
          <a:ext cx="62484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7" imgW="6375400" imgH="1778000" progId="">
                  <p:embed/>
                </p:oleObj>
              </mc:Choice>
              <mc:Fallback>
                <p:oleObj name="Equation" r:id="rId7" imgW="6375400" imgH="1778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52800"/>
                        <a:ext cx="6248400" cy="174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890762"/>
              </p:ext>
            </p:extLst>
          </p:nvPr>
        </p:nvGraphicFramePr>
        <p:xfrm>
          <a:off x="3505200" y="5105400"/>
          <a:ext cx="3581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9" imgW="3657600" imgH="482600" progId="">
                  <p:embed/>
                </p:oleObj>
              </mc:Choice>
              <mc:Fallback>
                <p:oleObj name="Equation" r:id="rId9" imgW="3657600" imgH="482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05400"/>
                        <a:ext cx="35814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300" y="4214167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267200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52FDDAD7-E371-476D-BCCD-4CC9983F3333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 (TIẾP THEO)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  <a:noFill/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:</a:t>
            </a:r>
            <a:r>
              <a:rPr lang="en-US" altLang="en-US" sz="2800" dirty="0">
                <a:solidFill>
                  <a:srgbClr val="077C97"/>
                </a:solidFill>
              </a:rPr>
              <a:t> </a:t>
            </a:r>
            <a:r>
              <a:rPr lang="en-US" altLang="en-US" sz="2800" dirty="0"/>
              <a:t>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đó,</a:t>
            </a:r>
            <a:r>
              <a:rPr lang="en-US" altLang="en-US" sz="2800" i="1" dirty="0" err="1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19"/>
            </a:pPr>
            <a:r>
              <a:rPr lang="en-US" altLang="en-US" sz="2800" dirty="0"/>
              <a:t>0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19"/>
            </a:pP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0.</a:t>
            </a:r>
          </a:p>
          <a:p>
            <a:pPr marL="609600" indent="-609600"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3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Các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tính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chất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của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thức</a:t>
            </a:r>
            <a:endParaRPr lang="en-US" altLang="en-US" sz="2800" b="1" dirty="0"/>
          </a:p>
          <a:p>
            <a:pPr marL="609600" indent="-609600" eaLnBrk="1" hangingPunct="1"/>
            <a:r>
              <a:rPr lang="en-US" altLang="en-US" sz="2800" dirty="0"/>
              <a:t>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   .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.</a:t>
            </a:r>
          </a:p>
        </p:txBody>
      </p:sp>
      <p:graphicFrame>
        <p:nvGraphicFramePr>
          <p:cNvPr id="738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530997"/>
              </p:ext>
            </p:extLst>
          </p:nvPr>
        </p:nvGraphicFramePr>
        <p:xfrm>
          <a:off x="3733800" y="13081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3081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685185"/>
              </p:ext>
            </p:extLst>
          </p:nvPr>
        </p:nvGraphicFramePr>
        <p:xfrm>
          <a:off x="3721100" y="43053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Equation" r:id="rId5" imgW="774364" imgH="253890" progId="">
                  <p:embed/>
                </p:oleObj>
              </mc:Choice>
              <mc:Fallback>
                <p:oleObj name="Equation" r:id="rId5" imgW="774364" imgH="25389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3053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0" name="Object 6"/>
          <p:cNvGraphicFramePr>
            <a:graphicFrameLocks noChangeAspect="1"/>
          </p:cNvGraphicFramePr>
          <p:nvPr/>
        </p:nvGraphicFramePr>
        <p:xfrm>
          <a:off x="6502400" y="47244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7" imgW="901309" imgH="342751" progId="">
                  <p:embed/>
                </p:oleObj>
              </mc:Choice>
              <mc:Fallback>
                <p:oleObj name="Equation" r:id="rId7" imgW="901309" imgH="342751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47244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1" name="Object 7"/>
          <p:cNvGraphicFramePr>
            <a:graphicFrameLocks noChangeAspect="1"/>
          </p:cNvGraphicFramePr>
          <p:nvPr/>
        </p:nvGraphicFramePr>
        <p:xfrm>
          <a:off x="1803400" y="5232400"/>
          <a:ext cx="370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9" imgW="3708400" imgH="431800" progId="">
                  <p:embed/>
                </p:oleObj>
              </mc:Choice>
              <mc:Fallback>
                <p:oleObj name="Equation" r:id="rId9" imgW="3708400" imgH="431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232400"/>
                        <a:ext cx="3708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2" name="Object 8"/>
          <p:cNvGraphicFramePr>
            <a:graphicFrameLocks noChangeAspect="1"/>
          </p:cNvGraphicFramePr>
          <p:nvPr/>
        </p:nvGraphicFramePr>
        <p:xfrm>
          <a:off x="1790700" y="5689600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Equation" r:id="rId11" imgW="2247900" imgH="406400" progId="">
                  <p:embed/>
                </p:oleObj>
              </mc:Choice>
              <mc:Fallback>
                <p:oleObj name="Equation" r:id="rId11" imgW="2247900" imgH="4064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5689600"/>
                        <a:ext cx="2247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51369A88-CDE0-4BBD-80F9-37BCE7A64F0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ĐỊNH THỨC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9600"/>
          </a:xfrm>
        </p:spPr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lphaLcPeriod" startAt="4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tam </a:t>
            </a:r>
            <a:r>
              <a:rPr lang="en-US" altLang="en-US" sz="2800" dirty="0" err="1"/>
              <a:t>giác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4"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4"/>
            </a:pP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</a:t>
            </a:r>
            <a:r>
              <a:rPr lang="en-US" altLang="en-US" sz="2800" dirty="0"/>
              <a:t>.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D7FCB138-D038-4ADE-A544-CF5B00B5E39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TRÌNH ĐẶC TRƯNG</a:t>
            </a:r>
            <a:endParaRPr lang="en-US" altLang="en-US" dirty="0"/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3(a)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không</a:t>
            </a:r>
            <a:r>
              <a:rPr lang="en-US" altLang="en-US" sz="2800" i="1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                           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 đặc 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         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thỏa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mãn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 đặc trưng</a:t>
            </a:r>
            <a:endParaRPr lang="el-GR" altLang="en-US" sz="2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4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532367"/>
              </p:ext>
            </p:extLst>
          </p:nvPr>
        </p:nvGraphicFramePr>
        <p:xfrm>
          <a:off x="2743200" y="2090907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Equation" r:id="rId3" imgW="1040948" imgH="342751" progId="">
                  <p:embed/>
                </p:oleObj>
              </mc:Choice>
              <mc:Fallback>
                <p:oleObj name="Equation" r:id="rId3" imgW="1040948" imgH="342751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90907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075043"/>
              </p:ext>
            </p:extLst>
          </p:nvPr>
        </p:nvGraphicFramePr>
        <p:xfrm>
          <a:off x="4292600" y="3163236"/>
          <a:ext cx="2336800" cy="418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quation" r:id="rId5" imgW="2413000" imgH="431800" progId="">
                  <p:embed/>
                </p:oleObj>
              </mc:Choice>
              <mc:Fallback>
                <p:oleObj name="Equation" r:id="rId5" imgW="2413000" imgH="431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3163236"/>
                        <a:ext cx="2336800" cy="4181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31934"/>
              </p:ext>
            </p:extLst>
          </p:nvPr>
        </p:nvGraphicFramePr>
        <p:xfrm>
          <a:off x="7226300" y="4699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Equation" r:id="rId7" imgW="774364" imgH="253890" progId="">
                  <p:embed/>
                </p:oleObj>
              </mc:Choice>
              <mc:Fallback>
                <p:oleObj name="Equation" r:id="rId7" imgW="774364" imgH="25389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4699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054635"/>
              </p:ext>
            </p:extLst>
          </p:nvPr>
        </p:nvGraphicFramePr>
        <p:xfrm>
          <a:off x="3276600" y="5740400"/>
          <a:ext cx="241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3" name="Equation" r:id="rId9" imgW="2413000" imgH="431800" progId="">
                  <p:embed/>
                </p:oleObj>
              </mc:Choice>
              <mc:Fallback>
                <p:oleObj name="Equation" r:id="rId9" imgW="2413000" imgH="4318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40400"/>
                        <a:ext cx="2413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D91800E8-7050-403F-8F6B-23DE395FF09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TRÌNH ĐẶC TRƯNG</a:t>
            </a:r>
            <a:endParaRPr lang="en-US" altLang="en-US" dirty="0"/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 đặc 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3(d):</a:t>
            </a:r>
          </a:p>
        </p:txBody>
      </p:sp>
      <p:graphicFrame>
        <p:nvGraphicFramePr>
          <p:cNvPr id="741380" name="Object 4"/>
          <p:cNvGraphicFramePr>
            <a:graphicFrameLocks noChangeAspect="1"/>
          </p:cNvGraphicFramePr>
          <p:nvPr/>
        </p:nvGraphicFramePr>
        <p:xfrm>
          <a:off x="2743200" y="2286000"/>
          <a:ext cx="3581400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Equation" r:id="rId3" imgW="3644900" imgH="2362200" progId="">
                  <p:embed/>
                </p:oleObj>
              </mc:Choice>
              <mc:Fallback>
                <p:oleObj name="Equation" r:id="rId3" imgW="3644900" imgH="23622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3581400" cy="232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284889"/>
              </p:ext>
            </p:extLst>
          </p:nvPr>
        </p:nvGraphicFramePr>
        <p:xfrm>
          <a:off x="2895600" y="5197475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Equation" r:id="rId5" imgW="1040948" imgH="342751" progId="">
                  <p:embed/>
                </p:oleObj>
              </mc:Choice>
              <mc:Fallback>
                <p:oleObj name="Equation" r:id="rId5" imgW="1040948" imgH="342751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197475"/>
                        <a:ext cx="1041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841F9ADD-AD38-4760-B7DF-759608F7AA43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TRÌNH ĐẶC TRƯNG</a:t>
            </a:r>
            <a:endParaRPr lang="en-US" altLang="en-US" dirty="0"/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/>
              <a:t>P</a:t>
            </a:r>
            <a:r>
              <a:rPr lang="vi-VN" altLang="en-US" sz="2800" dirty="0"/>
              <a:t>hương trình đặc 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hay </a:t>
            </a:r>
          </a:p>
        </p:txBody>
      </p:sp>
      <p:graphicFrame>
        <p:nvGraphicFramePr>
          <p:cNvPr id="742404" name="Object 4"/>
          <p:cNvGraphicFramePr>
            <a:graphicFrameLocks noChangeAspect="1"/>
          </p:cNvGraphicFramePr>
          <p:nvPr/>
        </p:nvGraphicFramePr>
        <p:xfrm>
          <a:off x="1143000" y="1219200"/>
          <a:ext cx="7010400" cy="288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3" imgW="7226300" imgH="2971800" progId="">
                  <p:embed/>
                </p:oleObj>
              </mc:Choice>
              <mc:Fallback>
                <p:oleObj name="Equation" r:id="rId3" imgW="7226300" imgH="29718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19200"/>
                        <a:ext cx="7010400" cy="288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5" name="Object 5"/>
          <p:cNvGraphicFramePr>
            <a:graphicFrameLocks noChangeAspect="1"/>
          </p:cNvGraphicFramePr>
          <p:nvPr/>
        </p:nvGraphicFramePr>
        <p:xfrm>
          <a:off x="2590800" y="4876800"/>
          <a:ext cx="382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5" imgW="3822700" imgH="482600" progId="">
                  <p:embed/>
                </p:oleObj>
              </mc:Choice>
              <mc:Fallback>
                <p:oleObj name="Equation" r:id="rId5" imgW="3822700" imgH="482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876800"/>
                        <a:ext cx="3822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6" name="Object 6"/>
          <p:cNvGraphicFramePr>
            <a:graphicFrameLocks noChangeAspect="1"/>
          </p:cNvGraphicFramePr>
          <p:nvPr/>
        </p:nvGraphicFramePr>
        <p:xfrm>
          <a:off x="2590800" y="5791200"/>
          <a:ext cx="382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7" imgW="3822700" imgH="482600" progId="">
                  <p:embed/>
                </p:oleObj>
              </mc:Choice>
              <mc:Fallback>
                <p:oleObj name="Equation" r:id="rId7" imgW="3822700" imgH="482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791200"/>
                        <a:ext cx="3822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7D57448D-5F5A-4350-9039-41F086AFF198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TRÌNH ĐẶC TRƯNG</a:t>
            </a:r>
            <a:endParaRPr lang="en-US" altLang="en-US" dirty="0"/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triển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đa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thức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đặc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5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3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độ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bôi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xuất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, </a:t>
            </a:r>
            <a:r>
              <a:rPr lang="en-US" altLang="en-US" sz="2800" b="1" dirty="0" err="1"/>
              <a:t>độ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bội</a:t>
            </a:r>
            <a:r>
              <a:rPr lang="en-US" altLang="en-US" sz="2800" b="1" dirty="0"/>
              <a:t> (</a:t>
            </a:r>
            <a:r>
              <a:rPr lang="en-US" altLang="en-US" sz="2800" b="1" dirty="0" err="1"/>
              <a:t>đại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số</a:t>
            </a:r>
            <a:r>
              <a:rPr lang="en-US" altLang="en-US" sz="2800" b="1" dirty="0"/>
              <a:t>)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bội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như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phương trình đặc trưng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43428" name="Object 4"/>
          <p:cNvGraphicFramePr>
            <a:graphicFrameLocks noChangeAspect="1"/>
          </p:cNvGraphicFramePr>
          <p:nvPr/>
        </p:nvGraphicFramePr>
        <p:xfrm>
          <a:off x="2209800" y="1905000"/>
          <a:ext cx="509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Equation" r:id="rId3" imgW="5092700" imgH="406400" progId="">
                  <p:embed/>
                </p:oleObj>
              </mc:Choice>
              <mc:Fallback>
                <p:oleObj name="Equation" r:id="rId3" imgW="5092700" imgH="4064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05000"/>
                        <a:ext cx="5092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373821"/>
              </p:ext>
            </p:extLst>
          </p:nvPr>
        </p:nvGraphicFramePr>
        <p:xfrm>
          <a:off x="2836487" y="2760662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5" imgW="774364" imgH="253890" progId="">
                  <p:embed/>
                </p:oleObj>
              </mc:Choice>
              <mc:Fallback>
                <p:oleObj name="Equation" r:id="rId5" imgW="774364" imgH="25389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487" y="2760662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528320"/>
              </p:ext>
            </p:extLst>
          </p:nvPr>
        </p:nvGraphicFramePr>
        <p:xfrm>
          <a:off x="5334000" y="2679699"/>
          <a:ext cx="1752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tion" r:id="rId7" imgW="1816100" imgH="431800" progId="">
                  <p:embed/>
                </p:oleObj>
              </mc:Choice>
              <mc:Fallback>
                <p:oleObj name="Equation" r:id="rId7" imgW="1816100" imgH="4318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679699"/>
                        <a:ext cx="17526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697343"/>
              </p:ext>
            </p:extLst>
          </p:nvPr>
        </p:nvGraphicFramePr>
        <p:xfrm>
          <a:off x="1769687" y="3907877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9" name="Equation" r:id="rId9" imgW="1066800" imgH="431800" progId="">
                  <p:embed/>
                </p:oleObj>
              </mc:Choice>
              <mc:Fallback>
                <p:oleObj name="Equation" r:id="rId9" imgW="1066800" imgH="4318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687" y="3907877"/>
                        <a:ext cx="1066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305DB0AE-44BE-4948-8695-602F6172E8C0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QUAN HỆ ĐỒNG DẠNG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đồng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dạng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hay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,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Viết</a:t>
            </a:r>
            <a:r>
              <a:rPr lang="en-US" altLang="en-US" sz="2800" dirty="0"/>
              <a:t> Q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 is also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đồng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dạng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            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phép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biến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đổi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đồng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dạng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4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214321"/>
              </p:ext>
            </p:extLst>
          </p:nvPr>
        </p:nvGraphicFramePr>
        <p:xfrm>
          <a:off x="3492500" y="13843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3843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04247"/>
              </p:ext>
            </p:extLst>
          </p:nvPr>
        </p:nvGraphicFramePr>
        <p:xfrm>
          <a:off x="7086600" y="1687945"/>
          <a:ext cx="173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9" name="Equation" r:id="rId5" imgW="1739900" imgH="393700" progId="">
                  <p:embed/>
                </p:oleObj>
              </mc:Choice>
              <mc:Fallback>
                <p:oleObj name="Equation" r:id="rId5" imgW="1739900" imgH="3937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687945"/>
                        <a:ext cx="1739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726433"/>
              </p:ext>
            </p:extLst>
          </p:nvPr>
        </p:nvGraphicFramePr>
        <p:xfrm>
          <a:off x="3505200" y="2095500"/>
          <a:ext cx="168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0" name="Equation" r:id="rId7" imgW="1688367" imgH="393529" progId="">
                  <p:embed/>
                </p:oleObj>
              </mc:Choice>
              <mc:Fallback>
                <p:oleObj name="Equation" r:id="rId7" imgW="1688367" imgH="393529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95500"/>
                        <a:ext cx="1689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751936"/>
              </p:ext>
            </p:extLst>
          </p:nvPr>
        </p:nvGraphicFramePr>
        <p:xfrm>
          <a:off x="3289300" y="31115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Equation" r:id="rId9" imgW="520474" imgH="393529" progId="">
                  <p:embed/>
                </p:oleObj>
              </mc:Choice>
              <mc:Fallback>
                <p:oleObj name="Equation" r:id="rId9" imgW="520474" imgH="393529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31115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940081"/>
              </p:ext>
            </p:extLst>
          </p:nvPr>
        </p:nvGraphicFramePr>
        <p:xfrm>
          <a:off x="4800600" y="3111500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Equation" r:id="rId11" imgW="1777229" imgH="482391" progId="">
                  <p:embed/>
                </p:oleObj>
              </mc:Choice>
              <mc:Fallback>
                <p:oleObj name="Equation" r:id="rId11" imgW="1777229" imgH="482391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11500"/>
                        <a:ext cx="1778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927696"/>
              </p:ext>
            </p:extLst>
          </p:nvPr>
        </p:nvGraphicFramePr>
        <p:xfrm>
          <a:off x="3352800" y="5588000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Equation" r:id="rId13" imgW="1066337" imgH="393529" progId="">
                  <p:embed/>
                </p:oleObj>
              </mc:Choice>
              <mc:Fallback>
                <p:oleObj name="Equation" r:id="rId13" imgW="1066337" imgH="393529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588000"/>
                        <a:ext cx="1066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6316E7A5-2303-4D92-A1FA-AF4FC4943650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QUAN HỆ ĐỒNG DẠNG</a:t>
            </a:r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51641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4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đặc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bội</a:t>
            </a:r>
            <a:r>
              <a:rPr lang="en-US" altLang="en-US" sz="2800" dirty="0"/>
              <a:t>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  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,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(b)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(3), ta </a:t>
            </a:r>
            <a:r>
              <a:rPr lang="en-US" altLang="en-US" sz="2800" dirty="0" err="1"/>
              <a:t>tính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               (2)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454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635713"/>
              </p:ext>
            </p:extLst>
          </p:nvPr>
        </p:nvGraphicFramePr>
        <p:xfrm>
          <a:off x="3187700" y="12700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12700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84905"/>
              </p:ext>
            </p:extLst>
          </p:nvPr>
        </p:nvGraphicFramePr>
        <p:xfrm>
          <a:off x="3270250" y="2844800"/>
          <a:ext cx="173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Equation" r:id="rId5" imgW="1739900" imgH="393700" progId="">
                  <p:embed/>
                </p:oleObj>
              </mc:Choice>
              <mc:Fallback>
                <p:oleObj name="Equation" r:id="rId5" imgW="1739900" imgH="3937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2844800"/>
                        <a:ext cx="17399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8" name="Object 6"/>
          <p:cNvGraphicFramePr>
            <a:graphicFrameLocks noChangeAspect="1"/>
          </p:cNvGraphicFramePr>
          <p:nvPr/>
        </p:nvGraphicFramePr>
        <p:xfrm>
          <a:off x="381000" y="3429000"/>
          <a:ext cx="84709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7" imgW="8851900" imgH="482600" progId="">
                  <p:embed/>
                </p:oleObj>
              </mc:Choice>
              <mc:Fallback>
                <p:oleObj name="Equation" r:id="rId7" imgW="8851900" imgH="4826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429000"/>
                        <a:ext cx="847090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9" name="Object 7"/>
          <p:cNvGraphicFramePr>
            <a:graphicFrameLocks noChangeAspect="1"/>
          </p:cNvGraphicFramePr>
          <p:nvPr/>
        </p:nvGraphicFramePr>
        <p:xfrm>
          <a:off x="762000" y="5029200"/>
          <a:ext cx="6756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Equation" r:id="rId9" imgW="6756400" imgH="1219200" progId="">
                  <p:embed/>
                </p:oleObj>
              </mc:Choice>
              <mc:Fallback>
                <p:oleObj name="Equation" r:id="rId9" imgW="6756400" imgH="12192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029200"/>
                        <a:ext cx="67564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6270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A8C0ADD5-5A7D-43B5-A033-3865972B570A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QUAN HỆ ĐỒNG DẠNG</a:t>
            </a:r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4876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                                                                      , ta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(1)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                                .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z="2800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 b="1" dirty="0" err="1"/>
              <a:t>Cảnh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báo</a:t>
            </a:r>
            <a:r>
              <a:rPr lang="en-US" altLang="en-US" sz="2800" b="1" dirty="0"/>
              <a:t>: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and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1371600" lvl="2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.  </a:t>
            </a:r>
          </a:p>
        </p:txBody>
      </p:sp>
      <p:graphicFrame>
        <p:nvGraphicFramePr>
          <p:cNvPr id="746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743305"/>
              </p:ext>
            </p:extLst>
          </p:nvPr>
        </p:nvGraphicFramePr>
        <p:xfrm>
          <a:off x="1447800" y="1435100"/>
          <a:ext cx="6184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Equation" r:id="rId3" imgW="6184900" imgH="482600" progId="">
                  <p:embed/>
                </p:oleObj>
              </mc:Choice>
              <mc:Fallback>
                <p:oleObj name="Equation" r:id="rId3" imgW="6184900" imgH="482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435100"/>
                        <a:ext cx="6184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1" name="Object 5"/>
          <p:cNvGraphicFramePr>
            <a:graphicFrameLocks noChangeAspect="1"/>
          </p:cNvGraphicFramePr>
          <p:nvPr/>
        </p:nvGraphicFramePr>
        <p:xfrm>
          <a:off x="4686300" y="1866900"/>
          <a:ext cx="400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Equation" r:id="rId5" imgW="4000500" imgH="431800" progId="">
                  <p:embed/>
                </p:oleObj>
              </mc:Choice>
              <mc:Fallback>
                <p:oleObj name="Equation" r:id="rId5" imgW="4000500" imgH="431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1866900"/>
                        <a:ext cx="4000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2" name="Object 6"/>
          <p:cNvGraphicFramePr>
            <a:graphicFrameLocks noChangeAspect="1"/>
          </p:cNvGraphicFramePr>
          <p:nvPr/>
        </p:nvGraphicFramePr>
        <p:xfrm>
          <a:off x="2819400" y="3860800"/>
          <a:ext cx="11430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7" imgW="1181100" imgH="1143000" progId="">
                  <p:embed/>
                </p:oleObj>
              </mc:Choice>
              <mc:Fallback>
                <p:oleObj name="Equation" r:id="rId7" imgW="1181100" imgH="1143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60800"/>
                        <a:ext cx="1143000" cy="110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3" name="Object 7"/>
          <p:cNvGraphicFramePr>
            <a:graphicFrameLocks noChangeAspect="1"/>
          </p:cNvGraphicFramePr>
          <p:nvPr/>
        </p:nvGraphicFramePr>
        <p:xfrm>
          <a:off x="4876800" y="3860800"/>
          <a:ext cx="11430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Equation" r:id="rId9" imgW="1181100" imgH="1143000" progId="">
                  <p:embed/>
                </p:oleObj>
              </mc:Choice>
              <mc:Fallback>
                <p:oleObj name="Equation" r:id="rId9" imgW="1181100" imgH="11430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860800"/>
                        <a:ext cx="1143000" cy="1106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5.2- </a:t>
            </a:r>
            <a:fld id="{9B7FE6A6-B75F-466D-8BA4-D54DA1691675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QUAN HỆ ĐỒNG DẠNG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rabicPeriod" startAt="2"/>
            </a:pP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giống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. (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đưuong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E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).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/>
              <a:t>nó.</a:t>
            </a:r>
            <a:endParaRPr lang="en-US" altLang="en-US" sz="2800" dirty="0"/>
          </a:p>
        </p:txBody>
      </p:sp>
      <p:graphicFrame>
        <p:nvGraphicFramePr>
          <p:cNvPr id="747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226547"/>
              </p:ext>
            </p:extLst>
          </p:nvPr>
        </p:nvGraphicFramePr>
        <p:xfrm>
          <a:off x="4114800" y="2582862"/>
          <a:ext cx="11430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3" imgW="1206500" imgH="330200" progId="">
                  <p:embed/>
                </p:oleObj>
              </mc:Choice>
              <mc:Fallback>
                <p:oleObj name="Equation" r:id="rId3" imgW="1206500" imgH="330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582862"/>
                        <a:ext cx="11430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14338</TotalTime>
  <Words>981</Words>
  <Application>Microsoft Office PowerPoint</Application>
  <PresentationFormat>On-screen Show (4:3)</PresentationFormat>
  <Paragraphs>144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Narrow</vt:lpstr>
      <vt:lpstr>Bookshelf Symbol 2</vt:lpstr>
      <vt:lpstr>Symbol</vt:lpstr>
      <vt:lpstr>Times New Roman</vt:lpstr>
      <vt:lpstr>Wingdings</vt:lpstr>
      <vt:lpstr>Blends</vt:lpstr>
      <vt:lpstr>Equation</vt:lpstr>
      <vt:lpstr>MathType 6.0 Equation</vt:lpstr>
      <vt:lpstr>Giá Trị Riêng và Vectơ Riêng</vt:lpstr>
      <vt:lpstr>ĐỊNH THỨC</vt:lpstr>
      <vt:lpstr>ĐỊNH THỨC</vt:lpstr>
      <vt:lpstr>ĐỊNH THỨC</vt:lpstr>
      <vt:lpstr>ĐỊNH THỨC</vt:lpstr>
      <vt:lpstr>ĐỊNH LÍ MA TRẬN KHẢ NGHỊCH (TIẾP THEO)</vt:lpstr>
      <vt:lpstr>CÁC TÍNH CHẤT CỦA ĐỊNH THỨC</vt:lpstr>
      <vt:lpstr>PHƯƠNG TRÌNH ĐẶC TRƯNG</vt:lpstr>
      <vt:lpstr>PHƯƠNG TRÌNH ĐẶC TRƯNG</vt:lpstr>
      <vt:lpstr>PHƯƠNG TRÌNH ĐẶC TRƯNG</vt:lpstr>
      <vt:lpstr>PHƯƠNG TRÌNH ĐẶC TRƯNG</vt:lpstr>
      <vt:lpstr>QUAN HỆ ĐỒNG DẠNG</vt:lpstr>
      <vt:lpstr>QUAN HỆ ĐỒNG DẠNG</vt:lpstr>
      <vt:lpstr>QUAN HỆ ĐỒNG DẠNG</vt:lpstr>
      <vt:lpstr>QUAN HỆ ĐỒNG DẠNG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1329</cp:revision>
  <dcterms:created xsi:type="dcterms:W3CDTF">2005-10-22T18:34:54Z</dcterms:created>
  <dcterms:modified xsi:type="dcterms:W3CDTF">2016-08-05T04:52:32Z</dcterms:modified>
</cp:coreProperties>
</file>