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7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77C97"/>
    <a:srgbClr val="D7791B"/>
    <a:srgbClr val="4C7816"/>
    <a:srgbClr val="528218"/>
    <a:srgbClr val="B6CEAA"/>
    <a:srgbClr val="ADC8A0"/>
    <a:srgbClr val="CD8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365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4112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669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2857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3238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9538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3051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1401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7379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1042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5675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3950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711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5.4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VECTƠ RIÊNG VÀ PHÉP BIẾN ĐỔI TUYẾN TÍNH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CỦA PHÉP BIẾN ĐỔI TUYẾN TÍNH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700" dirty="0">
                <a:cs typeface="Times New Roman" panose="02020603050405020304" pitchFamily="18" charset="0"/>
              </a:rPr>
              <a:t>Cho x </a:t>
            </a:r>
            <a:r>
              <a:rPr lang="en-US" altLang="en-US" sz="2700" dirty="0" err="1">
                <a:cs typeface="Times New Roman" panose="02020603050405020304" pitchFamily="18" charset="0"/>
              </a:rPr>
              <a:t>tùy</a:t>
            </a:r>
            <a:r>
              <a:rPr lang="en-US" altLang="en-US" sz="2700" dirty="0">
                <a:cs typeface="Times New Roman" panose="02020603050405020304" pitchFamily="18" charset="0"/>
              </a:rPr>
              <a:t> ý </a:t>
            </a:r>
            <a:r>
              <a:rPr lang="en-US" altLang="en-US" sz="2700" dirty="0" err="1">
                <a:cs typeface="Times New Roman" panose="02020603050405020304" pitchFamily="18" charset="0"/>
              </a:rPr>
              <a:t>thuộc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V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vi-VN" altLang="en-US" sz="2700" dirty="0">
                <a:cs typeface="Times New Roman" panose="02020603050405020304" pitchFamily="18" charset="0"/>
              </a:rPr>
              <a:t>vectơ tọa độ</a:t>
            </a:r>
            <a:r>
              <a:rPr lang="en-US" altLang="en-US" sz="2700" dirty="0">
                <a:cs typeface="Times New Roman" panose="02020603050405020304" pitchFamily="18" charset="0"/>
              </a:rPr>
              <a:t> [x]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ℝ</a:t>
            </a:r>
            <a:r>
              <a:rPr lang="en-US" altLang="en-US" sz="2700" baseline="30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vectơ tọa độ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[T(x)]</a:t>
            </a:r>
            <a:r>
              <a:rPr lang="en-US" altLang="en-US" sz="27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ℝ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dưới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altLang="en-US" sz="250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2864039"/>
            <a:ext cx="5296923" cy="313671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CỦA PHÉP BIẾN ĐỔI TUYẾN TÍNH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Dễ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mối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giữa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[x]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[T(x)]</a:t>
                </a:r>
                <a:r>
                  <a:rPr lang="en-US" altLang="en-US" sz="27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Cho {b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= r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. . . + r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</a:rPr>
                  <a:t>[x]</a:t>
                </a:r>
                <a:r>
                  <a:rPr lang="en-US" alt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  <m:r>
                              <a:rPr lang="en-US" altLang="en-US" sz="2000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  <m:r>
                              <a:rPr lang="en-US" altLang="en-US" sz="2000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+…+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𝑟𝑛𝑏𝑛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𝑟𝑛𝑇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𝑏𝑛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  <a:blipFill>
                <a:blip r:embed="rId3"/>
                <a:stretch>
                  <a:fillRect l="-1164" t="-1294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496300" y="51054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7729262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CỦA PHÉP BIẾN ĐỔI TUYẾN TÍNH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Bây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giờ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ℝ</a:t>
                </a:r>
                <a:r>
                  <a:rPr lang="en-US" altLang="en-US" sz="2700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(1)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dẫn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đến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𝑟𝑛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𝑏𝑛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]</a:t>
                </a:r>
                <a:r>
                  <a:rPr lang="en-US" altLang="en-US" sz="2700" i="1" baseline="-25000" dirty="0">
                    <a:cs typeface="Times New Roman" panose="02020603050405020304" pitchFamily="18" charset="0"/>
                  </a:rPr>
                  <a:t>C</a:t>
                </a:r>
              </a:p>
              <a:p>
                <a:pPr marL="0" indent="0" algn="ctr" eaLnBrk="1" hangingPunct="1">
                  <a:buNone/>
                </a:pPr>
                <a:endParaRPr lang="en-US" altLang="en-US" sz="2700" i="1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ℝ</a:t>
                </a:r>
                <a:r>
                  <a:rPr lang="en-US" altLang="en-US" sz="2700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(2)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en-US" sz="270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 . . 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 eaLnBrk="1" hangingPunct="1">
                  <a:buNone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  <a:blipFill>
                <a:blip r:embed="rId3"/>
                <a:stretch>
                  <a:fillRect l="-1164" t="-1294" b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382000" y="47961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4850" y="26625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572349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31372652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CỦA PHÉP BIẾN ĐỔI TUYẾN TÍNH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n-US" sz="2700" dirty="0">
                <a:cs typeface="Times New Roman" panose="02020603050405020304" pitchFamily="18" charset="0"/>
              </a:rPr>
              <a:t>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M </a:t>
            </a:r>
            <a:r>
              <a:rPr lang="en-US" altLang="en-US" sz="2700" i="1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i="1" dirty="0"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cs typeface="Times New Roman" panose="02020603050405020304" pitchFamily="18" charset="0"/>
              </a:rPr>
              <a:t>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representation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gọi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theo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cơ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sở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C</a:t>
            </a:r>
            <a:r>
              <a:rPr lang="en-US" altLang="en-US" sz="2700" dirty="0">
                <a:cs typeface="Times New Roman" panose="02020603050405020304" pitchFamily="18" charset="0"/>
              </a:rPr>
              <a:t>. </a:t>
            </a:r>
            <a:r>
              <a:rPr lang="en-US" altLang="en-US" sz="2700" dirty="0" err="1">
                <a:cs typeface="Times New Roman" panose="02020603050405020304" pitchFamily="18" charset="0"/>
              </a:rPr>
              <a:t>Xem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2:</a:t>
            </a:r>
            <a:endParaRPr lang="en-US" altLang="en-US" sz="2000" dirty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971800"/>
            <a:ext cx="3810000" cy="27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110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CỦA PHÉP BIẾN ĐỔI TUYẾN TÍNH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𝛽= {b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 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 {c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c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cơ sở 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chất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3   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và  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+7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en-US" altLang="en-US" sz="2700" i="1" baseline="-250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  <a:blipFill>
                <a:blip r:embed="rId3"/>
                <a:stretch>
                  <a:fillRect l="-1164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9379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CỦA PHÉP BIẾN ĐỔI TUYẾN TÍNH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ảnh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và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en-US" sz="27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cùng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đồng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T(x) =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(4)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  <a:blipFill>
                <a:blip r:embed="rId3"/>
                <a:stretch>
                  <a:fillRect l="-1164" t="-1176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3013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TỰ ĐỒNG CẦU TUYẾN TÍNH</a:t>
            </a:r>
            <a:endParaRPr lang="en-US" altLang="en-US" i="1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trường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hợp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hợp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thương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W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với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V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cs typeface="Times New Roman" panose="02020603050405020304" pitchFamily="18" charset="0"/>
              </a:rPr>
              <a:t>cơ sở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trùng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với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thì</a:t>
            </a:r>
            <a:r>
              <a:rPr lang="en-US" altLang="en-US" sz="2700" dirty="0">
                <a:cs typeface="Times New Roman" panose="02020603050405020304" pitchFamily="18" charset="0"/>
              </a:rPr>
              <a:t> 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(4) </a:t>
            </a:r>
            <a:r>
              <a:rPr lang="vi-VN" altLang="en-US" sz="2700" dirty="0">
                <a:cs typeface="Times New Roman" panose="02020603050405020304" pitchFamily="18" charset="0"/>
              </a:rPr>
              <a:t>được gọi 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>
                <a:cs typeface="Times New Roman" panose="02020603050405020304" pitchFamily="18" charset="0"/>
              </a:rPr>
              <a:t>ma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i="1" dirty="0">
                <a:cs typeface="Times New Roman" panose="02020603050405020304" pitchFamily="18" charset="0"/>
              </a:rPr>
              <a:t>T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theo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cs typeface="Times New Roman" panose="02020603050405020304" pitchFamily="18" charset="0"/>
              </a:rPr>
              <a:t>, hay </a:t>
            </a:r>
            <a:r>
              <a:rPr lang="en-US" altLang="en-US" sz="2700" dirty="0" err="1">
                <a:cs typeface="Times New Roman" panose="02020603050405020304" pitchFamily="18" charset="0"/>
              </a:rPr>
              <a:t>đơn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giản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b="1" dirty="0">
                <a:cs typeface="Times New Roman" panose="02020603050405020304" pitchFamily="18" charset="0"/>
              </a:rPr>
              <a:t> -ma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kí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hiệu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bởi</a:t>
            </a:r>
            <a:r>
              <a:rPr lang="en-US" altLang="en-US" sz="2700" dirty="0">
                <a:cs typeface="Times New Roman" panose="02020603050405020304" pitchFamily="18" charset="0"/>
              </a:rPr>
              <a:t> [</a:t>
            </a:r>
            <a:r>
              <a:rPr lang="en-US" altLang="en-US" sz="2700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𝛽. </a:t>
            </a:r>
            <a:endParaRPr lang="en-US" altLang="en-US" sz="27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Xem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4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dưới</a:t>
            </a:r>
            <a:endParaRPr lang="en-US" altLang="en-US" sz="2700" baseline="-25000" dirty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682468"/>
            <a:ext cx="3810000" cy="262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4857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TỰ ĐỒNG CẦU TUYẾN TÍNH</a:t>
            </a:r>
            <a:endParaRPr lang="en-US" alt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 :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ℙ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700" b="0" i="1" baseline="30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514350" indent="-514350" eaLnBrk="1" hangingPunct="1">
                  <a:buFont typeface="+mj-lt"/>
                  <a:buAutoNum type="alphaLcParenR"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–ma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củar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{1, t, t</a:t>
                </a:r>
                <a:r>
                  <a:rPr lang="en-US" altLang="en-US" sz="27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</a:t>
                </a:r>
              </a:p>
              <a:p>
                <a:pPr marL="514350" indent="-514350" eaLnBrk="1" hangingPunct="1">
                  <a:buFont typeface="+mj-lt"/>
                  <a:buAutoNum type="alphaLcParenR"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Kiểm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[T(p)]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=[T]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[p]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endParaRPr lang="en-US" altLang="en-US" sz="2700" baseline="-25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  <a:blipFill>
                <a:blip r:embed="rId3"/>
                <a:stretch>
                  <a:fillRect l="-1382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74112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TỰ ĐỒNG CẦU TUYẾN TÍNH</a:t>
            </a:r>
            <a:endParaRPr lang="en-US" altLang="en-US" i="1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n-US" sz="2700" b="1" dirty="0" err="1">
                <a:cs typeface="Times New Roman" panose="02020603050405020304" pitchFamily="18" charset="0"/>
              </a:rPr>
              <a:t>Lời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giải</a:t>
            </a:r>
            <a:r>
              <a:rPr lang="en-US" altLang="en-US" sz="2700" b="1" dirty="0">
                <a:cs typeface="Times New Roman" panose="02020603050405020304" pitchFamily="18" charset="0"/>
              </a:rPr>
              <a:t>:</a:t>
            </a:r>
          </a:p>
          <a:p>
            <a:pPr marL="514350" indent="-514350" eaLnBrk="1" hangingPunct="1">
              <a:buFont typeface="+mj-lt"/>
              <a:buAutoNum type="alphaLcParenR"/>
            </a:pPr>
            <a:r>
              <a:rPr lang="en-US" altLang="en-US" sz="2700" dirty="0" err="1">
                <a:cs typeface="Times New Roman" panose="02020603050405020304" pitchFamily="18" charset="0"/>
              </a:rPr>
              <a:t>Tính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ảnh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cs typeface="Times New Roman" panose="02020603050405020304" pitchFamily="18" charset="0"/>
              </a:rPr>
              <a:t>vectơ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cơ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sở</a:t>
            </a:r>
            <a:r>
              <a:rPr lang="en-US" altLang="en-US" sz="2700" dirty="0">
                <a:cs typeface="Times New Roman" panose="02020603050405020304" pitchFamily="18" charset="0"/>
              </a:rPr>
              <a:t>:</a:t>
            </a:r>
          </a:p>
          <a:p>
            <a:pPr marL="0" indent="0" algn="ctr" eaLnBrk="1" hangingPunct="1">
              <a:buNone/>
            </a:pPr>
            <a:r>
              <a:rPr lang="en-US" altLang="en-US" sz="2700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(1) = 0</a:t>
            </a:r>
          </a:p>
          <a:p>
            <a:pPr marL="0" indent="0" algn="ctr" eaLnBrk="1" hangingPunct="1">
              <a:buNone/>
            </a:pPr>
            <a:r>
              <a:rPr lang="en-US" altLang="en-US" sz="2700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(t) = 1</a:t>
            </a:r>
          </a:p>
          <a:p>
            <a:pPr marL="0" indent="0" algn="ctr" eaLnBrk="1" hangingPunct="1">
              <a:buNone/>
            </a:pPr>
            <a:r>
              <a:rPr lang="en-US" altLang="en-US" sz="2700" i="1" dirty="0"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cs typeface="Times New Roman" panose="02020603050405020304" pitchFamily="18" charset="0"/>
              </a:rPr>
              <a:t>(t</a:t>
            </a:r>
            <a:r>
              <a:rPr lang="en-US" altLang="en-US" sz="2700" baseline="30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) = 2t</a:t>
            </a:r>
          </a:p>
          <a:p>
            <a:pPr marL="0" indent="0" eaLnBrk="1" hangingPunct="1">
              <a:buNone/>
            </a:pPr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 dirty="0" err="1">
                <a:cs typeface="Times New Roman" panose="02020603050405020304" pitchFamily="18" charset="0"/>
              </a:rPr>
              <a:t>Khi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đó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viết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𝛽-</a:t>
            </a:r>
            <a:r>
              <a:rPr lang="vi-VN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vectơ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tọa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(1), 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(t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nhau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𝛽-ma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endParaRPr lang="en-US" altLang="en-US" sz="2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0651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TỰ ĐỒNG CẦU TUYẾN TÍNH</a:t>
            </a:r>
            <a:endParaRPr lang="en-US" alt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</p:spPr>
            <p:txBody>
              <a:bodyPr/>
              <a:lstStyle/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[T(1)]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  [T(t)]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    [T(t</a:t>
                </a:r>
                <a:r>
                  <a:rPr lang="en-US" altLang="en-US" sz="27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[T]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514350" indent="-514350" eaLnBrk="1" hangingPunct="1">
                  <a:buFont typeface="+mj-lt"/>
                  <a:buAutoNum type="alphaLcParenR" startAt="2"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Tổng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quát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p(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700" i="1" baseline="30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[T(p)]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=[a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+ 2a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382000" cy="5181600"/>
              </a:xfrm>
              <a:blipFill>
                <a:blip r:embed="rId3"/>
                <a:stretch>
                  <a:fillRect l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8380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TỰ ĐỒNG CẦU TUYẾN TÍNH</a:t>
            </a:r>
            <a:endParaRPr lang="en-US" alt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</p:spPr>
            <p:txBody>
              <a:bodyPr/>
              <a:lstStyle/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en-US" sz="27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 [T]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[p]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</a:t>
                </a:r>
              </a:p>
              <a:p>
                <a:pPr marL="0" indent="0" algn="ctr" eaLnBrk="1" hangingPunct="1">
                  <a:buNone/>
                </a:pPr>
                <a:endParaRPr lang="en-US" altLang="en-US" sz="2700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4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  <a:blipFill>
                <a:blip r:embed="rId3"/>
                <a:stretch>
                  <a:fillRect l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3200400"/>
            <a:ext cx="4755644" cy="333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182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PHÉP BIẾN ĐỔI TUYẾN TÍNH TRÊN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ℝ</a:t>
            </a:r>
            <a:r>
              <a:rPr lang="en-US" altLang="en-US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alt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8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 = PDP</a:t>
                </a:r>
                <a:r>
                  <a:rPr lang="en-US" altLang="en-US" sz="27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ℝ</a:t>
                </a:r>
                <a:r>
                  <a:rPr lang="en-US" altLang="en-US" sz="2800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𝛽-ma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⟼</m:t>
                    </m:r>
                    <m:r>
                      <m:rPr>
                        <m:sty m:val="p"/>
                      </m:rP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Ax</m:t>
                    </m:r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={b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[b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. . . b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thảo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luận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Mục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4.4, ở </a:t>
                </a:r>
                <a:r>
                  <a:rPr lang="en-US" altLang="en-US" sz="27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endParaRPr lang="en-US" altLang="en-US" sz="2700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en-US" altLang="en-US" sz="27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en-US" altLang="en-US" sz="27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i="1" baseline="30000" dirty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5181600"/>
              </a:xfrm>
              <a:blipFill>
                <a:blip r:embed="rId3"/>
                <a:stretch>
                  <a:fillRect l="-1382" t="-1176" r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45071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PHÉP BIẾN ĐỔI TUYẾN TÍNH TRÊN </a:t>
            </a:r>
            <a:r>
              <a:rPr lang="en-US" altLang="en-US" sz="3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ℝ</a:t>
            </a:r>
            <a:r>
              <a:rPr lang="en-US" altLang="en-US" sz="36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altLang="en-US" sz="3600" i="1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T(x) = 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700" b="1" dirty="0">
                <a:solidFill>
                  <a:srgbClr val="077C9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ℝ</a:t>
            </a:r>
            <a:r>
              <a:rPr lang="en-US" altLang="en-US" sz="28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US" sz="28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thì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2700" dirty="0">
                <a:cs typeface="Times New Roman" panose="02020603050405020304" pitchFamily="18" charset="0"/>
              </a:rPr>
              <a:t>                 [T]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=[[T(b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     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…    [T(b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 eaLnBrk="1" hangingPunct="1">
              <a:buNone/>
            </a:pP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=[[Ab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   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… [Ab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 eaLnBrk="1" hangingPunct="1">
              <a:buNone/>
            </a:pP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=[P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…      P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 eaLnBrk="1" hangingPunct="1">
              <a:buNone/>
            </a:pP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=P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A[b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…      b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 eaLnBrk="1" hangingPunct="1">
              <a:buNone/>
            </a:pP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=P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AP</a:t>
            </a:r>
          </a:p>
          <a:p>
            <a:pPr marL="0" indent="0" eaLnBrk="1" hangingPunct="1">
              <a:buNone/>
            </a:pPr>
            <a:endParaRPr lang="en-US" altLang="en-US" sz="27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= PDP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ta </a:t>
            </a:r>
            <a:r>
              <a:rPr lang="en-US" altLang="en-US" sz="27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cs typeface="Times New Roman" panose="02020603050405020304" pitchFamily="18" charset="0"/>
              </a:rPr>
              <a:t>[T]</a:t>
            </a:r>
            <a:r>
              <a:rPr lang="en-US" altLang="en-US" sz="27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𝛽 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P</a:t>
            </a:r>
            <a:r>
              <a:rPr lang="en-US" altLang="en-US" sz="27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AP = </a:t>
            </a:r>
            <a:r>
              <a:rPr lang="en-US" altLang="en-US" sz="27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2700" i="1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700" i="1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700" i="1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700" i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29400" y="2358479"/>
            <a:ext cx="21336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err="1">
                <a:solidFill>
                  <a:srgbClr val="0099FF"/>
                </a:solidFill>
                <a:latin typeface="+mn-lt"/>
              </a:rPr>
              <a:t>Định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</a:t>
            </a:r>
            <a:r>
              <a:rPr lang="en-US" sz="1900" dirty="0" err="1">
                <a:solidFill>
                  <a:srgbClr val="0099FF"/>
                </a:solidFill>
                <a:latin typeface="+mn-lt"/>
              </a:rPr>
              <a:t>nghĩa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</a:t>
            </a:r>
            <a:r>
              <a:rPr lang="en-US" sz="1900" dirty="0" err="1">
                <a:solidFill>
                  <a:srgbClr val="0099FF"/>
                </a:solidFill>
                <a:latin typeface="+mn-lt"/>
              </a:rPr>
              <a:t>của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</a:t>
            </a:r>
            <a:r>
              <a:rPr lang="en-US" altLang="en-US" sz="1900" dirty="0">
                <a:solidFill>
                  <a:srgbClr val="0099FF"/>
                </a:solidFill>
                <a:latin typeface="+mn-lt"/>
                <a:cs typeface="Times New Roman" panose="02020603050405020304" pitchFamily="18" charset="0"/>
              </a:rPr>
              <a:t>[T]</a:t>
            </a:r>
            <a:r>
              <a:rPr lang="en-US" altLang="en-US" sz="1900" baseline="-25000" dirty="0">
                <a:solidFill>
                  <a:srgbClr val="0099FF"/>
                </a:solidFill>
                <a:latin typeface="+mn-lt"/>
                <a:ea typeface="Cambria Math" panose="02040503050406030204" pitchFamily="18" charset="0"/>
                <a:cs typeface="Times New Roman" panose="02020603050405020304" pitchFamily="18" charset="0"/>
              </a:rPr>
              <a:t>𝛽</a:t>
            </a:r>
            <a:endParaRPr lang="en-US" sz="1900" dirty="0">
              <a:solidFill>
                <a:srgbClr val="0099FF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9400" y="2820322"/>
            <a:ext cx="21336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err="1">
                <a:solidFill>
                  <a:srgbClr val="0099FF"/>
                </a:solidFill>
                <a:latin typeface="+mn-lt"/>
              </a:rPr>
              <a:t>Vì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T(x) = 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8583" y="3314030"/>
            <a:ext cx="23730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err="1">
                <a:solidFill>
                  <a:srgbClr val="0099FF"/>
                </a:solidFill>
                <a:latin typeface="+mn-lt"/>
              </a:rPr>
              <a:t>Đổi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</a:t>
            </a:r>
            <a:r>
              <a:rPr lang="en-US" sz="1900" dirty="0" err="1">
                <a:solidFill>
                  <a:srgbClr val="0099FF"/>
                </a:solidFill>
                <a:latin typeface="+mn-lt"/>
              </a:rPr>
              <a:t>tọa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</a:t>
            </a:r>
            <a:r>
              <a:rPr lang="en-US" sz="1900" dirty="0" err="1">
                <a:solidFill>
                  <a:srgbClr val="0099FF"/>
                </a:solidFill>
                <a:latin typeface="+mn-lt"/>
              </a:rPr>
              <a:t>độ</a:t>
            </a:r>
            <a:endParaRPr lang="en-US" sz="1900" dirty="0">
              <a:solidFill>
                <a:srgbClr val="0099FF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5600" y="3882479"/>
            <a:ext cx="23404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err="1">
                <a:solidFill>
                  <a:srgbClr val="0099FF"/>
                </a:solidFill>
                <a:latin typeface="+mn-lt"/>
              </a:rPr>
              <a:t>Nhân</a:t>
            </a:r>
            <a:r>
              <a:rPr lang="en-US" sz="1900" dirty="0">
                <a:solidFill>
                  <a:srgbClr val="0099FF"/>
                </a:solidFill>
                <a:latin typeface="+mn-lt"/>
              </a:rPr>
              <a:t> ma </a:t>
            </a:r>
            <a:r>
              <a:rPr lang="en-US" sz="1900" dirty="0" err="1">
                <a:solidFill>
                  <a:srgbClr val="0099FF"/>
                </a:solidFill>
                <a:latin typeface="+mn-lt"/>
              </a:rPr>
              <a:t>trận</a:t>
            </a:r>
            <a:endParaRPr lang="en-US" sz="1900" dirty="0">
              <a:solidFill>
                <a:srgbClr val="0099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478950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PHÉP BIẾN ĐỔI TUYẾN TÍNH TRÊN </a:t>
            </a:r>
            <a:r>
              <a:rPr lang="en-US" altLang="en-US" sz="3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ℝ</a:t>
            </a:r>
            <a:r>
              <a:rPr lang="en-US" altLang="en-US" sz="36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altLang="en-US" sz="36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19200"/>
                <a:ext cx="88392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altLang="en-US" sz="2700" b="1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3: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: ℝ</a:t>
                </a:r>
                <a:r>
                  <a:rPr lang="en-US" altLang="en-US" sz="2700" baseline="30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en-US" sz="2700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m:rPr>
                        <m:nor/>
                      </m:rPr>
                      <a:rPr lang="en-US" altLang="en-US" sz="2700" b="0" i="0" baseline="30000" dirty="0" smtClean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bởi T(x)=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x,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ℝ</a:t>
                </a:r>
                <a:r>
                  <a:rPr lang="en-US" altLang="en-US" sz="2700" baseline="30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𝛽–ma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b="1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Mục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5.3 ta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= PDP</a:t>
                </a:r>
                <a:r>
                  <a:rPr lang="en-US" altLang="en-US" sz="2700" baseline="30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 ở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và 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en-US" sz="2700" baseline="-25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US" altLang="en-US" sz="2700" baseline="-25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 vectơ riêng của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Theo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8,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𝛽-ma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𝛽= {b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en-US" sz="27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x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⟼</m:t>
                    </m:r>
                  </m:oMath>
                </a14:m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x 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u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⟼</m:t>
                    </m:r>
                  </m:oMath>
                </a14:m>
                <a:r>
                  <a:rPr lang="en-US" altLang="en-US" sz="2700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tả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ea typeface="Cambria Math" panose="020405030504060302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altLang="en-US" sz="27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i="1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i="1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i="1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i="1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19200"/>
                <a:ext cx="8839200" cy="5181600"/>
              </a:xfrm>
              <a:blipFill>
                <a:blip r:embed="rId3"/>
                <a:stretch>
                  <a:fillRect l="-1103" r="-138" b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75829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17538</TotalTime>
  <Words>888</Words>
  <Application>Microsoft Office PowerPoint</Application>
  <PresentationFormat>On-screen Show (4:3)</PresentationFormat>
  <Paragraphs>142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Giá Trị Riêng và Vectơ Riêng</vt:lpstr>
      <vt:lpstr>MA TRẬN CỦA PHÉP BIẾN ĐỔI TUYẾN TÍNH</vt:lpstr>
      <vt:lpstr>MA TRẬN CỦA PHÉP BIẾN ĐỔI TUYẾN TÍNH</vt:lpstr>
      <vt:lpstr>MA TRẬN CỦA PHÉP BIẾN ĐỔI TUYẾN TÍNH</vt:lpstr>
      <vt:lpstr>MA TRẬN CỦA PHÉP BIẾN ĐỔI TUYẾN TÍNH</vt:lpstr>
      <vt:lpstr>MA TRẬN CỦA PHÉP BIẾN ĐỔI TUYẾN TÍNH</vt:lpstr>
      <vt:lpstr>MA TRẬN CỦA PHÉP BIẾN ĐỔI TUYẾN TÍNH</vt:lpstr>
      <vt:lpstr>TỰ ĐỒNG CẦU TUYẾN TÍNH</vt:lpstr>
      <vt:lpstr>TỰ ĐỒNG CẦU TUYẾN TÍNH</vt:lpstr>
      <vt:lpstr>TỰ ĐỒNG CẦU TUYẾN TÍNH</vt:lpstr>
      <vt:lpstr>TỰ ĐỒNG CẦU TUYẾN TÍNH</vt:lpstr>
      <vt:lpstr>TỰ ĐỒNG CẦU TUYẾN TÍNH</vt:lpstr>
      <vt:lpstr>CÁC PHÉP BIẾN ĐỔI TUYẾN TÍNH TRÊN ℝn </vt:lpstr>
      <vt:lpstr>CÁC PHÉP BIẾN ĐỔI TUYẾN TÍNH TRÊN ℝn </vt:lpstr>
      <vt:lpstr>CÁC PHÉP BIẾN ĐỔI TUYẾN TÍNH TRÊN ℝn 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1032</cp:revision>
  <dcterms:created xsi:type="dcterms:W3CDTF">2005-10-22T18:34:54Z</dcterms:created>
  <dcterms:modified xsi:type="dcterms:W3CDTF">2016-08-05T06:49:06Z</dcterms:modified>
</cp:coreProperties>
</file>