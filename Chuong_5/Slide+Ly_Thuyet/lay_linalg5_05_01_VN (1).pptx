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7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38" autoAdjust="0"/>
    <p:restoredTop sz="98725" autoAdjust="0"/>
  </p:normalViewPr>
  <p:slideViewPr>
    <p:cSldViewPr>
      <p:cViewPr varScale="1">
        <p:scale>
          <a:sx n="92" d="100"/>
          <a:sy n="92" d="100"/>
        </p:scale>
        <p:origin x="1037" y="86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4" Type="http://schemas.openxmlformats.org/officeDocument/2006/relationships/image" Target="../media/image4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4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A3520A8-F4A3-4EF5-A287-237FCCDF22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44254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E7D8277-8C34-4B61-8587-855816E77A7C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544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3B24BD4B-231D-4272-AC77-82780F2E597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98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5.1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44178" y="2197370"/>
            <a:ext cx="3042622" cy="380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2481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5948FDBB-6E86-4732-9272-EC9F4B05374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855197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653D86E9-FBBC-4A6E-952B-5BD8F553FF7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0797457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C6AC7E9A-FE5B-472F-8F4D-74F45B7638A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9101351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2749912C-4750-478E-85F8-EC10DBBCF07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77310162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515AEF4E-D9F1-4DA5-80B7-6638F24E66C0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2661264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FAFB36A7-99C7-4F8A-B138-1C996F04AB2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83107146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89CA8D68-06D1-4E59-97CE-0DD0509C835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6463106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F88FFC84-6F26-4191-B19D-28A75181587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28589927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A2AE5D9F-A8BE-45EE-9AD9-8B1447F6807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61203991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3927771C-079F-41E3-BF39-2C5AB4F4147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6206498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624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BA80EA04-7C47-44F0-9F54-8D87AFD6CAC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66829316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5.1- </a:t>
            </a:r>
            <a:fld id="{B2D13057-0AA7-4586-9870-08C358E927B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png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43.png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51.png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VECTƠ RIÊNG VÀ </a:t>
            </a:r>
          </a:p>
          <a:p>
            <a:pPr eaLnBrk="1" hangingPunct="1"/>
            <a:r>
              <a:rPr lang="en-US" altLang="en-US" dirty="0">
                <a:latin typeface="+mj-lt"/>
              </a:rPr>
              <a:t>GIÁ TRỊ RIÊNG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E49517C6-7A8C-4585-AC52-BFB9AF9B34B6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VECTƠ RIÊNG VÀ GIÁ TRỊ RIÊNG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nghĩa</a:t>
            </a:r>
            <a:r>
              <a:rPr lang="en-US" altLang="en-US" sz="2800" b="1" dirty="0"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cs typeface="Times New Roman" panose="02020603050405020304" pitchFamily="18" charset="0"/>
              </a:rPr>
              <a:t>vectơ riêng </a:t>
            </a:r>
            <a:r>
              <a:rPr lang="vi-VN" altLang="en-US" sz="2800" dirty="0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         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vectơ khác 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sao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vô hướng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nào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vô hướng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được gọi 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nghiệm tầm thường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   	   ; </a:t>
            </a:r>
            <a:r>
              <a:rPr lang="en-US" altLang="en-US" sz="2800" b="1" dirty="0"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được gọi 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i="1" dirty="0">
                <a:cs typeface="Times New Roman" panose="02020603050405020304" pitchFamily="18" charset="0"/>
              </a:rPr>
              <a:t>vectơ riêng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vi-VN" altLang="en-US" sz="2800" i="1" dirty="0">
                <a:cs typeface="Times New Roman" panose="02020603050405020304" pitchFamily="18" charset="0"/>
              </a:rPr>
              <a:t>tương ứng với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l-GR" altLang="en-US" sz="2800" i="1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609600" indent="-609600" eaLnBrk="1" hangingPunct="1"/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         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phương trình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                          		(3)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nghiệm tầm thường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609600" indent="-609600"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tất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cả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nghiệm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(3) </a:t>
            </a:r>
            <a:r>
              <a:rPr lang="en-US" altLang="en-US" sz="2800" dirty="0" err="1">
                <a:cs typeface="Times New Roman" panose="02020603050405020304" pitchFamily="18" charset="0"/>
              </a:rPr>
              <a:t>chính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gian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hạch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           .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31646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980832"/>
              </p:ext>
            </p:extLst>
          </p:nvPr>
        </p:nvGraphicFramePr>
        <p:xfrm>
          <a:off x="6159500" y="14605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6" name="Equation" r:id="rId4" imgW="774364" imgH="253890" progId="">
                  <p:embed/>
                </p:oleObj>
              </mc:Choice>
              <mc:Fallback>
                <p:oleObj name="Equation" r:id="rId4" imgW="774364" imgH="25389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14605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831404"/>
              </p:ext>
            </p:extLst>
          </p:nvPr>
        </p:nvGraphicFramePr>
        <p:xfrm>
          <a:off x="5562600" y="1790700"/>
          <a:ext cx="1346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7" name="Equation" r:id="rId6" imgW="1346200" imgH="342900" progId="">
                  <p:embed/>
                </p:oleObj>
              </mc:Choice>
              <mc:Fallback>
                <p:oleObj name="Equation" r:id="rId6" imgW="1346200" imgH="3429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790700"/>
                        <a:ext cx="1346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148377"/>
              </p:ext>
            </p:extLst>
          </p:nvPr>
        </p:nvGraphicFramePr>
        <p:xfrm>
          <a:off x="457200" y="3086100"/>
          <a:ext cx="1346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8" name="Equation" r:id="rId8" imgW="1346200" imgH="342900" progId="">
                  <p:embed/>
                </p:oleObj>
              </mc:Choice>
              <mc:Fallback>
                <p:oleObj name="Equation" r:id="rId8" imgW="1346200" imgH="3429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086100"/>
                        <a:ext cx="1346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3" name="Object 47"/>
          <p:cNvGraphicFramePr>
            <a:graphicFrameLocks noChangeAspect="1"/>
          </p:cNvGraphicFramePr>
          <p:nvPr/>
        </p:nvGraphicFramePr>
        <p:xfrm>
          <a:off x="3352800" y="4521200"/>
          <a:ext cx="215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9" name="Equation" r:id="rId10" imgW="2159000" imgH="431800" progId="">
                  <p:embed/>
                </p:oleObj>
              </mc:Choice>
              <mc:Fallback>
                <p:oleObj name="Equation" r:id="rId10" imgW="2159000" imgH="4318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521200"/>
                        <a:ext cx="2159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420231"/>
              </p:ext>
            </p:extLst>
          </p:nvPr>
        </p:nvGraphicFramePr>
        <p:xfrm>
          <a:off x="5397500" y="36830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" name="Equation" r:id="rId12" imgW="774364" imgH="253890" progId="">
                  <p:embed/>
                </p:oleObj>
              </mc:Choice>
              <mc:Fallback>
                <p:oleObj name="Equation" r:id="rId12" imgW="774364" imgH="25389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0" y="36830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52696"/>
              </p:ext>
            </p:extLst>
          </p:nvPr>
        </p:nvGraphicFramePr>
        <p:xfrm>
          <a:off x="3733800" y="5981700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name="Equation" r:id="rId14" imgW="1040948" imgH="342751" progId="">
                  <p:embed/>
                </p:oleObj>
              </mc:Choice>
              <mc:Fallback>
                <p:oleObj name="Equation" r:id="rId14" imgW="1040948" imgH="342751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981700"/>
                        <a:ext cx="104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15D75BD3-D190-400D-A684-65232853939B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089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143000"/>
                <a:ext cx="8305800" cy="5334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không</a:t>
                </a:r>
                <a:r>
                  <a:rPr lang="en-US" altLang="en-US" sz="2800" i="1" dirty="0"/>
                  <a:t> </a:t>
                </a:r>
                <a:r>
                  <a:rPr lang="en-US" altLang="en-US" sz="2800" i="1" dirty="0" err="1"/>
                  <a:t>gian</a:t>
                </a:r>
                <a:r>
                  <a:rPr lang="en-US" altLang="en-US" sz="2800" i="1" dirty="0"/>
                  <a:t> con</a:t>
                </a:r>
                <a:r>
                  <a:rPr lang="en-US" altLang="en-US" sz="2800" dirty="0"/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và </a:t>
                </a:r>
                <a:r>
                  <a:rPr lang="vi-VN" altLang="en-US" sz="2800" dirty="0"/>
                  <a:t>được gọi là</a:t>
                </a:r>
                <a:r>
                  <a:rPr lang="en-US" altLang="en-US" sz="2800" dirty="0"/>
                  <a:t>  </a:t>
                </a:r>
                <a:r>
                  <a:rPr lang="en-US" altLang="en-US" sz="2800" b="1" dirty="0" err="1"/>
                  <a:t>không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gian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riêng</a:t>
                </a:r>
                <a:r>
                  <a:rPr lang="en-US" altLang="en-US" sz="2800" b="1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tương ứng với</a:t>
                </a:r>
                <a:r>
                  <a:rPr lang="en-US" altLang="en-US" sz="2800" dirty="0"/>
                  <a:t> </a:t>
                </a:r>
                <a:r>
                  <a:rPr lang="el-GR" altLang="en-US" sz="2800" dirty="0">
                    <a:cs typeface="Times New Roman" panose="02020603050405020304" pitchFamily="18" charset="0"/>
                  </a:rPr>
                  <a:t>λ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riêng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bao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gồm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 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các vectơ riêng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tương ứng với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l-GR" altLang="en-US" sz="2800" dirty="0">
                    <a:cs typeface="Times New Roman" panose="02020603050405020304" pitchFamily="18" charset="0"/>
                  </a:rPr>
                  <a:t>λ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3: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7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riêng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>
                    <a:cs typeface="Times New Roman" panose="02020603050405020304" pitchFamily="18" charset="0"/>
                  </a:rPr>
                  <a:t>    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>
                    <a:cs typeface="Times New Roman" panose="02020603050405020304" pitchFamily="18" charset="0"/>
                  </a:rPr>
                  <a:t>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các vectơ riêng tương ứng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  <a:endParaRPr lang="el-GR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208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143000"/>
                <a:ext cx="8305800" cy="5334000"/>
              </a:xfrm>
              <a:blipFill>
                <a:blip r:embed="rId3"/>
                <a:stretch>
                  <a:fillRect l="-1322" t="-1257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0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759486"/>
              </p:ext>
            </p:extLst>
          </p:nvPr>
        </p:nvGraphicFramePr>
        <p:xfrm>
          <a:off x="3124200" y="4724400"/>
          <a:ext cx="1841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4" imgW="1841500" imgH="1143000" progId="">
                  <p:embed/>
                </p:oleObj>
              </mc:Choice>
              <mc:Fallback>
                <p:oleObj name="Equation" r:id="rId4" imgW="1841500" imgH="11430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724400"/>
                        <a:ext cx="18415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4C1C65A2-B99D-4E81-A1C7-1CA828080737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p:sp>
        <p:nvSpPr>
          <p:cNvPr id="72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7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		(1)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nghiệm tầm thường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Nhưng</a:t>
            </a:r>
            <a:r>
              <a:rPr lang="en-US" altLang="en-US" sz="2800" dirty="0"/>
              <a:t> (1)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          , hay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	(2)</a:t>
            </a:r>
          </a:p>
          <a:p>
            <a:pPr eaLnBrk="1" hangingPunct="1"/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giải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 thuần nhất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endParaRPr lang="en-US" altLang="en-US" sz="2800" dirty="0"/>
          </a:p>
        </p:txBody>
      </p:sp>
      <p:graphicFrame>
        <p:nvGraphicFramePr>
          <p:cNvPr id="721924" name="Object 4"/>
          <p:cNvGraphicFramePr>
            <a:graphicFrameLocks noChangeAspect="1"/>
          </p:cNvGraphicFramePr>
          <p:nvPr/>
        </p:nvGraphicFramePr>
        <p:xfrm>
          <a:off x="3657600" y="2387600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0" name="Equation" r:id="rId3" imgW="1371600" imgH="342900" progId="">
                  <p:embed/>
                </p:oleObj>
              </mc:Choice>
              <mc:Fallback>
                <p:oleObj name="Equation" r:id="rId3" imgW="1371600" imgH="3429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387600"/>
                        <a:ext cx="1371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622993"/>
              </p:ext>
            </p:extLst>
          </p:nvPr>
        </p:nvGraphicFramePr>
        <p:xfrm>
          <a:off x="4927600" y="3416300"/>
          <a:ext cx="193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1" name="Equation" r:id="rId5" imgW="1930400" imgH="342900" progId="">
                  <p:embed/>
                </p:oleObj>
              </mc:Choice>
              <mc:Fallback>
                <p:oleObj name="Equation" r:id="rId5" imgW="1930400" imgH="3429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3416300"/>
                        <a:ext cx="1930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6" name="Object 6"/>
          <p:cNvGraphicFramePr>
            <a:graphicFrameLocks noChangeAspect="1"/>
          </p:cNvGraphicFramePr>
          <p:nvPr/>
        </p:nvGraphicFramePr>
        <p:xfrm>
          <a:off x="3124200" y="3911600"/>
          <a:ext cx="218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2" name="Equation" r:id="rId7" imgW="2184400" imgH="431800" progId="">
                  <p:embed/>
                </p:oleObj>
              </mc:Choice>
              <mc:Fallback>
                <p:oleObj name="Equation" r:id="rId7" imgW="2184400" imgH="4318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911600"/>
                        <a:ext cx="2184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7" name="Object 7"/>
          <p:cNvGraphicFramePr>
            <a:graphicFrameLocks noChangeAspect="1"/>
          </p:cNvGraphicFramePr>
          <p:nvPr/>
        </p:nvGraphicFramePr>
        <p:xfrm>
          <a:off x="1295400" y="5105400"/>
          <a:ext cx="6108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Equation" r:id="rId9" imgW="6108700" imgH="1143000" progId="">
                  <p:embed/>
                </p:oleObj>
              </mc:Choice>
              <mc:Fallback>
                <p:oleObj name="Equation" r:id="rId9" imgW="6108700" imgH="11430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105400"/>
                        <a:ext cx="61087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051A7B0E-5B0F-4447-9A91-90A09537AD0D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           </a:t>
            </a:r>
            <a:r>
              <a:rPr lang="en-US" altLang="en-US" sz="2800" dirty="0" err="1"/>
              <a:t>hiển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phụ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(2)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nghiệm tầm thường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 riêng tương ứng</a:t>
            </a:r>
            <a:r>
              <a:rPr lang="en-US" altLang="en-US" sz="2800" dirty="0"/>
              <a:t>, dung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: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 riêng</a:t>
            </a:r>
            <a:r>
              <a:rPr lang="en-US" altLang="en-US" sz="2800" dirty="0"/>
              <a:t> </a:t>
            </a:r>
            <a:r>
              <a:rPr lang="vi-VN" altLang="en-US" sz="2800" dirty="0"/>
              <a:t>tương ứng với</a:t>
            </a:r>
            <a:r>
              <a:rPr lang="en-US" altLang="en-US" sz="2800" dirty="0"/>
              <a:t>          .</a:t>
            </a:r>
          </a:p>
        </p:txBody>
      </p:sp>
      <p:graphicFrame>
        <p:nvGraphicFramePr>
          <p:cNvPr id="7229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571139"/>
              </p:ext>
            </p:extLst>
          </p:nvPr>
        </p:nvGraphicFramePr>
        <p:xfrm>
          <a:off x="2667000" y="1270000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Equation" r:id="rId3" imgW="1066800" imgH="342900" progId="">
                  <p:embed/>
                </p:oleObj>
              </mc:Choice>
              <mc:Fallback>
                <p:oleObj name="Equation" r:id="rId3" imgW="1066800" imgH="3429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270000"/>
                        <a:ext cx="1066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49" name="Object 5"/>
          <p:cNvGraphicFramePr>
            <a:graphicFrameLocks noChangeAspect="1"/>
          </p:cNvGraphicFramePr>
          <p:nvPr/>
        </p:nvGraphicFramePr>
        <p:xfrm>
          <a:off x="2286000" y="2895600"/>
          <a:ext cx="4521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Equation" r:id="rId5" imgW="4521200" imgH="1143000" progId="">
                  <p:embed/>
                </p:oleObj>
              </mc:Choice>
              <mc:Fallback>
                <p:oleObj name="Equation" r:id="rId5" imgW="4521200" imgH="11430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895600"/>
                        <a:ext cx="45212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202258"/>
              </p:ext>
            </p:extLst>
          </p:nvPr>
        </p:nvGraphicFramePr>
        <p:xfrm>
          <a:off x="4953000" y="4013200"/>
          <a:ext cx="901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Equation" r:id="rId7" imgW="901700" imgH="1143000" progId="">
                  <p:embed/>
                </p:oleObj>
              </mc:Choice>
              <mc:Fallback>
                <p:oleObj name="Equation" r:id="rId7" imgW="901700" imgH="1143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013200"/>
                        <a:ext cx="9017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152510"/>
              </p:ext>
            </p:extLst>
          </p:nvPr>
        </p:nvGraphicFramePr>
        <p:xfrm>
          <a:off x="4813300" y="5283200"/>
          <a:ext cx="977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Equation" r:id="rId9" imgW="977476" imgH="482391" progId="">
                  <p:embed/>
                </p:oleObj>
              </mc:Choice>
              <mc:Fallback>
                <p:oleObj name="Equation" r:id="rId9" imgW="977476" imgH="482391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5283200"/>
                        <a:ext cx="977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725660"/>
              </p:ext>
            </p:extLst>
          </p:nvPr>
        </p:nvGraphicFramePr>
        <p:xfrm>
          <a:off x="3048000" y="5680075"/>
          <a:ext cx="83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0" name="Equation" r:id="rId11" imgW="837836" imgH="355446" progId="">
                  <p:embed/>
                </p:oleObj>
              </mc:Choice>
              <mc:Fallback>
                <p:oleObj name="Equation" r:id="rId11" imgW="837836" imgH="355446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680075"/>
                        <a:ext cx="838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09037" y="3236267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9B333A11-3099-4D1A-807E-F7D18F090C06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763000" cy="525780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4:</a:t>
            </a:r>
            <a:r>
              <a:rPr lang="en-US" altLang="en-US" sz="2800" dirty="0"/>
              <a:t> Cho                              .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2.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bổ</a:t>
            </a:r>
            <a:r>
              <a:rPr lang="en-US" altLang="en-US" sz="2800" dirty="0"/>
              <a:t> sung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                     .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72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620276"/>
              </p:ext>
            </p:extLst>
          </p:nvPr>
        </p:nvGraphicFramePr>
        <p:xfrm>
          <a:off x="2590800" y="1130300"/>
          <a:ext cx="26289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Equation" r:id="rId3" imgW="2628900" imgH="1778000" progId="">
                  <p:embed/>
                </p:oleObj>
              </mc:Choice>
              <mc:Fallback>
                <p:oleObj name="Equation" r:id="rId3" imgW="2628900" imgH="1778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130300"/>
                        <a:ext cx="26289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3" name="Object 5"/>
          <p:cNvGraphicFramePr>
            <a:graphicFrameLocks noChangeAspect="1"/>
          </p:cNvGraphicFramePr>
          <p:nvPr/>
        </p:nvGraphicFramePr>
        <p:xfrm>
          <a:off x="685800" y="3810000"/>
          <a:ext cx="78105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5" imgW="7810500" imgH="1778000" progId="">
                  <p:embed/>
                </p:oleObj>
              </mc:Choice>
              <mc:Fallback>
                <p:oleObj name="Equation" r:id="rId5" imgW="7810500" imgH="17780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10000"/>
                        <a:ext cx="78105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136129"/>
              </p:ext>
            </p:extLst>
          </p:nvPr>
        </p:nvGraphicFramePr>
        <p:xfrm>
          <a:off x="5867400" y="5892800"/>
          <a:ext cx="218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quation" r:id="rId7" imgW="2184400" imgH="431800" progId="">
                  <p:embed/>
                </p:oleObj>
              </mc:Choice>
              <mc:Fallback>
                <p:oleObj name="Equation" r:id="rId7" imgW="2184400" imgH="4318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892800"/>
                        <a:ext cx="2184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2B6B4113-5547-4F45-8514-177A837E67A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Tại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rõ</a:t>
            </a:r>
            <a:r>
              <a:rPr lang="en-US" altLang="en-US" sz="2800" dirty="0"/>
              <a:t> rang 2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                      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do.</a:t>
            </a:r>
          </a:p>
          <a:p>
            <a:pPr eaLnBrk="1" hangingPunct="1"/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, </a:t>
            </a:r>
            <a:r>
              <a:rPr lang="en-US" altLang="en-US" sz="2800" i="1" dirty="0"/>
              <a:t>x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x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do.</a:t>
            </a:r>
          </a:p>
        </p:txBody>
      </p:sp>
      <p:graphicFrame>
        <p:nvGraphicFramePr>
          <p:cNvPr id="724996" name="Object 4"/>
          <p:cNvGraphicFramePr>
            <a:graphicFrameLocks noChangeAspect="1"/>
          </p:cNvGraphicFramePr>
          <p:nvPr/>
        </p:nvGraphicFramePr>
        <p:xfrm>
          <a:off x="2057400" y="1143000"/>
          <a:ext cx="4876800" cy="159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Equation" r:id="rId3" imgW="5435600" imgH="1778000" progId="">
                  <p:embed/>
                </p:oleObj>
              </mc:Choice>
              <mc:Fallback>
                <p:oleObj name="Equation" r:id="rId3" imgW="5435600" imgH="1778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143000"/>
                        <a:ext cx="4876800" cy="159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117829"/>
              </p:ext>
            </p:extLst>
          </p:nvPr>
        </p:nvGraphicFramePr>
        <p:xfrm>
          <a:off x="3200400" y="3189287"/>
          <a:ext cx="1981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Equation" r:id="rId5" imgW="2184400" imgH="431800" progId="">
                  <p:embed/>
                </p:oleObj>
              </mc:Choice>
              <mc:Fallback>
                <p:oleObj name="Equation" r:id="rId5" imgW="2184400" imgH="4318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189287"/>
                        <a:ext cx="19812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8" name="Object 6"/>
          <p:cNvGraphicFramePr>
            <a:graphicFrameLocks noChangeAspect="1"/>
          </p:cNvGraphicFramePr>
          <p:nvPr/>
        </p:nvGraphicFramePr>
        <p:xfrm>
          <a:off x="1219200" y="4516438"/>
          <a:ext cx="3810000" cy="169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Equation" r:id="rId7" imgW="4000500" imgH="1778000" progId="">
                  <p:embed/>
                </p:oleObj>
              </mc:Choice>
              <mc:Fallback>
                <p:oleObj name="Equation" r:id="rId7" imgW="4000500" imgH="17780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516438"/>
                        <a:ext cx="3810000" cy="169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48135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043DA80B-77DF-4735-AF07-B18B7D321EAB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6020" name="Rectangle 4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04800" y="1066800"/>
                <a:ext cx="8610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riêng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minh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sau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2 </a:t>
                </a:r>
                <a:r>
                  <a:rPr lang="en-US" altLang="en-US" sz="2800" dirty="0" err="1"/>
                  <a:t>chiều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726020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04800" y="1066800"/>
                <a:ext cx="8610600" cy="5181600"/>
              </a:xfrm>
              <a:blipFill>
                <a:blip r:embed="rId3"/>
                <a:stretch>
                  <a:fillRect l="-120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925015"/>
              </p:ext>
            </p:extLst>
          </p:nvPr>
        </p:nvGraphicFramePr>
        <p:xfrm>
          <a:off x="3429000" y="1913890"/>
          <a:ext cx="1905000" cy="175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Equation" r:id="rId4" imgW="1981200" imgH="1828800" progId="">
                  <p:embed/>
                </p:oleObj>
              </mc:Choice>
              <mc:Fallback>
                <p:oleObj name="Equation" r:id="rId4" imgW="1981200" imgH="18288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913890"/>
                        <a:ext cx="1905000" cy="175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6030" name="Picture 14" descr="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3657600"/>
            <a:ext cx="6096000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1F8CC064-3BC3-499B-8196-F51855F145DA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1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tam </a:t>
            </a:r>
            <a:r>
              <a:rPr lang="en-US" altLang="en-US" sz="2800" dirty="0" err="1"/>
              <a:t>giác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.</a:t>
            </a:r>
          </a:p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giản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xét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       .</a:t>
            </a:r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tam </a:t>
            </a:r>
            <a:r>
              <a:rPr lang="en-US" altLang="en-US" sz="2800" dirty="0" err="1"/>
              <a:t>giác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           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72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147277"/>
              </p:ext>
            </p:extLst>
          </p:nvPr>
        </p:nvGraphicFramePr>
        <p:xfrm>
          <a:off x="7137400" y="2171700"/>
          <a:ext cx="71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Equation" r:id="rId3" imgW="710891" imgH="342751" progId="">
                  <p:embed/>
                </p:oleObj>
              </mc:Choice>
              <mc:Fallback>
                <p:oleObj name="Equation" r:id="rId3" imgW="710891" imgH="342751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00" y="2171700"/>
                        <a:ext cx="711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376373"/>
              </p:ext>
            </p:extLst>
          </p:nvPr>
        </p:nvGraphicFramePr>
        <p:xfrm>
          <a:off x="4673600" y="2667000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Equation" r:id="rId5" imgW="1040948" imgH="342751" progId="">
                  <p:embed/>
                </p:oleObj>
              </mc:Choice>
              <mc:Fallback>
                <p:oleObj name="Equation" r:id="rId5" imgW="1040948" imgH="342751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2667000"/>
                        <a:ext cx="104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0" name="Object 6"/>
          <p:cNvGraphicFramePr>
            <a:graphicFrameLocks noChangeAspect="1"/>
          </p:cNvGraphicFramePr>
          <p:nvPr/>
        </p:nvGraphicFramePr>
        <p:xfrm>
          <a:off x="1676400" y="3048000"/>
          <a:ext cx="5715000" cy="351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Equation" r:id="rId7" imgW="5981700" imgH="3683000" progId="">
                  <p:embed/>
                </p:oleObj>
              </mc:Choice>
              <mc:Fallback>
                <p:oleObj name="Equation" r:id="rId7" imgW="5981700" imgH="36830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48000"/>
                        <a:ext cx="5715000" cy="3519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54FF5656-9F44-4EE9-962A-9A72EAD46EBF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V</a:t>
            </a:r>
            <a:r>
              <a:rPr lang="vi-VN" altLang="en-US" sz="2800" dirty="0"/>
              <a:t>ô hướng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phương trình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nghiệm tầm thường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nghĩa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phương trình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tự</a:t>
            </a:r>
            <a:r>
              <a:rPr lang="en-US" altLang="en-US" sz="2800" dirty="0">
                <a:cs typeface="Times New Roman" panose="02020603050405020304" pitchFamily="18" charset="0"/>
              </a:rPr>
              <a:t> do.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thành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phần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cs typeface="Times New Roman" panose="02020603050405020304" pitchFamily="18" charset="0"/>
              </a:rPr>
              <a:t> 0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           , </a:t>
            </a:r>
            <a:r>
              <a:rPr lang="en-US" altLang="en-US" sz="2800" dirty="0" err="1">
                <a:cs typeface="Times New Roman" panose="02020603050405020304" pitchFamily="18" charset="0"/>
              </a:rPr>
              <a:t>dễ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thấy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rằng</a:t>
            </a:r>
            <a:r>
              <a:rPr lang="en-US" altLang="en-US" sz="2800" dirty="0">
                <a:cs typeface="Times New Roman" panose="02020603050405020304" pitchFamily="18" charset="0"/>
              </a:rPr>
              <a:t>,              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tự</a:t>
            </a:r>
            <a:r>
              <a:rPr lang="en-US" altLang="en-US" sz="2800" dirty="0">
                <a:cs typeface="Times New Roman" panose="02020603050405020304" pitchFamily="18" charset="0"/>
              </a:rPr>
              <a:t> do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ít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thành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phần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đường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chéo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	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cs typeface="Times New Roman" panose="02020603050405020304" pitchFamily="18" charset="0"/>
              </a:rPr>
              <a:t> 0.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>
                <a:cs typeface="Times New Roman" panose="02020603050405020304" pitchFamily="18" charset="0"/>
              </a:rPr>
              <a:t>Điều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này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xảy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thành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phần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11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22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33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.       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72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020321"/>
              </p:ext>
            </p:extLst>
          </p:nvPr>
        </p:nvGraphicFramePr>
        <p:xfrm>
          <a:off x="2819400" y="1790700"/>
          <a:ext cx="215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4" name="Equation" r:id="rId3" imgW="2159000" imgH="431800" progId="">
                  <p:embed/>
                </p:oleObj>
              </mc:Choice>
              <mc:Fallback>
                <p:oleObj name="Equation" r:id="rId3" imgW="2159000" imgH="4318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790700"/>
                        <a:ext cx="2159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645595"/>
              </p:ext>
            </p:extLst>
          </p:nvPr>
        </p:nvGraphicFramePr>
        <p:xfrm>
          <a:off x="5943600" y="3467100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5" name="Equation" r:id="rId5" imgW="1040948" imgH="342751" progId="">
                  <p:embed/>
                </p:oleObj>
              </mc:Choice>
              <mc:Fallback>
                <p:oleObj name="Equation" r:id="rId5" imgW="1040948" imgH="342751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467100"/>
                        <a:ext cx="104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0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038969"/>
              </p:ext>
            </p:extLst>
          </p:nvPr>
        </p:nvGraphicFramePr>
        <p:xfrm>
          <a:off x="1651000" y="3886200"/>
          <a:ext cx="215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" name="Equation" r:id="rId7" imgW="2159000" imgH="431800" progId="">
                  <p:embed/>
                </p:oleObj>
              </mc:Choice>
              <mc:Fallback>
                <p:oleObj name="Equation" r:id="rId7" imgW="2159000" imgH="4318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3886200"/>
                        <a:ext cx="2159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0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08365"/>
              </p:ext>
            </p:extLst>
          </p:nvPr>
        </p:nvGraphicFramePr>
        <p:xfrm>
          <a:off x="838200" y="4648200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name="Equation" r:id="rId9" imgW="1040948" imgH="342751" progId="">
                  <p:embed/>
                </p:oleObj>
              </mc:Choice>
              <mc:Fallback>
                <p:oleObj name="Equation" r:id="rId9" imgW="1040948" imgH="342751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648200"/>
                        <a:ext cx="104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1E6AC4D0-CD96-4B57-82AA-55F0E8704328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82000" cy="5257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2: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 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r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thì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r</a:t>
            </a:r>
            <a:r>
              <a:rPr lang="en-US" altLang="en-US" sz="2800" dirty="0">
                <a:cs typeface="Times New Roman" panose="02020603050405020304" pitchFamily="18" charset="0"/>
              </a:rPr>
              <a:t>}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</a:p>
          <a:p>
            <a:pPr marL="0" indent="0" eaLnBrk="1" hangingPunct="1">
              <a:buNone/>
            </a:pPr>
            <a:r>
              <a:rPr lang="en-US" altLang="en-US" sz="2800" b="1" dirty="0" err="1">
                <a:cs typeface="Times New Roman" panose="02020603050405020304" pitchFamily="18" charset="0"/>
              </a:rPr>
              <a:t>Chứng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minh</a:t>
            </a:r>
            <a:r>
              <a:rPr lang="en-US" altLang="en-US" sz="2800" b="1" dirty="0"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sử</a:t>
            </a:r>
            <a:r>
              <a:rPr lang="en-US" altLang="en-US" sz="2800" dirty="0">
                <a:cs typeface="Times New Roman" panose="02020603050405020304" pitchFamily="18" charset="0"/>
              </a:rPr>
              <a:t>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r</a:t>
            </a:r>
            <a:r>
              <a:rPr lang="en-US" altLang="en-US" sz="2800" dirty="0">
                <a:cs typeface="Times New Roman" panose="02020603050405020304" pitchFamily="18" charset="0"/>
              </a:rPr>
              <a:t>} </a:t>
            </a:r>
            <a:r>
              <a:rPr lang="en-US" altLang="en-US" sz="2800" dirty="0" err="1">
                <a:cs typeface="Times New Roman" panose="02020603050405020304" pitchFamily="18" charset="0"/>
              </a:rPr>
              <a:t>phụ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thuộc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lí</a:t>
            </a:r>
            <a:r>
              <a:rPr lang="en-US" altLang="en-US" sz="2800" dirty="0">
                <a:cs typeface="Times New Roman" panose="02020603050405020304" pitchFamily="18" charset="0"/>
              </a:rPr>
              <a:t> 7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Mục</a:t>
            </a:r>
            <a:r>
              <a:rPr lang="en-US" altLang="en-US" sz="2800" dirty="0">
                <a:cs typeface="Times New Roman" panose="02020603050405020304" pitchFamily="18" charset="0"/>
              </a:rPr>
              <a:t> 1.7 </a:t>
            </a:r>
            <a:r>
              <a:rPr lang="en-US" altLang="en-US" sz="2800" dirty="0" err="1">
                <a:cs typeface="Times New Roman" panose="02020603050405020304" pitchFamily="18" charset="0"/>
              </a:rPr>
              <a:t>nói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tổ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trước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nó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Cho </a:t>
            </a:r>
            <a:r>
              <a:rPr lang="en-US" altLang="en-US" sz="2800" i="1" dirty="0"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bé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sao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tổ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vectơ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) 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trước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nó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73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567362"/>
              </p:ext>
            </p:extLst>
          </p:nvPr>
        </p:nvGraphicFramePr>
        <p:xfrm>
          <a:off x="7467600" y="18288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8288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449104"/>
              </p:ext>
            </p:extLst>
          </p:nvPr>
        </p:nvGraphicFramePr>
        <p:xfrm>
          <a:off x="5410200" y="4572000"/>
          <a:ext cx="596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Equation" r:id="rId5" imgW="596900" imgH="520700" progId="">
                  <p:embed/>
                </p:oleObj>
              </mc:Choice>
              <mc:Fallback>
                <p:oleObj name="Equation" r:id="rId5" imgW="596900" imgH="5207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572000"/>
                        <a:ext cx="596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56CC52C3-0306-4A73-BB0E-CF1DBE6FE3A6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11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71600"/>
                <a:ext cx="8229600" cy="4876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tồn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vô hướng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c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i="1" dirty="0" err="1"/>
                  <a:t>c</a:t>
                </a:r>
                <a:r>
                  <a:rPr lang="en-US" altLang="en-US" sz="2800" i="1" baseline="-25000" dirty="0" err="1"/>
                  <a:t>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(5)</a:t>
                </a:r>
              </a:p>
              <a:p>
                <a:pPr eaLnBrk="1" hangingPunct="1"/>
                <a:r>
                  <a:rPr lang="en-US" altLang="en-US" sz="2800" dirty="0" err="1"/>
                  <a:t>Nhân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vế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(5)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dụng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thông</a:t>
                </a:r>
                <a:r>
                  <a:rPr lang="en-US" altLang="en-US" sz="2800" dirty="0"/>
                  <a:t> tin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en-US" sz="2800" dirty="0"/>
                  <a:t> với mỗi </a:t>
                </a:r>
                <a:r>
                  <a:rPr lang="en-US" altLang="en-US" sz="2800" i="1" dirty="0"/>
                  <a:t>k</a:t>
                </a:r>
                <a:r>
                  <a:rPr lang="en-US" altLang="en-US" sz="2800" dirty="0"/>
                  <a:t>, ta </a:t>
                </a:r>
                <a:r>
                  <a:rPr lang="en-US" altLang="en-US" sz="2800" dirty="0" err="1"/>
                  <a:t>nhận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                                                                          	 (6)</a:t>
                </a:r>
              </a:p>
              <a:p>
                <a:pPr eaLnBrk="1" hangingPunct="1"/>
                <a:r>
                  <a:rPr lang="en-US" altLang="en-US" sz="2800" dirty="0" err="1"/>
                  <a:t>Nhân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vế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(5)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trừ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kết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quả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(6), ta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>
                    <a:cs typeface="Times New Roman" panose="02020603050405020304" pitchFamily="18" charset="0"/>
                  </a:rPr>
                  <a:t>                                                                               	 (7)</a:t>
                </a:r>
                <a:endParaRPr lang="el-GR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311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229600" cy="4876800"/>
              </a:xfrm>
              <a:blipFill>
                <a:blip r:embed="rId3"/>
                <a:stretch>
                  <a:fillRect l="-1259" t="-1250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1140" name="Object 4"/>
          <p:cNvGraphicFramePr>
            <a:graphicFrameLocks noChangeAspect="1"/>
          </p:cNvGraphicFramePr>
          <p:nvPr/>
        </p:nvGraphicFramePr>
        <p:xfrm>
          <a:off x="2667000" y="1930400"/>
          <a:ext cx="3365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4" name="Equation" r:id="rId4" imgW="3365500" imgH="520700" progId="">
                  <p:embed/>
                </p:oleObj>
              </mc:Choice>
              <mc:Fallback>
                <p:oleObj name="Equation" r:id="rId4" imgW="3365500" imgH="5207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30400"/>
                        <a:ext cx="33655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900726"/>
              </p:ext>
            </p:extLst>
          </p:nvPr>
        </p:nvGraphicFramePr>
        <p:xfrm>
          <a:off x="2171700" y="3302000"/>
          <a:ext cx="46101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5" name="Equation" r:id="rId6" imgW="4610100" imgH="1193800" progId="">
                  <p:embed/>
                </p:oleObj>
              </mc:Choice>
              <mc:Fallback>
                <p:oleObj name="Equation" r:id="rId6" imgW="4610100" imgH="11938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302000"/>
                        <a:ext cx="4610100" cy="1193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1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173763"/>
              </p:ext>
            </p:extLst>
          </p:nvPr>
        </p:nvGraphicFramePr>
        <p:xfrm>
          <a:off x="4349750" y="4413250"/>
          <a:ext cx="584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6" name="Equation" r:id="rId8" imgW="583947" imgH="520474" progId="">
                  <p:embed/>
                </p:oleObj>
              </mc:Choice>
              <mc:Fallback>
                <p:oleObj name="Equation" r:id="rId8" imgW="583947" imgH="520474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0" y="4413250"/>
                        <a:ext cx="584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1143" name="Object 7"/>
          <p:cNvGraphicFramePr>
            <a:graphicFrameLocks noChangeAspect="1"/>
          </p:cNvGraphicFramePr>
          <p:nvPr/>
        </p:nvGraphicFramePr>
        <p:xfrm>
          <a:off x="1143000" y="5346700"/>
          <a:ext cx="6261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7" name="Equation" r:id="rId10" imgW="6261100" imgH="520700" progId="">
                  <p:embed/>
                </p:oleObj>
              </mc:Choice>
              <mc:Fallback>
                <p:oleObj name="Equation" r:id="rId10" imgW="6261100" imgH="5207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346700"/>
                        <a:ext cx="62611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5B973C96-F697-4985-9280-AEFAF615E9A8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GIÁ TRỊ RIÊNG</a:t>
            </a:r>
            <a:endParaRPr lang="en-US" altLang="en-US" dirty="0"/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trọng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(7) </a:t>
            </a:r>
            <a:r>
              <a:rPr lang="en-US" altLang="en-US" sz="2800" dirty="0" err="1"/>
              <a:t>đều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0.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Nhưng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              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0,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      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Nhưng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(5) </a:t>
            </a: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      , </a:t>
            </a: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73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582621"/>
              </p:ext>
            </p:extLst>
          </p:nvPr>
        </p:nvGraphicFramePr>
        <p:xfrm>
          <a:off x="4521200" y="3048000"/>
          <a:ext cx="1270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Equation" r:id="rId3" imgW="1269449" imgH="520474" progId="">
                  <p:embed/>
                </p:oleObj>
              </mc:Choice>
              <mc:Fallback>
                <p:oleObj name="Equation" r:id="rId3" imgW="1269449" imgH="520474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048000"/>
                        <a:ext cx="1270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5" name="Object 5"/>
          <p:cNvGraphicFramePr>
            <a:graphicFrameLocks noChangeAspect="1"/>
          </p:cNvGraphicFramePr>
          <p:nvPr/>
        </p:nvGraphicFramePr>
        <p:xfrm>
          <a:off x="1905000" y="4470400"/>
          <a:ext cx="901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Equation" r:id="rId5" imgW="901309" imgH="482391" progId="">
                  <p:embed/>
                </p:oleObj>
              </mc:Choice>
              <mc:Fallback>
                <p:oleObj name="Equation" r:id="rId5" imgW="901309" imgH="482391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470400"/>
                        <a:ext cx="901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6" name="Object 6"/>
          <p:cNvGraphicFramePr>
            <a:graphicFrameLocks noChangeAspect="1"/>
          </p:cNvGraphicFramePr>
          <p:nvPr/>
        </p:nvGraphicFramePr>
        <p:xfrm>
          <a:off x="3429000" y="4508500"/>
          <a:ext cx="1587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Equation" r:id="rId7" imgW="1587500" imgH="419100" progId="">
                  <p:embed/>
                </p:oleObj>
              </mc:Choice>
              <mc:Fallback>
                <p:oleObj name="Equation" r:id="rId7" imgW="1587500" imgH="4191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508500"/>
                        <a:ext cx="1587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10357"/>
              </p:ext>
            </p:extLst>
          </p:nvPr>
        </p:nvGraphicFramePr>
        <p:xfrm>
          <a:off x="4724400" y="5499100"/>
          <a:ext cx="1219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5" name="Equation" r:id="rId9" imgW="1218671" imgH="520474" progId="">
                  <p:embed/>
                </p:oleObj>
              </mc:Choice>
              <mc:Fallback>
                <p:oleObj name="Equation" r:id="rId9" imgW="1218671" imgH="520474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499100"/>
                        <a:ext cx="1219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BE8E5D7C-B5D2-4D5D-90D1-FA389092F754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PHƯƠNG TRÌNH VI PHÂN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31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219200"/>
                <a:ext cx="8458200" cy="51054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vậy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b="1" dirty="0" err="1"/>
                  <a:t>v</a:t>
                </a:r>
                <a:r>
                  <a:rPr lang="en-US" altLang="en-US" sz="2800" i="1" baseline="-25000" dirty="0" err="1"/>
                  <a:t>r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phụ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phải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. </a:t>
                </a:r>
              </a:p>
              <a:p>
                <a:pPr marL="0" indent="0" eaLnBrk="1" hangingPunct="1">
                  <a:buNone/>
                </a:pPr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(8)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môt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tả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truy</a:t>
                </a:r>
                <a:r>
                  <a:rPr lang="en-US" altLang="en-US" sz="2800" i="1" dirty="0"/>
                  <a:t> </a:t>
                </a:r>
                <a:r>
                  <a:rPr lang="en-US" altLang="en-US" sz="2800" i="1" dirty="0" err="1"/>
                  <a:t>hồi</a:t>
                </a:r>
                <a:r>
                  <a:rPr lang="en-US" altLang="en-US" sz="2800" i="1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dãy</a:t>
                </a:r>
                <a:r>
                  <a:rPr lang="en-US" altLang="en-US" sz="2800" dirty="0"/>
                  <a:t> {</a:t>
                </a:r>
                <a:r>
                  <a:rPr lang="en-US" altLang="en-US" sz="2800" i="1" dirty="0" err="1"/>
                  <a:t>x</a:t>
                </a:r>
                <a:r>
                  <a:rPr lang="en-US" altLang="en-US" sz="2800" i="1" baseline="-25000" dirty="0" err="1"/>
                  <a:t>k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								(8)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(8)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mô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tả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tường</a:t>
                </a:r>
                <a:r>
                  <a:rPr lang="en-US" altLang="en-US" sz="2800" i="1" dirty="0"/>
                  <a:t> </a:t>
                </a:r>
                <a:r>
                  <a:rPr lang="en-US" altLang="en-US" sz="2800" i="1" dirty="0" err="1"/>
                  <a:t>minh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{</a:t>
                </a:r>
                <a:r>
                  <a:rPr lang="en-US" altLang="en-US" sz="2800" i="1" dirty="0" err="1"/>
                  <a:t>x</a:t>
                </a:r>
                <a:r>
                  <a:rPr lang="en-US" altLang="en-US" sz="2800" i="1" baseline="-25000" dirty="0" err="1"/>
                  <a:t>k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x</a:t>
                </a:r>
                <a:r>
                  <a:rPr lang="en-US" altLang="en-US" sz="2800" i="1" baseline="-25000" dirty="0" err="1"/>
                  <a:t>k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phụ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tiếp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vào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hay </a:t>
                </a:r>
                <a:r>
                  <a:rPr lang="en-US" altLang="en-US" sz="2800" dirty="0" err="1"/>
                  <a:t>vào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trước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dãy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phụ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đầu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baseline="-25000" dirty="0"/>
                  <a:t>0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endParaRPr lang="en-US" altLang="en-US" sz="2800" dirty="0"/>
              </a:p>
            </p:txBody>
          </p:sp>
        </mc:Choice>
        <mc:Fallback>
          <p:sp>
            <p:nvSpPr>
              <p:cNvPr id="7331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219200"/>
                <a:ext cx="8458200" cy="5105400"/>
              </a:xfrm>
              <a:blipFill>
                <a:blip r:embed="rId3"/>
                <a:stretch>
                  <a:fillRect l="-1298" t="-1193" r="-937" b="-5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31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014745"/>
              </p:ext>
            </p:extLst>
          </p:nvPr>
        </p:nvGraphicFramePr>
        <p:xfrm>
          <a:off x="2817091" y="2865466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" name="Equation" r:id="rId4" imgW="774364" imgH="253890" progId="">
                  <p:embed/>
                </p:oleObj>
              </mc:Choice>
              <mc:Fallback>
                <p:oleObj name="Equation" r:id="rId4" imgW="774364" imgH="25389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091" y="2865466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730450"/>
              </p:ext>
            </p:extLst>
          </p:nvPr>
        </p:nvGraphicFramePr>
        <p:xfrm>
          <a:off x="2228850" y="3733800"/>
          <a:ext cx="1638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" name="Equation" r:id="rId6" imgW="1637589" imgH="482391" progId="">
                  <p:embed/>
                </p:oleObj>
              </mc:Choice>
              <mc:Fallback>
                <p:oleObj name="Equation" r:id="rId6" imgW="1637589" imgH="482391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3733800"/>
                        <a:ext cx="1638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609700"/>
              </p:ext>
            </p:extLst>
          </p:nvPr>
        </p:nvGraphicFramePr>
        <p:xfrm>
          <a:off x="4572000" y="3810000"/>
          <a:ext cx="210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1" name="Equation" r:id="rId8" imgW="2108200" imgH="431800" progId="">
                  <p:embed/>
                </p:oleObj>
              </mc:Choice>
              <mc:Fallback>
                <p:oleObj name="Equation" r:id="rId8" imgW="2108200" imgH="4318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810000"/>
                        <a:ext cx="21082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5.1- </a:t>
            </a:r>
            <a:fld id="{95EA8605-3571-43D2-8AF5-9960A8FCB76F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VECTƠ RIÊNG VÀ PHƯƠNG TRÌNH VI PHÂN</a:t>
            </a:r>
            <a:endParaRPr lang="en-US" altLang="en-US" dirty="0"/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(8)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 riêng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nó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                                       	(9)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Dãy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này</a:t>
            </a:r>
            <a:r>
              <a:rPr lang="en-US" altLang="en-US" sz="2800">
                <a:cs typeface="Times New Roman" panose="02020603050405020304" pitchFamily="18" charset="0"/>
              </a:rPr>
              <a:t> 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nghiệm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endParaRPr lang="el-GR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/>
          </a:p>
        </p:txBody>
      </p:sp>
      <p:graphicFrame>
        <p:nvGraphicFramePr>
          <p:cNvPr id="734212" name="Object 4"/>
          <p:cNvGraphicFramePr>
            <a:graphicFrameLocks noChangeAspect="1"/>
          </p:cNvGraphicFramePr>
          <p:nvPr/>
        </p:nvGraphicFramePr>
        <p:xfrm>
          <a:off x="2438400" y="2984500"/>
          <a:ext cx="1511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Equation" r:id="rId3" imgW="1511300" imgH="508000" progId="">
                  <p:embed/>
                </p:oleObj>
              </mc:Choice>
              <mc:Fallback>
                <p:oleObj name="Equation" r:id="rId3" imgW="1511300" imgH="508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984500"/>
                        <a:ext cx="1511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3" name="Object 5"/>
          <p:cNvGraphicFramePr>
            <a:graphicFrameLocks noChangeAspect="1"/>
          </p:cNvGraphicFramePr>
          <p:nvPr/>
        </p:nvGraphicFramePr>
        <p:xfrm>
          <a:off x="4191000" y="3035300"/>
          <a:ext cx="1866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Equation" r:id="rId5" imgW="1866900" imgH="431800" progId="">
                  <p:embed/>
                </p:oleObj>
              </mc:Choice>
              <mc:Fallback>
                <p:oleObj name="Equation" r:id="rId5" imgW="1866900" imgH="4318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035300"/>
                        <a:ext cx="1866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4" name="Object 6"/>
          <p:cNvGraphicFramePr>
            <a:graphicFrameLocks noChangeAspect="1"/>
          </p:cNvGraphicFramePr>
          <p:nvPr/>
        </p:nvGraphicFramePr>
        <p:xfrm>
          <a:off x="685800" y="4648200"/>
          <a:ext cx="7962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Equation" r:id="rId7" imgW="7962900" imgH="508000" progId="">
                  <p:embed/>
                </p:oleObj>
              </mc:Choice>
              <mc:Fallback>
                <p:oleObj name="Equation" r:id="rId7" imgW="7962900" imgH="5080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648200"/>
                        <a:ext cx="79629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12680</TotalTime>
  <Words>873</Words>
  <Application>Microsoft Office PowerPoint</Application>
  <PresentationFormat>On-screen Show (4:3)</PresentationFormat>
  <Paragraphs>132</Paragraphs>
  <Slides>15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Giá Trị Riêng và Vectơ Riêng</vt:lpstr>
      <vt:lpstr>VECTƠ RIÊNG VÀ GIÁ TRỊ RIÊNG</vt:lpstr>
      <vt:lpstr>VECTƠ RIÊNG VÀ GIÁ TRỊ RIÊNG</vt:lpstr>
      <vt:lpstr>VECTƠ RIÊNG VÀ GIÁ TRỊ RIÊNG</vt:lpstr>
      <vt:lpstr>VECTƠ RIÊNG VÀ GIÁ TRỊ RIÊNG</vt:lpstr>
      <vt:lpstr>VECTƠ RIÊNG VÀ GIÁ TRỊ RIÊNG</vt:lpstr>
      <vt:lpstr>VECTƠ RIÊNG VÀ GIÁ TRỊ RIÊNG</vt:lpstr>
      <vt:lpstr>VECTƠ RIÊNG VÀ GIÁ TRỊ RIÊNG</vt:lpstr>
      <vt:lpstr>VECTƠ RIÊNG VÀ GIÁ TRỊ RIÊNG</vt:lpstr>
      <vt:lpstr>VECTƠ RIÊNG VÀ GIÁ TRỊ RIÊNG</vt:lpstr>
      <vt:lpstr>VECTƠ RIÊNG VÀ GIÁ TRỊ RIÊNG</vt:lpstr>
      <vt:lpstr>VECTƠ RIÊNG VÀ GIÁ TRỊ RIÊNG</vt:lpstr>
      <vt:lpstr>VECTƠ RIÊNG VÀ GIÁ TRỊ RIÊNG</vt:lpstr>
      <vt:lpstr>VECTƠ RIÊNG VÀ PHƯƠNG TRÌNH VI PHÂN</vt:lpstr>
      <vt:lpstr>VECTƠ RIÊNG VÀ PHƯƠNG TRÌNH VI PHÂN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1250</cp:revision>
  <dcterms:created xsi:type="dcterms:W3CDTF">2005-10-22T18:34:54Z</dcterms:created>
  <dcterms:modified xsi:type="dcterms:W3CDTF">2016-08-04T04:54:40Z</dcterms:modified>
</cp:coreProperties>
</file>