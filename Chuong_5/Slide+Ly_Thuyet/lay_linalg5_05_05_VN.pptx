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9"/>
  </p:notesMasterIdLst>
  <p:sldIdLst>
    <p:sldId id="430" r:id="rId2"/>
    <p:sldId id="431" r:id="rId3"/>
    <p:sldId id="432" r:id="rId4"/>
    <p:sldId id="433" r:id="rId5"/>
    <p:sldId id="434" r:id="rId6"/>
    <p:sldId id="435" r:id="rId7"/>
    <p:sldId id="436" r:id="rId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7C97"/>
    <a:srgbClr val="D7791B"/>
    <a:srgbClr val="4C7816"/>
    <a:srgbClr val="528218"/>
    <a:srgbClr val="B6CEAA"/>
    <a:srgbClr val="ADC8A0"/>
    <a:srgbClr val="CD80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15" autoAdjust="0"/>
    <p:restoredTop sz="86413" autoAdjust="0"/>
  </p:normalViewPr>
  <p:slideViewPr>
    <p:cSldViewPr>
      <p:cViewPr varScale="1">
        <p:scale>
          <a:sx n="92" d="100"/>
          <a:sy n="92" d="100"/>
        </p:scale>
        <p:origin x="1406" y="72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-953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F54F01C-9DAE-4834-B3FA-3D4760BB017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404709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A9C20A67-9360-415D-8A66-BED502C09899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37597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86839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38798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06634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37714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04434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48654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 dirty="0">
                <a:solidFill>
                  <a:srgbClr val="4C7816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 dirty="0">
                <a:solidFill>
                  <a:srgbClr val="CD8019"/>
                </a:solidFill>
                <a:latin typeface="Arial" panose="020B0604020202020204" pitchFamily="34" charset="0"/>
              </a:rPr>
              <a:t>5.5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000" y="2268506"/>
            <a:ext cx="2971800" cy="371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48795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E90E932-D1B3-4534-813D-FD4EBE5E39C2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2683769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611AF1AB-C2F6-4C2D-A675-8FAD64D2E68D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92826268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3986BFB6-CA82-4812-BE97-DA0F65491B7A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31710800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E6DAF540-46D9-4094-8FE8-0834E2370D1A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56966948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487CA900-6A0F-4284-BBF9-FA441424FECD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6714635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D08BDEBC-B0EE-4876-A910-04FE4D7A43B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9443986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8667CB26-4B9D-4316-91C7-62ACA1D37795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05084770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3411FFC-3F1F-41E6-A5CD-496F1593754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87073260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666FB77A-CE67-40A9-945B-251200CD2367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07739980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40906E5-C24C-4790-AE21-7B84BA83C02F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21629134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E7008AD-6ACD-4396-A6D7-C548241CE52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Giá</a:t>
            </a:r>
            <a:r>
              <a:rPr lang="en-US" altLang="en-US" dirty="0"/>
              <a:t> </a:t>
            </a:r>
            <a:r>
              <a:rPr lang="en-US" altLang="en-US" dirty="0" err="1"/>
              <a:t>Trị</a:t>
            </a:r>
            <a:r>
              <a:rPr lang="en-US" altLang="en-US" dirty="0"/>
              <a:t> </a:t>
            </a:r>
            <a:r>
              <a:rPr lang="en-US" altLang="en-US" dirty="0" err="1"/>
              <a:t>Riêng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Vectơ</a:t>
            </a:r>
            <a:r>
              <a:rPr lang="en-US" altLang="en-US" dirty="0"/>
              <a:t> </a:t>
            </a:r>
            <a:r>
              <a:rPr lang="en-US" altLang="en-US" dirty="0" err="1"/>
              <a:t>Riêng</a:t>
            </a:r>
            <a:endParaRPr lang="en-US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+mj-lt"/>
              </a:rPr>
              <a:t>GIÁ TRỊ RIÊNG PHỨC</a:t>
            </a:r>
          </a:p>
        </p:txBody>
      </p:sp>
    </p:spTree>
    <p:extLst>
      <p:ext uri="{BB962C8B-B14F-4D97-AF65-F5344CB8AC3E}">
        <p14:creationId xmlns:p14="http://schemas.microsoft.com/office/powerpoint/2010/main" val="142395181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5.5-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GIÁ TRỊ RIÊNG PHỨC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1371600"/>
                <a:ext cx="83820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Lí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thuyết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về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trị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riêng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-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vectơ riêng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phát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triển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7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áp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dụng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tốt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ℂ</m:t>
                        </m:r>
                      </m:e>
                      <m:sup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Nên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vô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hướng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phức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thỏa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mãn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det(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altLang="en-US" sz="2700" i="1" dirty="0">
                    <a:cs typeface="Times New Roman" panose="02020603050405020304" pitchFamily="18" charset="0"/>
                  </a:rPr>
                  <a:t>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) = 0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chỉ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vectơ khác 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x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ℂ</m:t>
                        </m:r>
                      </m:e>
                      <m:sup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sao cho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x =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US" altLang="en-US" sz="2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a:rPr lang="en-US" altLang="en-US" sz="2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endParaRPr lang="en-US" altLang="en-US" sz="2700" b="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b="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Ta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gọi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giá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trị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riêng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(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phức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)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x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b="1" dirty="0">
                    <a:cs typeface="Times New Roman" panose="02020603050405020304" pitchFamily="18" charset="0"/>
                  </a:rPr>
                  <a:t>vectơ riêng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(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phức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)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tương ứng 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1371600"/>
                <a:ext cx="8382000" cy="5181600"/>
              </a:xfrm>
              <a:blipFill>
                <a:blip r:embed="rId3"/>
                <a:stretch>
                  <a:fillRect l="-1236" t="-1176" r="-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344584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5.5-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GIÁ TRỊ RIÊNG PHỨC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1295400"/>
                <a:ext cx="83820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ánh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r>
                      <a:rPr lang="en-US" altLang="en-US" sz="2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⟼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Ax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quay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mặt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phẳng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ngược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chiều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kim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đồng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hồ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góc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90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độ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Tác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động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tuần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hoàn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sau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4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lần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quay 90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độ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quay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về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vị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ban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đầu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Hiển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nhiên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vectơ khác 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nào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được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ánh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xạ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bội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vectơ riêng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do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trị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riêng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thực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nào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Thật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vậy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phương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trình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đặc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trưng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altLang="en-US" sz="2700" baseline="30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+ 1 = 0</a:t>
                </a: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1295400"/>
                <a:ext cx="8382000" cy="5181600"/>
              </a:xfrm>
              <a:blipFill>
                <a:blip r:embed="rId3"/>
                <a:stretch>
                  <a:fillRect l="-1236" r="-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700736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5.5-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GIÁ TRỊ RIÊNG PHỨC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1295400"/>
                <a:ext cx="83820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nghiệm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phức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 =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= -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Tuy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nhiên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ta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động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ℂ</m:t>
                        </m:r>
                      </m:e>
                      <m:sup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thì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en-US" sz="27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7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en-US" sz="27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</m:eqArr>
                        </m:e>
                      </m:d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7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en-US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en-US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en-US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</m:eqArr>
                        </m:e>
                      </m:d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>
                    <a:cs typeface="Times New Roman" panose="02020603050405020304" pitchFamily="18" charset="0"/>
                  </a:rPr>
                  <a:t>Do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 err="1">
                    <a:cs typeface="Times New Roman" panose="02020603050405020304" pitchFamily="18" charset="0"/>
                  </a:rPr>
                  <a:t>i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–</a:t>
                </a:r>
                <a:r>
                  <a:rPr lang="en-US" altLang="en-US" sz="2700" i="1" dirty="0" err="1">
                    <a:cs typeface="Times New Roman" panose="02020603050405020304" pitchFamily="18" charset="0"/>
                  </a:rPr>
                  <a:t>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trị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riêng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vectơ riêng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tương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ứng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1295400"/>
                <a:ext cx="8382000" cy="5181600"/>
              </a:xfrm>
              <a:blipFill>
                <a:blip r:embed="rId3"/>
                <a:stretch>
                  <a:fillRect l="-1236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675250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5.5-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PHẦN THỰC VÀ PHẦN ẢO CỦA VECTƠ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1447800"/>
                <a:ext cx="83820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phức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liên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hợp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phức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x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ℂ</m:t>
                        </m:r>
                      </m:e>
                      <m:sup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n-US" sz="27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trong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ℂ</m:t>
                        </m:r>
                      </m:e>
                      <m:sup>
                        <m: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có các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phức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liên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hợp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x.</a:t>
                </a: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thực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ảo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phức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x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Re x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Im x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lập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từ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thực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ảo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x.</a:t>
                </a: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1447800"/>
                <a:ext cx="8382000" cy="5181600"/>
              </a:xfrm>
              <a:blipFill>
                <a:blip r:embed="rId3"/>
                <a:stretch>
                  <a:fillRect l="-1236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637762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5.5-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PHẦN THỰC VÀ PHẦN ẢO CỦA VECTƠ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1447800"/>
                <a:ext cx="83820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4: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3−</m:t>
                            </m:r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2+5</m:t>
                            </m:r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eqArr>
                      </m:e>
                    </m:d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thì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en-US" sz="2700" dirty="0">
                    <a:cs typeface="Times New Roman" panose="02020603050405020304" pitchFamily="18" charset="0"/>
                  </a:rPr>
                  <a:t>Re x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 Im x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n-US" sz="27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e>
                        </m:eqArr>
                      </m:e>
                    </m:d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e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e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  <m: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eqArr>
                      </m:e>
                    </m:d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1447800"/>
                <a:ext cx="8382000" cy="5181600"/>
              </a:xfrm>
              <a:blipFill>
                <a:blip r:embed="rId3"/>
                <a:stretch>
                  <a:fillRect l="-1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245822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5.5-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8" name="Rectangle 2"/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 altLang="en-US" dirty="0"/>
                  <a:t>GIÁ TRỊ RIÊNG VÀ VECTƠ RIÊNG CỦA MỘT MA TRẬN THỰC TÁC ĐỘG LÊN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ℂ</m:t>
                        </m:r>
                      </m:e>
                      <m:sup>
                        <m:r>
                          <a:rPr lang="en-US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en-US" dirty="0"/>
              </a:p>
            </p:txBody>
          </p:sp>
        </mc:Choice>
        <mc:Fallback>
          <p:sp>
            <p:nvSpPr>
              <p:cNvPr id="614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852" t="-8000" b="-18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1447800"/>
                <a:ext cx="8382000" cy="51816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9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: 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Cho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thực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2</a:t>
                </a:r>
                <a14:m>
                  <m:oMath xmlns:m="http://schemas.openxmlformats.org/officeDocument/2006/math">
                    <m:r>
                      <a:rPr lang="en-US" altLang="en-US" sz="27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en-US" sz="2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2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giá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trị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riêng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phức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𝑏𝑖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altLang="en-US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altLang="en-US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≠0</m:t>
                        </m:r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700" dirty="0">
                    <a:cs typeface="Times New Roman" panose="02020603050405020304" pitchFamily="18" charset="0"/>
                  </a:rPr>
                  <a:t>vectơ riêng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tương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ứng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v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ℂ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Thì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:r>
                  <a:rPr lang="en-US" altLang="en-US" sz="2700" i="1" dirty="0">
                    <a:cs typeface="Times New Roman" panose="02020603050405020304" pitchFamily="18" charset="0"/>
                  </a:rPr>
                  <a:t>A 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=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PCP</a:t>
                </a:r>
                <a:r>
                  <a:rPr lang="en-US" altLang="en-US" sz="2700" baseline="30000" dirty="0">
                    <a:cs typeface="Times New Roman" panose="02020603050405020304" pitchFamily="18" charset="0"/>
                  </a:rPr>
                  <a:t>-1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= [Rev v   Im v]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1447800"/>
                <a:ext cx="8382000" cy="5181600"/>
              </a:xfrm>
              <a:blipFill>
                <a:blip r:embed="rId4"/>
                <a:stretch>
                  <a:fillRect l="-1382" t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2477508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14248</TotalTime>
  <Words>222</Words>
  <Application>Microsoft Office PowerPoint</Application>
  <PresentationFormat>On-screen Show (4:3)</PresentationFormat>
  <Paragraphs>53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Narrow</vt:lpstr>
      <vt:lpstr>Bookshelf Symbol 2</vt:lpstr>
      <vt:lpstr>Cambria Math</vt:lpstr>
      <vt:lpstr>Symbol</vt:lpstr>
      <vt:lpstr>Times New Roman</vt:lpstr>
      <vt:lpstr>Wingdings</vt:lpstr>
      <vt:lpstr>Blends</vt:lpstr>
      <vt:lpstr>Giá Trị Riêng và Vectơ Riêng</vt:lpstr>
      <vt:lpstr>GIÁ TRỊ RIÊNG PHỨC</vt:lpstr>
      <vt:lpstr>GIÁ TRỊ RIÊNG PHỨC</vt:lpstr>
      <vt:lpstr>GIÁ TRỊ RIÊNG PHỨC</vt:lpstr>
      <vt:lpstr>PHẦN THỰC VÀ PHẦN ẢO CỦA VECTƠ</vt:lpstr>
      <vt:lpstr>PHẦN THỰC VÀ PHẦN ẢO CỦA VECTƠ</vt:lpstr>
      <vt:lpstr>GIÁ TRỊ RIÊNG VÀ VECTƠ RIÊNG CỦA MỘT MA TRẬN THỰC TÁC ĐỘG LÊN C^n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1021</cp:revision>
  <dcterms:created xsi:type="dcterms:W3CDTF">2005-10-22T18:34:54Z</dcterms:created>
  <dcterms:modified xsi:type="dcterms:W3CDTF">2016-08-04T08:00:55Z</dcterms:modified>
</cp:coreProperties>
</file>