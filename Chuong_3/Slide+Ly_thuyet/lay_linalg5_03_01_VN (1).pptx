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9"/>
  </p:notesMasterIdLst>
  <p:handoutMasterIdLst>
    <p:handoutMasterId r:id="rId10"/>
  </p:handout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986B1-92C3-4805-BF5A-041BF5AD026B}" type="datetimeFigureOut">
              <a:rPr lang="en-US" smtClean="0"/>
              <a:t>29-Jul-16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91E51-833E-435C-9156-A7B9030C1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3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926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7485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9978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1617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576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3.1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GIỚI THIỆU VỀ </a:t>
            </a:r>
          </a:p>
          <a:p>
            <a:pPr eaLnBrk="1" hangingPunct="1"/>
            <a:r>
              <a:rPr lang="en-US" altLang="en-US" dirty="0">
                <a:latin typeface="+mj-lt"/>
              </a:rPr>
              <a:t>ĐỊNH THỨC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3.1-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GIỚI THIỆU VỀ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≥ 2,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ma trận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[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ij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en-US" sz="27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700" b="0" i="1" baseline="-250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baseline="-250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func>
                      <m:funcPr>
                        <m:ctrlPr>
                          <a:rPr lang="en-US" altLang="en-US" sz="27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en-US" sz="27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det</m:t>
                        </m:r>
                      </m:fName>
                      <m:e>
                        <m:r>
                          <a:rPr lang="en-US" altLang="en-US" sz="27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en-US" sz="2700" b="0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sz="2700" b="0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func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dấu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–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thay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luân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5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5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  <m:func>
                            <m:funcPr>
                              <m:ctrlP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5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𝑑𝑒𝑡𝐴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+…+</m:t>
                              </m:r>
                              <m:d>
                                <m:dPr>
                                  <m:ctrlPr>
                                    <a:rPr lang="en-US" altLang="en-US" sz="25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5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en-US" sz="2500" b="0" i="1" baseline="30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en-US" sz="2500" b="0" i="1" baseline="1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en-US" sz="2500" b="0" i="1" baseline="30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en-US" sz="2500" b="0" i="1" baseline="30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𝑑𝑒𝑡𝐴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en-US" sz="25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en-US" sz="25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en-US" sz="2500" b="0" i="1" baseline="30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500" b="0" i="1" baseline="14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500" b="0" i="1" baseline="30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5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5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𝑗𝑑𝑒</m:t>
                          </m:r>
                          <m:r>
                            <a:rPr lang="en-US" altLang="en-US" sz="2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𝑡𝐴</m:t>
                          </m:r>
                          <m:r>
                            <a:rPr lang="en-US" altLang="en-US" sz="25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5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en-US" altLang="en-US" sz="25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176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0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3.1-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GIỚI THIỆU VỀ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 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baseline="-25000" dirty="0">
                    <a:cs typeface="Times New Roman" panose="02020603050405020304" pitchFamily="18" charset="0"/>
                  </a:rPr>
                  <a:t>11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baseline="-25000" dirty="0">
                    <a:cs typeface="Times New Roman" panose="02020603050405020304" pitchFamily="18" charset="0"/>
                  </a:rPr>
                  <a:t>11 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- 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baseline="-25000" dirty="0">
                    <a:cs typeface="Times New Roman" panose="02020603050405020304" pitchFamily="18" charset="0"/>
                  </a:rPr>
                  <a:t>12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baseline="-25000" dirty="0">
                    <a:cs typeface="Times New Roman" panose="02020603050405020304" pitchFamily="18" charset="0"/>
                  </a:rPr>
                  <a:t>12 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+ 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baseline="-25000" dirty="0">
                    <a:cs typeface="Times New Roman" panose="02020603050405020304" pitchFamily="18" charset="0"/>
                  </a:rPr>
                  <a:t>13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4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baseline="-25000" dirty="0">
                    <a:cs typeface="Times New Roman" panose="02020603050405020304" pitchFamily="18" charset="0"/>
                  </a:rPr>
                  <a:t>13</a:t>
                </a:r>
                <a:r>
                  <a:rPr lang="en-US" altLang="en-US" sz="2400" dirty="0"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=1·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−5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600" dirty="0">
                    <a:cs typeface="Times New Roman" panose="02020603050405020304" pitchFamily="18" charset="0"/>
                  </a:rPr>
                  <a:t>          = 1(0 – 2) – 5(0 – 0) + 0(-4 – 0) = -2 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52434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3.1-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GIỚI THIỆU VỀ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dùng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cặp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đoạn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thay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cặp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dấu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ngoặc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vuông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lvl="1" eaLnBrk="1" hangingPunct="1"/>
                <a:r>
                  <a:rPr lang="en-US" altLang="en-US" sz="23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toán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lại</a:t>
                </a:r>
                <a:endParaRPr lang="en-US" altLang="en-US" sz="23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5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5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=1·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5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−5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5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5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5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5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5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=…=−2</m:t>
                      </m:r>
                    </m:oMath>
                  </m:oMathPara>
                </a14:m>
                <a:endParaRPr lang="en-US" altLang="en-US" sz="25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5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tiện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việc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biểu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[a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ij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],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(</a:t>
                </a:r>
                <a:r>
                  <a:rPr lang="en-US" altLang="en-US" sz="2700" b="1" i="1" dirty="0">
                    <a:cs typeface="Times New Roman" panose="02020603050405020304" pitchFamily="18" charset="0"/>
                  </a:rPr>
                  <a:t>i, j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)-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baseline="-25000" dirty="0" err="1">
                    <a:cs typeface="Times New Roman" panose="02020603050405020304" pitchFamily="18" charset="0"/>
                  </a:rPr>
                  <a:t>ij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𝐶𝑖𝑗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US" altLang="en-US" sz="2600" b="0" i="1" baseline="30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sz="2600" b="0" i="1" baseline="14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600" b="0" i="1" baseline="30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en-US" sz="2600" b="0" i="1" baseline="30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𝑑𝑒𝑡𝐴</m:t>
                    </m:r>
                    <m:r>
                      <a:rPr lang="en-US" altLang="en-US" sz="26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𝑖𝑗</m:t>
                    </m:r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 		(4)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181600"/>
              </a:xfrm>
              <a:blipFill>
                <a:blip r:embed="rId4"/>
                <a:stretch>
                  <a:fillRect l="-1185" t="-1176" r="-815" b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86236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3.1-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GIỚI THIỆU VỀ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11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11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𝑛𝐶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7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7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b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b="0" i="1" smtClean="0">
                        <a:latin typeface="Cambria Math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ma trận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dọc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hay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dọc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hang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(4)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𝑎𝑖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𝑎𝑖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en-US" sz="27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𝑎𝑖𝑛𝐶𝑖𝑛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dọc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j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𝑗𝐶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𝑗𝐶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𝑎𝑛𝑗𝐶𝑛𝑗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4"/>
                <a:stretch>
                  <a:fillRect l="-1407" t="-1127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7849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3.1-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GIỚI THIỆU VỀ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5344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dọc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4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4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4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4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33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33</m:t>
                      </m:r>
                    </m:oMath>
                  </m:oMathPara>
                </a14:m>
                <a:endParaRPr lang="en-US" altLang="en-US" sz="2400" b="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=</m:t>
                      </m:r>
                      <m:d>
                        <m:dPr>
                          <m:ctrlP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sz="22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200" b="0" i="1" baseline="14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2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2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31</m:t>
                      </m:r>
                      <m:r>
                        <a:rPr lang="en-US" altLang="en-US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2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31</m:t>
                      </m:r>
                      <m:r>
                        <a:rPr lang="en-US" altLang="en-US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en-US" sz="22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200" b="0" i="1" baseline="16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en-US" sz="22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en-US" sz="22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32</m:t>
                      </m:r>
                      <m:func>
                        <m:funcPr>
                          <m:ctrlP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sz="2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en-US" sz="22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32</m:t>
                          </m:r>
                          <m: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en-US" sz="2200" b="0" i="1" baseline="30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3+3</m:t>
                          </m:r>
                          <m: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en-US" sz="22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33</m:t>
                          </m:r>
                          <m:func>
                            <m:funcPr>
                              <m:ctrlP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en-US" sz="22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en-US" sz="22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33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en-US" sz="22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−(−2)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2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</a:rPr>
                  <a:t>       = 0 + 2(-1) + 0 = -2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534400" cy="5410200"/>
              </a:xfrm>
              <a:blipFill>
                <a:blip r:embed="rId3"/>
                <a:stretch>
                  <a:fillRect l="-1143" t="-1127" r="-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89355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3.1-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GIỚI THIỆU VỀ ĐỊNH THỨC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/>
          <a:lstStyle/>
          <a:p>
            <a:pPr eaLnBrk="1" hangingPunct="1"/>
            <a:r>
              <a:rPr lang="en-US" altLang="en-US" sz="27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Định</a:t>
            </a:r>
            <a:r>
              <a:rPr lang="en-US" altLang="en-US" sz="2700" b="1" dirty="0">
                <a:solidFill>
                  <a:srgbClr val="077C97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7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lí</a:t>
            </a:r>
            <a:r>
              <a:rPr lang="en-US" altLang="en-US" sz="2700" b="1" dirty="0">
                <a:solidFill>
                  <a:srgbClr val="077C97"/>
                </a:solidFill>
                <a:cs typeface="Times New Roman" panose="02020603050405020304" pitchFamily="18" charset="0"/>
              </a:rPr>
              <a:t> 2</a:t>
            </a:r>
            <a:r>
              <a:rPr lang="en-US" altLang="en-US" sz="2700" b="1" dirty="0">
                <a:cs typeface="Times New Roman" panose="02020603050405020304" pitchFamily="18" charset="0"/>
              </a:rPr>
              <a:t>:  </a:t>
            </a:r>
            <a:r>
              <a:rPr lang="en-US" altLang="en-US" sz="2700" dirty="0" err="1">
                <a:cs typeface="Times New Roman" panose="02020603050405020304" pitchFamily="18" charset="0"/>
              </a:rPr>
              <a:t>Nếu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tam </a:t>
            </a:r>
            <a:r>
              <a:rPr lang="en-US" altLang="en-US" sz="2700" dirty="0" err="1">
                <a:cs typeface="Times New Roman" panose="02020603050405020304" pitchFamily="18" charset="0"/>
              </a:rPr>
              <a:t>giác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thì</a:t>
            </a:r>
            <a:r>
              <a:rPr lang="en-US" altLang="en-US" sz="2700" dirty="0">
                <a:cs typeface="Times New Roman" panose="02020603050405020304" pitchFamily="18" charset="0"/>
              </a:rPr>
              <a:t> det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là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tích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thành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trên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đường</a:t>
            </a:r>
            <a:r>
              <a:rPr lang="en-US" altLang="en-US" sz="27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chéo</a:t>
            </a:r>
            <a:r>
              <a:rPr lang="en-US" altLang="en-US" sz="27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chính</a:t>
            </a:r>
            <a:r>
              <a:rPr lang="en-US" altLang="en-US" sz="27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336533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13942</TotalTime>
  <Words>395</Words>
  <Application>Microsoft Office PowerPoint</Application>
  <PresentationFormat>On-screen Show (4:3)</PresentationFormat>
  <Paragraphs>65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Định Thức</vt:lpstr>
      <vt:lpstr>GIỚI THIỆU VỀ ĐỊNH THỨC</vt:lpstr>
      <vt:lpstr>GIỚI THIỆU VỀ ĐỊNH THỨC</vt:lpstr>
      <vt:lpstr>GIỚI THIỆU VỀ ĐỊNH THỨC</vt:lpstr>
      <vt:lpstr>GIỚI THIỆU VỀ ĐỊNH THỨC</vt:lpstr>
      <vt:lpstr>GIỚI THIỆU VỀ ĐỊNH THỨC</vt:lpstr>
      <vt:lpstr>GIỚI THIỆU VỀ ĐỊNH THỨC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1013</cp:revision>
  <dcterms:created xsi:type="dcterms:W3CDTF">2005-10-22T18:34:54Z</dcterms:created>
  <dcterms:modified xsi:type="dcterms:W3CDTF">2016-07-29T09:23:02Z</dcterms:modified>
</cp:coreProperties>
</file>