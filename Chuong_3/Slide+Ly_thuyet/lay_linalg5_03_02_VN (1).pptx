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4"/>
  </p:notesMasterIdLst>
  <p:sldIdLst>
    <p:sldId id="424" r:id="rId2"/>
    <p:sldId id="362" r:id="rId3"/>
    <p:sldId id="425" r:id="rId4"/>
    <p:sldId id="426" r:id="rId5"/>
    <p:sldId id="427" r:id="rId6"/>
    <p:sldId id="431" r:id="rId7"/>
    <p:sldId id="428" r:id="rId8"/>
    <p:sldId id="429" r:id="rId9"/>
    <p:sldId id="432" r:id="rId10"/>
    <p:sldId id="430" r:id="rId11"/>
    <p:sldId id="433" r:id="rId12"/>
    <p:sldId id="434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5" autoAdjust="0"/>
    <p:restoredTop sz="86413" autoAdjust="0"/>
  </p:normalViewPr>
  <p:slideViewPr>
    <p:cSldViewPr>
      <p:cViewPr varScale="1">
        <p:scale>
          <a:sx n="92" d="100"/>
          <a:sy n="92" d="100"/>
        </p:scale>
        <p:origin x="1406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-95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48305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42670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78645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58786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78192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>
                <a:solidFill>
                  <a:srgbClr val="CD8019"/>
                </a:solidFill>
                <a:latin typeface="Arial" panose="020B0604020202020204" pitchFamily="34" charset="0"/>
              </a:rPr>
              <a:t>3.2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Thức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4800" y="2819400"/>
            <a:ext cx="5029200" cy="335280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CÁC TÍNH CHẤT CỦA </a:t>
            </a:r>
          </a:p>
          <a:p>
            <a:pPr eaLnBrk="1" hangingPunct="1"/>
            <a:r>
              <a:rPr lang="en-US" altLang="en-US" dirty="0">
                <a:latin typeface="+mj-lt"/>
              </a:rPr>
              <a:t>ĐỊNH THỨC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3.2-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ĐỊNH THỨC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/>
            <a:r>
              <a:rPr lang="en-US" altLang="en-US" sz="2800" b="1" dirty="0" err="1">
                <a:solidFill>
                  <a:srgbClr val="077C97"/>
                </a:solidFill>
                <a:cs typeface="Times New Roman" panose="02020603050405020304" pitchFamily="18" charset="0"/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  <a:cs typeface="Times New Roman" panose="02020603050405020304" pitchFamily="18" charset="0"/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  <a:cs typeface="Times New Roman" panose="02020603050405020304" pitchFamily="18" charset="0"/>
              </a:rPr>
              <a:t> 3</a:t>
            </a:r>
            <a:r>
              <a:rPr lang="en-US" altLang="en-US" sz="2800" dirty="0">
                <a:cs typeface="Times New Roman" panose="02020603050405020304" pitchFamily="18" charset="0"/>
              </a:rPr>
              <a:t>: Cho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ma </a:t>
            </a:r>
            <a:r>
              <a:rPr lang="en-US" altLang="en-US" sz="28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vuông</a:t>
            </a:r>
            <a:endParaRPr lang="en-US" altLang="en-US" sz="2800" dirty="0">
              <a:cs typeface="Times New Roman" panose="02020603050405020304" pitchFamily="18" charset="0"/>
            </a:endParaRPr>
          </a:p>
          <a:p>
            <a:pPr marL="914400" lvl="1" indent="-514350" eaLnBrk="1" hangingPunct="1">
              <a:buFont typeface="+mj-lt"/>
              <a:buAutoNum type="alphaLcParenR"/>
            </a:pPr>
            <a:r>
              <a:rPr lang="en-US" altLang="en-US" sz="2700" dirty="0" err="1">
                <a:cs typeface="Times New Roman" panose="02020603050405020304" pitchFamily="18" charset="0"/>
              </a:rPr>
              <a:t>Nếu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bội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hàng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cộng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vào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hang </a:t>
            </a:r>
            <a:r>
              <a:rPr lang="en-US" altLang="en-US" sz="2700" dirty="0" err="1">
                <a:cs typeface="Times New Roman" panose="02020603050405020304" pitchFamily="18" charset="0"/>
              </a:rPr>
              <a:t>khác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để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sinh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ra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ma </a:t>
            </a:r>
            <a:r>
              <a:rPr lang="en-US" altLang="en-US" sz="2700" dirty="0" err="1">
                <a:cs typeface="Times New Roman" panose="02020603050405020304" pitchFamily="18" charset="0"/>
              </a:rPr>
              <a:t>trận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B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thì</a:t>
            </a:r>
            <a:r>
              <a:rPr lang="en-US" altLang="en-US" sz="2700" dirty="0">
                <a:cs typeface="Times New Roman" panose="02020603050405020304" pitchFamily="18" charset="0"/>
              </a:rPr>
              <a:t> det </a:t>
            </a:r>
            <a:r>
              <a:rPr lang="en-US" altLang="en-US" sz="2700" i="1" dirty="0">
                <a:cs typeface="Times New Roman" panose="02020603050405020304" pitchFamily="18" charset="0"/>
              </a:rPr>
              <a:t>B</a:t>
            </a:r>
            <a:r>
              <a:rPr lang="en-US" altLang="en-US" sz="2700" dirty="0">
                <a:cs typeface="Times New Roman" panose="02020603050405020304" pitchFamily="18" charset="0"/>
              </a:rPr>
              <a:t> = det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.</a:t>
            </a:r>
          </a:p>
          <a:p>
            <a:pPr marL="914400" lvl="1" indent="-514350" eaLnBrk="1" hangingPunct="1">
              <a:buFont typeface="+mj-lt"/>
              <a:buAutoNum type="alphaLcParenR"/>
            </a:pPr>
            <a:r>
              <a:rPr lang="en-US" altLang="en-US" sz="2700" dirty="0" err="1">
                <a:cs typeface="Times New Roman" panose="02020603050405020304" pitchFamily="18" charset="0"/>
              </a:rPr>
              <a:t>Nếu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hai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hàng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hoán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vị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để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sinh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ra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B</a:t>
            </a:r>
            <a:r>
              <a:rPr lang="en-US" altLang="en-US" sz="2700" dirty="0">
                <a:cs typeface="Times New Roman" panose="02020603050405020304" pitchFamily="18" charset="0"/>
              </a:rPr>
              <a:t>, </a:t>
            </a:r>
            <a:r>
              <a:rPr lang="en-US" altLang="en-US" sz="2700" dirty="0" err="1">
                <a:cs typeface="Times New Roman" panose="02020603050405020304" pitchFamily="18" charset="0"/>
              </a:rPr>
              <a:t>thì</a:t>
            </a:r>
            <a:r>
              <a:rPr lang="en-US" altLang="en-US" sz="2700" dirty="0">
                <a:cs typeface="Times New Roman" panose="02020603050405020304" pitchFamily="18" charset="0"/>
              </a:rPr>
              <a:t> det </a:t>
            </a:r>
            <a:r>
              <a:rPr lang="en-US" altLang="en-US" sz="2700" i="1" dirty="0">
                <a:cs typeface="Times New Roman" panose="02020603050405020304" pitchFamily="18" charset="0"/>
              </a:rPr>
              <a:t>B</a:t>
            </a:r>
            <a:r>
              <a:rPr lang="en-US" altLang="en-US" sz="2700" dirty="0">
                <a:cs typeface="Times New Roman" panose="02020603050405020304" pitchFamily="18" charset="0"/>
              </a:rPr>
              <a:t> = </a:t>
            </a:r>
            <a:r>
              <a:rPr lang="en-US" altLang="en-US" sz="2700" dirty="0">
                <a:solidFill>
                  <a:srgbClr val="0000FF"/>
                </a:solidFill>
                <a:cs typeface="Times New Roman" panose="02020603050405020304" pitchFamily="18" charset="0"/>
              </a:rPr>
              <a:t>-</a:t>
            </a:r>
            <a:r>
              <a:rPr lang="en-US" altLang="en-US" sz="2700" dirty="0">
                <a:cs typeface="Times New Roman" panose="02020603050405020304" pitchFamily="18" charset="0"/>
              </a:rPr>
              <a:t> det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.</a:t>
            </a:r>
          </a:p>
          <a:p>
            <a:pPr marL="914400" lvl="1" indent="-514350" eaLnBrk="1" hangingPunct="1">
              <a:buFont typeface="+mj-lt"/>
              <a:buAutoNum type="alphaLcParenR"/>
            </a:pPr>
            <a:r>
              <a:rPr lang="en-US" altLang="en-US" sz="2700" dirty="0" err="1">
                <a:cs typeface="Times New Roman" panose="02020603050405020304" pitchFamily="18" charset="0"/>
              </a:rPr>
              <a:t>Nếu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một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hàng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của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được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nhân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với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i="1" dirty="0">
                <a:cs typeface="Times New Roman" panose="02020603050405020304" pitchFamily="18" charset="0"/>
              </a:rPr>
              <a:t>k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để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sinh</a:t>
            </a:r>
            <a:r>
              <a:rPr lang="en-US" altLang="en-US" sz="2700" dirty="0">
                <a:cs typeface="Times New Roman" panose="02020603050405020304" pitchFamily="18" charset="0"/>
              </a:rPr>
              <a:t> </a:t>
            </a:r>
            <a:r>
              <a:rPr lang="en-US" altLang="en-US" sz="2700" dirty="0" err="1">
                <a:cs typeface="Times New Roman" panose="02020603050405020304" pitchFamily="18" charset="0"/>
              </a:rPr>
              <a:t>ra</a:t>
            </a:r>
            <a:r>
              <a:rPr lang="en-US" altLang="en-US" sz="2700" dirty="0">
                <a:cs typeface="Times New Roman" panose="02020603050405020304" pitchFamily="18" charset="0"/>
              </a:rPr>
              <a:t> B, </a:t>
            </a:r>
            <a:r>
              <a:rPr lang="en-US" altLang="en-US" sz="2700" dirty="0" err="1">
                <a:cs typeface="Times New Roman" panose="02020603050405020304" pitchFamily="18" charset="0"/>
              </a:rPr>
              <a:t>thì</a:t>
            </a:r>
            <a:r>
              <a:rPr lang="en-US" altLang="en-US" sz="2700" dirty="0">
                <a:cs typeface="Times New Roman" panose="02020603050405020304" pitchFamily="18" charset="0"/>
              </a:rPr>
              <a:t> det </a:t>
            </a:r>
            <a:r>
              <a:rPr lang="en-US" altLang="en-US" sz="2700" i="1" dirty="0">
                <a:cs typeface="Times New Roman" panose="02020603050405020304" pitchFamily="18" charset="0"/>
              </a:rPr>
              <a:t>B</a:t>
            </a:r>
            <a:r>
              <a:rPr lang="en-US" altLang="en-US" sz="2700" dirty="0">
                <a:cs typeface="Times New Roman" panose="02020603050405020304" pitchFamily="18" charset="0"/>
              </a:rPr>
              <a:t> = </a:t>
            </a:r>
            <a:r>
              <a:rPr lang="en-US" altLang="en-US" sz="2700" i="1" dirty="0">
                <a:solidFill>
                  <a:srgbClr val="0000FF"/>
                </a:solidFill>
                <a:cs typeface="Times New Roman" panose="02020603050405020304" pitchFamily="18" charset="0"/>
              </a:rPr>
              <a:t>k</a:t>
            </a:r>
            <a:r>
              <a:rPr lang="en-US" altLang="en-US" sz="2700" dirty="0">
                <a:solidFill>
                  <a:srgbClr val="0000FF"/>
                </a:solidFill>
                <a:cs typeface="Times New Roman" panose="02020603050405020304" pitchFamily="18" charset="0"/>
              </a:rPr>
              <a:t> </a:t>
            </a:r>
            <a:r>
              <a:rPr lang="en-US" altLang="en-US" sz="2700" dirty="0">
                <a:cs typeface="Times New Roman" panose="02020603050405020304" pitchFamily="18" charset="0"/>
              </a:rPr>
              <a:t>· det </a:t>
            </a:r>
            <a:r>
              <a:rPr lang="en-US" altLang="en-US" sz="2700" i="1" dirty="0">
                <a:cs typeface="Times New Roman" panose="02020603050405020304" pitchFamily="18" charset="0"/>
              </a:rPr>
              <a:t>A</a:t>
            </a: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7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3.2-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ĐỊNH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066800"/>
                <a:ext cx="8229600" cy="4876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1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det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5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5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5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−2</m:t>
                              </m:r>
                            </m:e>
                            <m:e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−9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en-US" sz="25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Chiến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thuật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rút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gọn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về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dạng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bậc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thang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sau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dụng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kết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quả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rằng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tam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giác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tích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đường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chéo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chính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 Hai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phép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thế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đầu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1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thay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</a:t>
                </a:r>
              </a:p>
              <a:p>
                <a:pPr eaLnBrk="1" hangingPunct="1"/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</m:t>
                      </m:r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8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7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4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en-US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066800"/>
                <a:ext cx="8229600" cy="4876800"/>
              </a:xfrm>
              <a:blipFill>
                <a:blip r:embed="rId4"/>
                <a:stretch>
                  <a:fillRect l="-1185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170779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3.2-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ĐỊNH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4958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hoán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vị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2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3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đổi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dấu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do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đó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</m:t>
                      </m:r>
                      <m:r>
                        <a:rPr lang="en-US" altLang="en-US" sz="27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en-US" sz="27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en-US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−4</m:t>
                                </m:r>
                              </m:e>
                              <m:e>
                                <m:r>
                                  <a:rPr lang="en-US" altLang="en-US" sz="27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en-US" sz="27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−5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e>
                      </m:d>
                      <m:d>
                        <m:dPr>
                          <m:ctrlP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7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−5</m:t>
                          </m:r>
                        </m:e>
                      </m:d>
                      <m:r>
                        <a:rPr lang="en-US" altLang="en-US" sz="27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=15</m:t>
                      </m:r>
                    </m:oMath>
                  </m:oMathPara>
                </a14:m>
                <a:endParaRPr lang="en-US" altLang="en-US" sz="2700" b="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00200"/>
                <a:ext cx="8229600" cy="4495800"/>
              </a:xfrm>
              <a:blipFill>
                <a:blip r:embed="rId4"/>
                <a:stretch>
                  <a:fillRect l="-1185" t="-13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355535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3.2-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TÍNH CHẤT CỦA ĐỊNH THỨC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066800"/>
                <a:ext cx="8458200" cy="4800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4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vuông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khả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nghich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chỉ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det </a:t>
                </a:r>
                <a:r>
                  <a:rPr lang="en-US" altLang="en-US" sz="2700" i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A ≠ 0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6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6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600" b="1" dirty="0">
                    <a:cs typeface="Times New Roman" panose="02020603050405020304" pitchFamily="18" charset="0"/>
                  </a:rPr>
                  <a:t> 3   </a:t>
                </a:r>
                <a:r>
                  <a:rPr lang="en-US" altLang="en-US" sz="2600" b="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600" b="0" dirty="0">
                    <a:cs typeface="Times New Roman" panose="02020603050405020304" pitchFamily="18" charset="0"/>
                  </a:rPr>
                  <a:t> det A, </a:t>
                </a:r>
                <a:r>
                  <a:rPr lang="en-US" altLang="en-US" sz="2600" b="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600" b="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b="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600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2   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−6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7</m:t>
                                  </m:r>
                                </m:e>
                              </m:eqArr>
                            </m:e>
                            <m:e>
                              <m:eqArr>
                                <m:eqArrPr>
                                  <m:ctrlP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−3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−7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−8</m:t>
                              </m:r>
                            </m:e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  <m:r>
                          <a:rPr lang="en-US" altLang="en-US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5</m:t>
                                  </m:r>
                                </m:e>
                                <m:e>
                                  <m:r>
                                    <a:rPr lang="en-US" altLang="en-US" sz="2200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 −6</m:t>
                                  </m:r>
                                </m:e>
                              </m:eqArr>
                            </m:e>
                          </m:mr>
                          <m:mr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4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2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 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4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6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6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6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  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Cộng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2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lần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1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vào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3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để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nhận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được</a:t>
                </a:r>
                <a:endParaRPr lang="en-US" altLang="en-US" sz="26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𝑑𝑒𝑡𝐴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𝑑𝑒𝑡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en-US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en-US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en-US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en-US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2   </m:t>
                                </m:r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−6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−3</m:t>
                                    </m:r>
                                  </m:e>
                                  <m:e>
                                    <m: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−7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altLang="en-US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−5</m:t>
                                </m:r>
                              </m:e>
                              <m:e>
                                <m:r>
                                  <a:rPr lang="en-US" altLang="en-US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−8</m:t>
                                </m:r>
                              </m:e>
                              <m:e>
                                <m:r>
                                  <a:rPr lang="en-US" altLang="en-US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  <m:r>
                            <a:rPr lang="en-US" altLang="en-US" sz="2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en-US" sz="2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eqArr>
                                  <m:eqArrPr>
                                    <m:ctrlP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5</m:t>
                                    </m:r>
                                  </m:e>
                                  <m:e>
                                    <m:r>
                                      <a:rPr lang="en-US" altLang="en-US" sz="2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  −6</m:t>
                                    </m:r>
                                  </m:e>
                                </m:eqArr>
                              </m:e>
                            </m:mr>
                            <m:mr>
                              <m:e>
                                <m:r>
                                  <a:rPr lang="en-US" altLang="en-US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en-US" sz="2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9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altLang="en-US" sz="26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6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thứ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2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3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ma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thứ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hai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nhau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066800"/>
                <a:ext cx="8458200" cy="4800600"/>
              </a:xfrm>
              <a:blipFill>
                <a:blip r:embed="rId3"/>
                <a:stretch>
                  <a:fillRect l="-1369" t="-1269" b="-3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847995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535910"/>
            <a:ext cx="3505200" cy="4700580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2.2- </a:t>
            </a:r>
            <a:fld id="{CE90E932-D1B3-4534-813D-FD4EBE5E39C2}" type="slidenum">
              <a:rPr lang="en-US" altLang="en-US" smtClean="0"/>
              <a:pPr>
                <a:defRPr/>
              </a:pPr>
              <a:t>6</a:t>
            </a:fld>
            <a:endParaRPr lang="en-CA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 © 2012 Pearson Education, 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47176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3.2-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CÁC PHÉP BIẾN ĐỔI CỘT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295400"/>
                <a:ext cx="8458200" cy="4800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6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5: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× </m:t>
                    </m:r>
                    <m:r>
                      <a:rPr lang="en-US" altLang="en-US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600" dirty="0">
                    <a:cs typeface="Times New Roman" panose="02020603050405020304" pitchFamily="18" charset="0"/>
                  </a:rPr>
                  <a:t>ma trận,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det </a:t>
                </a:r>
                <a:r>
                  <a:rPr lang="en-US" altLang="en-US" sz="2600" i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en-US" altLang="en-US" sz="2600" baseline="300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T </a:t>
                </a:r>
                <a:r>
                  <a:rPr lang="en-US" altLang="en-US" sz="26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= det </a:t>
                </a:r>
                <a:r>
                  <a:rPr lang="en-US" altLang="en-US" sz="2600" i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600" b="1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600" b="1" dirty="0">
                    <a:cs typeface="Times New Roman" panose="02020603050405020304" pitchFamily="18" charset="0"/>
                  </a:rPr>
                  <a:t> minh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hiển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nhiên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= 1.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Giả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sử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đúng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en-US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×</m:t>
                    </m:r>
                    <m:r>
                      <a:rPr lang="en-US" altLang="en-US" sz="2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ta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đặt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=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k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+ 1. </a:t>
                </a:r>
              </a:p>
              <a:p>
                <a:pPr eaLnBrk="1" hangingPunct="1"/>
                <a:r>
                  <a:rPr lang="en-US" altLang="en-US" sz="2600" dirty="0" err="1">
                    <a:cs typeface="Times New Roman" panose="02020603050405020304" pitchFamily="18" charset="0"/>
                  </a:rPr>
                  <a:t>Khi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00" baseline="-25000" dirty="0">
                    <a:cs typeface="Times New Roman" panose="02020603050405020304" pitchFamily="18" charset="0"/>
                  </a:rPr>
                  <a:t>1j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A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00" baseline="-25000" dirty="0">
                    <a:cs typeface="Times New Roman" panose="02020603050405020304" pitchFamily="18" charset="0"/>
                  </a:rPr>
                  <a:t>j1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A</a:t>
                </a:r>
                <a:r>
                  <a:rPr lang="en-US" altLang="en-US" sz="2600" baseline="30000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liên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quan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đến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altLang="en-US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×</m:t>
                    </m:r>
                    <m:r>
                      <a:rPr lang="en-US" altLang="en-US" sz="2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lang="en-US" altLang="en-US" sz="26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600" dirty="0" err="1"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khai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triển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det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dọc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hàng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đầu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khai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triển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đại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00" baseline="30000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dọc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cột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đầu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tiên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.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Nghĩa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00" baseline="30000" dirty="0">
                    <a:cs typeface="Times New Roman" panose="02020603050405020304" pitchFamily="18" charset="0"/>
                  </a:rPr>
                  <a:t>T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thức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bằng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nhau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600" dirty="0">
                    <a:cs typeface="Times New Roman" panose="02020603050405020304" pitchFamily="18" charset="0"/>
                  </a:rPr>
                  <a:t>Do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đó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đúng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= 1,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việc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đúng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n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kéo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nó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đúng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giá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trị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tiếp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theo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của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. Theo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nguyên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qui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nạp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đúng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dirty="0" err="1">
                    <a:cs typeface="Times New Roman" panose="02020603050405020304" pitchFamily="18" charset="0"/>
                  </a:rPr>
                  <a:t>mọi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≥1.</m:t>
                    </m:r>
                  </m:oMath>
                </a14:m>
                <a:endParaRPr lang="en-US" altLang="en-US" sz="26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295400"/>
                <a:ext cx="8458200" cy="4800600"/>
              </a:xfrm>
              <a:blipFill>
                <a:blip r:embed="rId3"/>
                <a:stretch>
                  <a:fillRect l="-1297" t="-1271" r="-1081" b="-10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954722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3.2-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ĐỊNH THỨC VÀ PHÉP NHÂN MA TRẬN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04800" y="1143000"/>
                <a:ext cx="8458200" cy="48006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7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6: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 </a:t>
                </a:r>
                <a:r>
                  <a:rPr lang="en-US" altLang="en-US" sz="2700" i="1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B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× 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en-US" sz="27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ma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trận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, 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thì</a:t>
                </a:r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algn="ctr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 det </a:t>
                </a:r>
                <a:r>
                  <a:rPr lang="en-US" altLang="en-US" sz="2700" i="1" dirty="0">
                    <a:cs typeface="Times New Roman" panose="02020603050405020304" pitchFamily="18" charset="0"/>
                  </a:rPr>
                  <a:t>AB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= </a:t>
                </a:r>
                <a:r>
                  <a:rPr lang="en-US" altLang="en-US" sz="27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(det </a:t>
                </a:r>
                <a:r>
                  <a:rPr lang="en-US" altLang="en-US" sz="2700" i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A</a:t>
                </a:r>
                <a:r>
                  <a:rPr lang="en-US" altLang="en-US" sz="27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)(</a:t>
                </a:r>
                <a:r>
                  <a:rPr lang="en-US" altLang="en-US" sz="2700" dirty="0" err="1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det</a:t>
                </a:r>
                <a:r>
                  <a:rPr lang="en-US" altLang="en-US" sz="27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i="1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en-US" sz="2700" dirty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)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eaLnBrk="1" hangingPunct="1">
                  <a:buNone/>
                </a:pPr>
                <a:endParaRPr lang="en-US" altLang="en-US" sz="26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00" b="1" dirty="0" err="1">
                    <a:cs typeface="Times New Roman" panose="02020603050405020304" pitchFamily="18" charset="0"/>
                  </a:rPr>
                  <a:t>Ví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b="1" dirty="0" err="1">
                    <a:cs typeface="Times New Roman" panose="02020603050405020304" pitchFamily="18" charset="0"/>
                  </a:rPr>
                  <a:t>dụ</a:t>
                </a:r>
                <a:r>
                  <a:rPr lang="en-US" altLang="en-US" sz="2700" b="1" dirty="0">
                    <a:cs typeface="Times New Roman" panose="02020603050405020304" pitchFamily="18" charset="0"/>
                  </a:rPr>
                  <a:t> 5: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Kiểm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tra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6 </a:t>
                </a:r>
                <a:r>
                  <a:rPr lang="en-US" altLang="en-US" sz="2300" dirty="0" err="1">
                    <a:cs typeface="Times New Roman" panose="02020603050405020304" pitchFamily="18" charset="0"/>
                  </a:rPr>
                  <a:t>với</a:t>
                </a:r>
                <a:r>
                  <a:rPr lang="en-US" altLang="en-US" sz="23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3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3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300" dirty="0">
                    <a:cs typeface="Times New Roman" panose="02020603050405020304" pitchFamily="18" charset="0"/>
                  </a:rPr>
                  <a:t> và </a:t>
                </a:r>
                <a14:m>
                  <m:oMath xmlns:m="http://schemas.openxmlformats.org/officeDocument/2006/math">
                    <m:r>
                      <a:rPr lang="en-US" alt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3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3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3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3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3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altLang="en-US" sz="23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altLang="en-US" sz="230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600" b="1" dirty="0" err="1">
                    <a:cs typeface="Times New Roman" panose="02020603050405020304" pitchFamily="18" charset="0"/>
                  </a:rPr>
                  <a:t>Lời</a:t>
                </a:r>
                <a:r>
                  <a:rPr lang="en-US" altLang="en-US" sz="26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600" b="1" dirty="0" err="1">
                    <a:cs typeface="Times New Roman" panose="02020603050405020304" pitchFamily="18" charset="0"/>
                  </a:rPr>
                  <a:t>giải</a:t>
                </a:r>
                <a:r>
                  <a:rPr lang="en-US" altLang="en-US" sz="2600" dirty="0">
                    <a:cs typeface="Times New Roman" panose="02020603050405020304" pitchFamily="18" charset="0"/>
                  </a:rPr>
                  <a:t>:   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en-US" sz="27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en-US" sz="2700" dirty="0"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27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en-US" sz="27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25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altLang="en-US" sz="27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13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det</a:t>
                </a:r>
                <a14:m>
                  <m:oMath xmlns:m="http://schemas.openxmlformats.org/officeDocument/2006/math"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𝐴𝐵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=25∙13−20∙14=325−280=45</m:t>
                    </m:r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7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det A = 9 </a:t>
                </a:r>
                <a:r>
                  <a:rPr lang="en-US" altLang="en-US" sz="2700" dirty="0" err="1">
                    <a:cs typeface="Times New Roman" panose="02020603050405020304" pitchFamily="18" charset="0"/>
                  </a:rPr>
                  <a:t>và</a:t>
                </a:r>
                <a:r>
                  <a:rPr lang="en-US" altLang="en-US" sz="2700" dirty="0">
                    <a:cs typeface="Times New Roman" panose="02020603050405020304" pitchFamily="18" charset="0"/>
                  </a:rPr>
                  <a:t> det B = 5,</a:t>
                </a:r>
              </a:p>
              <a:p>
                <a:pPr marL="0" indent="0" algn="ctr" eaLnBrk="1" hangingPunct="1">
                  <a:buNone/>
                </a:pPr>
                <a:r>
                  <a:rPr lang="en-US" altLang="en-US" sz="2700" dirty="0">
                    <a:cs typeface="Times New Roman" panose="02020603050405020304" pitchFamily="18" charset="0"/>
                  </a:rPr>
                  <a:t>(det</a:t>
                </a:r>
                <a14:m>
                  <m:oMath xmlns:m="http://schemas.openxmlformats.org/officeDocument/2006/math">
                    <m:r>
                      <a:rPr lang="en-US" altLang="en-US" sz="27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)(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𝑑𝑒𝑡𝐵</m:t>
                    </m:r>
                    <m:r>
                      <a:rPr lang="en-US" altLang="en-US" sz="27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)=9∙5=45=</m:t>
                    </m:r>
                    <m:r>
                      <m:rPr>
                        <m:nor/>
                      </m:rPr>
                      <a:rPr lang="en-US" altLang="en-US" sz="2700" dirty="0">
                        <a:cs typeface="Times New Roman" panose="02020603050405020304" pitchFamily="18" charset="0"/>
                      </a:rPr>
                      <m:t>det</m:t>
                    </m:r>
                    <m:r>
                      <m:rPr>
                        <m:nor/>
                      </m:rPr>
                      <a:rPr lang="en-US" altLang="en-US" sz="2700" dirty="0"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2700" i="1" dirty="0">
                        <a:cs typeface="Times New Roman" panose="02020603050405020304" pitchFamily="18" charset="0"/>
                      </a:rPr>
                      <m:t>AB</m:t>
                    </m:r>
                  </m:oMath>
                </a14:m>
                <a:endParaRPr lang="en-US" altLang="en-US" sz="27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04800" y="1143000"/>
                <a:ext cx="8458200" cy="4800600"/>
              </a:xfrm>
              <a:blipFill>
                <a:blip r:embed="rId3"/>
                <a:stretch>
                  <a:fillRect l="-1369" t="-1271" b="-6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562340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Chứng</a:t>
            </a:r>
            <a:r>
              <a:rPr lang="en-US" altLang="zh-TW" dirty="0"/>
              <a:t> minh </a:t>
            </a:r>
            <a:r>
              <a:rPr lang="en-US" altLang="zh-TW" dirty="0" err="1"/>
              <a:t>của</a:t>
            </a:r>
            <a:r>
              <a:rPr lang="en-US" altLang="zh-TW" dirty="0"/>
              <a:t> </a:t>
            </a:r>
            <a:r>
              <a:rPr lang="en-US" altLang="zh-TW" dirty="0" err="1"/>
              <a:t>các</a:t>
            </a:r>
            <a:r>
              <a:rPr lang="en-US" altLang="zh-TW" dirty="0"/>
              <a:t> </a:t>
            </a:r>
            <a:r>
              <a:rPr lang="en-US" altLang="zh-TW" dirty="0" err="1"/>
              <a:t>định</a:t>
            </a:r>
            <a:r>
              <a:rPr lang="en-US" altLang="zh-TW" dirty="0"/>
              <a:t> </a:t>
            </a:r>
            <a:r>
              <a:rPr lang="en-US" altLang="zh-TW" dirty="0" err="1"/>
              <a:t>lí</a:t>
            </a:r>
            <a:r>
              <a:rPr lang="en-US" altLang="zh-TW" dirty="0"/>
              <a:t> 3 </a:t>
            </a:r>
            <a:r>
              <a:rPr lang="en-US" altLang="zh-TW" dirty="0" err="1"/>
              <a:t>và</a:t>
            </a:r>
            <a:r>
              <a:rPr lang="en-US" altLang="zh-TW" dirty="0"/>
              <a:t> 6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/>
                  <a:t>Định </a:t>
                </a:r>
                <a:r>
                  <a:rPr lang="en-US" altLang="zh-TW" dirty="0" err="1"/>
                  <a:t>lí</a:t>
                </a:r>
                <a:r>
                  <a:rPr lang="en-US" altLang="zh-TW" dirty="0"/>
                  <a:t> 3 </a:t>
                </a:r>
                <a:r>
                  <a:rPr lang="en-US" altLang="zh-TW" dirty="0" err="1"/>
                  <a:t>có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thể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được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viết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lại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như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sau</a:t>
                </a:r>
                <a:r>
                  <a:rPr lang="en-US" altLang="zh-TW" dirty="0"/>
                  <a:t>:</a:t>
                </a:r>
              </a:p>
              <a:p>
                <a:pPr lvl="1"/>
                <a:r>
                  <a:rPr lang="en-US" altLang="zh-TW" dirty="0" err="1"/>
                  <a:t>Nếu</a:t>
                </a:r>
                <a:r>
                  <a:rPr lang="en-US" altLang="zh-TW" dirty="0"/>
                  <a:t> A </a:t>
                </a:r>
                <a:r>
                  <a:rPr lang="en-US" altLang="zh-TW" dirty="0" err="1"/>
                  <a:t>là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một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nxn</a:t>
                </a:r>
                <a:r>
                  <a:rPr lang="en-US" altLang="zh-TW" dirty="0"/>
                  <a:t> ma </a:t>
                </a:r>
                <a:r>
                  <a:rPr lang="en-US" altLang="zh-TW" dirty="0" err="1"/>
                  <a:t>trận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và</a:t>
                </a:r>
                <a:r>
                  <a:rPr lang="en-US" altLang="zh-TW" dirty="0"/>
                  <a:t> E </a:t>
                </a:r>
                <a:r>
                  <a:rPr lang="en-US" altLang="zh-TW" dirty="0" err="1"/>
                  <a:t>là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một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nxn</a:t>
                </a:r>
                <a:r>
                  <a:rPr lang="en-US" altLang="zh-TW" dirty="0"/>
                  <a:t> ma </a:t>
                </a:r>
                <a:r>
                  <a:rPr lang="en-US" altLang="zh-TW" dirty="0" err="1"/>
                  <a:t>trận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sơ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cấp</a:t>
                </a:r>
                <a:r>
                  <a:rPr lang="en-US" altLang="zh-TW" dirty="0"/>
                  <a:t>, </a:t>
                </a:r>
                <a:r>
                  <a:rPr lang="en-US" altLang="zh-TW" dirty="0" err="1"/>
                  <a:t>thì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det</a:t>
                </a:r>
                <a:r>
                  <a:rPr lang="en-US" altLang="zh-TW" dirty="0"/>
                  <a:t> EA = (</a:t>
                </a:r>
                <a:r>
                  <a:rPr lang="en-US" altLang="zh-TW" dirty="0" err="1"/>
                  <a:t>det</a:t>
                </a:r>
                <a:r>
                  <a:rPr lang="en-US" altLang="zh-TW" dirty="0"/>
                  <a:t> E) (</a:t>
                </a:r>
                <a:r>
                  <a:rPr lang="en-US" altLang="zh-TW" dirty="0" err="1"/>
                  <a:t>det</a:t>
                </a:r>
                <a:r>
                  <a:rPr lang="en-US" altLang="zh-TW" dirty="0"/>
                  <a:t> A)</a:t>
                </a:r>
                <a:br>
                  <a:rPr lang="en-US" altLang="zh-TW" dirty="0"/>
                </a:br>
                <a:r>
                  <a:rPr lang="en-US" altLang="zh-TW" dirty="0" err="1"/>
                  <a:t>trong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đó</a:t>
                </a:r>
                <a:r>
                  <a:rPr lang="en-US" altLang="zh-TW" dirty="0"/>
                  <a:t> det E 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m:rPr>
                                <m:nor/>
                              </m:rPr>
                              <a:rPr lang="en-US" altLang="zh-TW" dirty="0"/>
                              <m:t>1 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         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ế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u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E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l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à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ph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é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p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th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ế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h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ng</m:t>
                            </m:r>
                          </m:e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−1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>
                                <a:latin typeface="Cambria Math"/>
                              </a:rPr>
                              <m:t>         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>
                                <a:latin typeface="Cambria Math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>
                                <a:latin typeface="Cambria Math"/>
                              </a:rPr>
                              <m:t>ế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>
                                <a:latin typeface="Cambria Math"/>
                              </a:rPr>
                              <m:t>u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E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l</m:t>
                            </m:r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à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ph</m:t>
                            </m:r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é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p</m:t>
                            </m:r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ho</m:t>
                            </m:r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á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en-US" altLang="zh-TW" b="0" i="0" dirty="0" smtClean="0">
                                <a:latin typeface="Cambria Math" panose="02040503050406030204" pitchFamily="18" charset="0"/>
                              </a:rPr>
                              <m:t>ị </m:t>
                            </m:r>
                          </m:e>
                          <m:e>
                            <m:r>
                              <a:rPr lang="en-US" altLang="zh-TW" b="0" i="1" dirty="0" smtClean="0">
                                <a:latin typeface="Cambria Math"/>
                              </a:rPr>
                              <m:t>𝑟</m:t>
                            </m:r>
                            <m:r>
                              <a:rPr lang="en-US" altLang="zh-TW" b="0" i="1" dirty="0" smtClean="0">
                                <a:latin typeface="Cambria Math"/>
                              </a:rPr>
                              <m:t>  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>
                                <a:latin typeface="Cambria Math"/>
                              </a:rPr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>
                                <a:latin typeface="Cambria Math"/>
                              </a:rPr>
                              <m:t>ế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>
                                <a:latin typeface="Cambria Math"/>
                              </a:rPr>
                              <m:t>u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E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l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à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nh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â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n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v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ớ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i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v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ô 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h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ướ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ng</m:t>
                            </m:r>
                            <m:r>
                              <m:rPr>
                                <m:nor/>
                              </m:rPr>
                              <a:rPr lang="en-US" altLang="zh-TW" b="0" i="0" dirty="0" smtClean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TW" dirty="0"/>
                              <m:t>r</m:t>
                            </m:r>
                          </m:e>
                        </m:eqArr>
                      </m:e>
                    </m:d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30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2.2- </a:t>
            </a:r>
            <a:fld id="{CE90E932-D1B3-4534-813D-FD4EBE5E39C2}" type="slidenum">
              <a:rPr lang="en-US" altLang="en-US" smtClean="0"/>
              <a:pPr>
                <a:defRPr/>
              </a:pPr>
              <a:t>9</a:t>
            </a:fld>
            <a:endParaRPr lang="en-CA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 © 2012 Pearson Education, 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4513364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Chứng</a:t>
            </a:r>
            <a:r>
              <a:rPr lang="en-US" altLang="zh-TW" dirty="0"/>
              <a:t> minh </a:t>
            </a:r>
            <a:r>
              <a:rPr lang="en-US" altLang="zh-TW" dirty="0" err="1"/>
              <a:t>của</a:t>
            </a:r>
            <a:r>
              <a:rPr lang="en-US" altLang="zh-TW" dirty="0"/>
              <a:t> </a:t>
            </a:r>
            <a:r>
              <a:rPr lang="en-US" altLang="zh-TW" dirty="0" err="1"/>
              <a:t>Định</a:t>
            </a:r>
            <a:r>
              <a:rPr lang="en-US" altLang="zh-TW" dirty="0"/>
              <a:t> </a:t>
            </a:r>
            <a:r>
              <a:rPr lang="en-US" altLang="zh-TW" dirty="0" err="1"/>
              <a:t>lí</a:t>
            </a:r>
            <a:r>
              <a:rPr lang="en-US" altLang="zh-TW" dirty="0"/>
              <a:t> 3: (</a:t>
            </a:r>
            <a:r>
              <a:rPr lang="en-US" altLang="zh-TW" dirty="0" err="1"/>
              <a:t>bằng</a:t>
            </a:r>
            <a:r>
              <a:rPr lang="en-US" altLang="zh-TW" dirty="0"/>
              <a:t> qui </a:t>
            </a:r>
            <a:r>
              <a:rPr lang="en-US" altLang="zh-TW" dirty="0" err="1"/>
              <a:t>nạp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n=2: </a:t>
            </a:r>
          </a:p>
          <a:p>
            <a:pPr lvl="2"/>
            <a:r>
              <a:rPr lang="en-US" altLang="zh-TW" dirty="0"/>
              <a:t>(Exercise 33-36, Sec.3.1)</a:t>
            </a:r>
          </a:p>
          <a:p>
            <a:pPr lvl="1"/>
            <a:r>
              <a:rPr lang="en-US" altLang="zh-TW" dirty="0" err="1"/>
              <a:t>Giả</a:t>
            </a:r>
            <a:r>
              <a:rPr lang="en-US" altLang="zh-TW" dirty="0"/>
              <a:t> </a:t>
            </a:r>
            <a:r>
              <a:rPr lang="en-US" altLang="zh-TW" dirty="0" err="1"/>
              <a:t>sử</a:t>
            </a:r>
            <a:r>
              <a:rPr lang="en-US" altLang="zh-TW" dirty="0"/>
              <a:t> </a:t>
            </a:r>
            <a:r>
              <a:rPr lang="en-US" altLang="zh-TW" dirty="0" err="1"/>
              <a:t>định</a:t>
            </a:r>
            <a:r>
              <a:rPr lang="en-US" altLang="zh-TW" dirty="0"/>
              <a:t> </a:t>
            </a:r>
            <a:r>
              <a:rPr lang="en-US" altLang="zh-TW" dirty="0" err="1"/>
              <a:t>lí</a:t>
            </a:r>
            <a:r>
              <a:rPr lang="en-US" altLang="zh-TW" dirty="0"/>
              <a:t> </a:t>
            </a:r>
            <a:r>
              <a:rPr lang="en-US" altLang="zh-TW" dirty="0" err="1"/>
              <a:t>đã</a:t>
            </a:r>
            <a:r>
              <a:rPr lang="en-US" altLang="zh-TW" dirty="0"/>
              <a:t> </a:t>
            </a:r>
            <a:r>
              <a:rPr lang="en-US" altLang="zh-TW" dirty="0" err="1"/>
              <a:t>được</a:t>
            </a:r>
            <a:r>
              <a:rPr lang="en-US" altLang="zh-TW" dirty="0"/>
              <a:t> </a:t>
            </a:r>
            <a:r>
              <a:rPr lang="en-US" altLang="zh-TW" dirty="0" err="1"/>
              <a:t>kiểm</a:t>
            </a:r>
            <a:r>
              <a:rPr lang="en-US" altLang="zh-TW" dirty="0"/>
              <a:t> </a:t>
            </a:r>
            <a:r>
              <a:rPr lang="en-US" altLang="zh-TW" dirty="0" err="1"/>
              <a:t>tra</a:t>
            </a:r>
            <a:r>
              <a:rPr lang="en-US" altLang="zh-TW" dirty="0"/>
              <a:t> </a:t>
            </a:r>
            <a:r>
              <a:rPr lang="en-US" altLang="zh-TW" dirty="0" err="1"/>
              <a:t>với</a:t>
            </a:r>
            <a:r>
              <a:rPr lang="en-US" altLang="zh-TW" dirty="0"/>
              <a:t> n=k, k&gt;=2</a:t>
            </a:r>
          </a:p>
          <a:p>
            <a:pPr lvl="1"/>
            <a:r>
              <a:rPr lang="en-US" altLang="zh-TW" dirty="0"/>
              <a:t>Cho n=k+1, A </a:t>
            </a:r>
            <a:r>
              <a:rPr lang="en-US" altLang="zh-TW" dirty="0" err="1"/>
              <a:t>là</a:t>
            </a:r>
            <a:r>
              <a:rPr lang="en-US" altLang="zh-TW" dirty="0"/>
              <a:t> </a:t>
            </a:r>
            <a:r>
              <a:rPr lang="en-US" altLang="zh-TW" dirty="0" err="1"/>
              <a:t>nxn</a:t>
            </a:r>
            <a:r>
              <a:rPr lang="en-US" altLang="zh-TW" dirty="0"/>
              <a:t>.</a:t>
            </a:r>
          </a:p>
          <a:p>
            <a:pPr lvl="2"/>
            <a:r>
              <a:rPr lang="en-US" altLang="zh-TW" dirty="0" err="1"/>
              <a:t>Tác</a:t>
            </a:r>
            <a:r>
              <a:rPr lang="en-US" altLang="zh-TW" dirty="0"/>
              <a:t> </a:t>
            </a:r>
            <a:r>
              <a:rPr lang="en-US" altLang="zh-TW" dirty="0" err="1"/>
              <a:t>động</a:t>
            </a:r>
            <a:r>
              <a:rPr lang="en-US" altLang="zh-TW" dirty="0"/>
              <a:t> </a:t>
            </a:r>
            <a:r>
              <a:rPr lang="en-US" altLang="zh-TW" dirty="0" err="1"/>
              <a:t>của</a:t>
            </a:r>
            <a:r>
              <a:rPr lang="en-US" altLang="zh-TW" dirty="0"/>
              <a:t> E </a:t>
            </a:r>
            <a:r>
              <a:rPr lang="en-US" altLang="zh-TW" dirty="0" err="1"/>
              <a:t>liên</a:t>
            </a:r>
            <a:r>
              <a:rPr lang="en-US" altLang="zh-TW" dirty="0"/>
              <a:t> </a:t>
            </a:r>
            <a:r>
              <a:rPr lang="en-US" altLang="zh-TW" dirty="0" err="1"/>
              <a:t>quan</a:t>
            </a:r>
            <a:r>
              <a:rPr lang="en-US" altLang="zh-TW" dirty="0"/>
              <a:t> </a:t>
            </a:r>
            <a:r>
              <a:rPr lang="en-US" altLang="zh-TW" dirty="0" err="1"/>
              <a:t>đến</a:t>
            </a:r>
            <a:r>
              <a:rPr lang="en-US" altLang="zh-TW" dirty="0"/>
              <a:t> </a:t>
            </a:r>
            <a:r>
              <a:rPr lang="en-US" altLang="zh-TW" dirty="0" err="1"/>
              <a:t>một</a:t>
            </a:r>
            <a:r>
              <a:rPr lang="en-US" altLang="zh-TW" dirty="0"/>
              <a:t> </a:t>
            </a:r>
            <a:r>
              <a:rPr lang="en-US" altLang="zh-TW" dirty="0" err="1"/>
              <a:t>hoặc</a:t>
            </a:r>
            <a:r>
              <a:rPr lang="en-US" altLang="zh-TW" dirty="0"/>
              <a:t> </a:t>
            </a:r>
            <a:r>
              <a:rPr lang="en-US" altLang="zh-TW" dirty="0" err="1"/>
              <a:t>hai</a:t>
            </a:r>
            <a:r>
              <a:rPr lang="en-US" altLang="zh-TW" dirty="0"/>
              <a:t> </a:t>
            </a:r>
            <a:r>
              <a:rPr lang="en-US" altLang="zh-TW" dirty="0" err="1"/>
              <a:t>hàng</a:t>
            </a:r>
            <a:r>
              <a:rPr lang="en-US" altLang="zh-TW" dirty="0"/>
              <a:t>. </a:t>
            </a:r>
          </a:p>
          <a:p>
            <a:pPr lvl="2"/>
            <a:r>
              <a:rPr lang="en-US" altLang="zh-TW" dirty="0"/>
              <a:t>Ta </a:t>
            </a:r>
            <a:r>
              <a:rPr lang="en-US" altLang="zh-TW" dirty="0" err="1"/>
              <a:t>có</a:t>
            </a:r>
            <a:r>
              <a:rPr lang="en-US" altLang="zh-TW" dirty="0"/>
              <a:t> </a:t>
            </a:r>
            <a:r>
              <a:rPr lang="en-US" altLang="zh-TW" dirty="0" err="1"/>
              <a:t>thể</a:t>
            </a:r>
            <a:r>
              <a:rPr lang="en-US" altLang="zh-TW" dirty="0"/>
              <a:t> </a:t>
            </a:r>
            <a:r>
              <a:rPr lang="en-US" altLang="zh-TW" dirty="0" err="1"/>
              <a:t>khai</a:t>
            </a:r>
            <a:r>
              <a:rPr lang="en-US" altLang="zh-TW" dirty="0"/>
              <a:t> </a:t>
            </a:r>
            <a:r>
              <a:rPr lang="en-US" altLang="zh-TW" dirty="0" err="1"/>
              <a:t>triển</a:t>
            </a:r>
            <a:r>
              <a:rPr lang="en-US" altLang="zh-TW" dirty="0"/>
              <a:t> </a:t>
            </a:r>
            <a:r>
              <a:rPr lang="en-US" altLang="zh-TW" dirty="0" err="1"/>
              <a:t>det</a:t>
            </a:r>
            <a:r>
              <a:rPr lang="en-US" altLang="zh-TW" dirty="0"/>
              <a:t> EA </a:t>
            </a:r>
            <a:r>
              <a:rPr lang="en-US" altLang="zh-TW" dirty="0" err="1"/>
              <a:t>theo</a:t>
            </a:r>
            <a:r>
              <a:rPr lang="en-US" altLang="zh-TW" dirty="0"/>
              <a:t> </a:t>
            </a:r>
            <a:r>
              <a:rPr lang="en-US" altLang="zh-TW" dirty="0" err="1"/>
              <a:t>một</a:t>
            </a:r>
            <a:r>
              <a:rPr lang="en-US" altLang="zh-TW" dirty="0"/>
              <a:t> </a:t>
            </a:r>
            <a:r>
              <a:rPr lang="en-US" altLang="zh-TW" dirty="0" err="1"/>
              <a:t>hàng</a:t>
            </a:r>
            <a:r>
              <a:rPr lang="en-US" altLang="zh-TW" dirty="0"/>
              <a:t> </a:t>
            </a:r>
            <a:r>
              <a:rPr lang="en-US" altLang="zh-TW" dirty="0" err="1"/>
              <a:t>không</a:t>
            </a:r>
            <a:r>
              <a:rPr lang="en-US" altLang="zh-TW" dirty="0"/>
              <a:t> </a:t>
            </a:r>
            <a:r>
              <a:rPr lang="en-US" altLang="zh-TW" dirty="0" err="1"/>
              <a:t>đổi</a:t>
            </a:r>
            <a:r>
              <a:rPr lang="en-US" altLang="zh-TW" dirty="0"/>
              <a:t>, say, </a:t>
            </a:r>
            <a:r>
              <a:rPr lang="en-US" altLang="zh-TW" dirty="0" err="1"/>
              <a:t>hàng</a:t>
            </a:r>
            <a:r>
              <a:rPr lang="en-US" altLang="zh-TW" dirty="0"/>
              <a:t> </a:t>
            </a:r>
            <a:r>
              <a:rPr lang="en-US" altLang="zh-TW" dirty="0" err="1"/>
              <a:t>i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2.2- </a:t>
            </a:r>
            <a:fld id="{CE90E932-D1B3-4534-813D-FD4EBE5E39C2}" type="slidenum">
              <a:rPr lang="en-US" altLang="en-US" smtClean="0"/>
              <a:pPr>
                <a:defRPr/>
              </a:pPr>
              <a:t>10</a:t>
            </a:fld>
            <a:endParaRPr lang="en-CA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 © 2012 Pearson Education, 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502516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2"/>
                <a:r>
                  <a:rPr lang="en-US" altLang="zh-TW" dirty="0" err="1"/>
                  <a:t>Vì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các</a:t>
                </a:r>
                <a:r>
                  <a:rPr lang="en-US" altLang="zh-TW" dirty="0"/>
                  <a:t> ma </a:t>
                </a:r>
                <a:r>
                  <a:rPr lang="en-US" altLang="zh-TW" dirty="0" err="1"/>
                  <a:t>trận</a:t>
                </a:r>
                <a:r>
                  <a:rPr lang="en-US" altLang="zh-TW" dirty="0"/>
                  <a:t> con </a:t>
                </a:r>
                <a:r>
                  <a:rPr lang="en-US" altLang="zh-TW" dirty="0" err="1"/>
                  <a:t>A</a:t>
                </a:r>
                <a:r>
                  <a:rPr lang="en-US" altLang="zh-TW" baseline="-25000" dirty="0" err="1"/>
                  <a:t>ij</a:t>
                </a:r>
                <a:r>
                  <a:rPr lang="en-US" altLang="zh-TW" dirty="0"/>
                  <a:t>, </a:t>
                </a:r>
                <a:r>
                  <a:rPr lang="en-US" altLang="zh-TW" dirty="0" err="1"/>
                  <a:t>B</a:t>
                </a:r>
                <a:r>
                  <a:rPr lang="en-US" altLang="zh-TW" baseline="-25000" dirty="0" err="1"/>
                  <a:t>ij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chỉ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là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kxk</a:t>
                </a:r>
                <a:br>
                  <a:rPr lang="en-US" altLang="zh-TW" dirty="0"/>
                </a:br>
                <a:r>
                  <a:rPr lang="en-US" altLang="zh-TW" dirty="0" err="1"/>
                  <a:t>det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B</a:t>
                </a:r>
                <a:r>
                  <a:rPr lang="en-US" altLang="zh-TW" baseline="-25000" dirty="0" err="1"/>
                  <a:t>ij</a:t>
                </a:r>
                <a:r>
                  <a:rPr lang="en-US" altLang="zh-TW" dirty="0"/>
                  <a:t> = </a:t>
                </a:r>
                <a:r>
                  <a:rPr lang="en-US" altLang="zh-TW" dirty="0">
                    <a:sym typeface="Symbol"/>
                  </a:rPr>
                  <a:t>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det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A</a:t>
                </a:r>
                <a:r>
                  <a:rPr lang="en-US" altLang="zh-TW" baseline="-25000" dirty="0" err="1"/>
                  <a:t>ij</a:t>
                </a:r>
                <a:br>
                  <a:rPr lang="en-US" altLang="zh-TW" dirty="0"/>
                </a:br>
                <a:r>
                  <a:rPr lang="en-US" altLang="zh-TW" dirty="0" err="1"/>
                  <a:t>trong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đó</a:t>
                </a:r>
                <a:r>
                  <a:rPr lang="en-US" altLang="zh-TW" dirty="0"/>
                  <a:t> </a:t>
                </a:r>
                <a:r>
                  <a:rPr lang="en-US" altLang="zh-TW" dirty="0">
                    <a:sym typeface="Symbol"/>
                  </a:rPr>
                  <a:t></a:t>
                </a:r>
                <a:r>
                  <a:rPr lang="en-US" altLang="zh-TW" dirty="0"/>
                  <a:t> = 1, -1, hay r.</a:t>
                </a:r>
              </a:p>
              <a:p>
                <a:pPr lvl="2"/>
                <a:r>
                  <a:rPr lang="en-US" altLang="zh-TW" dirty="0" err="1"/>
                  <a:t>Khai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triển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phần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phụ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đại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số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theo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hàng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 </a:t>
                </a:r>
                <a:r>
                  <a:rPr lang="en-US" altLang="zh-TW" dirty="0" err="1"/>
                  <a:t>là</a:t>
                </a:r>
                <a:r>
                  <a:rPr lang="en-US" altLang="zh-TW" dirty="0"/>
                  <a:t>:</a:t>
                </a:r>
                <a:br>
                  <a:rPr lang="en-US" altLang="zh-TW" dirty="0"/>
                </a:br>
                <a:r>
                  <a:rPr lang="en-US" altLang="zh-TW" dirty="0" err="1"/>
                  <a:t>det</a:t>
                </a:r>
                <a:r>
                  <a:rPr lang="en-US" altLang="zh-TW" dirty="0"/>
                  <a:t> EA=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b="0" i="1" baseline="-25000" smtClean="0">
                        <a:latin typeface="Cambria Math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en-US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func>
                      <m:funcPr>
                        <m:ctrlPr>
                          <a:rPr lang="en-US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en-US" b="0" i="1" baseline="30000" smtClean="0"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i="1" baseline="1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en-US" b="0" i="1" baseline="30000" smtClean="0"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det</m:t>
                        </m:r>
                      </m:fName>
                      <m:e>
                        <m:r>
                          <a:rPr lang="en-US" altLang="en-US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en-US" b="0" i="1" baseline="-25000" smtClean="0"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+…+</m:t>
                        </m:r>
                        <m:r>
                          <a:rPr lang="en-US" altLang="en-US" i="1" baseline="30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en-US" b="0" i="1" baseline="-25000" smtClean="0"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en-US" b="0" i="1" baseline="30000" smtClean="0"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i="1" baseline="1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en-US" i="1" baseline="30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𝑑𝑒𝑡</m:t>
                        </m:r>
                        <m:r>
                          <a:rPr lang="en-US" altLang="en-US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en-US" b="0" i="1" baseline="-25000" smtClean="0"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</m:oMath>
                </a14:m>
                <a:br>
                  <a:rPr lang="en-US" altLang="en-US" baseline="-25000" dirty="0">
                    <a:cs typeface="Times New Roman" panose="02020603050405020304" pitchFamily="18" charset="0"/>
                  </a:rPr>
                </a:br>
                <a:r>
                  <a:rPr lang="en-US" altLang="en-US" dirty="0">
                    <a:cs typeface="Times New Roman" panose="02020603050405020304" pitchFamily="18" charset="0"/>
                  </a:rPr>
                  <a:t>= </a:t>
                </a:r>
                <a:r>
                  <a:rPr lang="en-US" altLang="en-US" dirty="0">
                    <a:cs typeface="Times New Roman" panose="02020603050405020304" pitchFamily="18" charset="0"/>
                    <a:sym typeface="Symbol"/>
                  </a:rPr>
                  <a:t>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altLang="en-US" i="1" baseline="-25000">
                        <a:latin typeface="Cambria Math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en-US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func>
                      <m:funcPr>
                        <m:ctrlPr>
                          <a:rPr lang="en-US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en-US" i="1" baseline="30000"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i="1" baseline="1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en-US" i="1" baseline="30000">
                            <a:latin typeface="Cambria Math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altLang="en-US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det</m:t>
                        </m:r>
                      </m:fName>
                      <m:e>
                        <m:r>
                          <a:rPr lang="en-US" altLang="en-US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en-US" i="1" baseline="-25000"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+…+</m:t>
                        </m:r>
                        <m:r>
                          <m:rPr>
                            <m:nor/>
                          </m:rPr>
                          <a:rPr lang="en-US" altLang="en-US" dirty="0">
                            <a:cs typeface="Times New Roman" panose="02020603050405020304" pitchFamily="18" charset="0"/>
                            <a:sym typeface="Symbol"/>
                          </a:rPr>
                          <m:t>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altLang="en-US" i="1" baseline="-25000"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lang="en-US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en-US" i="1" baseline="30000"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i="1" baseline="1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en-US" i="1" baseline="30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𝑑𝑒𝑡</m:t>
                        </m:r>
                        <m:r>
                          <a:rPr lang="en-US" altLang="en-US" b="0" i="1" smtClean="0">
                            <a:latin typeface="Cambria Math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en-US" i="1" baseline="-25000">
                            <a:latin typeface="Cambria Math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en-US" i="1" baseline="-250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</m:oMath>
                </a14:m>
                <a:br>
                  <a:rPr lang="en-US" altLang="en-US" baseline="-25000" dirty="0">
                    <a:cs typeface="Times New Roman" panose="02020603050405020304" pitchFamily="18" charset="0"/>
                  </a:rPr>
                </a:br>
                <a:r>
                  <a:rPr lang="en-US" altLang="en-US" dirty="0">
                    <a:cs typeface="Times New Roman" panose="02020603050405020304" pitchFamily="18" charset="0"/>
                  </a:rPr>
                  <a:t>= </a:t>
                </a:r>
                <a:r>
                  <a:rPr lang="en-US" altLang="en-US" dirty="0">
                    <a:cs typeface="Times New Roman" panose="02020603050405020304" pitchFamily="18" charset="0"/>
                    <a:sym typeface="Symbol"/>
                  </a:rPr>
                  <a:t> </a:t>
                </a:r>
                <a:r>
                  <a:rPr lang="en-US" altLang="en-US" dirty="0" err="1">
                    <a:cs typeface="Times New Roman" panose="02020603050405020304" pitchFamily="18" charset="0"/>
                    <a:sym typeface="Symbol"/>
                  </a:rPr>
                  <a:t>det</a:t>
                </a:r>
                <a:r>
                  <a:rPr lang="en-US" altLang="en-US" dirty="0">
                    <a:cs typeface="Times New Roman" panose="02020603050405020304" pitchFamily="18" charset="0"/>
                    <a:sym typeface="Symbol"/>
                  </a:rPr>
                  <a:t> A</a:t>
                </a:r>
              </a:p>
              <a:p>
                <a:pPr lvl="2"/>
                <a:r>
                  <a:rPr lang="en-US" altLang="en-US" dirty="0">
                    <a:cs typeface="Times New Roman" panose="02020603050405020304" pitchFamily="18" charset="0"/>
                  </a:rPr>
                  <a:t>  </a:t>
                </a:r>
              </a:p>
              <a:p>
                <a:pPr lvl="2"/>
                <a:endParaRPr lang="zh-TW" altLang="en-US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2.2- </a:t>
            </a:r>
            <a:fld id="{CE90E932-D1B3-4534-813D-FD4EBE5E39C2}" type="slidenum">
              <a:rPr lang="en-US" altLang="en-US" smtClean="0"/>
              <a:pPr>
                <a:defRPr/>
              </a:pPr>
              <a:t>11</a:t>
            </a:fld>
            <a:endParaRPr lang="en-CA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 © 2012 Pearson Education, 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153535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err="1"/>
              <a:t>Chứng</a:t>
            </a:r>
            <a:r>
              <a:rPr lang="en-US" altLang="zh-TW" dirty="0"/>
              <a:t> minh </a:t>
            </a:r>
            <a:r>
              <a:rPr lang="en-US" altLang="zh-TW" dirty="0" err="1"/>
              <a:t>Định</a:t>
            </a:r>
            <a:r>
              <a:rPr lang="en-US" altLang="zh-TW" dirty="0"/>
              <a:t> </a:t>
            </a:r>
            <a:r>
              <a:rPr lang="en-US" altLang="zh-TW" dirty="0" err="1"/>
              <a:t>lí</a:t>
            </a:r>
            <a:r>
              <a:rPr lang="en-US" altLang="zh-TW" dirty="0"/>
              <a:t> 6:</a:t>
            </a:r>
          </a:p>
          <a:p>
            <a:pPr lvl="1"/>
            <a:r>
              <a:rPr lang="en-US" altLang="zh-TW" dirty="0" err="1"/>
              <a:t>Nếu</a:t>
            </a:r>
            <a:r>
              <a:rPr lang="en-US" altLang="zh-TW" dirty="0"/>
              <a:t> A </a:t>
            </a:r>
            <a:r>
              <a:rPr lang="en-US" altLang="zh-TW" dirty="0" err="1"/>
              <a:t>không</a:t>
            </a:r>
            <a:r>
              <a:rPr lang="en-US" altLang="zh-TW" dirty="0"/>
              <a:t> </a:t>
            </a:r>
            <a:r>
              <a:rPr lang="en-US" altLang="zh-TW" dirty="0" err="1"/>
              <a:t>khả</a:t>
            </a:r>
            <a:r>
              <a:rPr lang="en-US" altLang="zh-TW" dirty="0"/>
              <a:t> </a:t>
            </a:r>
            <a:r>
              <a:rPr lang="en-US" altLang="zh-TW" dirty="0" err="1"/>
              <a:t>nghich</a:t>
            </a:r>
            <a:r>
              <a:rPr lang="en-US" altLang="zh-TW" dirty="0"/>
              <a:t>, </a:t>
            </a:r>
            <a:r>
              <a:rPr lang="en-US" altLang="zh-TW" dirty="0" err="1"/>
              <a:t>thì</a:t>
            </a:r>
            <a:r>
              <a:rPr lang="en-US" altLang="zh-TW" dirty="0"/>
              <a:t> AB </a:t>
            </a:r>
            <a:r>
              <a:rPr lang="en-US" altLang="zh-TW" dirty="0" err="1"/>
              <a:t>cũng</a:t>
            </a:r>
            <a:r>
              <a:rPr lang="en-US" altLang="zh-TW" dirty="0"/>
              <a:t> </a:t>
            </a:r>
            <a:r>
              <a:rPr lang="en-US" altLang="zh-TW" dirty="0" err="1"/>
              <a:t>không</a:t>
            </a:r>
            <a:endParaRPr lang="en-US" altLang="zh-TW" dirty="0"/>
          </a:p>
          <a:p>
            <a:pPr lvl="2"/>
            <a:r>
              <a:rPr lang="en-US" altLang="zh-TW" dirty="0" err="1"/>
              <a:t>det</a:t>
            </a:r>
            <a:r>
              <a:rPr lang="en-US" altLang="zh-TW" dirty="0"/>
              <a:t> AB = (</a:t>
            </a:r>
            <a:r>
              <a:rPr lang="en-US" altLang="zh-TW" dirty="0" err="1"/>
              <a:t>det</a:t>
            </a:r>
            <a:r>
              <a:rPr lang="en-US" altLang="zh-TW" dirty="0"/>
              <a:t> A)(</a:t>
            </a:r>
            <a:r>
              <a:rPr lang="en-US" altLang="zh-TW" dirty="0" err="1"/>
              <a:t>det</a:t>
            </a:r>
            <a:r>
              <a:rPr lang="en-US" altLang="zh-TW" dirty="0"/>
              <a:t> B), </a:t>
            </a:r>
            <a:r>
              <a:rPr lang="en-US" altLang="zh-TW" dirty="0" err="1"/>
              <a:t>vì</a:t>
            </a:r>
            <a:r>
              <a:rPr lang="en-US" altLang="zh-TW" dirty="0"/>
              <a:t> </a:t>
            </a:r>
            <a:r>
              <a:rPr lang="en-US" altLang="zh-TW" dirty="0" err="1"/>
              <a:t>hai</a:t>
            </a:r>
            <a:r>
              <a:rPr lang="en-US" altLang="zh-TW" dirty="0"/>
              <a:t> </a:t>
            </a:r>
            <a:r>
              <a:rPr lang="en-US" altLang="zh-TW" dirty="0" err="1"/>
              <a:t>vế</a:t>
            </a:r>
            <a:r>
              <a:rPr lang="en-US" altLang="zh-TW" dirty="0"/>
              <a:t> </a:t>
            </a:r>
            <a:r>
              <a:rPr lang="en-US" altLang="zh-TW" dirty="0" err="1"/>
              <a:t>bằng</a:t>
            </a:r>
            <a:r>
              <a:rPr lang="en-US" altLang="zh-TW" dirty="0"/>
              <a:t> 0 (by </a:t>
            </a:r>
            <a:r>
              <a:rPr lang="en-US" altLang="zh-TW" dirty="0" err="1"/>
              <a:t>Định</a:t>
            </a:r>
            <a:r>
              <a:rPr lang="en-US" altLang="zh-TW" dirty="0"/>
              <a:t> </a:t>
            </a:r>
            <a:r>
              <a:rPr lang="en-US" altLang="zh-TW" dirty="0" err="1"/>
              <a:t>lí</a:t>
            </a:r>
            <a:r>
              <a:rPr lang="en-US" altLang="zh-TW" dirty="0"/>
              <a:t> 4)</a:t>
            </a:r>
          </a:p>
          <a:p>
            <a:pPr lvl="1"/>
            <a:r>
              <a:rPr lang="en-US" altLang="zh-TW" dirty="0" err="1"/>
              <a:t>Nếu</a:t>
            </a:r>
            <a:r>
              <a:rPr lang="en-US" altLang="zh-TW" dirty="0"/>
              <a:t> A </a:t>
            </a:r>
            <a:r>
              <a:rPr lang="en-US" altLang="zh-TW" dirty="0" err="1"/>
              <a:t>khả</a:t>
            </a:r>
            <a:r>
              <a:rPr lang="en-US" altLang="zh-TW" dirty="0"/>
              <a:t> </a:t>
            </a:r>
            <a:r>
              <a:rPr lang="en-US" altLang="zh-TW" dirty="0" err="1"/>
              <a:t>nghich</a:t>
            </a:r>
            <a:r>
              <a:rPr lang="en-US" altLang="zh-TW" dirty="0"/>
              <a:t>, </a:t>
            </a:r>
            <a:r>
              <a:rPr lang="en-US" altLang="zh-TW" dirty="0" err="1"/>
              <a:t>thì</a:t>
            </a:r>
            <a:r>
              <a:rPr lang="en-US" altLang="zh-TW" dirty="0"/>
              <a:t> A </a:t>
            </a:r>
            <a:r>
              <a:rPr lang="en-US" altLang="zh-TW" dirty="0" err="1"/>
              <a:t>và</a:t>
            </a:r>
            <a:r>
              <a:rPr lang="en-US" altLang="zh-TW" dirty="0"/>
              <a:t> I </a:t>
            </a:r>
            <a:r>
              <a:rPr lang="en-US" altLang="zh-TW" dirty="0" err="1"/>
              <a:t>tương</a:t>
            </a:r>
            <a:r>
              <a:rPr lang="en-US" altLang="zh-TW" dirty="0"/>
              <a:t> </a:t>
            </a:r>
            <a:r>
              <a:rPr lang="en-US" altLang="zh-TW" dirty="0" err="1"/>
              <a:t>đương</a:t>
            </a:r>
            <a:r>
              <a:rPr lang="en-US" altLang="zh-TW" dirty="0"/>
              <a:t> </a:t>
            </a:r>
            <a:r>
              <a:rPr lang="en-US" altLang="zh-TW" dirty="0" err="1"/>
              <a:t>hàng</a:t>
            </a:r>
            <a:r>
              <a:rPr lang="en-US" altLang="zh-TW" dirty="0"/>
              <a:t>  (</a:t>
            </a:r>
            <a:r>
              <a:rPr lang="en-US" altLang="zh-TW" dirty="0" err="1"/>
              <a:t>theo</a:t>
            </a:r>
            <a:r>
              <a:rPr lang="en-US" altLang="zh-TW" dirty="0"/>
              <a:t> </a:t>
            </a:r>
            <a:r>
              <a:rPr lang="en-US" altLang="zh-TW" dirty="0" err="1"/>
              <a:t>Định</a:t>
            </a:r>
            <a:r>
              <a:rPr lang="en-US" altLang="zh-TW" dirty="0"/>
              <a:t> </a:t>
            </a:r>
            <a:r>
              <a:rPr lang="en-US" altLang="zh-TW" dirty="0" err="1"/>
              <a:t>lí</a:t>
            </a:r>
            <a:r>
              <a:rPr lang="en-US" altLang="zh-TW" dirty="0"/>
              <a:t> Ma </a:t>
            </a:r>
            <a:r>
              <a:rPr lang="en-US" altLang="zh-TW" dirty="0" err="1"/>
              <a:t>trận</a:t>
            </a:r>
            <a:r>
              <a:rPr lang="en-US" altLang="zh-TW" dirty="0"/>
              <a:t> </a:t>
            </a:r>
            <a:r>
              <a:rPr lang="en-US" altLang="zh-TW" dirty="0" err="1"/>
              <a:t>Khả</a:t>
            </a:r>
            <a:r>
              <a:rPr lang="en-US" altLang="zh-TW" dirty="0"/>
              <a:t> </a:t>
            </a:r>
            <a:r>
              <a:rPr lang="en-US" altLang="zh-TW" dirty="0" err="1"/>
              <a:t>nghich</a:t>
            </a:r>
            <a:r>
              <a:rPr lang="en-US" altLang="zh-TW" dirty="0"/>
              <a:t>)</a:t>
            </a:r>
          </a:p>
          <a:p>
            <a:pPr lvl="2"/>
            <a:r>
              <a:rPr lang="en-US" altLang="zh-TW" dirty="0"/>
              <a:t>Do </a:t>
            </a:r>
            <a:r>
              <a:rPr lang="en-US" altLang="zh-TW" dirty="0" err="1"/>
              <a:t>đó</a:t>
            </a:r>
            <a:r>
              <a:rPr lang="en-US" altLang="zh-TW" dirty="0"/>
              <a:t> </a:t>
            </a:r>
            <a:r>
              <a:rPr lang="en-US" altLang="zh-TW" dirty="0" err="1"/>
              <a:t>tồn</a:t>
            </a:r>
            <a:r>
              <a:rPr lang="en-US" altLang="zh-TW" dirty="0"/>
              <a:t> </a:t>
            </a:r>
            <a:r>
              <a:rPr lang="en-US" altLang="zh-TW" dirty="0" err="1"/>
              <a:t>tại</a:t>
            </a:r>
            <a:r>
              <a:rPr lang="en-US" altLang="zh-TW" dirty="0"/>
              <a:t> </a:t>
            </a:r>
            <a:r>
              <a:rPr lang="en-US" altLang="zh-TW" dirty="0" err="1"/>
              <a:t>các</a:t>
            </a:r>
            <a:r>
              <a:rPr lang="en-US" altLang="zh-TW" dirty="0"/>
              <a:t> ma </a:t>
            </a:r>
            <a:r>
              <a:rPr lang="en-US" altLang="zh-TW" dirty="0" err="1"/>
              <a:t>trận</a:t>
            </a:r>
            <a:r>
              <a:rPr lang="en-US" altLang="zh-TW" dirty="0"/>
              <a:t> </a:t>
            </a:r>
            <a:r>
              <a:rPr lang="en-US" altLang="zh-TW" dirty="0" err="1"/>
              <a:t>sơ</a:t>
            </a:r>
            <a:r>
              <a:rPr lang="en-US" altLang="zh-TW" dirty="0"/>
              <a:t> </a:t>
            </a:r>
            <a:r>
              <a:rPr lang="en-US" altLang="zh-TW" dirty="0" err="1"/>
              <a:t>cấp</a:t>
            </a:r>
            <a:r>
              <a:rPr lang="en-US" altLang="zh-TW" dirty="0"/>
              <a:t> E</a:t>
            </a:r>
            <a:r>
              <a:rPr lang="en-US" altLang="zh-TW" baseline="-25000" dirty="0"/>
              <a:t>1</a:t>
            </a:r>
            <a:r>
              <a:rPr lang="en-US" altLang="zh-TW" dirty="0"/>
              <a:t>, … E</a:t>
            </a:r>
            <a:r>
              <a:rPr lang="en-US" altLang="zh-TW" baseline="-25000" dirty="0"/>
              <a:t>p</a:t>
            </a:r>
            <a:r>
              <a:rPr lang="en-US" altLang="zh-TW" dirty="0"/>
              <a:t> </a:t>
            </a:r>
            <a:r>
              <a:rPr lang="en-US" altLang="zh-TW" dirty="0" err="1"/>
              <a:t>sao</a:t>
            </a:r>
            <a:r>
              <a:rPr lang="en-US" altLang="zh-TW" dirty="0"/>
              <a:t> </a:t>
            </a:r>
            <a:r>
              <a:rPr lang="en-US" altLang="zh-TW" dirty="0" err="1"/>
              <a:t>cho</a:t>
            </a:r>
            <a:br>
              <a:rPr lang="en-US" altLang="zh-TW" dirty="0"/>
            </a:br>
            <a:r>
              <a:rPr lang="en-US" altLang="zh-TW" dirty="0"/>
              <a:t>A = E</a:t>
            </a:r>
            <a:r>
              <a:rPr lang="en-US" altLang="zh-TW" baseline="-25000" dirty="0"/>
              <a:t>p</a:t>
            </a:r>
            <a:r>
              <a:rPr lang="en-US" altLang="zh-TW" dirty="0"/>
              <a:t>E</a:t>
            </a:r>
            <a:r>
              <a:rPr lang="en-US" altLang="zh-TW" baseline="-25000" dirty="0"/>
              <a:t>p-1</a:t>
            </a:r>
            <a:r>
              <a:rPr lang="en-US" altLang="zh-TW" dirty="0"/>
              <a:t>…E</a:t>
            </a:r>
            <a:r>
              <a:rPr lang="en-US" altLang="zh-TW" baseline="-25000" dirty="0"/>
              <a:t>1</a:t>
            </a:r>
            <a:r>
              <a:rPr lang="en-US" altLang="zh-TW" dirty="0"/>
              <a:t> I</a:t>
            </a:r>
            <a:r>
              <a:rPr lang="en-US" altLang="zh-TW" baseline="-25000" dirty="0"/>
              <a:t>n</a:t>
            </a:r>
            <a:r>
              <a:rPr lang="en-US" altLang="zh-TW" dirty="0"/>
              <a:t> = E</a:t>
            </a:r>
            <a:r>
              <a:rPr lang="en-US" altLang="zh-TW" baseline="-25000" dirty="0"/>
              <a:t>p</a:t>
            </a:r>
            <a:r>
              <a:rPr lang="en-US" altLang="zh-TW" dirty="0"/>
              <a:t>E</a:t>
            </a:r>
            <a:r>
              <a:rPr lang="en-US" altLang="zh-TW" baseline="-25000" dirty="0"/>
              <a:t>p-1</a:t>
            </a:r>
            <a:r>
              <a:rPr lang="en-US" altLang="zh-TW" dirty="0"/>
              <a:t>…E</a:t>
            </a:r>
            <a:r>
              <a:rPr lang="en-US" altLang="zh-TW" baseline="-25000" dirty="0"/>
              <a:t>1</a:t>
            </a:r>
            <a:endParaRPr lang="en-US" altLang="zh-TW" dirty="0"/>
          </a:p>
          <a:p>
            <a:pPr lvl="2"/>
            <a:r>
              <a:rPr lang="en-US" altLang="zh-TW" dirty="0" err="1"/>
              <a:t>Khi</a:t>
            </a:r>
            <a:r>
              <a:rPr lang="en-US" altLang="zh-TW" dirty="0"/>
              <a:t> </a:t>
            </a:r>
            <a:r>
              <a:rPr lang="en-US" altLang="zh-TW" dirty="0" err="1"/>
              <a:t>đó</a:t>
            </a:r>
            <a:r>
              <a:rPr lang="en-US" altLang="zh-TW" dirty="0"/>
              <a:t>, </a:t>
            </a:r>
            <a:r>
              <a:rPr lang="en-US" altLang="zh-TW" dirty="0" err="1"/>
              <a:t>áp</a:t>
            </a:r>
            <a:r>
              <a:rPr lang="en-US" altLang="zh-TW" dirty="0"/>
              <a:t> </a:t>
            </a:r>
            <a:r>
              <a:rPr lang="en-US" altLang="zh-TW" dirty="0" err="1"/>
              <a:t>dụng</a:t>
            </a:r>
            <a:r>
              <a:rPr lang="en-US" altLang="zh-TW" dirty="0"/>
              <a:t> </a:t>
            </a:r>
            <a:r>
              <a:rPr lang="en-US" altLang="zh-TW" dirty="0" err="1"/>
              <a:t>lặp</a:t>
            </a:r>
            <a:r>
              <a:rPr lang="en-US" altLang="zh-TW" dirty="0"/>
              <a:t> </a:t>
            </a:r>
            <a:r>
              <a:rPr lang="en-US" altLang="zh-TW" dirty="0" err="1"/>
              <a:t>lại</a:t>
            </a:r>
            <a:r>
              <a:rPr lang="en-US" altLang="zh-TW" dirty="0"/>
              <a:t> </a:t>
            </a:r>
            <a:r>
              <a:rPr lang="en-US" altLang="zh-TW" dirty="0" err="1"/>
              <a:t>Định</a:t>
            </a:r>
            <a:r>
              <a:rPr lang="en-US" altLang="zh-TW" dirty="0"/>
              <a:t> </a:t>
            </a:r>
            <a:r>
              <a:rPr lang="en-US" altLang="zh-TW" dirty="0" err="1"/>
              <a:t>lí</a:t>
            </a:r>
            <a:r>
              <a:rPr lang="en-US" altLang="zh-TW" dirty="0"/>
              <a:t> 3 </a:t>
            </a:r>
            <a:r>
              <a:rPr lang="en-US" altLang="zh-TW" dirty="0" err="1"/>
              <a:t>suy</a:t>
            </a:r>
            <a:r>
              <a:rPr lang="en-US" altLang="zh-TW" dirty="0"/>
              <a:t> </a:t>
            </a:r>
            <a:r>
              <a:rPr lang="en-US" altLang="zh-TW"/>
              <a:t>ra</a:t>
            </a:r>
            <a:br>
              <a:rPr lang="en-US" altLang="zh-TW" dirty="0"/>
            </a:br>
            <a:r>
              <a:rPr lang="en-US" altLang="zh-TW" dirty="0"/>
              <a:t>|AB| = |E</a:t>
            </a:r>
            <a:r>
              <a:rPr lang="en-US" altLang="zh-TW" baseline="-25000" dirty="0"/>
              <a:t>p</a:t>
            </a:r>
            <a:r>
              <a:rPr lang="en-US" altLang="zh-TW" dirty="0"/>
              <a:t>E</a:t>
            </a:r>
            <a:r>
              <a:rPr lang="en-US" altLang="zh-TW" baseline="-25000" dirty="0"/>
              <a:t>p-1</a:t>
            </a:r>
            <a:r>
              <a:rPr lang="en-US" altLang="zh-TW" dirty="0"/>
              <a:t>…E</a:t>
            </a:r>
            <a:r>
              <a:rPr lang="en-US" altLang="zh-TW" baseline="-25000" dirty="0"/>
              <a:t>1</a:t>
            </a:r>
            <a:r>
              <a:rPr lang="en-US" altLang="zh-TW" dirty="0"/>
              <a:t> B| = |E</a:t>
            </a:r>
            <a:r>
              <a:rPr lang="en-US" altLang="zh-TW" baseline="-25000" dirty="0"/>
              <a:t>p</a:t>
            </a:r>
            <a:r>
              <a:rPr lang="en-US" altLang="zh-TW" dirty="0"/>
              <a:t>| |E</a:t>
            </a:r>
            <a:r>
              <a:rPr lang="en-US" altLang="zh-TW" baseline="-25000" dirty="0"/>
              <a:t>p-1</a:t>
            </a:r>
            <a:r>
              <a:rPr lang="en-US" altLang="zh-TW" dirty="0"/>
              <a:t>…E</a:t>
            </a:r>
            <a:r>
              <a:rPr lang="en-US" altLang="zh-TW" baseline="-25000" dirty="0"/>
              <a:t>1</a:t>
            </a:r>
            <a:r>
              <a:rPr lang="en-US" altLang="zh-TW" dirty="0"/>
              <a:t> B| = …</a:t>
            </a:r>
            <a:br>
              <a:rPr lang="en-US" altLang="zh-TW" dirty="0"/>
            </a:br>
            <a:r>
              <a:rPr lang="en-US" altLang="zh-TW" dirty="0"/>
              <a:t>= |E</a:t>
            </a:r>
            <a:r>
              <a:rPr lang="en-US" altLang="zh-TW" baseline="-25000" dirty="0"/>
              <a:t>p</a:t>
            </a:r>
            <a:r>
              <a:rPr lang="en-US" altLang="zh-TW" dirty="0"/>
              <a:t>|…|E</a:t>
            </a:r>
            <a:r>
              <a:rPr lang="en-US" altLang="zh-TW" baseline="-25000" dirty="0"/>
              <a:t>1</a:t>
            </a:r>
            <a:r>
              <a:rPr lang="en-US" altLang="zh-TW" dirty="0"/>
              <a:t>||B| = |E</a:t>
            </a:r>
            <a:r>
              <a:rPr lang="en-US" altLang="zh-TW" baseline="-25000" dirty="0"/>
              <a:t>p</a:t>
            </a:r>
            <a:r>
              <a:rPr lang="en-US" altLang="zh-TW" dirty="0"/>
              <a:t>E</a:t>
            </a:r>
            <a:r>
              <a:rPr lang="en-US" altLang="zh-TW" baseline="-25000" dirty="0"/>
              <a:t>p-1</a:t>
            </a:r>
            <a:r>
              <a:rPr lang="en-US" altLang="zh-TW" dirty="0"/>
              <a:t>…E</a:t>
            </a:r>
            <a:r>
              <a:rPr lang="en-US" altLang="zh-TW" baseline="-25000" dirty="0"/>
              <a:t>1</a:t>
            </a:r>
            <a:r>
              <a:rPr lang="en-US" altLang="zh-TW" dirty="0"/>
              <a:t>| |B|</a:t>
            </a:r>
            <a:br>
              <a:rPr lang="en-US" altLang="zh-TW" dirty="0"/>
            </a:br>
            <a:r>
              <a:rPr lang="en-US" altLang="zh-TW" dirty="0"/>
              <a:t>= |A| |B|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Slide 2.2- </a:t>
            </a:r>
            <a:fld id="{CE90E932-D1B3-4534-813D-FD4EBE5E39C2}" type="slidenum">
              <a:rPr lang="en-US" altLang="en-US" smtClean="0"/>
              <a:pPr>
                <a:defRPr/>
              </a:pPr>
              <a:t>12</a:t>
            </a:fld>
            <a:endParaRPr lang="en-CA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 © 2012 Pearson Education, 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6460802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13295</TotalTime>
  <Words>756</Words>
  <Application>Microsoft Office PowerPoint</Application>
  <PresentationFormat>On-screen Show (4:3)</PresentationFormat>
  <Paragraphs>88</Paragraphs>
  <Slides>12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 Narrow</vt:lpstr>
      <vt:lpstr>Bookshelf Symbol 2</vt:lpstr>
      <vt:lpstr>Cambria Math</vt:lpstr>
      <vt:lpstr>Symbol</vt:lpstr>
      <vt:lpstr>Times New Roman</vt:lpstr>
      <vt:lpstr>Wingdings</vt:lpstr>
      <vt:lpstr>Blends</vt:lpstr>
      <vt:lpstr>Equation</vt:lpstr>
      <vt:lpstr>Định Thức</vt:lpstr>
      <vt:lpstr>CÁC TÍNH CHẤT CỦA ĐỊNH THỨC</vt:lpstr>
      <vt:lpstr>CÁC TÍNH CHẤT CỦA ĐỊNH THỨC</vt:lpstr>
      <vt:lpstr>CÁC TÍNH CHẤT CỦA ĐỊNH THỨC</vt:lpstr>
      <vt:lpstr>CÁC TÍNH CHẤT CỦA ĐỊNH THỨC</vt:lpstr>
      <vt:lpstr>PowerPoint Presentation</vt:lpstr>
      <vt:lpstr>CÁC PHÉP BIẾN ĐỔI CỘT</vt:lpstr>
      <vt:lpstr>ĐỊNH THỨC VÀ PHÉP NHÂN MA TRẬN</vt:lpstr>
      <vt:lpstr>Chứng minh của các định lí 3 và 6</vt:lpstr>
      <vt:lpstr>PowerPoint Presentation</vt:lpstr>
      <vt:lpstr>PowerPoint Presentation</vt:lpstr>
      <vt:lpstr>PowerPoint Presentation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1013</cp:revision>
  <dcterms:created xsi:type="dcterms:W3CDTF">2005-10-22T18:34:54Z</dcterms:created>
  <dcterms:modified xsi:type="dcterms:W3CDTF">2016-07-29T09:58:27Z</dcterms:modified>
</cp:coreProperties>
</file>