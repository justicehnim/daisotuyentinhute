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3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6436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1714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155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9529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0228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2942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2155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25201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0653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8806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5172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5315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0664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49335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55013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9785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5514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745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6403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3.3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819400"/>
            <a:ext cx="5029200" cy="33528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QUI TẮC CRAMER, </a:t>
            </a:r>
          </a:p>
          <a:p>
            <a:pPr eaLnBrk="1" hangingPunct="1"/>
            <a:r>
              <a:rPr lang="en-US" altLang="en-US" dirty="0">
                <a:latin typeface="+mj-lt"/>
              </a:rPr>
              <a:t>THỂ TÍCH, VÀ </a:t>
            </a:r>
          </a:p>
          <a:p>
            <a:pPr eaLnBrk="1" hangingPunct="1"/>
            <a:r>
              <a:rPr lang="en-US" altLang="en-US" dirty="0">
                <a:latin typeface="+mj-lt"/>
              </a:rPr>
              <a:t>PHÉP BIẾN ĐỔI TUYẾN TÍNH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 TẮC CRAMER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7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x=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𝑑𝑒𝑡𝐴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𝑑𝑒𝑡𝐴</m:t>
                        </m:r>
                      </m:den>
                    </m:f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   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i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 1, 2 , . . . 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          (1) </a:t>
                </a: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minh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 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e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e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ta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𝐼𝑖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1   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  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…  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𝑒𝑛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1  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𝐴𝑥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…   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𝐴𝑒𝑛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 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7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1  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…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𝑎𝑛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185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1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 TẮC CRAMER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Theo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e>
                      </m:d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𝑑𝑒𝑡𝐼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𝑑𝑒𝑡𝐴𝑖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ở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vế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𝑑𝑒𝑡𝐴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𝑥𝑖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𝑑𝑒𝑡𝐴𝑖</m:t>
                    </m:r>
                    <m:d>
                      <m:d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minh (1)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≠ 0.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Dùng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Qui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tắc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Cramer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trình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3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−2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=6</m:t>
                      </m:r>
                    </m:oMath>
                  </m:oMathPara>
                </a14:m>
                <a:endParaRPr lang="en-US" altLang="en-US" sz="27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−5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+4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</m:oMath>
                  </m:oMathPara>
                </a14:m>
                <a:endParaRPr lang="en-US" altLang="en-US" sz="2700" b="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185" t="-1176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23511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 TẮC CRAMER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ở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trước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d>
                      <m:d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  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det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2,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hệ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Theo Qui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tắc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Cramer,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den>
                      </m:f>
                      <m: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24+16</m:t>
                          </m:r>
                        </m:num>
                        <m:den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=20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den>
                      </m:f>
                      <m:r>
                        <a:rPr lang="en-US" altLang="en-US" sz="27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24+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27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b="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3"/>
                <a:stretch>
                  <a:fillRect l="-1185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0649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MỘT CÔNG THỨC TÍNH A</a:t>
            </a:r>
            <a:r>
              <a:rPr lang="en-US" altLang="en-US" baseline="30000" dirty="0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8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Cho 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7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den>
                      </m:f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𝑎𝑑𝑗𝐴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3: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dirty="0" err="1">
                    <a:cs typeface="Times New Roman" panose="02020603050405020304" pitchFamily="18" charset="0"/>
                  </a:rPr>
                  <a:t>nghịch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dirty="0" err="1">
                    <a:cs typeface="Times New Roman" panose="02020603050405020304" pitchFamily="18" charset="0"/>
                  </a:rPr>
                  <a:t>đảo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4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2400" b="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09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altLang="en-US" sz="20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21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14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22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altLang="en-US" sz="20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23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31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</m:t>
                    </m:r>
                    <m:r>
                      <a:rPr lang="en-US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0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33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=+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534400" cy="5181600"/>
              </a:xfrm>
              <a:blipFill>
                <a:blip r:embed="rId3"/>
                <a:stretch>
                  <a:fillRect l="-1357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7755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MỘT CÔNG THỨC TÍNH A</a:t>
            </a:r>
            <a:r>
              <a:rPr lang="en-US" altLang="en-US" baseline="30000" dirty="0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chuyển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𝑎𝑑𝑗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US" altLang="en-US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tiếp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nhưng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toán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giúp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kiểm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toán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𝑎𝑑𝑗𝐴</m:t>
                        </m:r>
                      </m:e>
                    </m:d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2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en-US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200" dirty="0">
                    <a:cs typeface="Times New Roman" panose="02020603050405020304" pitchFamily="18" charset="0"/>
                  </a:rPr>
                  <a:t>=14I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534400" cy="5181600"/>
              </a:xfrm>
              <a:blipFill>
                <a:blip r:embed="rId3"/>
                <a:stretch>
                  <a:fillRect l="-114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48676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MỘT CÔNG THỨC TÍNH A</a:t>
            </a:r>
            <a:r>
              <a:rPr lang="en-US" altLang="en-US" baseline="30000" dirty="0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(adj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14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8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14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400" b="0" i="1" baseline="16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en-US" sz="240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−1/7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3/14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/2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5/14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−1/2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3/14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12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13285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9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ma trận,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[det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ma trận,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hộp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được xác định 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|det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|.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en-US" sz="27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US" altLang="en-US" sz="27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en-US" sz="27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en-US" sz="27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𝑎𝑑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𝑎𝑟𝑒𝑎</m:t>
                              </m:r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𝑟𝑒𝑐𝑡𝑎𝑛𝑔𝑙𝑒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Fig. 1 ở slide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tiếp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theo.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123" t="-1176" r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99210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Đủ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đế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2 </a:t>
                </a:r>
                <a14:m>
                  <m:oMath xmlns:m="http://schemas.openxmlformats.org/officeDocument/2006/math">
                    <m:r>
                      <a:rPr lang="en-US" altLang="en-US" sz="2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2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tùy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[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thay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như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|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|.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123" r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1292240"/>
            <a:ext cx="2523434" cy="297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7848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Đủ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học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khác 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tùy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được xác định 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được xác định 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+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bội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sẽ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0.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qua 0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qua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song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c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Fig. 2 ở slide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tiếp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theo.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123" t="-1176" r="-1263" b="-4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70132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5181600"/>
          </a:xfrm>
        </p:spPr>
        <p:txBody>
          <a:bodyPr/>
          <a:lstStyle/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điểm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cs typeface="Times New Roman" panose="02020603050405020304" pitchFamily="18" charset="0"/>
              </a:rPr>
              <a:t> + </a:t>
            </a:r>
            <a:r>
              <a:rPr lang="en-US" altLang="en-US" sz="2700" i="1" dirty="0">
                <a:cs typeface="Times New Roman" panose="02020603050405020304" pitchFamily="18" charset="0"/>
              </a:rPr>
              <a:t>ca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có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cùng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khoảng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trực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giao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tới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L</a:t>
            </a:r>
            <a:r>
              <a:rPr lang="en-US" altLang="en-US" sz="2700" dirty="0">
                <a:cs typeface="Times New Roman" panose="02020603050405020304" pitchFamily="18" charset="0"/>
              </a:rPr>
              <a:t>. </a:t>
            </a:r>
            <a:r>
              <a:rPr lang="en-US" altLang="en-US" sz="2700" dirty="0" err="1">
                <a:cs typeface="Times New Roman" panose="02020603050405020304" pitchFamily="18" charset="0"/>
              </a:rPr>
              <a:t>Nên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hai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bình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hành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Fig. 2 </a:t>
            </a:r>
            <a:r>
              <a:rPr lang="en-US" altLang="en-US" sz="2700" dirty="0" err="1">
                <a:cs typeface="Times New Roman" panose="02020603050405020304" pitchFamily="18" charset="0"/>
              </a:rPr>
              <a:t>có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cùng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diện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vì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chúng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có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chung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đáy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từ</a:t>
            </a:r>
            <a:r>
              <a:rPr lang="en-US" altLang="en-US" sz="2700" dirty="0">
                <a:cs typeface="Times New Roman" panose="02020603050405020304" pitchFamily="18" charset="0"/>
              </a:rPr>
              <a:t> 0 </a:t>
            </a:r>
            <a:r>
              <a:rPr lang="en-US" altLang="en-US" sz="2700" dirty="0" err="1">
                <a:cs typeface="Times New Roman" panose="02020603050405020304" pitchFamily="18" charset="0"/>
              </a:rPr>
              <a:t>tới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77043"/>
            <a:ext cx="5773641" cy="223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47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3</a:t>
                </a:r>
                <a14:m>
                  <m:oMath xmlns:m="http://schemas.openxmlformats.org/officeDocument/2006/math"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3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Fig. 3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12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2529407"/>
            <a:ext cx="2942184" cy="384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1623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3</a:t>
                </a:r>
                <a14:m>
                  <m:oMath xmlns:m="http://schemas.openxmlformats.org/officeDocument/2006/math"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3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thay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|det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|.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hộp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như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4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hộp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mờ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mặt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12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11" y="3674575"/>
            <a:ext cx="7957289" cy="257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8348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700" dirty="0" err="1">
                <a:cs typeface="Times New Roman" panose="02020603050405020304" pitchFamily="18" charset="0"/>
              </a:rPr>
              <a:t>Thể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nó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diện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mặt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đáy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nằm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mặt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phẳng</a:t>
            </a:r>
            <a:r>
              <a:rPr lang="en-US" altLang="en-US" sz="2700" dirty="0">
                <a:cs typeface="Times New Roman" panose="02020603050405020304" pitchFamily="18" charset="0"/>
              </a:rPr>
              <a:t> Span{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i="1" dirty="0">
                <a:cs typeface="Times New Roman" panose="02020603050405020304" pitchFamily="18" charset="0"/>
              </a:rPr>
              <a:t>, 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3</a:t>
            </a:r>
            <a:r>
              <a:rPr lang="en-US" altLang="en-US" sz="2700" dirty="0">
                <a:cs typeface="Times New Roman" panose="02020603050405020304" pitchFamily="18" charset="0"/>
              </a:rPr>
              <a:t>} </a:t>
            </a:r>
            <a:r>
              <a:rPr lang="en-US" altLang="en-US" sz="2700" dirty="0" err="1">
                <a:cs typeface="Times New Roman" panose="02020603050405020304" pitchFamily="18" charset="0"/>
              </a:rPr>
              <a:t>nhân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với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độ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cao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phía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trên</a:t>
            </a:r>
            <a:r>
              <a:rPr lang="en-US" altLang="en-US" sz="2700" dirty="0">
                <a:cs typeface="Times New Roman" panose="02020603050405020304" pitchFamily="18" charset="0"/>
              </a:rPr>
              <a:t> Span{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3</a:t>
            </a:r>
            <a:r>
              <a:rPr lang="en-US" altLang="en-US" sz="2700" dirty="0">
                <a:cs typeface="Times New Roman" panose="02020603050405020304" pitchFamily="18" charset="0"/>
              </a:rPr>
              <a:t>}. V</a:t>
            </a:r>
            <a:r>
              <a:rPr lang="vi-VN" altLang="en-US" sz="2700" dirty="0">
                <a:cs typeface="Times New Roman" panose="02020603050405020304" pitchFamily="18" charset="0"/>
              </a:rPr>
              <a:t>ectơ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bất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kì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cs typeface="Times New Roman" panose="02020603050405020304" pitchFamily="18" charset="0"/>
              </a:rPr>
              <a:t> + </a:t>
            </a:r>
            <a:r>
              <a:rPr lang="en-US" altLang="en-US" sz="2700" i="1" dirty="0">
                <a:cs typeface="Times New Roman" panose="02020603050405020304" pitchFamily="18" charset="0"/>
              </a:rPr>
              <a:t>ca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luôn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nằm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trong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mặt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phẳng</a:t>
            </a:r>
            <a:r>
              <a:rPr lang="en-US" altLang="en-US" sz="2700" dirty="0">
                <a:cs typeface="Times New Roman" panose="02020603050405020304" pitchFamily="18" charset="0"/>
              </a:rPr>
              <a:t> Span{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3</a:t>
            </a:r>
            <a:r>
              <a:rPr lang="en-US" altLang="en-US" sz="2700" dirty="0">
                <a:cs typeface="Times New Roman" panose="02020603050405020304" pitchFamily="18" charset="0"/>
              </a:rPr>
              <a:t>},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mặt</a:t>
            </a:r>
            <a:r>
              <a:rPr lang="en-US" altLang="en-US" sz="2700" dirty="0">
                <a:cs typeface="Times New Roman" panose="02020603050405020304" pitchFamily="18" charset="0"/>
              </a:rPr>
              <a:t> song </a:t>
            </a:r>
            <a:r>
              <a:rPr lang="en-US" altLang="en-US" sz="2700" dirty="0" err="1">
                <a:cs typeface="Times New Roman" panose="02020603050405020304" pitchFamily="18" charset="0"/>
              </a:rPr>
              <a:t>song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với</a:t>
            </a:r>
            <a:r>
              <a:rPr lang="en-US" altLang="en-US" sz="2700" dirty="0">
                <a:cs typeface="Times New Roman" panose="02020603050405020304" pitchFamily="18" charset="0"/>
              </a:rPr>
              <a:t> Span{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3</a:t>
            </a:r>
            <a:r>
              <a:rPr lang="en-US" altLang="en-US" sz="2700" dirty="0">
                <a:cs typeface="Times New Roman" panose="02020603050405020304" pitchFamily="18" charset="0"/>
              </a:rPr>
              <a:t>} .</a:t>
            </a:r>
          </a:p>
          <a:p>
            <a:pPr eaLnBrk="1" hangingPunct="1"/>
            <a:r>
              <a:rPr lang="en-US" altLang="en-US" sz="2700" dirty="0">
                <a:cs typeface="Times New Roman" panose="02020603050405020304" pitchFamily="18" charset="0"/>
              </a:rPr>
              <a:t>Do </a:t>
            </a:r>
            <a:r>
              <a:rPr lang="en-US" altLang="en-US" sz="2700" dirty="0" err="1">
                <a:cs typeface="Times New Roman" panose="02020603050405020304" pitchFamily="18" charset="0"/>
              </a:rPr>
              <a:t>đó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thể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hộp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đổi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khi</a:t>
            </a:r>
            <a:r>
              <a:rPr lang="en-US" altLang="en-US" sz="2700" dirty="0">
                <a:cs typeface="Times New Roman" panose="02020603050405020304" pitchFamily="18" charset="0"/>
              </a:rPr>
              <a:t> [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 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cs typeface="Times New Roman" panose="02020603050405020304" pitchFamily="18" charset="0"/>
              </a:rPr>
              <a:t> 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3</a:t>
            </a:r>
            <a:r>
              <a:rPr lang="en-US" altLang="en-US" sz="2700" dirty="0">
                <a:cs typeface="Times New Roman" panose="02020603050405020304" pitchFamily="18" charset="0"/>
              </a:rPr>
              <a:t>] </a:t>
            </a:r>
            <a:r>
              <a:rPr lang="en-US" altLang="en-US" sz="27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700" dirty="0">
                <a:cs typeface="Times New Roman" panose="02020603050405020304" pitchFamily="18" charset="0"/>
              </a:rPr>
              <a:t> [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700" dirty="0">
                <a:cs typeface="Times New Roman" panose="02020603050405020304" pitchFamily="18" charset="0"/>
              </a:rPr>
              <a:t>   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700" dirty="0">
                <a:cs typeface="Times New Roman" panose="02020603050405020304" pitchFamily="18" charset="0"/>
              </a:rPr>
              <a:t> +</a:t>
            </a:r>
            <a:r>
              <a:rPr lang="en-US" altLang="en-US" sz="2700" i="1" dirty="0">
                <a:cs typeface="Times New Roman" panose="02020603050405020304" pitchFamily="18" charset="0"/>
              </a:rPr>
              <a:t>ca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1    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baseline="-25000" dirty="0">
                <a:cs typeface="Times New Roman" panose="02020603050405020304" pitchFamily="18" charset="0"/>
              </a:rPr>
              <a:t>3</a:t>
            </a:r>
            <a:r>
              <a:rPr lang="en-US" altLang="en-US" sz="2700" dirty="0">
                <a:cs typeface="Times New Roman" panose="02020603050405020304" pitchFamily="18" charset="0"/>
              </a:rPr>
              <a:t>].</a:t>
            </a:r>
          </a:p>
          <a:p>
            <a:pPr eaLnBrk="1" hangingPunct="1"/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phép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thay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thế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như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vậy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ảnh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hưởng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đến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hộp</a:t>
            </a:r>
            <a:r>
              <a:rPr lang="en-US" altLang="en-US" sz="2700" dirty="0">
                <a:cs typeface="Times New Roman" panose="02020603050405020304" pitchFamily="18" charset="0"/>
              </a:rPr>
              <a:t>. </a:t>
            </a:r>
            <a:r>
              <a:rPr lang="en-US" altLang="en-US" sz="2700" dirty="0" err="1">
                <a:cs typeface="Times New Roman" panose="02020603050405020304" pitchFamily="18" charset="0"/>
              </a:rPr>
              <a:t>Vì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hoán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vị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ảnh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hưởng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đến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chứng</a:t>
            </a:r>
            <a:r>
              <a:rPr lang="en-US" altLang="en-US" sz="2700" dirty="0">
                <a:cs typeface="Times New Roman" panose="02020603050405020304" pitchFamily="18" charset="0"/>
              </a:rPr>
              <a:t> minh </a:t>
            </a:r>
            <a:r>
              <a:rPr lang="en-US" altLang="en-US" sz="2700" dirty="0" err="1">
                <a:cs typeface="Times New Roman" panose="02020603050405020304" pitchFamily="18" charset="0"/>
              </a:rPr>
              <a:t>hoàn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tất</a:t>
            </a:r>
            <a:r>
              <a:rPr lang="en-US" altLang="en-US" sz="2700" dirty="0"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319685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z="2700" b="1" dirty="0" err="1">
                <a:cs typeface="Times New Roman" panose="02020603050405020304" pitchFamily="18" charset="0"/>
              </a:rPr>
              <a:t>Ví</a:t>
            </a:r>
            <a:r>
              <a:rPr lang="en-US" altLang="en-US" sz="2700" b="1" dirty="0"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cs typeface="Times New Roman" panose="02020603050405020304" pitchFamily="18" charset="0"/>
              </a:rPr>
              <a:t>dụ</a:t>
            </a:r>
            <a:r>
              <a:rPr lang="en-US" altLang="en-US" sz="2700" b="1" dirty="0">
                <a:cs typeface="Times New Roman" panose="02020603050405020304" pitchFamily="18" charset="0"/>
              </a:rPr>
              <a:t> 4</a:t>
            </a:r>
            <a:r>
              <a:rPr lang="en-US" altLang="en-US" sz="2700" dirty="0">
                <a:cs typeface="Times New Roman" panose="02020603050405020304" pitchFamily="18" charset="0"/>
              </a:rPr>
              <a:t>  </a:t>
            </a:r>
            <a:r>
              <a:rPr lang="en-US" altLang="en-US" sz="2700" dirty="0" err="1">
                <a:cs typeface="Times New Roman" panose="02020603050405020304" pitchFamily="18" charset="0"/>
              </a:rPr>
              <a:t>Tính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diện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bình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hành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vi-VN" altLang="en-US" sz="2700" dirty="0">
                <a:cs typeface="Times New Roman" panose="02020603050405020304" pitchFamily="18" charset="0"/>
              </a:rPr>
              <a:t>được xác định bởi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điểm</a:t>
            </a:r>
            <a:r>
              <a:rPr lang="en-US" altLang="en-US" sz="2700" dirty="0">
                <a:cs typeface="Times New Roman" panose="02020603050405020304" pitchFamily="18" charset="0"/>
              </a:rPr>
              <a:t> (-2, -2), (0, 3), (4, -1), </a:t>
            </a:r>
            <a:r>
              <a:rPr lang="en-US" altLang="en-US" sz="2700" dirty="0" err="1">
                <a:cs typeface="Times New Roman" panose="02020603050405020304" pitchFamily="18" charset="0"/>
              </a:rPr>
              <a:t>và</a:t>
            </a:r>
            <a:r>
              <a:rPr lang="en-US" altLang="en-US" sz="2700" dirty="0">
                <a:cs typeface="Times New Roman" panose="02020603050405020304" pitchFamily="18" charset="0"/>
              </a:rPr>
              <a:t> (6, 4). </a:t>
            </a:r>
            <a:r>
              <a:rPr lang="en-US" altLang="en-US" sz="2700" dirty="0" err="1">
                <a:cs typeface="Times New Roman" panose="02020603050405020304" pitchFamily="18" charset="0"/>
              </a:rPr>
              <a:t>Xem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Hình</a:t>
            </a:r>
            <a:r>
              <a:rPr lang="en-US" altLang="en-US" sz="2700" dirty="0">
                <a:cs typeface="Times New Roman" panose="02020603050405020304" pitchFamily="18" charset="0"/>
              </a:rPr>
              <a:t> 5(a) </a:t>
            </a:r>
            <a:r>
              <a:rPr lang="en-US" altLang="en-US" sz="2700" dirty="0" err="1">
                <a:cs typeface="Times New Roman" panose="02020603050405020304" pitchFamily="18" charset="0"/>
              </a:rPr>
              <a:t>bên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dưới</a:t>
            </a:r>
            <a:r>
              <a:rPr lang="en-US" altLang="en-US" sz="2700" dirty="0"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827" y="2914650"/>
            <a:ext cx="5181773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8294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TÍNH DIỆN TÍCH VÀ THỂ TÍCH BẰNG ĐỊNH THỨC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gốc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tọa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đỉnh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đỉnh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đỉnh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cùng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đỉnh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(0, 0), (2, 5), (6, 1),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(8, 6).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5(b)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slide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trước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được xác 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|det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| = |-28|,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28.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86800" cy="5181600"/>
              </a:xfrm>
              <a:blipFill>
                <a:blip r:embed="rId3"/>
                <a:stretch>
                  <a:fillRect l="-1123" t="-1176" r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30157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BIẾN ĐỔI TUYẾN TÍNH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066800"/>
                <a:ext cx="8686800" cy="5638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65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 </a:t>
                </a:r>
                <a:r>
                  <a:rPr lang="en-US" altLang="en-US" sz="265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5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10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: Cho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65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 là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được xác định bởi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2 </a:t>
                </a:r>
                <a14:m>
                  <m:oMath xmlns:m="http://schemas.openxmlformats.org/officeDocument/2006/math">
                    <m:r>
                      <a:rPr lang="en-US" altLang="en-US" sz="265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 2 ma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ệ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𝑑𝑒𝑡𝐴</m:t>
                        </m:r>
                      </m:e>
                    </m:d>
                    <m:r>
                      <a:rPr lang="en-US" altLang="en-US" sz="26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ệ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US" altLang="en-US" sz="26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 (5)</a:t>
                </a:r>
              </a:p>
              <a:p>
                <a:pPr eaLnBrk="1" hangingPunct="1"/>
                <a:r>
                  <a:rPr lang="en-US" altLang="en-US" sz="265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được xác định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3 </a:t>
                </a:r>
                <a14:m>
                  <m:oMath xmlns:m="http://schemas.openxmlformats.org/officeDocument/2006/math">
                    <m:r>
                      <a:rPr lang="en-US" altLang="en-US" sz="265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3 ma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hộp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ể 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en-US" sz="265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65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d>
                      </m:e>
                    </m:d>
                    <m:r>
                      <a:rPr lang="en-US" altLang="en-US" sz="26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𝑑𝑒𝑡𝐴</m:t>
                        </m:r>
                      </m:e>
                    </m:d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ể 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(6)</a:t>
                </a:r>
              </a:p>
              <a:p>
                <a:pPr marL="0" indent="0" algn="ctr" eaLnBrk="1" hangingPunct="1">
                  <a:buNone/>
                </a:pP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5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Xét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trường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2 </a:t>
                </a:r>
                <a14:m>
                  <m:oMath xmlns:m="http://schemas.openxmlformats.org/officeDocument/2006/math">
                    <m:r>
                      <a:rPr lang="en-US" altLang="en-US" sz="265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 2,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= [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1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].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tại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gốc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14:m>
                  <m:oMath xmlns:m="http://schemas.openxmlformats.org/officeDocument/2006/math">
                    <m:r>
                      <a:rPr lang="en-US" altLang="en-US" sz="265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được xác định bởi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2có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dạng</a:t>
                </a: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0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  0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1}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066800"/>
                <a:ext cx="8686800" cy="5638800"/>
              </a:xfrm>
              <a:blipFill>
                <a:blip r:embed="rId3"/>
                <a:stretch>
                  <a:fillRect l="-1123" t="-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53994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BIẾN ĐỔI TUYẾN TÍNH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95400"/>
                <a:ext cx="8686800" cy="5638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650" dirty="0">
                    <a:cs typeface="Times New Roman" panose="02020603050405020304" pitchFamily="18" charset="0"/>
                  </a:rPr>
                  <a:t>Ảnh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tác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động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điểm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dạng</a:t>
                </a: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en-US" sz="265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65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en-US" sz="265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65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en-US" sz="265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65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en-US" sz="265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en-US" sz="265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en-US" sz="2650" b="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=</m:t>
                      </m:r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en-US" sz="265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en-US" sz="265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en-US" sz="265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en-US" sz="265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6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65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≤1,  0≤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265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1.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Suy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(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được xác định bởi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[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]. Ma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AB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= [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]. </a:t>
                </a:r>
              </a:p>
              <a:p>
                <a:pPr eaLnBrk="1" hangingPunct="1"/>
                <a:r>
                  <a:rPr lang="en-US" altLang="en-US" sz="2650" dirty="0">
                    <a:cs typeface="Times New Roman" panose="02020603050405020304" pitchFamily="18" charset="0"/>
                  </a:rPr>
                  <a:t>Theo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9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𝑐h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𝑑𝑒𝑡𝐵</m:t>
                          </m:r>
                        </m:e>
                      </m:d>
                    </m:oMath>
                  </m:oMathPara>
                </a14:m>
                <a:endParaRPr lang="en-US" altLang="en-US" sz="265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65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𝑑𝑒𝑡𝐴</m:t>
                        </m:r>
                      </m:e>
                    </m:d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d>
                      <m:dPr>
                        <m:begChr m:val="{"/>
                        <m:endChr m:val="}"/>
                        <m:ctrlP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ệ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𝑐h</m:t>
                        </m:r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6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		(7)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95400"/>
                <a:ext cx="8686800" cy="5638800"/>
              </a:xfrm>
              <a:blipFill>
                <a:blip r:embed="rId3"/>
                <a:stretch>
                  <a:fillRect l="-1333" t="-1081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89109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BIẾN ĐỔI TUYẾN TÍNH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95400"/>
                <a:ext cx="8686800" cy="5638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650" dirty="0">
                    <a:cs typeface="Times New Roman" panose="02020603050405020304" pitchFamily="18" charset="0"/>
                  </a:rPr>
                  <a:t>Một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+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S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tại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gốc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650" dirty="0" err="1">
                    <a:cs typeface="Times New Roman" panose="02020603050405020304" pitchFamily="18" charset="0"/>
                  </a:rPr>
                  <a:t>Dễ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thấy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T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+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S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 T(p) + T(S).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tiến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ảnh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hưởng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đến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di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</m:t>
                          </m:r>
                          <m:r>
                            <a:rPr lang="en-US" altLang="en-US" sz="2650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650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di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</m:t>
                          </m:r>
                          <m:r>
                            <a:rPr lang="en-US" altLang="en-US" sz="26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altLang="en-US" sz="26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en-US" sz="2650" i="1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</m:t>
                      </m:r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di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</m:t>
                          </m:r>
                          <m:r>
                            <a:rPr lang="en-US" altLang="en-US" sz="26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altLang="en-US" sz="26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di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di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</m:t>
                          </m:r>
                          <m:r>
                            <a:rPr lang="en-US" altLang="en-US" sz="265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6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50" dirty="0" err="1">
                    <a:cs typeface="Times New Roman" panose="02020603050405020304" pitchFamily="18" charset="0"/>
                  </a:rPr>
                  <a:t>Điều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tỏ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(5)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bình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hành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minh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(6)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trường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3 </a:t>
                </a:r>
                <a14:m>
                  <m:oMath xmlns:m="http://schemas.openxmlformats.org/officeDocument/2006/math">
                    <m:r>
                      <a:rPr lang="en-US" altLang="en-US" sz="265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3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95400"/>
                <a:ext cx="8686800" cy="5638800"/>
              </a:xfrm>
              <a:blipFill>
                <a:blip r:embed="rId3"/>
                <a:stretch>
                  <a:fillRect l="-1123" t="-1081" r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543800" y="35814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077C97"/>
                </a:solidFill>
                <a:latin typeface="+mn-lt"/>
              </a:rPr>
              <a:t>Tịnh</a:t>
            </a:r>
            <a:r>
              <a:rPr lang="en-US" sz="1800" dirty="0">
                <a:solidFill>
                  <a:srgbClr val="077C97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77C97"/>
                </a:solidFill>
                <a:latin typeface="+mn-lt"/>
              </a:rPr>
              <a:t>tiến</a:t>
            </a:r>
            <a:endParaRPr lang="en-US" sz="1800" dirty="0">
              <a:solidFill>
                <a:srgbClr val="077C97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405026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77C97"/>
                </a:solidFill>
                <a:latin typeface="+mn-lt"/>
              </a:rPr>
              <a:t>Theo </a:t>
            </a:r>
            <a:r>
              <a:rPr lang="vi-VN" sz="1800" dirty="0">
                <a:solidFill>
                  <a:srgbClr val="077C97"/>
                </a:solidFill>
                <a:latin typeface="+mn-lt"/>
              </a:rPr>
              <a:t>phương trình</a:t>
            </a:r>
            <a:r>
              <a:rPr lang="en-US" sz="1800" dirty="0">
                <a:solidFill>
                  <a:srgbClr val="077C97"/>
                </a:solidFill>
                <a:latin typeface="+mn-lt"/>
              </a:rPr>
              <a:t> (7)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519136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077C97"/>
                </a:solidFill>
                <a:latin typeface="+mn-lt"/>
              </a:rPr>
              <a:t>Tịnh</a:t>
            </a:r>
            <a:r>
              <a:rPr lang="en-US" sz="1800" dirty="0">
                <a:solidFill>
                  <a:srgbClr val="077C97"/>
                </a:solidFill>
                <a:latin typeface="+mn-lt"/>
              </a:rPr>
              <a:t> </a:t>
            </a:r>
            <a:r>
              <a:rPr lang="en-US" sz="1800" dirty="0" err="1">
                <a:solidFill>
                  <a:srgbClr val="077C97"/>
                </a:solidFill>
                <a:latin typeface="+mn-lt"/>
              </a:rPr>
              <a:t>tiến</a:t>
            </a:r>
            <a:endParaRPr lang="en-US" sz="1800" dirty="0">
              <a:solidFill>
                <a:srgbClr val="077C97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173587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BIẾN ĐỔI TUYẾN TÍNH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143000"/>
                <a:ext cx="8915400" cy="5638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65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 5: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 Cho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nguyên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dương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diện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miền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E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bị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chặn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êlip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phương trình</a:t>
                </a: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en-US" sz="265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en-US" sz="265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en-US" sz="265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5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 Ta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thấy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E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ảnh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đĩa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D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biến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650" dirty="0">
                    <a:cs typeface="Times New Roman" panose="02020603050405020304" pitchFamily="18" charset="0"/>
                  </a:rPr>
                  <a:t>được xác định bởi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6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65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en-US" altLang="en-US" sz="265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en-US" altLang="en-US" sz="265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65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65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en-US" sz="265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65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en-US" sz="265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x =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en-US" sz="265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  và  </a:t>
                </a:r>
                <a14:m>
                  <m:oMath xmlns:m="http://schemas.openxmlformats.org/officeDocument/2006/math">
                    <m:r>
                      <a:rPr lang="en-US" altLang="en-US" sz="26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6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6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en-US" sz="265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143000"/>
                <a:ext cx="8915400" cy="5638800"/>
              </a:xfrm>
              <a:blipFill>
                <a:blip r:embed="rId3"/>
                <a:stretch>
                  <a:fillRect l="-1094" t="-1081" r="-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74159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3.3-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BIẾN ĐỔI TUYẾN TÍNH</a:t>
            </a:r>
            <a:endParaRPr lang="en-US" altLang="en-US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0500" y="1371600"/>
                <a:ext cx="8724900" cy="4876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650" dirty="0">
                    <a:cs typeface="Times New Roman" panose="02020603050405020304" pitchFamily="18" charset="0"/>
                  </a:rPr>
                  <a:t>Suy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u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đĩa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tròn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</m:t>
                        </m:r>
                      </m:sup>
                    </m:sSubSup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6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en-US" sz="26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265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6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65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50" b="1" dirty="0">
                    <a:cs typeface="Times New Roman" panose="02020603050405020304" pitchFamily="18" charset="0"/>
                  </a:rPr>
                  <a:t> x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E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 (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/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65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+ (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65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/</a:t>
                </a:r>
                <a:r>
                  <a:rPr lang="en-US" altLang="en-US" sz="265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650" baseline="30000" dirty="0"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en-US" sz="26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</m:t>
                    </m:r>
                  </m:oMath>
                </a14:m>
                <a:r>
                  <a:rPr lang="en-US" altLang="en-US" sz="265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Tổng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quát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hóa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50" dirty="0">
                    <a:cs typeface="Times New Roman" panose="02020603050405020304" pitchFamily="18" charset="0"/>
                  </a:rPr>
                  <a:t> 10, ta </a:t>
                </a:r>
                <a:r>
                  <a:rPr lang="en-US" altLang="en-US" sz="2650" dirty="0" err="1">
                    <a:cs typeface="Times New Roman" panose="02020603050405020304" pitchFamily="18" charset="0"/>
                  </a:rPr>
                  <a:t>có</a:t>
                </a: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𝑐h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ủ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ê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𝑙𝑖𝑝</m:t>
                          </m:r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𝑐h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5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𝑑𝑒𝑡𝐴</m:t>
                          </m:r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6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ệ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𝑐h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en-US" sz="26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𝑎𝑏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265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altLang="en-US" sz="26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𝑎𝑏</m:t>
                      </m:r>
                    </m:oMath>
                  </m:oMathPara>
                </a14:m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65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65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500" y="1371600"/>
                <a:ext cx="8724900" cy="4876800"/>
              </a:xfrm>
              <a:blipFill>
                <a:blip r:embed="rId3"/>
                <a:stretch>
                  <a:fillRect l="-1117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77770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13486</TotalTime>
  <Words>1131</Words>
  <Application>Microsoft Office PowerPoint</Application>
  <PresentationFormat>On-screen Show (4:3)</PresentationFormat>
  <Paragraphs>192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Định Thức</vt:lpstr>
      <vt:lpstr>QUI TẮC CRAMER</vt:lpstr>
      <vt:lpstr>QUI TẮC CRAMER</vt:lpstr>
      <vt:lpstr>QUI TẮC CRAMER</vt:lpstr>
      <vt:lpstr>MỘT CÔNG THỨC TÍNH A-1</vt:lpstr>
      <vt:lpstr>MỘT CÔNG THỨC TÍNH A-1</vt:lpstr>
      <vt:lpstr>MỘT CÔNG THỨC TÍNH A-1</vt:lpstr>
      <vt:lpstr>TÍNH DIỆN TÍCH VÀ THỂ TÍCH BẰNG ĐỊNH THỨC</vt:lpstr>
      <vt:lpstr>TÍNH DIỆN TÍCH VÀ THỂ TÍCH BẰNG ĐỊNH THỨC</vt:lpstr>
      <vt:lpstr>TÍNH DIỆN TÍCH VÀ THỂ TÍCH BẰNG ĐỊNH THỨC</vt:lpstr>
      <vt:lpstr>TÍNH DIỆN TÍCH VÀ THỂ TÍCH BẰNG ĐỊNH THỨC</vt:lpstr>
      <vt:lpstr>TÍNH DIỆN TÍCH VÀ THỂ TÍCH BẰNG ĐỊNH THỨC</vt:lpstr>
      <vt:lpstr>TÍNH DIỆN TÍCH VÀ THỂ TÍCH BẰNG ĐỊNH THỨC</vt:lpstr>
      <vt:lpstr>TÍNH DIỆN TÍCH VÀ THỂ TÍCH BẰNG ĐỊNH THỨC</vt:lpstr>
      <vt:lpstr>TÍNH DIỆN TÍCH VÀ THỂ TÍCH BẰNG ĐỊNH THỨC</vt:lpstr>
      <vt:lpstr>TÍNH DIỆN TÍCH VÀ THỂ TÍCH BẰNG ĐỊNH THỨC</vt:lpstr>
      <vt:lpstr>PHÉP BIẾN ĐỔI TUYẾN TÍNH</vt:lpstr>
      <vt:lpstr>PHÉP BIẾN ĐỔI TUYẾN TÍNH</vt:lpstr>
      <vt:lpstr>PHÉP BIẾN ĐỔI TUYẾN TÍNH</vt:lpstr>
      <vt:lpstr>PHÉP BIẾN ĐỔI TUYẾN TÍNH</vt:lpstr>
      <vt:lpstr>PHÉP BIẾN ĐỔI TUYẾN TÍNH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1026</cp:revision>
  <dcterms:created xsi:type="dcterms:W3CDTF">2005-10-22T18:34:54Z</dcterms:created>
  <dcterms:modified xsi:type="dcterms:W3CDTF">2016-07-29T15:36:40Z</dcterms:modified>
</cp:coreProperties>
</file>