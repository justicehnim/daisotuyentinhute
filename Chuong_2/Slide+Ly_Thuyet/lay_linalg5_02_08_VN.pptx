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3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2" autoAdjust="0"/>
    <p:restoredTop sz="98725" autoAdjust="0"/>
  </p:normalViewPr>
  <p:slideViewPr>
    <p:cSldViewPr>
      <p:cViewPr varScale="1">
        <p:scale>
          <a:sx n="92" d="100"/>
          <a:sy n="92" d="100"/>
        </p:scale>
        <p:origin x="1406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156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95162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6893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27884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5288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2612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7314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7263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3834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2.8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Đại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Ma </a:t>
            </a:r>
            <a:r>
              <a:rPr lang="en-US" altLang="en-US" dirty="0" err="1"/>
              <a:t>Trận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00" name="Rectangle 4"/>
              <p:cNvSpPr>
                <a:spLocks noGrp="1" noChangeArrowheads="1"/>
              </p:cNvSpPr>
              <p:nvPr>
                <p:ph type="subTitle" idx="1"/>
              </p:nvPr>
            </p:nvSpPr>
            <p:spPr>
              <a:xfrm>
                <a:off x="457200" y="2819400"/>
                <a:ext cx="4648200" cy="3352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>
                    <a:latin typeface="+mj-lt"/>
                  </a:rPr>
                  <a:t>KHÔNG GIAN CON CỦA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+mj-lt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+mj-lt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+mj-lt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>
                  <a:latin typeface="+mj-lt"/>
                </a:endParaRPr>
              </a:p>
            </p:txBody>
          </p:sp>
        </mc:Choice>
        <mc:Fallback>
          <p:sp>
            <p:nvSpPr>
              <p:cNvPr id="4100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2819400"/>
                <a:ext cx="4648200" cy="3352800"/>
              </a:xfrm>
              <a:blipFill>
                <a:blip r:embed="rId3"/>
                <a:stretch>
                  <a:fillRect l="-2621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CÁC KHÔNG GIAN CON CỦA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614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tùy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ý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đây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marL="914400" lvl="1" indent="-514350" eaLnBrk="1" hangingPunct="1">
                  <a:buFont typeface="+mj-lt"/>
                  <a:buAutoNum type="alphaLcParenR"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914400" lvl="1" indent="-514350" eaLnBrk="1" hangingPunct="1">
                  <a:buFont typeface="+mj-lt"/>
                  <a:buAutoNum type="alphaLcParenR"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i="1" dirty="0">
                    <a:cs typeface="Times New Roman" panose="02020603050405020304" pitchFamily="18" charset="0"/>
                  </a:rPr>
                  <a:t>u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in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the sum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 + v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is in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914400" lvl="1" indent="-514350" eaLnBrk="1" hangingPunct="1">
                  <a:buFont typeface="+mj-lt"/>
                  <a:buAutoNum type="alphaLcParenR"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vô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407" t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it-IT" altLang="en-US" dirty="0"/>
                  <a:t>CÁC KHÔNG GIAN CON CỦA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614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mặt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phẳng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đi</a:t>
            </a:r>
            <a:r>
              <a:rPr lang="en-US" altLang="en-US" sz="2700" dirty="0">
                <a:cs typeface="Times New Roman" panose="02020603050405020304" pitchFamily="18" charset="0"/>
              </a:rPr>
              <a:t> qua </a:t>
            </a:r>
            <a:r>
              <a:rPr lang="en-US" altLang="en-US" sz="2700" dirty="0" err="1">
                <a:cs typeface="Times New Roman" panose="02020603050405020304" pitchFamily="18" charset="0"/>
              </a:rPr>
              <a:t>gốc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tọa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độ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ví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dụ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tiêu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để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cs typeface="Times New Roman" panose="02020603050405020304" pitchFamily="18" charset="0"/>
              </a:rPr>
              <a:t> dung </a:t>
            </a:r>
            <a:r>
              <a:rPr lang="en-US" altLang="en-US" sz="2700" dirty="0" err="1">
                <a:cs typeface="Times New Roman" panose="02020603050405020304" pitchFamily="18" charset="0"/>
              </a:rPr>
              <a:t>về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gian</a:t>
            </a:r>
            <a:r>
              <a:rPr lang="en-US" altLang="en-US" sz="2700" dirty="0">
                <a:cs typeface="Times New Roman" panose="02020603050405020304" pitchFamily="18" charset="0"/>
              </a:rPr>
              <a:t> con ở </a:t>
            </a:r>
            <a:r>
              <a:rPr lang="en-US" altLang="en-US" sz="2700" dirty="0" err="1">
                <a:cs typeface="Times New Roman" panose="02020603050405020304" pitchFamily="18" charset="0"/>
              </a:rPr>
              <a:t>Ví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dụ</a:t>
            </a:r>
            <a:r>
              <a:rPr lang="en-US" altLang="en-US" sz="2700" dirty="0">
                <a:cs typeface="Times New Roman" panose="02020603050405020304" pitchFamily="18" charset="0"/>
              </a:rPr>
              <a:t> 1 </a:t>
            </a:r>
            <a:r>
              <a:rPr lang="en-US" altLang="en-US" sz="2700" dirty="0" err="1"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cs typeface="Times New Roman" panose="02020603050405020304" pitchFamily="18" charset="0"/>
              </a:rPr>
              <a:t> slide </a:t>
            </a:r>
            <a:r>
              <a:rPr lang="en-US" altLang="en-US" sz="2700" dirty="0" err="1">
                <a:cs typeface="Times New Roman" panose="02020603050405020304" pitchFamily="18" charset="0"/>
              </a:rPr>
              <a:t>kế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tiếp</a:t>
            </a:r>
            <a:r>
              <a:rPr lang="en-US" altLang="en-US" sz="2700" dirty="0"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411755"/>
            <a:ext cx="2736051" cy="383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4244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it-IT" altLang="en-US" dirty="0"/>
                  <a:t>CÁC KHÔNG GIAN CON CỦA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614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1430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>
                    <a:cs typeface="Times New Roman" panose="02020603050405020304" pitchFamily="18" charset="0"/>
                  </a:rPr>
                  <a:t>Ví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và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Span{v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chú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ý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(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0v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+ 0v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tổ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). 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Bây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giờ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lấy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 v</a:t>
                </a:r>
                <a14:m>
                  <m:oMath xmlns:m="http://schemas.openxmlformats.org/officeDocument/2006/math">
                    <m:r>
                      <a:rPr lang="en-US" altLang="en-US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à</m:t>
                    </m:r>
                    <m: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US" altLang="en-US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endParaRPr lang="en-US" altLang="en-US" sz="27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en-US" sz="27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tỏ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 + v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tổ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tự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mọi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vô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𝑐𝑠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𝑐𝑠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143000"/>
                <a:ext cx="8534400" cy="5181600"/>
              </a:xfrm>
              <a:blipFill>
                <a:blip r:embed="rId4"/>
                <a:stretch>
                  <a:fillRect l="-1357" t="-1059" r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90997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CỘT VÀ KHÔNG GIAN HẠCH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tổ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[a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. . . 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]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Col 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Span{a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. . . 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4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thấy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× 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4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và 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thuôc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hay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  <a:blipFill>
                <a:blip r:embed="rId3"/>
                <a:stretch>
                  <a:fillRect l="-1143" t="-1176" r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3590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CỘT VÀ KHÔNG GIAN HẠCH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V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tổ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x = b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Rút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gọn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hang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bổ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sung [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],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  <m:r>
                          <a:rPr lang="en-US" alt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3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300" dirty="0">
                    <a:cs typeface="Times New Roman" panose="02020603050405020304" pitchFamily="18" charset="0"/>
                  </a:rPr>
                  <a:t>~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  <m:r>
                          <a:rPr lang="en-US" alt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300" dirty="0">
                    <a:cs typeface="Times New Roman" panose="02020603050405020304" pitchFamily="18" charset="0"/>
                  </a:rPr>
                  <a:t> ~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−18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alt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3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luận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x = b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  <a:blipFill>
                <a:blip r:embed="rId3"/>
                <a:stretch>
                  <a:fillRect l="-1143" t="-1176" r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55749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CỘT VÀ KHÔNG GIAN HẠCH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hông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hạch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x = 0.</a:t>
                </a:r>
              </a:p>
              <a:p>
                <a:pPr eaLnBrk="1" hangingPunct="1"/>
                <a:endParaRPr lang="en-US" altLang="en-US" sz="8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hạch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 x n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Ax = 0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gồm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minh: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0 = 0).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minh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còn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con,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lấy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tùy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ý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Nul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  <a:blipFill>
                <a:blip r:embed="rId3"/>
                <a:stretch>
                  <a:fillRect l="-1357" t="-1176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31493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CỘT VÀ KHÔNG GIAN HẠCH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0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0.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nhân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𝐴𝑢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𝐴𝑣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=0+0=0</m:t>
                      </m:r>
                    </m:oMath>
                  </m:oMathPara>
                </a14:m>
                <a:endParaRPr lang="en-US" altLang="en-US" sz="2700" b="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b="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thỏa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mãn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0,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tự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vô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tùy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ý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A(c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(A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 =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(0) = 0,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điều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tỏ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  <a:blipFill>
                <a:blip r:embed="rId3"/>
                <a:stretch>
                  <a:fillRect l="-114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97935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CƠ SỞ CỦA KHÔNG GIAN CON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b="1" dirty="0">
                    <a:cs typeface="Times New Roman" panose="02020603050405020304" pitchFamily="18" charset="0"/>
                  </a:rPr>
                  <a:t>cơ sở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của một không gian con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 </a:t>
                </a: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5: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× </m:t>
                    </m:r>
                    <m:r>
                      <a:rPr lang="en-US" altLang="en-US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nghịch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chúng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Nghịch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4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  <a:blipFill>
                <a:blip r:embed="rId3"/>
                <a:stretch>
                  <a:fillRect l="-114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12146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CƠ SỞ CỦA KHÔNG GIAN CON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như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vậy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e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e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  <a:endParaRPr lang="en-US" altLang="en-US" sz="2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en-US" sz="22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2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</m:t>
                    </m:r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en-US" sz="22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2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. . .  ,    </m:t>
                    </m:r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en-US" sz="22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200" dirty="0">
                    <a:cs typeface="Times New Roman" panose="02020603050405020304" pitchFamily="18" charset="0"/>
                  </a:rPr>
                  <a:t>, 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{e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e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n}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gọi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tắc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3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slide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4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  <a:blipFill>
                <a:blip r:embed="rId3"/>
                <a:stretch>
                  <a:fillRect l="-1143" t="-1176" r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04595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2.8-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CƠ SỞ CỦA KHÔNG GIAN CON</a:t>
            </a:r>
            <a:endParaRPr lang="en-US" altLang="en-US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5181600"/>
          </a:xfrm>
        </p:spPr>
        <p:txBody>
          <a:bodyPr/>
          <a:lstStyle/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sz="2700" b="1" dirty="0" err="1">
                <a:solidFill>
                  <a:srgbClr val="077C97"/>
                </a:solidFill>
                <a:cs typeface="Times New Roman" panose="02020603050405020304" pitchFamily="18" charset="0"/>
              </a:rPr>
              <a:t>Định</a:t>
            </a:r>
            <a:r>
              <a:rPr lang="en-US" altLang="en-US" sz="2700" b="1" dirty="0">
                <a:solidFill>
                  <a:srgbClr val="077C97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solidFill>
                  <a:srgbClr val="077C97"/>
                </a:solidFill>
                <a:cs typeface="Times New Roman" panose="02020603050405020304" pitchFamily="18" charset="0"/>
              </a:rPr>
              <a:t>lí</a:t>
            </a:r>
            <a:r>
              <a:rPr lang="en-US" altLang="en-US" sz="2700" b="1" dirty="0">
                <a:solidFill>
                  <a:srgbClr val="077C97"/>
                </a:solidFill>
                <a:cs typeface="Times New Roman" panose="02020603050405020304" pitchFamily="18" charset="0"/>
              </a:rPr>
              <a:t> 13</a:t>
            </a:r>
            <a:r>
              <a:rPr lang="en-US" altLang="en-US" sz="2700" dirty="0">
                <a:cs typeface="Times New Roman" panose="02020603050405020304" pitchFamily="18" charset="0"/>
              </a:rPr>
              <a:t>: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chốt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ma </a:t>
            </a:r>
            <a:r>
              <a:rPr lang="en-US" altLang="en-US" sz="27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lập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cơ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sở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gian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312595"/>
            <a:ext cx="3288990" cy="356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1738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13210</TotalTime>
  <Words>496</Words>
  <Application>Microsoft Office PowerPoint</Application>
  <PresentationFormat>On-screen Show (4:3)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Đại Số Ma Trận</vt:lpstr>
      <vt:lpstr>CÁC KHÔNG GIAN CON CỦA R^n</vt:lpstr>
      <vt:lpstr>CÁC KHÔNG GIAN CON CỦA R^n</vt:lpstr>
      <vt:lpstr>CÁC KHÔNG GIAN CON CỦA R^n</vt:lpstr>
      <vt:lpstr>KHÔNG GIAN CỘT VÀ KHÔNG GIAN HẠCH CỦA MA TRẬN</vt:lpstr>
      <vt:lpstr>KHÔNG GIAN CỘT VÀ KHÔNG GIAN HẠCH CỦA MA TRẬN</vt:lpstr>
      <vt:lpstr>KHÔNG GIAN CỘT VÀ KHÔNG GIAN HẠCH CỦA MA TRẬN</vt:lpstr>
      <vt:lpstr>KHÔNG GIAN CỘT VÀ KHÔNG GIAN HẠCH CỦA MA TRẬN</vt:lpstr>
      <vt:lpstr>CƠ SỞ CỦA KHÔNG GIAN CON</vt:lpstr>
      <vt:lpstr>CƠ SỞ CỦA KHÔNG GIAN CON</vt:lpstr>
      <vt:lpstr>CƠ SỞ CỦA KHÔNG GIAN CON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996</cp:revision>
  <dcterms:created xsi:type="dcterms:W3CDTF">2005-10-22T18:34:54Z</dcterms:created>
  <dcterms:modified xsi:type="dcterms:W3CDTF">2016-07-28T11:04:46Z</dcterms:modified>
</cp:coreProperties>
</file>