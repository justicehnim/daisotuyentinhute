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21"/>
  </p:notesMasterIdLst>
  <p:sldIdLst>
    <p:sldId id="424" r:id="rId2"/>
    <p:sldId id="362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  <p:sldId id="438" r:id="rId17"/>
    <p:sldId id="439" r:id="rId18"/>
    <p:sldId id="440" r:id="rId19"/>
    <p:sldId id="441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77C97"/>
    <a:srgbClr val="D7791B"/>
    <a:srgbClr val="4C7816"/>
    <a:srgbClr val="528218"/>
    <a:srgbClr val="B6CEAA"/>
    <a:srgbClr val="ADC8A0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82" autoAdjust="0"/>
    <p:restoredTop sz="98725" autoAdjust="0"/>
  </p:normalViewPr>
  <p:slideViewPr>
    <p:cSldViewPr>
      <p:cViewPr varScale="1">
        <p:scale>
          <a:sx n="92" d="100"/>
          <a:sy n="92" d="100"/>
        </p:scale>
        <p:origin x="1406" y="86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22.wmf"/><Relationship Id="rId7" Type="http://schemas.openxmlformats.org/officeDocument/2006/relationships/image" Target="../media/image26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11" Type="http://schemas.openxmlformats.org/officeDocument/2006/relationships/image" Target="../media/image30.wmf"/><Relationship Id="rId5" Type="http://schemas.openxmlformats.org/officeDocument/2006/relationships/image" Target="../media/image24.wmf"/><Relationship Id="rId10" Type="http://schemas.openxmlformats.org/officeDocument/2006/relationships/image" Target="../media/image29.wmf"/><Relationship Id="rId4" Type="http://schemas.openxmlformats.org/officeDocument/2006/relationships/image" Target="../media/image23.wmf"/><Relationship Id="rId9" Type="http://schemas.openxmlformats.org/officeDocument/2006/relationships/image" Target="../media/image2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4" Type="http://schemas.openxmlformats.org/officeDocument/2006/relationships/image" Target="../media/image4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4" Type="http://schemas.openxmlformats.org/officeDocument/2006/relationships/image" Target="../media/image53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7" Type="http://schemas.openxmlformats.org/officeDocument/2006/relationships/image" Target="../media/image70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4" Type="http://schemas.openxmlformats.org/officeDocument/2006/relationships/image" Target="../media/image77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Relationship Id="rId4" Type="http://schemas.openxmlformats.org/officeDocument/2006/relationships/image" Target="../media/image81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7" Type="http://schemas.openxmlformats.org/officeDocument/2006/relationships/image" Target="../media/image88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Relationship Id="rId6" Type="http://schemas.openxmlformats.org/officeDocument/2006/relationships/image" Target="../media/image87.wmf"/><Relationship Id="rId5" Type="http://schemas.openxmlformats.org/officeDocument/2006/relationships/image" Target="../media/image86.wmf"/><Relationship Id="rId4" Type="http://schemas.openxmlformats.org/officeDocument/2006/relationships/image" Target="../media/image85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F54F01C-9DAE-4834-B3FA-3D4760BB01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04709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A9C20A67-9360-415D-8A66-BED502C09899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8495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3364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>
                <a:solidFill>
                  <a:srgbClr val="4C7816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>
                <a:solidFill>
                  <a:srgbClr val="CD8019"/>
                </a:solidFill>
                <a:latin typeface="Arial" panose="020B0604020202020204" pitchFamily="34" charset="0"/>
              </a:rPr>
              <a:t>2.2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 dirty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000" y="2268506"/>
            <a:ext cx="2971800" cy="371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48795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2.2- </a:t>
            </a:r>
            <a:fld id="{CE90E932-D1B3-4534-813D-FD4EBE5E39C2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2683769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2.2- </a:t>
            </a:r>
            <a:fld id="{611AF1AB-C2F6-4C2D-A675-8FAD64D2E68D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92826268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2.2- </a:t>
            </a:r>
            <a:fld id="{3986BFB6-CA82-4812-BE97-DA0F65491B7A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31710800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2.2- </a:t>
            </a:r>
            <a:fld id="{E6DAF540-46D9-4094-8FE8-0834E2370D1A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56966948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2.2- </a:t>
            </a:r>
            <a:fld id="{487CA900-6A0F-4284-BBF9-FA441424FECD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6714635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2.2- </a:t>
            </a:r>
            <a:fld id="{D08BDEBC-B0EE-4876-A910-04FE4D7A43BC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9443986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2.2- </a:t>
            </a:r>
            <a:fld id="{8667CB26-4B9D-4316-91C7-62ACA1D37795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05084770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2.2- </a:t>
            </a:r>
            <a:fld id="{C3411FFC-3F1F-41E6-A5CD-496F1593754C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87073260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2.2- </a:t>
            </a:r>
            <a:fld id="{666FB77A-CE67-40A9-945B-251200CD2367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07739980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2.2- </a:t>
            </a:r>
            <a:fld id="{C40906E5-C24C-4790-AE21-7B84BA83C02F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21629134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Slide 2.2- </a:t>
            </a:r>
            <a:fld id="{CE7008AD-6ACD-4396-A6D7-C548241CE52C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8.wmf"/><Relationship Id="rId18" Type="http://schemas.openxmlformats.org/officeDocument/2006/relationships/oleObject" Target="../embeddings/oleObject8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11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19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7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24.wmf"/><Relationship Id="rId18" Type="http://schemas.openxmlformats.org/officeDocument/2006/relationships/oleObject" Target="../embeddings/oleObject24.bin"/><Relationship Id="rId3" Type="http://schemas.openxmlformats.org/officeDocument/2006/relationships/image" Target="../media/image31.png"/><Relationship Id="rId21" Type="http://schemas.openxmlformats.org/officeDocument/2006/relationships/image" Target="../media/image28.wmf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21.bin"/><Relationship Id="rId17" Type="http://schemas.openxmlformats.org/officeDocument/2006/relationships/image" Target="../media/image26.wmf"/><Relationship Id="rId25" Type="http://schemas.openxmlformats.org/officeDocument/2006/relationships/image" Target="../media/image3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3.bin"/><Relationship Id="rId20" Type="http://schemas.openxmlformats.org/officeDocument/2006/relationships/oleObject" Target="../embeddings/oleObject25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3.wmf"/><Relationship Id="rId24" Type="http://schemas.openxmlformats.org/officeDocument/2006/relationships/oleObject" Target="../embeddings/oleObject27.bin"/><Relationship Id="rId5" Type="http://schemas.openxmlformats.org/officeDocument/2006/relationships/image" Target="../media/image20.wmf"/><Relationship Id="rId15" Type="http://schemas.openxmlformats.org/officeDocument/2006/relationships/image" Target="../media/image25.wmf"/><Relationship Id="rId23" Type="http://schemas.openxmlformats.org/officeDocument/2006/relationships/image" Target="../media/image29.wmf"/><Relationship Id="rId10" Type="http://schemas.openxmlformats.org/officeDocument/2006/relationships/oleObject" Target="../embeddings/oleObject20.bin"/><Relationship Id="rId19" Type="http://schemas.openxmlformats.org/officeDocument/2006/relationships/image" Target="../media/image27.w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2.wmf"/><Relationship Id="rId14" Type="http://schemas.openxmlformats.org/officeDocument/2006/relationships/oleObject" Target="../embeddings/oleObject22.bin"/><Relationship Id="rId22" Type="http://schemas.openxmlformats.org/officeDocument/2006/relationships/oleObject" Target="../embeddings/oleObject2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38.bin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41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3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4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49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4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53.wmf"/><Relationship Id="rId4" Type="http://schemas.openxmlformats.org/officeDocument/2006/relationships/image" Target="../media/image50.wmf"/><Relationship Id="rId9" Type="http://schemas.openxmlformats.org/officeDocument/2006/relationships/oleObject" Target="../embeddings/oleObject49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54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6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5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58.wmf"/><Relationship Id="rId4" Type="http://schemas.openxmlformats.org/officeDocument/2006/relationships/oleObject" Target="../embeddings/oleObject5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57.bin"/><Relationship Id="rId5" Type="http://schemas.openxmlformats.org/officeDocument/2006/relationships/image" Target="../media/image61.wmf"/><Relationship Id="rId4" Type="http://schemas.openxmlformats.org/officeDocument/2006/relationships/oleObject" Target="../embeddings/oleObject5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oleObject" Target="../embeddings/oleObject63.bin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68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0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9.bin"/><Relationship Id="rId15" Type="http://schemas.openxmlformats.org/officeDocument/2006/relationships/oleObject" Target="../embeddings/oleObject64.bin"/><Relationship Id="rId10" Type="http://schemas.openxmlformats.org/officeDocument/2006/relationships/image" Target="../media/image67.wmf"/><Relationship Id="rId4" Type="http://schemas.openxmlformats.org/officeDocument/2006/relationships/image" Target="../media/image64.wmf"/><Relationship Id="rId9" Type="http://schemas.openxmlformats.org/officeDocument/2006/relationships/oleObject" Target="../embeddings/oleObject61.bin"/><Relationship Id="rId14" Type="http://schemas.openxmlformats.org/officeDocument/2006/relationships/image" Target="../media/image6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71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69.bin"/><Relationship Id="rId10" Type="http://schemas.openxmlformats.org/officeDocument/2006/relationships/image" Target="../media/image77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71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9.wmf"/><Relationship Id="rId5" Type="http://schemas.openxmlformats.org/officeDocument/2006/relationships/oleObject" Target="../embeddings/oleObject73.bin"/><Relationship Id="rId10" Type="http://schemas.openxmlformats.org/officeDocument/2006/relationships/image" Target="../media/image81.wmf"/><Relationship Id="rId4" Type="http://schemas.openxmlformats.org/officeDocument/2006/relationships/image" Target="../media/image78.wmf"/><Relationship Id="rId9" Type="http://schemas.openxmlformats.org/officeDocument/2006/relationships/oleObject" Target="../embeddings/oleObject7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81.bin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86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8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80.bin"/><Relationship Id="rId5" Type="http://schemas.openxmlformats.org/officeDocument/2006/relationships/oleObject" Target="../embeddings/oleObject77.bin"/><Relationship Id="rId15" Type="http://schemas.openxmlformats.org/officeDocument/2006/relationships/oleObject" Target="../embeddings/oleObject82.bin"/><Relationship Id="rId10" Type="http://schemas.openxmlformats.org/officeDocument/2006/relationships/image" Target="../media/image85.wmf"/><Relationship Id="rId4" Type="http://schemas.openxmlformats.org/officeDocument/2006/relationships/image" Target="../media/image82.wmf"/><Relationship Id="rId9" Type="http://schemas.openxmlformats.org/officeDocument/2006/relationships/oleObject" Target="../embeddings/oleObject79.bin"/><Relationship Id="rId14" Type="http://schemas.openxmlformats.org/officeDocument/2006/relationships/image" Target="../media/image87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90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8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Đại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 Ma </a:t>
            </a:r>
            <a:r>
              <a:rPr lang="en-US" altLang="en-US" dirty="0" err="1"/>
              <a:t>Trận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+mn-lt"/>
              </a:rPr>
              <a:t>NGHỊCH ĐẢO CỦA MA TRẬN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2.2-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 TRẬN KHẢ NGHỊCH</a:t>
            </a:r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81600"/>
          </a:xfrm>
        </p:spPr>
        <p:txBody>
          <a:bodyPr/>
          <a:lstStyle/>
          <a:p>
            <a:pPr eaLnBrk="1" hangingPunct="1"/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ma </a:t>
            </a:r>
            <a:r>
              <a:rPr lang="en-US" altLang="en-US" sz="2800" dirty="0" err="1">
                <a:cs typeface="Times New Roman" panose="02020603050405020304" pitchFamily="18" charset="0"/>
              </a:rPr>
              <a:t>trận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vuông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cấp</a:t>
            </a:r>
            <a:r>
              <a:rPr lang="en-US" altLang="en-US" sz="2800" dirty="0">
                <a:cs typeface="Times New Roman" panose="02020603050405020304" pitchFamily="18" charset="0"/>
              </a:rPr>
              <a:t> n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được gọi 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khả</a:t>
            </a:r>
            <a:r>
              <a:rPr lang="en-US" altLang="en-US" sz="2800" b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nghịch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nếu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tồn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tại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ma </a:t>
            </a:r>
            <a:r>
              <a:rPr lang="en-US" altLang="en-US" sz="2800" dirty="0" err="1">
                <a:cs typeface="Times New Roman" panose="02020603050405020304" pitchFamily="18" charset="0"/>
              </a:rPr>
              <a:t>trận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vuông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cấp</a:t>
            </a:r>
            <a:r>
              <a:rPr lang="en-US" altLang="en-US" sz="2800" dirty="0">
                <a:cs typeface="Times New Roman" panose="02020603050405020304" pitchFamily="18" charset="0"/>
              </a:rPr>
              <a:t> n </a:t>
            </a:r>
            <a:r>
              <a:rPr lang="en-US" altLang="en-US" sz="2800" i="1" dirty="0">
                <a:cs typeface="Times New Roman" panose="02020603050405020304" pitchFamily="18" charset="0"/>
              </a:rPr>
              <a:t>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sao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cho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                                      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	</a:t>
            </a:r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đó</a:t>
            </a:r>
            <a:r>
              <a:rPr lang="en-US" altLang="en-US" sz="2800" dirty="0">
                <a:cs typeface="Times New Roman" panose="02020603050405020304" pitchFamily="18" charset="0"/>
              </a:rPr>
              <a:t>           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ma trận đơn vị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cấp</a:t>
            </a:r>
            <a:r>
              <a:rPr lang="en-US" altLang="en-US" sz="2800" dirty="0">
                <a:cs typeface="Times New Roman" panose="02020603050405020304" pitchFamily="18" charset="0"/>
              </a:rPr>
              <a:t> n. </a:t>
            </a:r>
          </a:p>
          <a:p>
            <a:pPr eaLnBrk="1" hangingPunct="1"/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trường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hợp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này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i="1" dirty="0">
                <a:cs typeface="Times New Roman" panose="02020603050405020304" pitchFamily="18" charset="0"/>
              </a:rPr>
              <a:t>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nghịch</a:t>
            </a:r>
            <a:r>
              <a:rPr lang="en-US" altLang="en-US" sz="2800" b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đảo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i="1" dirty="0">
                <a:cs typeface="Times New Roman" panose="02020603050405020304" pitchFamily="18" charset="0"/>
              </a:rPr>
              <a:t> A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en-US" sz="2800" dirty="0" err="1">
                <a:cs typeface="Times New Roman" panose="02020603050405020304" pitchFamily="18" charset="0"/>
              </a:rPr>
              <a:t>Thực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tế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i="1" dirty="0">
                <a:cs typeface="Times New Roman" panose="02020603050405020304" pitchFamily="18" charset="0"/>
              </a:rPr>
              <a:t>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xác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định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duy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nhất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bởi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bởi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vì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nếu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B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nghịch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đảo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khác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thì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                                                                               .</a:t>
            </a:r>
          </a:p>
          <a:p>
            <a:pPr eaLnBrk="1" hangingPunct="1"/>
            <a:r>
              <a:rPr lang="en-US" altLang="en-US" sz="2800" dirty="0" err="1">
                <a:cs typeface="Times New Roman" panose="02020603050405020304" pitchFamily="18" charset="0"/>
              </a:rPr>
              <a:t>Nghịch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đảo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duy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nhất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được kí hiệu bởi</a:t>
            </a:r>
            <a:r>
              <a:rPr lang="en-US" altLang="en-US" sz="2800" dirty="0">
                <a:cs typeface="Times New Roman" panose="02020603050405020304" pitchFamily="18" charset="0"/>
              </a:rPr>
              <a:t>       , </a:t>
            </a:r>
            <a:r>
              <a:rPr lang="en-US" altLang="en-US" sz="2800" dirty="0" err="1">
                <a:cs typeface="Times New Roman" panose="02020603050405020304" pitchFamily="18" charset="0"/>
              </a:rPr>
              <a:t>sao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cho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                                 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               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316438" name="Object 22"/>
          <p:cNvGraphicFramePr>
            <a:graphicFrameLocks noChangeAspect="1"/>
          </p:cNvGraphicFramePr>
          <p:nvPr/>
        </p:nvGraphicFramePr>
        <p:xfrm>
          <a:off x="2667000" y="2311400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1" name="Equation" r:id="rId4" imgW="1129810" imgH="342751" progId="">
                  <p:embed/>
                </p:oleObj>
              </mc:Choice>
              <mc:Fallback>
                <p:oleObj name="Equation" r:id="rId4" imgW="1129810" imgH="342751" progId="">
                  <p:embed/>
                  <p:pic>
                    <p:nvPicPr>
                      <p:cNvPr id="0" name="Picture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311400"/>
                        <a:ext cx="1130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3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8687692"/>
              </p:ext>
            </p:extLst>
          </p:nvPr>
        </p:nvGraphicFramePr>
        <p:xfrm>
          <a:off x="4813300" y="2311400"/>
          <a:ext cx="1206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2" name="Equation" r:id="rId6" imgW="1206500" imgH="342900" progId="">
                  <p:embed/>
                </p:oleObj>
              </mc:Choice>
              <mc:Fallback>
                <p:oleObj name="Equation" r:id="rId6" imgW="1206500" imgH="342900" progId="">
                  <p:embed/>
                  <p:pic>
                    <p:nvPicPr>
                      <p:cNvPr id="0" name="Picture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3300" y="2311400"/>
                        <a:ext cx="1206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4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7800632"/>
              </p:ext>
            </p:extLst>
          </p:nvPr>
        </p:nvGraphicFramePr>
        <p:xfrm>
          <a:off x="2209800" y="2794000"/>
          <a:ext cx="914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3" name="Equation" r:id="rId8" imgW="914400" imgH="482600" progId="">
                  <p:embed/>
                </p:oleObj>
              </mc:Choice>
              <mc:Fallback>
                <p:oleObj name="Equation" r:id="rId8" imgW="914400" imgH="482600" progId="">
                  <p:embed/>
                  <p:pic>
                    <p:nvPicPr>
                      <p:cNvPr id="0" name="Picture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794000"/>
                        <a:ext cx="9144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42" name="Object 26"/>
          <p:cNvGraphicFramePr>
            <a:graphicFrameLocks noChangeAspect="1"/>
          </p:cNvGraphicFramePr>
          <p:nvPr/>
        </p:nvGraphicFramePr>
        <p:xfrm>
          <a:off x="1943100" y="4800600"/>
          <a:ext cx="5676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4" name="Equation" r:id="rId10" imgW="5676900" imgH="431800" progId="">
                  <p:embed/>
                </p:oleObj>
              </mc:Choice>
              <mc:Fallback>
                <p:oleObj name="Equation" r:id="rId10" imgW="5676900" imgH="431800" progId="">
                  <p:embed/>
                  <p:pic>
                    <p:nvPicPr>
                      <p:cNvPr id="0" name="Picture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4800600"/>
                        <a:ext cx="5676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43" name="Object 27"/>
          <p:cNvGraphicFramePr>
            <a:graphicFrameLocks noChangeAspect="1"/>
          </p:cNvGraphicFramePr>
          <p:nvPr/>
        </p:nvGraphicFramePr>
        <p:xfrm>
          <a:off x="2095500" y="5753100"/>
          <a:ext cx="1397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5" name="Equation" r:id="rId12" imgW="1396394" imgH="393529" progId="">
                  <p:embed/>
                </p:oleObj>
              </mc:Choice>
              <mc:Fallback>
                <p:oleObj name="Equation" r:id="rId12" imgW="1396394" imgH="393529" progId="">
                  <p:embed/>
                  <p:pic>
                    <p:nvPicPr>
                      <p:cNvPr id="0" name="Picture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0" y="5753100"/>
                        <a:ext cx="13970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4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504449"/>
              </p:ext>
            </p:extLst>
          </p:nvPr>
        </p:nvGraphicFramePr>
        <p:xfrm>
          <a:off x="4038600" y="5753100"/>
          <a:ext cx="1397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6" name="Equation" r:id="rId14" imgW="1396394" imgH="393529" progId="">
                  <p:embed/>
                </p:oleObj>
              </mc:Choice>
              <mc:Fallback>
                <p:oleObj name="Equation" r:id="rId14" imgW="1396394" imgH="393529" progId="">
                  <p:embed/>
                  <p:pic>
                    <p:nvPicPr>
                      <p:cNvPr id="0" name="Picture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753100"/>
                        <a:ext cx="13970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7" name="Equation" r:id="rId16" imgW="475104" imgH="810471" progId="">
                  <p:embed/>
                </p:oleObj>
              </mc:Choice>
              <mc:Fallback>
                <p:oleObj name="Equation" r:id="rId16" imgW="475104" imgH="810471" progId="">
                  <p:embed/>
                  <p:pic>
                    <p:nvPicPr>
                      <p:cNvPr id="0" name="Picture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4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95840"/>
              </p:ext>
            </p:extLst>
          </p:nvPr>
        </p:nvGraphicFramePr>
        <p:xfrm>
          <a:off x="6477000" y="5245100"/>
          <a:ext cx="520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38" name="Equation" r:id="rId18" imgW="520474" imgH="393529" progId="">
                  <p:embed/>
                </p:oleObj>
              </mc:Choice>
              <mc:Fallback>
                <p:oleObj name="Equation" r:id="rId18" imgW="520474" imgH="393529" progId="">
                  <p:embed/>
                  <p:pic>
                    <p:nvPicPr>
                      <p:cNvPr id="0" name="Picture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5245100"/>
                        <a:ext cx="5207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2.2- </a:t>
            </a:r>
            <a:fld id="{C9997622-94E8-4A50-926B-9CB1D697BD0C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 TRẬN KHẢ NGHỊCH</a:t>
            </a:r>
          </a:p>
        </p:txBody>
      </p:sp>
      <p:sp>
        <p:nvSpPr>
          <p:cNvPr id="67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US" sz="2800" b="1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800" b="1" dirty="0" err="1">
                <a:solidFill>
                  <a:srgbClr val="077C97"/>
                </a:solidFill>
              </a:rPr>
              <a:t>Định</a:t>
            </a:r>
            <a:r>
              <a:rPr lang="en-US" altLang="en-US" sz="2800" b="1" dirty="0">
                <a:solidFill>
                  <a:srgbClr val="077C97"/>
                </a:solidFill>
              </a:rPr>
              <a:t> </a:t>
            </a:r>
            <a:r>
              <a:rPr lang="en-US" altLang="en-US" sz="2800" b="1" dirty="0" err="1">
                <a:solidFill>
                  <a:srgbClr val="077C97"/>
                </a:solidFill>
              </a:rPr>
              <a:t>lí</a:t>
            </a:r>
            <a:r>
              <a:rPr lang="en-US" altLang="en-US" sz="2800" b="1" dirty="0">
                <a:solidFill>
                  <a:srgbClr val="077C97"/>
                </a:solidFill>
              </a:rPr>
              <a:t> 4:</a:t>
            </a:r>
            <a:r>
              <a:rPr lang="en-US" altLang="en-US" sz="2800" dirty="0"/>
              <a:t> Cho                       .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                     , </a:t>
            </a:r>
            <a:r>
              <a:rPr lang="en-US" altLang="en-US" sz="2800" dirty="0" err="1"/>
              <a:t>thì</a:t>
            </a: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                     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Đại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lượng</a:t>
            </a:r>
            <a:r>
              <a:rPr lang="en-US" altLang="en-US" sz="2800" dirty="0"/>
              <a:t>                </a:t>
            </a:r>
            <a:r>
              <a:rPr lang="vi-VN" altLang="en-US" sz="2800" dirty="0"/>
              <a:t>được gọi là</a:t>
            </a:r>
            <a:r>
              <a:rPr lang="en-US" altLang="en-US" sz="2800" dirty="0"/>
              <a:t> </a:t>
            </a:r>
            <a:r>
              <a:rPr lang="en-US" altLang="en-US" sz="2800" b="1" dirty="0" err="1">
                <a:solidFill>
                  <a:srgbClr val="0000FF"/>
                </a:solidFill>
              </a:rPr>
              <a:t>định</a:t>
            </a:r>
            <a:r>
              <a:rPr lang="en-US" altLang="en-US" sz="2800" b="1" dirty="0">
                <a:solidFill>
                  <a:srgbClr val="0000FF"/>
                </a:solidFill>
              </a:rPr>
              <a:t> </a:t>
            </a:r>
            <a:r>
              <a:rPr lang="en-US" altLang="en-US" sz="2800" b="1" dirty="0" err="1">
                <a:solidFill>
                  <a:srgbClr val="0000FF"/>
                </a:solidFill>
              </a:rPr>
              <a:t>thức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ta </a:t>
            </a:r>
            <a:r>
              <a:rPr lang="en-US" altLang="en-US" sz="2800" dirty="0" err="1"/>
              <a:t>viết</a:t>
            </a:r>
            <a:r>
              <a:rPr lang="en-US" altLang="en-US" sz="2800" dirty="0"/>
              <a:t>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nói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det</a:t>
            </a:r>
            <a:r>
              <a:rPr lang="en-US" altLang="en-US" sz="2800" dirty="0"/>
              <a:t>         . </a:t>
            </a:r>
          </a:p>
        </p:txBody>
      </p:sp>
      <p:graphicFrame>
        <p:nvGraphicFramePr>
          <p:cNvPr id="6758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1697009"/>
              </p:ext>
            </p:extLst>
          </p:nvPr>
        </p:nvGraphicFramePr>
        <p:xfrm>
          <a:off x="2819400" y="1295400"/>
          <a:ext cx="19177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2" name="Equation" r:id="rId3" imgW="1917700" imgH="1143000" progId="">
                  <p:embed/>
                </p:oleObj>
              </mc:Choice>
              <mc:Fallback>
                <p:oleObj name="Equation" r:id="rId3" imgW="1917700" imgH="1143000" progId="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295400"/>
                        <a:ext cx="19177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920594"/>
              </p:ext>
            </p:extLst>
          </p:nvPr>
        </p:nvGraphicFramePr>
        <p:xfrm>
          <a:off x="5638800" y="1651000"/>
          <a:ext cx="1816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3" name="Equation" r:id="rId5" imgW="1815312" imgH="355446" progId="">
                  <p:embed/>
                </p:oleObj>
              </mc:Choice>
              <mc:Fallback>
                <p:oleObj name="Equation" r:id="rId5" imgW="1815312" imgH="355446" progId="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651000"/>
                        <a:ext cx="18161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46" name="Object 6"/>
          <p:cNvGraphicFramePr>
            <a:graphicFrameLocks noChangeAspect="1"/>
          </p:cNvGraphicFramePr>
          <p:nvPr/>
        </p:nvGraphicFramePr>
        <p:xfrm>
          <a:off x="2971800" y="2895600"/>
          <a:ext cx="38481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4" name="Equation" r:id="rId7" imgW="3848100" imgH="1143000" progId="">
                  <p:embed/>
                </p:oleObj>
              </mc:Choice>
              <mc:Fallback>
                <p:oleObj name="Equation" r:id="rId7" imgW="3848100" imgH="1143000" progId="">
                  <p:embed/>
                  <p:pic>
                    <p:nvPicPr>
                      <p:cNvPr id="0" name="Picture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895600"/>
                        <a:ext cx="38481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6656440"/>
              </p:ext>
            </p:extLst>
          </p:nvPr>
        </p:nvGraphicFramePr>
        <p:xfrm>
          <a:off x="1612900" y="4000500"/>
          <a:ext cx="1816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5" name="Equation" r:id="rId9" imgW="1815312" imgH="355446" progId="">
                  <p:embed/>
                </p:oleObj>
              </mc:Choice>
              <mc:Fallback>
                <p:oleObj name="Equation" r:id="rId9" imgW="1815312" imgH="355446" progId="">
                  <p:embed/>
                  <p:pic>
                    <p:nvPicPr>
                      <p:cNvPr id="0" name="Picture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900" y="4000500"/>
                        <a:ext cx="18161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992503"/>
              </p:ext>
            </p:extLst>
          </p:nvPr>
        </p:nvGraphicFramePr>
        <p:xfrm>
          <a:off x="2438400" y="4470400"/>
          <a:ext cx="1219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6" name="Equation" r:id="rId11" imgW="1218671" imgH="355446" progId="">
                  <p:embed/>
                </p:oleObj>
              </mc:Choice>
              <mc:Fallback>
                <p:oleObj name="Equation" r:id="rId11" imgW="1218671" imgH="355446" progId="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470400"/>
                        <a:ext cx="12192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49" name="Object 9"/>
          <p:cNvGraphicFramePr>
            <a:graphicFrameLocks noChangeAspect="1"/>
          </p:cNvGraphicFramePr>
          <p:nvPr/>
        </p:nvGraphicFramePr>
        <p:xfrm>
          <a:off x="2819400" y="4851400"/>
          <a:ext cx="2438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7" name="Equation" r:id="rId13" imgW="2438400" imgH="355600" progId="">
                  <p:embed/>
                </p:oleObj>
              </mc:Choice>
              <mc:Fallback>
                <p:oleObj name="Equation" r:id="rId13" imgW="2438400" imgH="355600" progId="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851400"/>
                        <a:ext cx="24384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50" name="Object 10"/>
          <p:cNvGraphicFramePr>
            <a:graphicFrameLocks noChangeAspect="1"/>
          </p:cNvGraphicFramePr>
          <p:nvPr/>
        </p:nvGraphicFramePr>
        <p:xfrm>
          <a:off x="4419600" y="5372100"/>
          <a:ext cx="685800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" name="Equation" r:id="rId15" imgW="761669" imgH="330057" progId="">
                  <p:embed/>
                </p:oleObj>
              </mc:Choice>
              <mc:Fallback>
                <p:oleObj name="Equation" r:id="rId15" imgW="761669" imgH="330057" progId="">
                  <p:embed/>
                  <p:pic>
                    <p:nvPicPr>
                      <p:cNvPr id="0" name="Picture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5372100"/>
                        <a:ext cx="685800" cy="296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3986267"/>
              </p:ext>
            </p:extLst>
          </p:nvPr>
        </p:nvGraphicFramePr>
        <p:xfrm>
          <a:off x="3441700" y="5715000"/>
          <a:ext cx="90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9" name="Equation" r:id="rId17" imgW="901309" imgH="342751" progId="">
                  <p:embed/>
                </p:oleObj>
              </mc:Choice>
              <mc:Fallback>
                <p:oleObj name="Equation" r:id="rId17" imgW="901309" imgH="342751" progId="">
                  <p:embed/>
                  <p:pic>
                    <p:nvPicPr>
                      <p:cNvPr id="0" name="Picture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0" y="5715000"/>
                        <a:ext cx="901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2.2- </a:t>
            </a:r>
            <a:fld id="{BB52803A-9F3D-4C89-801C-641AFDF818B1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 TRẬN KHẢ NGHỊCH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686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1143000"/>
                <a:ext cx="8382000" cy="54102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Định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</a:t>
                </a: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lí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5</a:t>
                </a:r>
                <a:r>
                  <a:rPr lang="en-US" altLang="en-US" sz="2800" b="1" dirty="0"/>
                  <a:t>: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vuông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cấp</a:t>
                </a:r>
                <a:r>
                  <a:rPr lang="en-US" altLang="en-US" sz="2800" dirty="0"/>
                  <a:t> n </a:t>
                </a:r>
                <a:r>
                  <a:rPr lang="en-US" altLang="en-US" sz="2800" dirty="0" err="1"/>
                  <a:t>khả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nghịch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mỗi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b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thì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phương trình</a:t>
                </a:r>
                <a:r>
                  <a:rPr lang="en-US" altLang="en-US" sz="2800" dirty="0"/>
                  <a:t>              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>
                    <a:solidFill>
                      <a:srgbClr val="0000FF"/>
                    </a:solidFill>
                  </a:rPr>
                  <a:t>duy</a:t>
                </a:r>
                <a:r>
                  <a:rPr lang="en-US" altLang="en-US" sz="2800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en-US" sz="2800" dirty="0" err="1">
                    <a:solidFill>
                      <a:srgbClr val="0000FF"/>
                    </a:solidFill>
                  </a:rPr>
                  <a:t>nhất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nghiệm</a:t>
                </a:r>
                <a:r>
                  <a:rPr lang="en-US" altLang="en-US" sz="2800" dirty="0"/>
                  <a:t>                .</a:t>
                </a:r>
              </a:p>
              <a:p>
                <a:pPr marL="0" indent="0" eaLnBrk="1" hangingPunct="1">
                  <a:buNone/>
                </a:pPr>
                <a:r>
                  <a:rPr lang="en-US" altLang="en-US" sz="2800" b="1" dirty="0" err="1"/>
                  <a:t>Chứng</a:t>
                </a:r>
                <a:r>
                  <a:rPr lang="en-US" altLang="en-US" sz="2800" b="1" dirty="0"/>
                  <a:t> minh: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Lấy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bất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kì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b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. </a:t>
                </a:r>
              </a:p>
              <a:p>
                <a:pPr eaLnBrk="1" hangingPunct="1"/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nghiệm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tồn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tại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         </a:t>
                </a:r>
                <a:r>
                  <a:rPr lang="en-US" altLang="en-US" sz="2800" dirty="0" err="1"/>
                  <a:t>được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thế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vào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x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thì</a:t>
                </a:r>
                <a:r>
                  <a:rPr lang="en-US" altLang="en-US" sz="2800" dirty="0"/>
                  <a:t>    </a:t>
                </a:r>
              </a:p>
              <a:p>
                <a:pPr marL="0" indent="0" eaLnBrk="1" hangingPunct="1">
                  <a:buNone/>
                </a:pPr>
                <a:r>
                  <a:rPr lang="en-US" altLang="en-US" sz="2800" dirty="0"/>
                  <a:t>                                                         </a:t>
                </a:r>
              </a:p>
              <a:p>
                <a:pPr eaLnBrk="1" hangingPunct="1"/>
                <a:r>
                  <a:rPr lang="en-US" altLang="en-US" sz="2800" dirty="0"/>
                  <a:t>Do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         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nghiệm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 err="1"/>
                  <a:t>Để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chứng</a:t>
                </a:r>
                <a:r>
                  <a:rPr lang="en-US" altLang="en-US" sz="2800" dirty="0"/>
                  <a:t> minh </a:t>
                </a:r>
                <a:r>
                  <a:rPr lang="en-US" altLang="en-US" sz="2800" dirty="0" err="1"/>
                  <a:t>nghiệm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duy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nhất</a:t>
                </a:r>
                <a:r>
                  <a:rPr lang="en-US" altLang="en-US" sz="2800" dirty="0"/>
                  <a:t>, ta </a:t>
                </a:r>
                <a:r>
                  <a:rPr lang="en-US" altLang="en-US" sz="2800" dirty="0" err="1"/>
                  <a:t>chứng</a:t>
                </a:r>
                <a:r>
                  <a:rPr lang="en-US" altLang="en-US" sz="2800" dirty="0"/>
                  <a:t> minh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nghiệm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tùy</a:t>
                </a:r>
                <a:r>
                  <a:rPr lang="en-US" altLang="en-US" sz="2800" dirty="0"/>
                  <a:t> ý, </a:t>
                </a:r>
                <a:r>
                  <a:rPr lang="en-US" altLang="en-US" sz="2800" dirty="0" err="1"/>
                  <a:t>thì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phải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        .</a:t>
                </a:r>
              </a:p>
              <a:p>
                <a:pPr eaLnBrk="1" hangingPunct="1"/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            , ta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nhân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hai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vế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     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    		          ,                    , 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             </a:t>
                </a:r>
                <a:endParaRPr lang="en-US" altLang="en-US" sz="2800" b="1" dirty="0"/>
              </a:p>
            </p:txBody>
          </p:sp>
        </mc:Choice>
        <mc:Fallback>
          <p:sp>
            <p:nvSpPr>
              <p:cNvPr id="67686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143000"/>
                <a:ext cx="8382000" cy="5410200"/>
              </a:xfrm>
              <a:blipFill>
                <a:blip r:embed="rId3"/>
                <a:stretch>
                  <a:fillRect l="-1527" t="-1240" r="-1745" b="-1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768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005294"/>
              </p:ext>
            </p:extLst>
          </p:nvPr>
        </p:nvGraphicFramePr>
        <p:xfrm>
          <a:off x="6248400" y="1657350"/>
          <a:ext cx="1143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2" name="Equation" r:id="rId4" imgW="1143000" imgH="355600" progId="">
                  <p:embed/>
                </p:oleObj>
              </mc:Choice>
              <mc:Fallback>
                <p:oleObj name="Equation" r:id="rId4" imgW="1143000" imgH="355600" progId="">
                  <p:embed/>
                  <p:pic>
                    <p:nvPicPr>
                      <p:cNvPr id="0" name="Picture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657350"/>
                        <a:ext cx="11430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2479414"/>
              </p:ext>
            </p:extLst>
          </p:nvPr>
        </p:nvGraphicFramePr>
        <p:xfrm>
          <a:off x="2984500" y="2030037"/>
          <a:ext cx="1358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3" name="Equation" r:id="rId6" imgW="1358310" imgH="406224" progId="">
                  <p:embed/>
                </p:oleObj>
              </mc:Choice>
              <mc:Fallback>
                <p:oleObj name="Equation" r:id="rId6" imgW="1358310" imgH="406224" progId="">
                  <p:embed/>
                  <p:pic>
                    <p:nvPicPr>
                      <p:cNvPr id="0" name="Picture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0" y="2030037"/>
                        <a:ext cx="13589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73" name="Object 9"/>
          <p:cNvGraphicFramePr>
            <a:graphicFrameLocks noChangeAspect="1"/>
          </p:cNvGraphicFramePr>
          <p:nvPr/>
        </p:nvGraphicFramePr>
        <p:xfrm>
          <a:off x="1600200" y="3467100"/>
          <a:ext cx="5207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4" name="Equation" r:id="rId8" imgW="5207000" imgH="482600" progId="">
                  <p:embed/>
                </p:oleObj>
              </mc:Choice>
              <mc:Fallback>
                <p:oleObj name="Equation" r:id="rId8" imgW="5207000" imgH="482600" progId="">
                  <p:embed/>
                  <p:pic>
                    <p:nvPicPr>
                      <p:cNvPr id="0" name="Picture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467100"/>
                        <a:ext cx="52070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7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3799724"/>
              </p:ext>
            </p:extLst>
          </p:nvPr>
        </p:nvGraphicFramePr>
        <p:xfrm>
          <a:off x="1447800" y="5588000"/>
          <a:ext cx="1143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5" name="Equation" r:id="rId10" imgW="1143000" imgH="355600" progId="">
                  <p:embed/>
                </p:oleObj>
              </mc:Choice>
              <mc:Fallback>
                <p:oleObj name="Equation" r:id="rId10" imgW="1143000" imgH="355600" progId="">
                  <p:embed/>
                  <p:pic>
                    <p:nvPicPr>
                      <p:cNvPr id="0" name="Picture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588000"/>
                        <a:ext cx="11430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7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93894"/>
              </p:ext>
            </p:extLst>
          </p:nvPr>
        </p:nvGraphicFramePr>
        <p:xfrm>
          <a:off x="1066800" y="5994400"/>
          <a:ext cx="2133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6" name="Equation" r:id="rId12" imgW="2132674" imgH="406224" progId="">
                  <p:embed/>
                </p:oleObj>
              </mc:Choice>
              <mc:Fallback>
                <p:oleObj name="Equation" r:id="rId12" imgW="2132674" imgH="406224" progId="">
                  <p:embed/>
                  <p:pic>
                    <p:nvPicPr>
                      <p:cNvPr id="0" name="Picture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994400"/>
                        <a:ext cx="2133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7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0416307"/>
              </p:ext>
            </p:extLst>
          </p:nvPr>
        </p:nvGraphicFramePr>
        <p:xfrm>
          <a:off x="3606800" y="5994400"/>
          <a:ext cx="1498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7" name="Equation" r:id="rId14" imgW="1497950" imgH="406224" progId="">
                  <p:embed/>
                </p:oleObj>
              </mc:Choice>
              <mc:Fallback>
                <p:oleObj name="Equation" r:id="rId14" imgW="1497950" imgH="406224" progId="">
                  <p:embed/>
                  <p:pic>
                    <p:nvPicPr>
                      <p:cNvPr id="0" name="Picture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6800" y="5994400"/>
                        <a:ext cx="1498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0094808"/>
              </p:ext>
            </p:extLst>
          </p:nvPr>
        </p:nvGraphicFramePr>
        <p:xfrm>
          <a:off x="5803900" y="5994400"/>
          <a:ext cx="1358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8" name="Equation" r:id="rId16" imgW="1358310" imgH="406224" progId="">
                  <p:embed/>
                </p:oleObj>
              </mc:Choice>
              <mc:Fallback>
                <p:oleObj name="Equation" r:id="rId16" imgW="1358310" imgH="406224" progId="">
                  <p:embed/>
                  <p:pic>
                    <p:nvPicPr>
                      <p:cNvPr id="0" name="Picture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5994400"/>
                        <a:ext cx="13589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7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647549"/>
              </p:ext>
            </p:extLst>
          </p:nvPr>
        </p:nvGraphicFramePr>
        <p:xfrm>
          <a:off x="4572000" y="3035300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9" name="Equation" r:id="rId18" imgW="736280" imgH="406224" progId="">
                  <p:embed/>
                </p:oleObj>
              </mc:Choice>
              <mc:Fallback>
                <p:oleObj name="Equation" r:id="rId18" imgW="736280" imgH="406224" progId="">
                  <p:embed/>
                  <p:pic>
                    <p:nvPicPr>
                      <p:cNvPr id="0" name="Picture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035300"/>
                        <a:ext cx="736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8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9867230"/>
              </p:ext>
            </p:extLst>
          </p:nvPr>
        </p:nvGraphicFramePr>
        <p:xfrm>
          <a:off x="1790700" y="4025900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0" name="Equation" r:id="rId20" imgW="736280" imgH="406224" progId="">
                  <p:embed/>
                </p:oleObj>
              </mc:Choice>
              <mc:Fallback>
                <p:oleObj name="Equation" r:id="rId20" imgW="736280" imgH="406224" progId="">
                  <p:embed/>
                  <p:pic>
                    <p:nvPicPr>
                      <p:cNvPr id="0" name="Picture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00" y="4025900"/>
                        <a:ext cx="736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8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3479651"/>
              </p:ext>
            </p:extLst>
          </p:nvPr>
        </p:nvGraphicFramePr>
        <p:xfrm>
          <a:off x="7245350" y="4983162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1" name="Equation" r:id="rId22" imgW="736280" imgH="406224" progId="">
                  <p:embed/>
                </p:oleObj>
              </mc:Choice>
              <mc:Fallback>
                <p:oleObj name="Equation" r:id="rId22" imgW="736280" imgH="406224" progId="">
                  <p:embed/>
                  <p:pic>
                    <p:nvPicPr>
                      <p:cNvPr id="0" name="Picture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5350" y="4983162"/>
                        <a:ext cx="736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8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7637185"/>
              </p:ext>
            </p:extLst>
          </p:nvPr>
        </p:nvGraphicFramePr>
        <p:xfrm>
          <a:off x="6324600" y="5486400"/>
          <a:ext cx="520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72" name="Equation" r:id="rId24" imgW="520474" imgH="393529" progId="">
                  <p:embed/>
                </p:oleObj>
              </mc:Choice>
              <mc:Fallback>
                <p:oleObj name="Equation" r:id="rId24" imgW="520474" imgH="393529" progId="">
                  <p:embed/>
                  <p:pic>
                    <p:nvPicPr>
                      <p:cNvPr id="0" name="Picture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5486400"/>
                        <a:ext cx="5207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2.2- </a:t>
            </a:r>
            <a:fld id="{D933861E-5189-4437-B42E-0C061F59B3EB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 TRẬN KHẢ NGHỊCH</a:t>
            </a:r>
          </a:p>
        </p:txBody>
      </p:sp>
      <p:sp>
        <p:nvSpPr>
          <p:cNvPr id="67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>
                <a:solidFill>
                  <a:srgbClr val="0070C0"/>
                </a:solidFill>
              </a:rPr>
              <a:t>Định</a:t>
            </a:r>
            <a:r>
              <a:rPr lang="en-US" altLang="en-US" sz="2800" b="1" dirty="0">
                <a:solidFill>
                  <a:srgbClr val="0070C0"/>
                </a:solidFill>
              </a:rPr>
              <a:t> </a:t>
            </a:r>
            <a:r>
              <a:rPr lang="en-US" altLang="en-US" sz="2800" b="1" dirty="0" err="1">
                <a:solidFill>
                  <a:srgbClr val="0070C0"/>
                </a:solidFill>
              </a:rPr>
              <a:t>lí</a:t>
            </a:r>
            <a:r>
              <a:rPr lang="en-US" altLang="en-US" sz="2800" b="1" dirty="0">
                <a:solidFill>
                  <a:srgbClr val="0070C0"/>
                </a:solidFill>
              </a:rPr>
              <a:t> 6:</a:t>
            </a:r>
          </a:p>
          <a:p>
            <a:pPr marL="571500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      </a:t>
            </a:r>
            <a:r>
              <a:rPr lang="en-US" altLang="en-US" sz="2800" dirty="0" err="1"/>
              <a:t>cũng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endParaRPr lang="en-US" altLang="en-US" sz="2800" dirty="0"/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endParaRPr lang="en-US" altLang="en-US" sz="1600" dirty="0"/>
          </a:p>
          <a:p>
            <a:pPr marL="571500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i="1" dirty="0"/>
              <a:t>AB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đảo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đảo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ngược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</a:rPr>
              <a:t>lại</a:t>
            </a:r>
            <a:r>
              <a:rPr lang="en-US" altLang="en-US" sz="2800" dirty="0">
                <a:solidFill>
                  <a:srgbClr val="0000FF"/>
                </a:solidFill>
              </a:rPr>
              <a:t>.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,</a:t>
            </a:r>
          </a:p>
          <a:p>
            <a:pPr marL="571500" indent="-457200" eaLnBrk="1" hangingPunct="1">
              <a:buFont typeface="Wingdings" panose="05000000000000000000" pitchFamily="2" charset="2"/>
              <a:buAutoNum type="alphaLcPeriod"/>
            </a:pPr>
            <a:endParaRPr lang="en-US" altLang="en-US" sz="1600" dirty="0"/>
          </a:p>
          <a:p>
            <a:pPr marL="571500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i="1" dirty="0">
                <a:solidFill>
                  <a:srgbClr val="0000FF"/>
                </a:solidFill>
              </a:rPr>
              <a:t>A</a:t>
            </a:r>
            <a:r>
              <a:rPr lang="en-US" altLang="en-US" sz="2800" i="1" baseline="30000" dirty="0">
                <a:solidFill>
                  <a:srgbClr val="0000FF"/>
                </a:solidFill>
              </a:rPr>
              <a:t>T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đảo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i="1" baseline="30000" dirty="0"/>
              <a:t>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chuyển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      . </a:t>
            </a:r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,</a:t>
            </a:r>
          </a:p>
        </p:txBody>
      </p:sp>
      <p:graphicFrame>
        <p:nvGraphicFramePr>
          <p:cNvPr id="6778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1683139"/>
              </p:ext>
            </p:extLst>
          </p:nvPr>
        </p:nvGraphicFramePr>
        <p:xfrm>
          <a:off x="3695700" y="2336800"/>
          <a:ext cx="1752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6" name="Equation" r:id="rId3" imgW="1752600" imgH="482600" progId="">
                  <p:embed/>
                </p:oleObj>
              </mc:Choice>
              <mc:Fallback>
                <p:oleObj name="Equation" r:id="rId3" imgW="1752600" imgH="482600" progId="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5700" y="2336800"/>
                        <a:ext cx="17526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8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151351"/>
              </p:ext>
            </p:extLst>
          </p:nvPr>
        </p:nvGraphicFramePr>
        <p:xfrm>
          <a:off x="3535136" y="4513262"/>
          <a:ext cx="2489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7" name="Equation" r:id="rId5" imgW="2489200" imgH="482600" progId="">
                  <p:embed/>
                </p:oleObj>
              </mc:Choice>
              <mc:Fallback>
                <p:oleObj name="Equation" r:id="rId5" imgW="2489200" imgH="482600" progId="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5136" y="4513262"/>
                        <a:ext cx="24892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8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805463"/>
              </p:ext>
            </p:extLst>
          </p:nvPr>
        </p:nvGraphicFramePr>
        <p:xfrm>
          <a:off x="3657600" y="5943600"/>
          <a:ext cx="2362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8" name="Equation" r:id="rId7" imgW="2362200" imgH="482600" progId="Equation.DSMT4">
                  <p:embed/>
                </p:oleObj>
              </mc:Choice>
              <mc:Fallback>
                <p:oleObj name="Equation" r:id="rId7" imgW="2362200" imgH="482600" progId="Equation.DSMT4">
                  <p:embed/>
                  <p:pic>
                    <p:nvPicPr>
                      <p:cNvPr id="0" name="Picture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943600"/>
                        <a:ext cx="23622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8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616488"/>
              </p:ext>
            </p:extLst>
          </p:nvPr>
        </p:nvGraphicFramePr>
        <p:xfrm>
          <a:off x="5803900" y="1676400"/>
          <a:ext cx="520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9" name="Equation" r:id="rId9" imgW="520474" imgH="393529" progId="">
                  <p:embed/>
                </p:oleObj>
              </mc:Choice>
              <mc:Fallback>
                <p:oleObj name="Equation" r:id="rId9" imgW="520474" imgH="393529" progId="">
                  <p:embed/>
                  <p:pic>
                    <p:nvPicPr>
                      <p:cNvPr id="0" name="Picture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1676400"/>
                        <a:ext cx="5207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graphicFrame>
        <p:nvGraphicFramePr>
          <p:cNvPr id="1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1637511"/>
              </p:ext>
            </p:extLst>
          </p:nvPr>
        </p:nvGraphicFramePr>
        <p:xfrm>
          <a:off x="6248400" y="5354638"/>
          <a:ext cx="476608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0" name="Equation" r:id="rId11" imgW="520560" imgH="393480" progId="Equation.DSMT4">
                  <p:embed/>
                </p:oleObj>
              </mc:Choice>
              <mc:Fallback>
                <p:oleObj name="Equation" r:id="rId11" imgW="520560" imgH="393480" progId="Equation.DSMT4">
                  <p:embed/>
                  <p:pic>
                    <p:nvPicPr>
                      <p:cNvPr id="6778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5354638"/>
                        <a:ext cx="476608" cy="36036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2.2- </a:t>
            </a:r>
            <a:fld id="{06A5C00E-181F-41F1-97B1-0211CCEAF767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 TRẬN KHẢ NGHỊCH</a:t>
            </a:r>
          </a:p>
        </p:txBody>
      </p:sp>
      <p:sp>
        <p:nvSpPr>
          <p:cNvPr id="67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eaLnBrk="1" hangingPunct="1"/>
            <a:r>
              <a:rPr lang="en-US" altLang="en-US" sz="2800" b="1" dirty="0" err="1"/>
              <a:t>Chứng</a:t>
            </a:r>
            <a:r>
              <a:rPr lang="en-US" altLang="en-US" sz="2800" b="1" dirty="0"/>
              <a:t> minh: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kiểm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(a), </a:t>
            </a:r>
            <a:r>
              <a:rPr lang="en-US" altLang="en-US" sz="2800" dirty="0" err="1"/>
              <a:t>tìm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i="1" dirty="0"/>
              <a:t>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		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</a:p>
          <a:p>
            <a:pPr eaLnBrk="1" hangingPunct="1"/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vi-VN" altLang="en-US" sz="2800" dirty="0"/>
              <a:t>phương trình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thỏa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mãn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thay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vào</a:t>
            </a:r>
            <a:r>
              <a:rPr lang="en-US" altLang="en-US" sz="2800" dirty="0"/>
              <a:t> </a:t>
            </a:r>
            <a:r>
              <a:rPr lang="en-US" altLang="en-US" sz="2800" i="1" dirty="0"/>
              <a:t>C</a:t>
            </a:r>
            <a:r>
              <a:rPr lang="en-US" altLang="en-US" sz="2800" dirty="0"/>
              <a:t>. 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      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đảo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nó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Tiếp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chứng</a:t>
            </a:r>
            <a:r>
              <a:rPr lang="en-US" altLang="en-US" sz="2800" dirty="0"/>
              <a:t> minh </a:t>
            </a:r>
            <a:r>
              <a:rPr lang="en-US" altLang="en-US" sz="2800" dirty="0" err="1"/>
              <a:t>phát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(b), ta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: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toán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                                 . </a:t>
            </a:r>
          </a:p>
          <a:p>
            <a:pPr eaLnBrk="1" hangingPunct="1"/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(c), </a:t>
            </a:r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3(d), </a:t>
            </a:r>
            <a:r>
              <a:rPr lang="en-US" altLang="en-US" sz="2800" dirty="0" err="1"/>
              <a:t>đọc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sang </a:t>
            </a:r>
            <a:r>
              <a:rPr lang="en-US" altLang="en-US" sz="2800" dirty="0" err="1"/>
              <a:t>trái</a:t>
            </a:r>
            <a:r>
              <a:rPr lang="en-US" altLang="en-US" sz="2800" dirty="0"/>
              <a:t>,                                                    . </a:t>
            </a:r>
          </a:p>
          <a:p>
            <a:pPr eaLnBrk="1" hangingPunct="1"/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,                                .</a:t>
            </a:r>
          </a:p>
        </p:txBody>
      </p:sp>
      <p:graphicFrame>
        <p:nvGraphicFramePr>
          <p:cNvPr id="6789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25318"/>
              </p:ext>
            </p:extLst>
          </p:nvPr>
        </p:nvGraphicFramePr>
        <p:xfrm>
          <a:off x="2400300" y="2095500"/>
          <a:ext cx="1409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3" name="Equation" r:id="rId3" imgW="1409088" imgH="406224" progId="">
                  <p:embed/>
                </p:oleObj>
              </mc:Choice>
              <mc:Fallback>
                <p:oleObj name="Equation" r:id="rId3" imgW="1409088" imgH="406224" progId="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0" y="2095500"/>
                        <a:ext cx="14097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89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6090256"/>
              </p:ext>
            </p:extLst>
          </p:nvPr>
        </p:nvGraphicFramePr>
        <p:xfrm>
          <a:off x="5105400" y="2095500"/>
          <a:ext cx="1371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4" name="Equation" r:id="rId5" imgW="1371600" imgH="406400" progId="">
                  <p:embed/>
                </p:oleObj>
              </mc:Choice>
              <mc:Fallback>
                <p:oleObj name="Equation" r:id="rId5" imgW="1371600" imgH="406400" progId="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095500"/>
                        <a:ext cx="1371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8918" name="Object 6"/>
          <p:cNvGraphicFramePr>
            <a:graphicFrameLocks noChangeAspect="1"/>
          </p:cNvGraphicFramePr>
          <p:nvPr/>
        </p:nvGraphicFramePr>
        <p:xfrm>
          <a:off x="1143000" y="4114800"/>
          <a:ext cx="7467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5" name="Equation" r:id="rId7" imgW="7467600" imgH="482600" progId="">
                  <p:embed/>
                </p:oleObj>
              </mc:Choice>
              <mc:Fallback>
                <p:oleObj name="Equation" r:id="rId7" imgW="7467600" imgH="482600" progId="">
                  <p:embed/>
                  <p:pic>
                    <p:nvPicPr>
                      <p:cNvPr id="0" name="Picture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114800"/>
                        <a:ext cx="74676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8919" name="Object 7"/>
          <p:cNvGraphicFramePr>
            <a:graphicFrameLocks noChangeAspect="1"/>
          </p:cNvGraphicFramePr>
          <p:nvPr/>
        </p:nvGraphicFramePr>
        <p:xfrm>
          <a:off x="5562600" y="4572000"/>
          <a:ext cx="2743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6" name="Equation" r:id="rId9" imgW="2743200" imgH="482600" progId="">
                  <p:embed/>
                </p:oleObj>
              </mc:Choice>
              <mc:Fallback>
                <p:oleObj name="Equation" r:id="rId9" imgW="2743200" imgH="482600" progId="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572000"/>
                        <a:ext cx="27432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89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4965188"/>
              </p:ext>
            </p:extLst>
          </p:nvPr>
        </p:nvGraphicFramePr>
        <p:xfrm>
          <a:off x="2463800" y="5511800"/>
          <a:ext cx="4470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7" name="Equation" r:id="rId11" imgW="4470400" imgH="482600" progId="">
                  <p:embed/>
                </p:oleObj>
              </mc:Choice>
              <mc:Fallback>
                <p:oleObj name="Equation" r:id="rId11" imgW="4470400" imgH="482600" progId="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5511800"/>
                        <a:ext cx="44704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8921" name="Object 9"/>
          <p:cNvGraphicFramePr>
            <a:graphicFrameLocks noChangeAspect="1"/>
          </p:cNvGraphicFramePr>
          <p:nvPr/>
        </p:nvGraphicFramePr>
        <p:xfrm>
          <a:off x="2362200" y="6032500"/>
          <a:ext cx="2844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8" name="Equation" r:id="rId13" imgW="2844800" imgH="482600" progId="">
                  <p:embed/>
                </p:oleObj>
              </mc:Choice>
              <mc:Fallback>
                <p:oleObj name="Equation" r:id="rId13" imgW="2844800" imgH="482600" progId="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6032500"/>
                        <a:ext cx="28448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89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1798301"/>
              </p:ext>
            </p:extLst>
          </p:nvPr>
        </p:nvGraphicFramePr>
        <p:xfrm>
          <a:off x="1371600" y="3035300"/>
          <a:ext cx="520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9" name="Equation" r:id="rId15" imgW="520474" imgH="393529" progId="">
                  <p:embed/>
                </p:oleObj>
              </mc:Choice>
              <mc:Fallback>
                <p:oleObj name="Equation" r:id="rId15" imgW="520474" imgH="393529" progId="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035300"/>
                        <a:ext cx="5207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2.2- </a:t>
            </a:r>
            <a:fld id="{2DA9D7C7-0B1B-4DC1-897E-21B380C3F107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CÁC MA TRẬN SƠ CẤP</a:t>
            </a:r>
            <a:endParaRPr lang="en-US" altLang="en-US" dirty="0"/>
          </a:p>
        </p:txBody>
      </p:sp>
      <p:sp>
        <p:nvSpPr>
          <p:cNvPr id="67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i="1" baseline="30000" dirty="0"/>
              <a:t>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đảo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           .</a:t>
            </a:r>
          </a:p>
          <a:p>
            <a:pPr eaLnBrk="1" hangingPunct="1"/>
            <a:r>
              <a:rPr lang="en-US" altLang="en-US" sz="2800" dirty="0" err="1"/>
              <a:t>Tổng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quát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hóa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6(b)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sau</a:t>
            </a:r>
            <a:r>
              <a:rPr lang="en-US" altLang="en-US" sz="2800" dirty="0"/>
              <a:t>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đảo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đảo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chúng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lại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đương</a:t>
            </a:r>
            <a:r>
              <a:rPr lang="en-US" altLang="en-US" sz="2800" dirty="0"/>
              <a:t> hang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>
                <a:solidFill>
                  <a:srgbClr val="0000FF"/>
                </a:solidFill>
              </a:rPr>
              <a:t>ma trận đơn vị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ta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tìm</a:t>
            </a:r>
            <a:r>
              <a:rPr lang="en-US" altLang="en-US" sz="2800" dirty="0"/>
              <a:t>       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cách</a:t>
            </a:r>
            <a:r>
              <a:rPr lang="en-US" altLang="en-US" sz="2800" dirty="0"/>
              <a:t> </a:t>
            </a:r>
            <a:r>
              <a:rPr lang="en-US" altLang="en-US" sz="2800" i="1" dirty="0" err="1"/>
              <a:t>dõi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theo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phép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rút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gọn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hàng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biến</a:t>
            </a:r>
            <a:r>
              <a:rPr lang="en-US" altLang="en-US" sz="2800" i="1" dirty="0"/>
              <a:t> A </a:t>
            </a:r>
            <a:r>
              <a:rPr lang="en-US" altLang="en-US" sz="2800" i="1" dirty="0" err="1"/>
              <a:t>thành</a:t>
            </a:r>
            <a:r>
              <a:rPr lang="en-US" altLang="en-US" sz="2800" i="1" dirty="0"/>
              <a:t> I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b="1" dirty="0"/>
              <a:t>ma trận sơ cấp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việc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hiện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cấp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lên</a:t>
            </a:r>
            <a:r>
              <a:rPr lang="en-US" altLang="en-US" sz="2800" dirty="0"/>
              <a:t> </a:t>
            </a:r>
            <a:r>
              <a:rPr lang="vi-VN" altLang="en-US" sz="2800" dirty="0"/>
              <a:t>ma trận đơn vị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6799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8395813"/>
              </p:ext>
            </p:extLst>
          </p:nvPr>
        </p:nvGraphicFramePr>
        <p:xfrm>
          <a:off x="6108700" y="3975100"/>
          <a:ext cx="520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5" name="Equation" r:id="rId3" imgW="520474" imgH="393529" progId="">
                  <p:embed/>
                </p:oleObj>
              </mc:Choice>
              <mc:Fallback>
                <p:oleObj name="Equation" r:id="rId3" imgW="520474" imgH="393529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0" y="3975100"/>
                        <a:ext cx="5207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99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9541203"/>
              </p:ext>
            </p:extLst>
          </p:nvPr>
        </p:nvGraphicFramePr>
        <p:xfrm>
          <a:off x="7518400" y="1155700"/>
          <a:ext cx="1092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6" name="Equation" r:id="rId5" imgW="1091726" imgH="482391" progId="">
                  <p:embed/>
                </p:oleObj>
              </mc:Choice>
              <mc:Fallback>
                <p:oleObj name="Equation" r:id="rId5" imgW="1091726" imgH="482391" progId="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400" y="1155700"/>
                        <a:ext cx="10922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2.2- </a:t>
            </a:r>
            <a:fld id="{EE32C27E-572C-4963-9C93-901206305962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CÁC MA TRẬN SƠ CẤP</a:t>
            </a:r>
            <a:endParaRPr lang="en-US" altLang="en-US" dirty="0"/>
          </a:p>
        </p:txBody>
      </p:sp>
      <p:sp>
        <p:nvSpPr>
          <p:cNvPr id="68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534400" cy="5638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en-US" sz="700" b="1" dirty="0"/>
          </a:p>
          <a:p>
            <a:pPr eaLnBrk="1" hangingPunct="1">
              <a:lnSpc>
                <a:spcPct val="80000"/>
              </a:lnSpc>
            </a:pPr>
            <a:endParaRPr lang="en-US" altLang="en-US" sz="1600" b="1" dirty="0"/>
          </a:p>
          <a:p>
            <a:pPr eaLnBrk="1" hangingPunct="1">
              <a:lnSpc>
                <a:spcPct val="80000"/>
              </a:lnSpc>
            </a:pPr>
            <a:endParaRPr lang="en-US" altLang="en-US" sz="2800" b="1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5:</a:t>
            </a:r>
            <a:r>
              <a:rPr lang="en-US" altLang="en-US" sz="2800" dirty="0"/>
              <a:t> Cho                                ,                            ,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,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i="1" dirty="0"/>
              <a:t>E</a:t>
            </a:r>
            <a:r>
              <a:rPr lang="en-US" altLang="en-US" sz="2800" baseline="-25000" dirty="0"/>
              <a:t>1</a:t>
            </a:r>
            <a:r>
              <a:rPr lang="en-US" altLang="en-US" sz="2800" i="1" dirty="0"/>
              <a:t>A</a:t>
            </a:r>
            <a:r>
              <a:rPr lang="en-US" altLang="en-US" sz="2800" dirty="0"/>
              <a:t>, </a:t>
            </a:r>
            <a:r>
              <a:rPr lang="en-US" altLang="en-US" sz="2800" i="1" dirty="0"/>
              <a:t>E</a:t>
            </a:r>
            <a:r>
              <a:rPr lang="en-US" altLang="en-US" sz="2800" baseline="-25000" dirty="0"/>
              <a:t>2</a:t>
            </a:r>
            <a:r>
              <a:rPr lang="en-US" altLang="en-US" sz="2800" i="1" dirty="0"/>
              <a:t>A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E</a:t>
            </a:r>
            <a:r>
              <a:rPr lang="en-US" altLang="en-US" sz="2800" baseline="-25000" dirty="0"/>
              <a:t>3</a:t>
            </a:r>
            <a:r>
              <a:rPr lang="en-US" altLang="en-US" sz="2800" i="1" dirty="0"/>
              <a:t>A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mô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thế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</a:t>
            </a:r>
            <a:r>
              <a:rPr lang="en-US" altLang="en-US" sz="2800" dirty="0"/>
              <a:t> </a:t>
            </a:r>
            <a:r>
              <a:rPr lang="vi-VN" altLang="en-US" sz="2800" dirty="0"/>
              <a:t>các phép biến đổi sơ cấp 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trên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700" dirty="0"/>
              <a:t>	                                                              </a:t>
            </a:r>
          </a:p>
        </p:txBody>
      </p:sp>
      <p:graphicFrame>
        <p:nvGraphicFramePr>
          <p:cNvPr id="6809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472887"/>
              </p:ext>
            </p:extLst>
          </p:nvPr>
        </p:nvGraphicFramePr>
        <p:xfrm>
          <a:off x="3124200" y="1295400"/>
          <a:ext cx="2590800" cy="167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0" name="Equation" r:id="rId3" imgW="2743200" imgH="1778000" progId="">
                  <p:embed/>
                </p:oleObj>
              </mc:Choice>
              <mc:Fallback>
                <p:oleObj name="Equation" r:id="rId3" imgW="2743200" imgH="1778000" progId="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295400"/>
                        <a:ext cx="2590800" cy="167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65" name="Object 5"/>
          <p:cNvGraphicFramePr>
            <a:graphicFrameLocks noChangeAspect="1"/>
          </p:cNvGraphicFramePr>
          <p:nvPr/>
        </p:nvGraphicFramePr>
        <p:xfrm>
          <a:off x="6197600" y="1320800"/>
          <a:ext cx="2362200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1" name="Equation" r:id="rId5" imgW="2552700" imgH="1778000" progId="">
                  <p:embed/>
                </p:oleObj>
              </mc:Choice>
              <mc:Fallback>
                <p:oleObj name="Equation" r:id="rId5" imgW="2552700" imgH="1778000" progId="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7600" y="1320800"/>
                        <a:ext cx="2362200" cy="164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2176374"/>
              </p:ext>
            </p:extLst>
          </p:nvPr>
        </p:nvGraphicFramePr>
        <p:xfrm>
          <a:off x="1828800" y="2984500"/>
          <a:ext cx="2438400" cy="170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2" name="Equation" r:id="rId7" imgW="2540000" imgH="1778000" progId="">
                  <p:embed/>
                </p:oleObj>
              </mc:Choice>
              <mc:Fallback>
                <p:oleObj name="Equation" r:id="rId7" imgW="2540000" imgH="1778000" progId="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984500"/>
                        <a:ext cx="2438400" cy="170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1064763"/>
              </p:ext>
            </p:extLst>
          </p:nvPr>
        </p:nvGraphicFramePr>
        <p:xfrm>
          <a:off x="5257800" y="2997200"/>
          <a:ext cx="2438400" cy="168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3" name="Equation" r:id="rId9" imgW="2578100" imgH="1778000" progId="">
                  <p:embed/>
                </p:oleObj>
              </mc:Choice>
              <mc:Fallback>
                <p:oleObj name="Equation" r:id="rId9" imgW="2578100" imgH="1778000" progId="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997200"/>
                        <a:ext cx="2438400" cy="168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2.2- </a:t>
            </a:r>
            <a:fld id="{173A4D5C-6317-4757-9FE0-CBCDFA45F712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CÁC MA TRẬN SƠ CẤP</a:t>
            </a:r>
            <a:endParaRPr lang="en-US" altLang="en-US" dirty="0"/>
          </a:p>
        </p:txBody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686800" cy="5410200"/>
          </a:xfrm>
        </p:spPr>
        <p:txBody>
          <a:bodyPr/>
          <a:lstStyle/>
          <a:p>
            <a:pPr eaLnBrk="1" hangingPunct="1"/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Kiểm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         ,                                  ,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.  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Cộng</a:t>
            </a:r>
            <a:r>
              <a:rPr lang="en-US" altLang="en-US" sz="2800" dirty="0"/>
              <a:t>       </a:t>
            </a:r>
            <a:r>
              <a:rPr lang="en-US" altLang="en-US" sz="2800" dirty="0" err="1"/>
              <a:t>lần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1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3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i="1" dirty="0"/>
              <a:t>E</a:t>
            </a:r>
            <a:r>
              <a:rPr lang="en-US" altLang="en-US" sz="2800" baseline="-25000" dirty="0"/>
              <a:t>1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</p:txBody>
      </p:sp>
      <p:graphicFrame>
        <p:nvGraphicFramePr>
          <p:cNvPr id="681988" name="Object 4"/>
          <p:cNvGraphicFramePr>
            <a:graphicFrameLocks noChangeAspect="1"/>
          </p:cNvGraphicFramePr>
          <p:nvPr/>
        </p:nvGraphicFramePr>
        <p:xfrm>
          <a:off x="609600" y="1562100"/>
          <a:ext cx="50546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4" name="Equation" r:id="rId3" imgW="5054600" imgH="1778000" progId="">
                  <p:embed/>
                </p:oleObj>
              </mc:Choice>
              <mc:Fallback>
                <p:oleObj name="Equation" r:id="rId3" imgW="5054600" imgH="1778000" progId="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562100"/>
                        <a:ext cx="50546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1989" name="Object 5"/>
          <p:cNvGraphicFramePr>
            <a:graphicFrameLocks noChangeAspect="1"/>
          </p:cNvGraphicFramePr>
          <p:nvPr/>
        </p:nvGraphicFramePr>
        <p:xfrm>
          <a:off x="5867400" y="1562100"/>
          <a:ext cx="29591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5" name="Equation" r:id="rId5" imgW="2959100" imgH="1778000" progId="">
                  <p:embed/>
                </p:oleObj>
              </mc:Choice>
              <mc:Fallback>
                <p:oleObj name="Equation" r:id="rId5" imgW="2959100" imgH="1778000" progId="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562100"/>
                        <a:ext cx="29591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1990" name="Object 6"/>
          <p:cNvGraphicFramePr>
            <a:graphicFrameLocks noChangeAspect="1"/>
          </p:cNvGraphicFramePr>
          <p:nvPr/>
        </p:nvGraphicFramePr>
        <p:xfrm>
          <a:off x="533400" y="3619500"/>
          <a:ext cx="33528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6" name="Equation" r:id="rId7" imgW="3352800" imgH="1778000" progId="">
                  <p:embed/>
                </p:oleObj>
              </mc:Choice>
              <mc:Fallback>
                <p:oleObj name="Equation" r:id="rId7" imgW="3352800" imgH="1778000" progId="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619500"/>
                        <a:ext cx="33528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19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5888249"/>
              </p:ext>
            </p:extLst>
          </p:nvPr>
        </p:nvGraphicFramePr>
        <p:xfrm>
          <a:off x="1752600" y="5842000"/>
          <a:ext cx="457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7" name="Equation" r:id="rId9" imgW="457200" imgH="330200" progId="">
                  <p:embed/>
                </p:oleObj>
              </mc:Choice>
              <mc:Fallback>
                <p:oleObj name="Equation" r:id="rId9" imgW="457200" imgH="330200" progId="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842000"/>
                        <a:ext cx="4572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2.2- </a:t>
            </a:r>
            <a:fld id="{450E0365-26B8-4E9F-91B7-DB7429E5172E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CÁC MA TRẬN SƠ CẤP</a:t>
            </a:r>
            <a:endParaRPr lang="en-US" altLang="en-US" dirty="0"/>
          </a:p>
        </p:txBody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530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hoán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1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2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i="1" dirty="0"/>
              <a:t>E</a:t>
            </a:r>
            <a:r>
              <a:rPr lang="en-US" altLang="en-US" sz="2800" baseline="-25000" dirty="0"/>
              <a:t>2</a:t>
            </a:r>
            <a:r>
              <a:rPr lang="en-US" altLang="en-US" sz="2800" i="1" dirty="0"/>
              <a:t>A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nhân</a:t>
            </a:r>
            <a:r>
              <a:rPr lang="en-US" altLang="en-US" sz="2800" dirty="0"/>
              <a:t> 5 </a:t>
            </a:r>
            <a:r>
              <a:rPr lang="en-US" altLang="en-US" sz="2800" dirty="0" err="1"/>
              <a:t>vào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3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ta </a:t>
            </a:r>
            <a:r>
              <a:rPr lang="en-US" altLang="en-US" sz="2800" i="1" dirty="0"/>
              <a:t>E</a:t>
            </a:r>
            <a:r>
              <a:rPr lang="en-US" altLang="en-US" sz="2800" baseline="-25000" dirty="0"/>
              <a:t>3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trái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nhân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trái</a:t>
            </a:r>
            <a:r>
              <a:rPr lang="en-US" altLang="en-US" sz="2800" dirty="0"/>
              <a:t>)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i="1" dirty="0"/>
              <a:t>E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</a:t>
            </a:r>
            <a:r>
              <a:rPr lang="en-US" altLang="en-US" sz="2800" dirty="0"/>
              <a:t> 1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hiệu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quả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kì</a:t>
            </a:r>
            <a:r>
              <a:rPr lang="en-US" altLang="en-US" sz="2800" dirty="0"/>
              <a:t> 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nào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Vì</a:t>
            </a:r>
            <a:r>
              <a:rPr lang="en-US" altLang="en-US" sz="2800" dirty="0"/>
              <a:t>                  , ta </a:t>
            </a:r>
            <a:r>
              <a:rPr lang="en-US" altLang="en-US" sz="2800" dirty="0" err="1"/>
              <a:t>thấy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</a:t>
            </a:r>
            <a:r>
              <a:rPr lang="en-US" altLang="en-US" sz="2800" i="1" dirty="0"/>
              <a:t>E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i="1" dirty="0" err="1"/>
              <a:t>chính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nó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lên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vị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683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1863161"/>
              </p:ext>
            </p:extLst>
          </p:nvPr>
        </p:nvGraphicFramePr>
        <p:xfrm>
          <a:off x="7086600" y="3200400"/>
          <a:ext cx="736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2" name="Equation" r:id="rId3" imgW="736600" imgH="342900" progId="">
                  <p:embed/>
                </p:oleObj>
              </mc:Choice>
              <mc:Fallback>
                <p:oleObj name="Equation" r:id="rId3" imgW="736600" imgH="34290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3200400"/>
                        <a:ext cx="736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30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511019"/>
              </p:ext>
            </p:extLst>
          </p:nvPr>
        </p:nvGraphicFramePr>
        <p:xfrm>
          <a:off x="1371600" y="4572000"/>
          <a:ext cx="1524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3" name="Equation" r:id="rId5" imgW="1524000" imgH="482600" progId="">
                  <p:embed/>
                </p:oleObj>
              </mc:Choice>
              <mc:Fallback>
                <p:oleObj name="Equation" r:id="rId5" imgW="1524000" imgH="48260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572000"/>
                        <a:ext cx="15240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2.2- </a:t>
            </a:r>
            <a:fld id="{4BB179AF-948D-4CEA-AF55-7B8B977936B2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CÁC MA TRẬN SƠ CẤP</a:t>
            </a:r>
            <a:endParaRPr lang="en-US" altLang="en-US" dirty="0"/>
          </a:p>
        </p:txBody>
      </p:sp>
      <p:sp>
        <p:nvSpPr>
          <p:cNvPr id="68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82000" cy="54102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Ví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</a:t>
            </a:r>
            <a:r>
              <a:rPr lang="en-US" altLang="en-US" sz="2800" dirty="0"/>
              <a:t> 5 minh </a:t>
            </a:r>
            <a:r>
              <a:rPr lang="en-US" altLang="en-US" sz="2800" dirty="0" err="1"/>
              <a:t>họa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quát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đây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về</a:t>
            </a:r>
            <a:r>
              <a:rPr lang="en-US" altLang="en-US" sz="2800" dirty="0"/>
              <a:t> </a:t>
            </a:r>
            <a:r>
              <a:rPr lang="vi-VN" altLang="en-US" sz="2800" dirty="0"/>
              <a:t>các ma trận sơ cấp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phép biến đổi sơ cấp 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hiện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 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viết</a:t>
            </a:r>
            <a:r>
              <a:rPr lang="en-US" altLang="en-US" sz="2800" dirty="0"/>
              <a:t> </a:t>
            </a:r>
            <a:r>
              <a:rPr lang="en-US" altLang="en-US" sz="2800" i="1" dirty="0">
                <a:solidFill>
                  <a:srgbClr val="0000FF"/>
                </a:solidFill>
              </a:rPr>
              <a:t>EA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 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i="1" dirty="0"/>
              <a:t>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tạo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thực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hiện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lên</a:t>
            </a:r>
            <a:r>
              <a:rPr lang="en-US" altLang="en-US" sz="2800" dirty="0"/>
              <a:t> </a:t>
            </a:r>
            <a:r>
              <a:rPr lang="en-US" altLang="en-US" sz="2800" i="1" dirty="0" err="1">
                <a:solidFill>
                  <a:srgbClr val="0000FF"/>
                </a:solidFill>
              </a:rPr>
              <a:t>I</a:t>
            </a:r>
            <a:r>
              <a:rPr lang="en-US" altLang="en-US" sz="2800" i="1" baseline="-25000" dirty="0" err="1">
                <a:solidFill>
                  <a:srgbClr val="0000FF"/>
                </a:solidFill>
              </a:rPr>
              <a:t>m</a:t>
            </a:r>
            <a:r>
              <a:rPr lang="en-US" altLang="en-US" sz="2800" dirty="0"/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/>
            <a:r>
              <a:rPr lang="en-US" altLang="en-US" sz="2800" dirty="0" err="1"/>
              <a:t>Mỗi</a:t>
            </a:r>
            <a:r>
              <a:rPr lang="en-US" altLang="en-US" sz="2800" dirty="0"/>
              <a:t> </a:t>
            </a:r>
            <a:r>
              <a:rPr lang="vi-VN" altLang="en-US" sz="2800" dirty="0"/>
              <a:t>ma trận sơ cấp</a:t>
            </a:r>
            <a:r>
              <a:rPr lang="en-US" altLang="en-US" sz="2800" dirty="0"/>
              <a:t> </a:t>
            </a:r>
            <a:r>
              <a:rPr lang="en-US" altLang="en-US" sz="2800" i="1" dirty="0"/>
              <a:t>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đảo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vi-VN" altLang="en-US" sz="2800" dirty="0"/>
              <a:t>ma trận sơ cấp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kiểu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đưa</a:t>
            </a:r>
            <a:r>
              <a:rPr lang="en-US" altLang="en-US" sz="2800" dirty="0"/>
              <a:t> </a:t>
            </a:r>
            <a:r>
              <a:rPr lang="en-US" altLang="en-US" sz="2800" i="1" dirty="0"/>
              <a:t>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về</a:t>
            </a:r>
            <a:r>
              <a:rPr lang="en-US" altLang="en-US" sz="2800" dirty="0"/>
              <a:t> </a:t>
            </a:r>
            <a:r>
              <a:rPr lang="en-US" altLang="en-US" sz="2800" i="1" dirty="0"/>
              <a:t>I</a:t>
            </a:r>
            <a:r>
              <a:rPr lang="en-US" altLang="en-US" sz="2800" dirty="0"/>
              <a:t>.</a:t>
            </a:r>
            <a:r>
              <a:rPr lang="en-US" altLang="en-US" dirty="0"/>
              <a:t>                </a:t>
            </a:r>
          </a:p>
          <a:p>
            <a:pPr eaLnBrk="1" hangingPunct="1"/>
            <a:endParaRPr lang="en-US" altLang="en-US" dirty="0"/>
          </a:p>
        </p:txBody>
      </p:sp>
      <p:graphicFrame>
        <p:nvGraphicFramePr>
          <p:cNvPr id="6840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4075832"/>
              </p:ext>
            </p:extLst>
          </p:nvPr>
        </p:nvGraphicFramePr>
        <p:xfrm>
          <a:off x="2209800" y="3205018"/>
          <a:ext cx="863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6" name="Equation" r:id="rId3" imgW="863225" imgH="253890" progId="">
                  <p:embed/>
                </p:oleObj>
              </mc:Choice>
              <mc:Fallback>
                <p:oleObj name="Equation" r:id="rId3" imgW="863225" imgH="25389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205018"/>
                        <a:ext cx="863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40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6738610"/>
              </p:ext>
            </p:extLst>
          </p:nvPr>
        </p:nvGraphicFramePr>
        <p:xfrm>
          <a:off x="4724400" y="3611938"/>
          <a:ext cx="952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7" name="Equation" r:id="rId5" imgW="952087" imgH="253890" progId="">
                  <p:embed/>
                </p:oleObj>
              </mc:Choice>
              <mc:Fallback>
                <p:oleObj name="Equation" r:id="rId5" imgW="952087" imgH="25389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611938"/>
                        <a:ext cx="9525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2.2- </a:t>
            </a:r>
            <a:fld id="{F9A1B63C-E9C8-452F-9B9B-3EA6647A2EDD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CÁC MA TRẬN SƠ CẤP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608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4102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Định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</a:t>
                </a:r>
                <a:r>
                  <a:rPr lang="en-US" altLang="en-US" sz="2800" b="1" dirty="0" err="1">
                    <a:solidFill>
                      <a:srgbClr val="077C97"/>
                    </a:solidFill>
                  </a:rPr>
                  <a:t>lí</a:t>
                </a:r>
                <a:r>
                  <a:rPr lang="en-US" altLang="en-US" sz="2800" b="1" dirty="0">
                    <a:solidFill>
                      <a:srgbClr val="077C97"/>
                    </a:solidFill>
                  </a:rPr>
                  <a:t> 7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vuông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cấp</a:t>
                </a:r>
                <a:r>
                  <a:rPr lang="en-US" altLang="en-US" sz="2800" dirty="0"/>
                  <a:t> n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nghịch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chỉ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>
                    <a:solidFill>
                      <a:srgbClr val="0000FF"/>
                    </a:solidFill>
                  </a:rPr>
                  <a:t>tương</a:t>
                </a:r>
                <a:r>
                  <a:rPr lang="en-US" altLang="en-US" sz="2800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en-US" sz="2800" dirty="0" err="1">
                    <a:solidFill>
                      <a:srgbClr val="0000FF"/>
                    </a:solidFill>
                  </a:rPr>
                  <a:t>đương</a:t>
                </a:r>
                <a:r>
                  <a:rPr lang="en-US" altLang="en-US" sz="2800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en-US" sz="2800" dirty="0" err="1">
                    <a:solidFill>
                      <a:srgbClr val="0000FF"/>
                    </a:solidFill>
                  </a:rPr>
                  <a:t>hàng</a:t>
                </a:r>
                <a:r>
                  <a:rPr lang="en-US" altLang="en-US" sz="2800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en-US" sz="2800" dirty="0" err="1">
                    <a:solidFill>
                      <a:srgbClr val="0000FF"/>
                    </a:solidFill>
                  </a:rPr>
                  <a:t>với</a:t>
                </a:r>
                <a:r>
                  <a:rPr lang="en-US" altLang="en-US" sz="2800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en-US" sz="2800" i="1" dirty="0">
                    <a:solidFill>
                      <a:srgbClr val="0000FF"/>
                    </a:solidFill>
                  </a:rPr>
                  <a:t>I</a:t>
                </a:r>
                <a:r>
                  <a:rPr lang="en-US" altLang="en-US" sz="2800" i="1" baseline="-25000" dirty="0">
                    <a:solidFill>
                      <a:srgbClr val="0000FF"/>
                    </a:solidFill>
                  </a:rPr>
                  <a:t>n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trường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hợp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này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dãy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bất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kì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các phép biến đổi sơ cấp hàng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rút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gọn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thành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I</a:t>
                </a:r>
                <a:r>
                  <a:rPr lang="en-US" altLang="en-US" sz="2800" i="1" baseline="-25000" dirty="0"/>
                  <a:t>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cũng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biến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đổi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I</a:t>
                </a:r>
                <a:r>
                  <a:rPr lang="en-US" altLang="en-US" sz="2800" i="1" baseline="-25000" dirty="0"/>
                  <a:t>n</a:t>
                </a:r>
                <a:r>
                  <a:rPr lang="en-US" altLang="en-US" sz="2800" dirty="0"/>
                  <a:t> into      .</a:t>
                </a:r>
              </a:p>
              <a:p>
                <a:pPr marL="0" indent="0" eaLnBrk="1" hangingPunct="1">
                  <a:buNone/>
                </a:pPr>
                <a:r>
                  <a:rPr lang="en-US" altLang="en-US" sz="2800" b="1" dirty="0" err="1"/>
                  <a:t>Chứng</a:t>
                </a:r>
                <a:r>
                  <a:rPr lang="en-US" altLang="en-US" sz="2800" b="1" dirty="0"/>
                  <a:t> minh: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nghịch</a:t>
                </a:r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 err="1"/>
                  <a:t>Khi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phương trình</a:t>
                </a:r>
                <a:r>
                  <a:rPr lang="en-US" altLang="en-US" sz="2800" dirty="0"/>
                  <a:t>              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nghiệm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mỗi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b</a:t>
                </a:r>
                <a:r>
                  <a:rPr lang="en-US" altLang="en-US" sz="2800" dirty="0"/>
                  <a:t> (</a:t>
                </a:r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lí</a:t>
                </a:r>
                <a:r>
                  <a:rPr lang="en-US" altLang="en-US" sz="2800" dirty="0"/>
                  <a:t> 5), </a:t>
                </a:r>
                <a:r>
                  <a:rPr lang="en-US" altLang="en-US" sz="2800" dirty="0" err="1"/>
                  <a:t>nên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vị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chốt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mỗi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hàng</a:t>
                </a:r>
                <a:r>
                  <a:rPr lang="en-US" altLang="en-US" sz="2800" dirty="0"/>
                  <a:t> (</a:t>
                </a:r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lí</a:t>
                </a:r>
                <a:r>
                  <a:rPr lang="en-US" altLang="en-US" sz="2800" dirty="0"/>
                  <a:t> 4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Mục</a:t>
                </a:r>
                <a:r>
                  <a:rPr lang="en-US" altLang="en-US" sz="2800" dirty="0"/>
                  <a:t> 1.4).</a:t>
                </a:r>
              </a:p>
              <a:p>
                <a:pPr eaLnBrk="1" hangingPunct="1"/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vuông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vị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chốt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thứ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phải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nằm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trên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đường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chéo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từ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suy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dạng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bậc</a:t>
                </a:r>
                <a:r>
                  <a:rPr lang="en-US" altLang="en-US" sz="2800" dirty="0"/>
                  <a:t> thang </a:t>
                </a:r>
                <a:r>
                  <a:rPr lang="en-US" altLang="en-US" sz="2800" dirty="0" err="1"/>
                  <a:t>rút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gọn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I</a:t>
                </a:r>
                <a:r>
                  <a:rPr lang="en-US" altLang="en-US" sz="2800" i="1" baseline="-25000" dirty="0"/>
                  <a:t>n</a:t>
                </a:r>
                <a:r>
                  <a:rPr lang="en-US" altLang="en-US" sz="2800" dirty="0"/>
                  <a:t>. </a:t>
                </a:r>
                <a:r>
                  <a:rPr lang="en-US" altLang="en-US" sz="2800" dirty="0" err="1"/>
                  <a:t>Nghĩa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, 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 ~ 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en-US" sz="2800" dirty="0"/>
                  <a:t>. </a:t>
                </a:r>
              </a:p>
            </p:txBody>
          </p:sp>
        </mc:Choice>
        <mc:Fallback>
          <p:sp>
            <p:nvSpPr>
              <p:cNvPr id="68608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410200"/>
              </a:xfrm>
              <a:blipFill>
                <a:blip r:embed="rId3"/>
                <a:stretch>
                  <a:fillRect l="-1481" t="-12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860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3347860"/>
              </p:ext>
            </p:extLst>
          </p:nvPr>
        </p:nvGraphicFramePr>
        <p:xfrm>
          <a:off x="4343400" y="3517900"/>
          <a:ext cx="1143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9" name="Equation" r:id="rId4" imgW="1143000" imgH="355600" progId="">
                  <p:embed/>
                </p:oleObj>
              </mc:Choice>
              <mc:Fallback>
                <p:oleObj name="Equation" r:id="rId4" imgW="1143000" imgH="355600" progId="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517900"/>
                        <a:ext cx="11430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0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776406"/>
              </p:ext>
            </p:extLst>
          </p:nvPr>
        </p:nvGraphicFramePr>
        <p:xfrm>
          <a:off x="6172200" y="2438400"/>
          <a:ext cx="520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0" name="Equation" r:id="rId6" imgW="520474" imgH="393529" progId="">
                  <p:embed/>
                </p:oleObj>
              </mc:Choice>
              <mc:Fallback>
                <p:oleObj name="Equation" r:id="rId6" imgW="520474" imgH="393529" progId="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438400"/>
                        <a:ext cx="5207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2.2- </a:t>
            </a:r>
            <a:fld id="{01159B02-0CEA-4219-9086-76D49E08E0CC}" type="slidenum">
              <a:rPr lang="en-US" altLang="en-US" sz="1200">
                <a:latin typeface="Arial" panose="020B0604020202020204" pitchFamily="34" charset="0"/>
              </a:rPr>
              <a:pPr algn="r"/>
              <a:t>13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CÁC MA TRẬN SƠ CẤP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710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43000"/>
                <a:ext cx="8458200" cy="54102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Bây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giờ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giả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ngược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lại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 ~ 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en-US" sz="2800" dirty="0"/>
                  <a:t>.</a:t>
                </a:r>
              </a:p>
              <a:p>
                <a:pPr eaLnBrk="1" hangingPunct="1"/>
                <a:r>
                  <a:rPr lang="en-US" altLang="en-US" sz="2800" dirty="0" err="1"/>
                  <a:t>Khi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mỗi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bước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phép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rút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gọn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hàng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ứng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phép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nhân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trái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ma trận sơ cấp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nền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tồn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tại</a:t>
                </a:r>
                <a:r>
                  <a:rPr lang="en-US" altLang="en-US" sz="2800" dirty="0"/>
                  <a:t> c</a:t>
                </a:r>
                <a:r>
                  <a:rPr lang="vi-VN" altLang="en-US" sz="2800" dirty="0"/>
                  <a:t>ác ma trận sơ cấp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E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, …, </a:t>
                </a:r>
                <a:r>
                  <a:rPr lang="en-US" altLang="en-US" sz="2800" i="1" dirty="0"/>
                  <a:t>E</a:t>
                </a:r>
                <a:r>
                  <a:rPr lang="en-US" altLang="en-US" sz="2800" i="1" baseline="-25000" dirty="0"/>
                  <a:t>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~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~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800" b="0" i="0" smtClean="0">
                        <a:latin typeface="Cambria Math" panose="02040503050406030204" pitchFamily="18" charset="0"/>
                      </a:rPr>
                      <m:t>)~…~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sz="2800" b="0" i="0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Nghĩa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,    </a:t>
                </a:r>
              </a:p>
              <a:p>
                <a:pPr marL="0" indent="0" eaLnBrk="1" hangingPunct="1">
                  <a:buNone/>
                </a:pPr>
                <a:r>
                  <a:rPr lang="en-US" altLang="en-US" sz="2800" dirty="0"/>
                  <a:t>	(1)</a:t>
                </a:r>
              </a:p>
              <a:p>
                <a:pPr eaLnBrk="1" hangingPunct="1"/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tích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E</a:t>
                </a:r>
                <a:r>
                  <a:rPr lang="en-US" altLang="en-US" sz="2800" i="1" baseline="-25000" dirty="0"/>
                  <a:t>p</a:t>
                </a:r>
                <a:r>
                  <a:rPr lang="en-US" altLang="en-US" sz="2800" dirty="0"/>
                  <a:t>…</a:t>
                </a:r>
                <a:r>
                  <a:rPr lang="en-US" altLang="en-US" sz="2800" i="1" dirty="0"/>
                  <a:t>E</a:t>
                </a:r>
                <a:r>
                  <a:rPr lang="en-US" altLang="en-US" sz="2800" baseline="-25000" dirty="0"/>
                  <a:t>1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nghịch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nghịch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nên</a:t>
                </a:r>
                <a:r>
                  <a:rPr lang="en-US" altLang="en-US" sz="2800" dirty="0"/>
                  <a:t> (1) </a:t>
                </a:r>
                <a:r>
                  <a:rPr lang="en-US" altLang="en-US" sz="2800" dirty="0" err="1"/>
                  <a:t>dẫn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đến</a:t>
                </a:r>
                <a:endParaRPr lang="en-US" altLang="en-US" sz="2800" dirty="0"/>
              </a:p>
              <a:p>
                <a:pPr eaLnBrk="1" hangingPunct="1"/>
                <a:endParaRPr lang="en-US" altLang="en-US" sz="2800" dirty="0"/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2800" dirty="0"/>
                  <a:t>                                                                      . </a:t>
                </a:r>
              </a:p>
            </p:txBody>
          </p:sp>
        </mc:Choice>
        <mc:Fallback>
          <p:sp>
            <p:nvSpPr>
              <p:cNvPr id="6871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43000"/>
                <a:ext cx="8458200" cy="5410200"/>
              </a:xfrm>
              <a:blipFill>
                <a:blip r:embed="rId3"/>
                <a:stretch>
                  <a:fillRect l="-1225" t="-1240" b="-16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871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762515"/>
              </p:ext>
            </p:extLst>
          </p:nvPr>
        </p:nvGraphicFramePr>
        <p:xfrm>
          <a:off x="3549650" y="3975100"/>
          <a:ext cx="2044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3" name="Equation" r:id="rId4" imgW="2044700" imgH="520700" progId="">
                  <p:embed/>
                </p:oleObj>
              </mc:Choice>
              <mc:Fallback>
                <p:oleObj name="Equation" r:id="rId4" imgW="2044700" imgH="520700" progId="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9650" y="3975100"/>
                        <a:ext cx="20447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71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422415"/>
              </p:ext>
            </p:extLst>
          </p:nvPr>
        </p:nvGraphicFramePr>
        <p:xfrm>
          <a:off x="2159000" y="5422900"/>
          <a:ext cx="55753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4" name="Equation" r:id="rId6" imgW="5575300" imgH="1244600" progId="">
                  <p:embed/>
                </p:oleObj>
              </mc:Choice>
              <mc:Fallback>
                <p:oleObj name="Equation" r:id="rId6" imgW="5575300" imgH="1244600" progId="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0" y="5422900"/>
                        <a:ext cx="5575300" cy="1244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2.2- </a:t>
            </a:r>
            <a:fld id="{CBB45667-CAD4-495E-A1F5-AA107CFCC274}" type="slidenum">
              <a:rPr lang="en-US" altLang="en-US" sz="1200">
                <a:latin typeface="Arial" panose="020B0604020202020204" pitchFamily="34" charset="0"/>
              </a:rPr>
              <a:pPr algn="r"/>
              <a:t>14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THUẬT TOÁN TÌM </a:t>
            </a:r>
            <a:endParaRPr lang="en-US" altLang="en-US" baseline="30000" dirty="0"/>
          </a:p>
        </p:txBody>
      </p:sp>
      <p:sp>
        <p:nvSpPr>
          <p:cNvPr id="68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đảo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6).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              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/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                             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ta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nói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      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kết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quả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việc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liên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tục</a:t>
            </a:r>
            <a:r>
              <a:rPr lang="en-US" altLang="en-US" sz="2800" dirty="0"/>
              <a:t> </a:t>
            </a:r>
            <a:r>
              <a:rPr lang="en-US" altLang="en-US" sz="2800" i="1" dirty="0"/>
              <a:t>E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..., </a:t>
            </a:r>
            <a:r>
              <a:rPr lang="en-US" altLang="en-US" sz="2800" i="1" dirty="0"/>
              <a:t>E</a:t>
            </a:r>
            <a:r>
              <a:rPr lang="en-US" altLang="en-US" sz="2800" i="1" baseline="-25000" dirty="0"/>
              <a:t>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lên</a:t>
            </a:r>
            <a:r>
              <a:rPr lang="en-US" altLang="en-US" sz="2800" dirty="0"/>
              <a:t> </a:t>
            </a:r>
            <a:r>
              <a:rPr lang="en-US" altLang="en-US" sz="2800" i="1" dirty="0"/>
              <a:t>I</a:t>
            </a:r>
            <a:r>
              <a:rPr lang="en-US" altLang="en-US" sz="2800" i="1" baseline="-25000" dirty="0"/>
              <a:t>n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Chúng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dãy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(1) </a:t>
            </a:r>
            <a:r>
              <a:rPr lang="en-US" altLang="en-US" sz="2800" dirty="0" err="1"/>
              <a:t>rút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gọn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i="1" dirty="0"/>
              <a:t>I</a:t>
            </a:r>
            <a:r>
              <a:rPr lang="en-US" altLang="en-US" sz="2800" i="1" baseline="-25000" dirty="0"/>
              <a:t>n</a:t>
            </a:r>
            <a:r>
              <a:rPr lang="en-US" altLang="en-US" sz="2800" dirty="0"/>
              <a:t>. </a:t>
            </a:r>
          </a:p>
          <a:p>
            <a:pPr eaLnBrk="1" hangingPunct="1"/>
            <a:r>
              <a:rPr lang="en-US" altLang="en-US" sz="2800" dirty="0" err="1"/>
              <a:t>Rút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gọn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bổ</a:t>
            </a:r>
            <a:r>
              <a:rPr lang="en-US" altLang="en-US" sz="2800" dirty="0"/>
              <a:t> sung  </a:t>
            </a:r>
            <a:r>
              <a:rPr lang="en-US" altLang="en-US" sz="2800" dirty="0">
                <a:solidFill>
                  <a:srgbClr val="0000FF"/>
                </a:solidFill>
              </a:rPr>
              <a:t>          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đương</a:t>
            </a:r>
            <a:r>
              <a:rPr lang="en-US" altLang="en-US" sz="2800" dirty="0"/>
              <a:t> hang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i="1" dirty="0"/>
              <a:t>I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          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                . </a:t>
            </a:r>
            <a:r>
              <a:rPr lang="en-US" altLang="en-US" sz="2800" dirty="0" err="1"/>
              <a:t>Ngược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lại</a:t>
            </a:r>
            <a:r>
              <a:rPr lang="en-US" altLang="en-US" sz="2800" dirty="0"/>
              <a:t>,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đảo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</p:txBody>
      </p:sp>
      <p:graphicFrame>
        <p:nvGraphicFramePr>
          <p:cNvPr id="6881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4275864"/>
              </p:ext>
            </p:extLst>
          </p:nvPr>
        </p:nvGraphicFramePr>
        <p:xfrm>
          <a:off x="2247900" y="2425700"/>
          <a:ext cx="4622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58" name="Equation" r:id="rId3" imgW="4622800" imgH="698500" progId="">
                  <p:embed/>
                </p:oleObj>
              </mc:Choice>
              <mc:Fallback>
                <p:oleObj name="Equation" r:id="rId3" imgW="4622800" imgH="698500" progId="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900" y="2425700"/>
                        <a:ext cx="4622800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81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5425234"/>
              </p:ext>
            </p:extLst>
          </p:nvPr>
        </p:nvGraphicFramePr>
        <p:xfrm>
          <a:off x="2057400" y="3352800"/>
          <a:ext cx="25146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59" name="Equation" r:id="rId5" imgW="2514600" imgH="546100" progId="">
                  <p:embed/>
                </p:oleObj>
              </mc:Choice>
              <mc:Fallback>
                <p:oleObj name="Equation" r:id="rId5" imgW="2514600" imgH="546100" progId="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352800"/>
                        <a:ext cx="2514600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81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9399042"/>
              </p:ext>
            </p:extLst>
          </p:nvPr>
        </p:nvGraphicFramePr>
        <p:xfrm>
          <a:off x="5257800" y="4838700"/>
          <a:ext cx="9906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0" name="Equation" r:id="rId7" imgW="1143000" imgH="558800" progId="">
                  <p:embed/>
                </p:oleObj>
              </mc:Choice>
              <mc:Fallback>
                <p:oleObj name="Equation" r:id="rId7" imgW="1143000" imgH="558800" progId="">
                  <p:embed/>
                  <p:pic>
                    <p:nvPicPr>
                      <p:cNvPr id="0" name="Picture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4838700"/>
                        <a:ext cx="990600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81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6999326"/>
              </p:ext>
            </p:extLst>
          </p:nvPr>
        </p:nvGraphicFramePr>
        <p:xfrm>
          <a:off x="3962400" y="5295900"/>
          <a:ext cx="9144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1" name="Equation" r:id="rId9" imgW="1143000" imgH="558800" progId="">
                  <p:embed/>
                </p:oleObj>
              </mc:Choice>
              <mc:Fallback>
                <p:oleObj name="Equation" r:id="rId9" imgW="1143000" imgH="558800" progId="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295900"/>
                        <a:ext cx="914400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8136" name="Object 8"/>
          <p:cNvGraphicFramePr>
            <a:graphicFrameLocks noChangeAspect="1"/>
          </p:cNvGraphicFramePr>
          <p:nvPr/>
        </p:nvGraphicFramePr>
        <p:xfrm>
          <a:off x="914400" y="5715000"/>
          <a:ext cx="14478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2" name="Equation" r:id="rId11" imgW="1498600" imgH="609600" progId="">
                  <p:embed/>
                </p:oleObj>
              </mc:Choice>
              <mc:Fallback>
                <p:oleObj name="Equation" r:id="rId11" imgW="1498600" imgH="609600" progId="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715000"/>
                        <a:ext cx="1447800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813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892980"/>
              </p:ext>
            </p:extLst>
          </p:nvPr>
        </p:nvGraphicFramePr>
        <p:xfrm>
          <a:off x="7696200" y="3352800"/>
          <a:ext cx="520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3" name="Equation" r:id="rId13" imgW="520474" imgH="393529" progId="">
                  <p:embed/>
                </p:oleObj>
              </mc:Choice>
              <mc:Fallback>
                <p:oleObj name="Equation" r:id="rId13" imgW="520474" imgH="393529" progId="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3352800"/>
                        <a:ext cx="5207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7850496"/>
              </p:ext>
            </p:extLst>
          </p:nvPr>
        </p:nvGraphicFramePr>
        <p:xfrm>
          <a:off x="4057650" y="533400"/>
          <a:ext cx="520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4" name="Equation" r:id="rId15" imgW="520474" imgH="393529" progId="">
                  <p:embed/>
                </p:oleObj>
              </mc:Choice>
              <mc:Fallback>
                <p:oleObj name="Equation" r:id="rId15" imgW="520474" imgH="393529" progId="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7650" y="533400"/>
                        <a:ext cx="5207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2.2- </a:t>
            </a:r>
            <a:fld id="{5F346EE5-9311-4BD4-87F9-395EDB4586AC}" type="slidenum">
              <a:rPr lang="en-US" altLang="en-US" sz="1200">
                <a:latin typeface="Arial" panose="020B0604020202020204" pitchFamily="34" charset="0"/>
              </a:rPr>
              <a:pPr algn="r"/>
              <a:t>15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THUẬT TOÁN TÌM </a:t>
            </a:r>
            <a:endParaRPr lang="en-US" altLang="en-US" baseline="30000" dirty="0"/>
          </a:p>
        </p:txBody>
      </p:sp>
      <p:sp>
        <p:nvSpPr>
          <p:cNvPr id="68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86800" cy="5410200"/>
          </a:xfrm>
        </p:spPr>
        <p:txBody>
          <a:bodyPr/>
          <a:lstStyle/>
          <a:p>
            <a:pPr eaLnBrk="1" hangingPunct="1"/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2: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Tìm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đảo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,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tồn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tại</a:t>
            </a:r>
            <a:r>
              <a:rPr lang="en-US" altLang="en-US" sz="2800" dirty="0"/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/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</a:t>
            </a:r>
            <a:r>
              <a:rPr lang="en-US" altLang="en-US" sz="2800" dirty="0"/>
              <a:t>  </a:t>
            </a:r>
          </a:p>
        </p:txBody>
      </p:sp>
      <p:graphicFrame>
        <p:nvGraphicFramePr>
          <p:cNvPr id="6891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4675742"/>
              </p:ext>
            </p:extLst>
          </p:nvPr>
        </p:nvGraphicFramePr>
        <p:xfrm>
          <a:off x="1244600" y="1651000"/>
          <a:ext cx="26416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3" name="Equation" r:id="rId3" imgW="2641600" imgH="1778000" progId="">
                  <p:embed/>
                </p:oleObj>
              </mc:Choice>
              <mc:Fallback>
                <p:oleObj name="Equation" r:id="rId3" imgW="2641600" imgH="177800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1651000"/>
                        <a:ext cx="26416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9157" name="Object 5"/>
          <p:cNvGraphicFramePr>
            <a:graphicFrameLocks noChangeAspect="1"/>
          </p:cNvGraphicFramePr>
          <p:nvPr/>
        </p:nvGraphicFramePr>
        <p:xfrm>
          <a:off x="304800" y="4343400"/>
          <a:ext cx="8610600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4" name="Equation" r:id="rId5" imgW="9309100" imgH="1778000" progId="">
                  <p:embed/>
                </p:oleObj>
              </mc:Choice>
              <mc:Fallback>
                <p:oleObj name="Equation" r:id="rId5" imgW="9309100" imgH="177800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343400"/>
                        <a:ext cx="8610600" cy="164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473555"/>
              </p:ext>
            </p:extLst>
          </p:nvPr>
        </p:nvGraphicFramePr>
        <p:xfrm>
          <a:off x="4089400" y="537238"/>
          <a:ext cx="520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5" name="Equation" r:id="rId7" imgW="520474" imgH="393529" progId="">
                  <p:embed/>
                </p:oleObj>
              </mc:Choice>
              <mc:Fallback>
                <p:oleObj name="Equation" r:id="rId7" imgW="520474" imgH="393529" progId="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0" y="537238"/>
                        <a:ext cx="5207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099050" y="4934892"/>
            <a:ext cx="3810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~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2.2- </a:t>
            </a:r>
            <a:fld id="{6B701F7F-8725-4FB6-BF3D-F0D38C254B5F}" type="slidenum">
              <a:rPr lang="en-US" altLang="en-US" sz="1200">
                <a:latin typeface="Arial" panose="020B0604020202020204" pitchFamily="34" charset="0"/>
              </a:rPr>
              <a:pPr algn="r"/>
              <a:t>16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THUẬT TOÁN TÌM </a:t>
            </a:r>
            <a:endParaRPr lang="en-US" altLang="en-US" baseline="30000" dirty="0"/>
          </a:p>
        </p:txBody>
      </p:sp>
      <p:graphicFrame>
        <p:nvGraphicFramePr>
          <p:cNvPr id="690180" name="Object 4"/>
          <p:cNvGraphicFramePr>
            <a:graphicFrameLocks noChangeAspect="1"/>
          </p:cNvGraphicFramePr>
          <p:nvPr/>
        </p:nvGraphicFramePr>
        <p:xfrm>
          <a:off x="685800" y="1295400"/>
          <a:ext cx="8077200" cy="167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7" name="Equation" r:id="rId3" imgW="8572500" imgH="1778000" progId="">
                  <p:embed/>
                </p:oleObj>
              </mc:Choice>
              <mc:Fallback>
                <p:oleObj name="Equation" r:id="rId3" imgW="8572500" imgH="1778000" progId="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295400"/>
                        <a:ext cx="8077200" cy="167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0181" name="Object 5"/>
          <p:cNvGraphicFramePr>
            <a:graphicFrameLocks noChangeAspect="1"/>
          </p:cNvGraphicFramePr>
          <p:nvPr/>
        </p:nvGraphicFramePr>
        <p:xfrm>
          <a:off x="685800" y="3124200"/>
          <a:ext cx="4572000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8" name="Equation" r:id="rId5" imgW="4889500" imgH="1778000" progId="">
                  <p:embed/>
                </p:oleObj>
              </mc:Choice>
              <mc:Fallback>
                <p:oleObj name="Equation" r:id="rId5" imgW="4889500" imgH="1778000" progId="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124200"/>
                        <a:ext cx="4572000" cy="166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0182" name="Object 6"/>
          <p:cNvGraphicFramePr>
            <a:graphicFrameLocks noChangeAspect="1"/>
          </p:cNvGraphicFramePr>
          <p:nvPr/>
        </p:nvGraphicFramePr>
        <p:xfrm>
          <a:off x="685800" y="4876800"/>
          <a:ext cx="5181600" cy="169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9" name="Equation" r:id="rId7" imgW="5422900" imgH="1778000" progId="">
                  <p:embed/>
                </p:oleObj>
              </mc:Choice>
              <mc:Fallback>
                <p:oleObj name="Equation" r:id="rId7" imgW="5422900" imgH="1778000" progId="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876800"/>
                        <a:ext cx="5181600" cy="169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6680254"/>
              </p:ext>
            </p:extLst>
          </p:nvPr>
        </p:nvGraphicFramePr>
        <p:xfrm>
          <a:off x="4114800" y="550893"/>
          <a:ext cx="520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0" name="Equation" r:id="rId9" imgW="520474" imgH="393529" progId="">
                  <p:embed/>
                </p:oleObj>
              </mc:Choice>
              <mc:Fallback>
                <p:oleObj name="Equation" r:id="rId9" imgW="520474" imgH="393529" progId="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50893"/>
                        <a:ext cx="5207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22" y="5535971"/>
            <a:ext cx="3810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~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579" y="3729806"/>
            <a:ext cx="3810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~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800" y="1818176"/>
            <a:ext cx="3810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~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579" y="1901973"/>
            <a:ext cx="3810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~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2.2- </a:t>
            </a:r>
            <a:fld id="{9F177085-834B-4323-95C5-D82D524460E4}" type="slidenum">
              <a:rPr lang="en-US" altLang="en-US" sz="1200">
                <a:latin typeface="Arial" panose="020B0604020202020204" pitchFamily="34" charset="0"/>
              </a:rPr>
              <a:pPr algn="r"/>
              <a:t>17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THUẬT TOÁN TÌM </a:t>
            </a:r>
            <a:endParaRPr lang="en-US" altLang="en-US" baseline="30000" dirty="0"/>
          </a:p>
        </p:txBody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82000" cy="54102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7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          , that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                                             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Bây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giờ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kiểm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câu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lời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cuối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</p:txBody>
      </p:sp>
      <p:graphicFrame>
        <p:nvGraphicFramePr>
          <p:cNvPr id="6922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441186"/>
              </p:ext>
            </p:extLst>
          </p:nvPr>
        </p:nvGraphicFramePr>
        <p:xfrm>
          <a:off x="3657600" y="1219200"/>
          <a:ext cx="901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6" name="Equation" r:id="rId3" imgW="901309" imgH="330057" progId="">
                  <p:embed/>
                </p:oleObj>
              </mc:Choice>
              <mc:Fallback>
                <p:oleObj name="Equation" r:id="rId3" imgW="901309" imgH="330057" progId="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219200"/>
                        <a:ext cx="9017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2229" name="Object 5"/>
          <p:cNvGraphicFramePr>
            <a:graphicFrameLocks noChangeAspect="1"/>
          </p:cNvGraphicFramePr>
          <p:nvPr/>
        </p:nvGraphicFramePr>
        <p:xfrm>
          <a:off x="2057400" y="2044700"/>
          <a:ext cx="4038600" cy="167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7" name="Equation" r:id="rId5" imgW="4292600" imgH="1778000" progId="">
                  <p:embed/>
                </p:oleObj>
              </mc:Choice>
              <mc:Fallback>
                <p:oleObj name="Equation" r:id="rId5" imgW="4292600" imgH="1778000" progId="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044700"/>
                        <a:ext cx="4038600" cy="1671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2230" name="Object 6"/>
          <p:cNvGraphicFramePr>
            <a:graphicFrameLocks noChangeAspect="1"/>
          </p:cNvGraphicFramePr>
          <p:nvPr/>
        </p:nvGraphicFramePr>
        <p:xfrm>
          <a:off x="381000" y="4572000"/>
          <a:ext cx="8382000" cy="172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8" name="Equation" r:id="rId7" imgW="8648700" imgH="1778000" progId="">
                  <p:embed/>
                </p:oleObj>
              </mc:Choice>
              <mc:Fallback>
                <p:oleObj name="Equation" r:id="rId7" imgW="8648700" imgH="1778000" progId="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572000"/>
                        <a:ext cx="8382000" cy="1722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7047412"/>
              </p:ext>
            </p:extLst>
          </p:nvPr>
        </p:nvGraphicFramePr>
        <p:xfrm>
          <a:off x="4076700" y="556953"/>
          <a:ext cx="520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9" name="Equation" r:id="rId9" imgW="520474" imgH="393529" progId="">
                  <p:embed/>
                </p:oleObj>
              </mc:Choice>
              <mc:Fallback>
                <p:oleObj name="Equation" r:id="rId9" imgW="520474" imgH="393529" progId="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6700" y="556953"/>
                        <a:ext cx="5207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1143000"/>
            <a:ext cx="3810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~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2.2- </a:t>
            </a:r>
            <a:fld id="{EFDC2FA6-C32C-4930-93CA-598D97AA934C}" type="slidenum">
              <a:rPr lang="en-US" altLang="en-US" sz="1200">
                <a:latin typeface="Arial" panose="020B0604020202020204" pitchFamily="34" charset="0"/>
              </a:rPr>
              <a:pPr algn="r"/>
              <a:t>18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CÁCH NHÌN KHÁC VỀ VIỆC TÌM NGHỊCH ĐẢO CỦA MA TRẬN</a:t>
            </a:r>
            <a:endParaRPr lang="en-US" altLang="en-US" baseline="30000" dirty="0"/>
          </a:p>
        </p:txBody>
      </p:sp>
      <p:sp>
        <p:nvSpPr>
          <p:cNvPr id="69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864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Ta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kiểm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                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. 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Kí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hiệu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I</a:t>
            </a:r>
            <a:r>
              <a:rPr lang="en-US" altLang="en-US" sz="2800" i="1" baseline="-25000" dirty="0"/>
              <a:t>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b="1" dirty="0"/>
              <a:t>e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,…,</a:t>
            </a:r>
            <a:r>
              <a:rPr lang="en-US" altLang="en-US" sz="2800" b="1" dirty="0" err="1"/>
              <a:t>e</a:t>
            </a:r>
            <a:r>
              <a:rPr lang="en-US" altLang="en-US" sz="2800" i="1" baseline="-25000" dirty="0" err="1"/>
              <a:t>n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            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                 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xem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lúc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tìm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nghiệm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hệ</a:t>
            </a: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	       		   ,               , …,                            (2)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“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bổ</a:t>
            </a:r>
            <a:r>
              <a:rPr lang="en-US" altLang="en-US" sz="2800" dirty="0"/>
              <a:t> sung”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hệ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thay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vào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tạo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			                                                         .</a:t>
            </a:r>
          </a:p>
        </p:txBody>
      </p:sp>
      <p:graphicFrame>
        <p:nvGraphicFramePr>
          <p:cNvPr id="6932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973138"/>
              </p:ext>
            </p:extLst>
          </p:nvPr>
        </p:nvGraphicFramePr>
        <p:xfrm>
          <a:off x="5537200" y="1155700"/>
          <a:ext cx="1397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7" name="Equation" r:id="rId3" imgW="1396394" imgH="393529" progId="">
                  <p:embed/>
                </p:oleObj>
              </mc:Choice>
              <mc:Fallback>
                <p:oleObj name="Equation" r:id="rId3" imgW="1396394" imgH="393529" progId="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1155700"/>
                        <a:ext cx="13970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32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9479286"/>
              </p:ext>
            </p:extLst>
          </p:nvPr>
        </p:nvGraphicFramePr>
        <p:xfrm>
          <a:off x="4648200" y="3670300"/>
          <a:ext cx="9906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8" name="Equation" r:id="rId5" imgW="1143000" imgH="558800" progId="">
                  <p:embed/>
                </p:oleObj>
              </mc:Choice>
              <mc:Fallback>
                <p:oleObj name="Equation" r:id="rId5" imgW="1143000" imgH="558800" progId="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670300"/>
                        <a:ext cx="990600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32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837358"/>
              </p:ext>
            </p:extLst>
          </p:nvPr>
        </p:nvGraphicFramePr>
        <p:xfrm>
          <a:off x="6705600" y="3606800"/>
          <a:ext cx="144780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9" name="Equation" r:id="rId7" imgW="1498600" imgH="609600" progId="">
                  <p:embed/>
                </p:oleObj>
              </mc:Choice>
              <mc:Fallback>
                <p:oleObj name="Equation" r:id="rId7" imgW="1498600" imgH="609600" progId="">
                  <p:embed/>
                  <p:pic>
                    <p:nvPicPr>
                      <p:cNvPr id="0" name="Picture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606800"/>
                        <a:ext cx="1447800" cy="588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32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9906708"/>
              </p:ext>
            </p:extLst>
          </p:nvPr>
        </p:nvGraphicFramePr>
        <p:xfrm>
          <a:off x="2349500" y="4622800"/>
          <a:ext cx="1193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0" name="Equation" r:id="rId9" imgW="1193800" imgH="482600" progId="">
                  <p:embed/>
                </p:oleObj>
              </mc:Choice>
              <mc:Fallback>
                <p:oleObj name="Equation" r:id="rId9" imgW="1193800" imgH="482600" progId="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4622800"/>
                        <a:ext cx="11938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32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4118993"/>
              </p:ext>
            </p:extLst>
          </p:nvPr>
        </p:nvGraphicFramePr>
        <p:xfrm>
          <a:off x="3695700" y="4622800"/>
          <a:ext cx="1231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1" name="Equation" r:id="rId11" imgW="1231366" imgH="482391" progId="">
                  <p:embed/>
                </p:oleObj>
              </mc:Choice>
              <mc:Fallback>
                <p:oleObj name="Equation" r:id="rId11" imgW="1231366" imgH="482391" progId="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5700" y="4622800"/>
                        <a:ext cx="12319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32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7851337"/>
              </p:ext>
            </p:extLst>
          </p:nvPr>
        </p:nvGraphicFramePr>
        <p:xfrm>
          <a:off x="5626100" y="4622800"/>
          <a:ext cx="1231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2" name="Equation" r:id="rId13" imgW="1231366" imgH="482391" progId="">
                  <p:embed/>
                </p:oleObj>
              </mc:Choice>
              <mc:Fallback>
                <p:oleObj name="Equation" r:id="rId13" imgW="1231366" imgH="482391" progId="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100" y="4622800"/>
                        <a:ext cx="12319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325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56243"/>
              </p:ext>
            </p:extLst>
          </p:nvPr>
        </p:nvGraphicFramePr>
        <p:xfrm>
          <a:off x="2489200" y="6019800"/>
          <a:ext cx="49022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3" name="Equation" r:id="rId15" imgW="4902200" imgH="558800" progId="">
                  <p:embed/>
                </p:oleObj>
              </mc:Choice>
              <mc:Fallback>
                <p:oleObj name="Equation" r:id="rId15" imgW="4902200" imgH="558800" progId="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9200" y="6019800"/>
                        <a:ext cx="49022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2.2- </a:t>
            </a:r>
            <a:fld id="{DB7756A1-F7A6-48EE-AC05-4D9BDC7D75D7}" type="slidenum">
              <a:rPr lang="en-US" altLang="en-US" sz="1200">
                <a:latin typeface="Arial" panose="020B0604020202020204" pitchFamily="34" charset="0"/>
              </a:rPr>
              <a:pPr algn="r"/>
              <a:t>19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CÁCH NHÌN KHÁC VỀ VIỆC TÌM NGHỊCH ĐẢO CỦA MA TRẬN</a:t>
            </a:r>
          </a:p>
        </p:txBody>
      </p:sp>
      <p:sp>
        <p:nvSpPr>
          <p:cNvPr id="69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 err="1"/>
              <a:t>Đẳng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thức</a:t>
            </a:r>
            <a:r>
              <a:rPr lang="en-US" altLang="en-US" sz="2800" dirty="0"/>
              <a:t>                 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nhân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        </a:t>
            </a:r>
            <a:r>
              <a:rPr lang="en-US" altLang="en-US" sz="2800" dirty="0" err="1"/>
              <a:t>chính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nghiệm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hệ</a:t>
            </a:r>
            <a:r>
              <a:rPr lang="en-US" altLang="en-US" sz="2800" dirty="0"/>
              <a:t> </a:t>
            </a:r>
            <a:r>
              <a:rPr lang="en-US" altLang="en-US" sz="2800"/>
              <a:t>trong </a:t>
            </a:r>
            <a:r>
              <a:rPr lang="en-US" altLang="en-US" sz="2800" dirty="0"/>
              <a:t>(2).</a:t>
            </a:r>
          </a:p>
          <a:p>
            <a:pPr eaLnBrk="1" hangingPunct="1"/>
            <a:endParaRPr lang="en-US" altLang="en-US" dirty="0"/>
          </a:p>
        </p:txBody>
      </p:sp>
      <p:graphicFrame>
        <p:nvGraphicFramePr>
          <p:cNvPr id="6942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908217"/>
              </p:ext>
            </p:extLst>
          </p:nvPr>
        </p:nvGraphicFramePr>
        <p:xfrm>
          <a:off x="2514600" y="1612900"/>
          <a:ext cx="1397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6" name="Equation" r:id="rId3" imgW="1396394" imgH="393529" progId="">
                  <p:embed/>
                </p:oleObj>
              </mc:Choice>
              <mc:Fallback>
                <p:oleObj name="Equation" r:id="rId3" imgW="1396394" imgH="393529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612900"/>
                        <a:ext cx="13970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2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0713194"/>
              </p:ext>
            </p:extLst>
          </p:nvPr>
        </p:nvGraphicFramePr>
        <p:xfrm>
          <a:off x="4876800" y="2057400"/>
          <a:ext cx="520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7" name="Equation" r:id="rId5" imgW="520474" imgH="393529" progId="">
                  <p:embed/>
                </p:oleObj>
              </mc:Choice>
              <mc:Fallback>
                <p:oleObj name="Equation" r:id="rId5" imgW="520474" imgH="393529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057400"/>
                        <a:ext cx="5207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04800" y="6242413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13308</TotalTime>
  <Words>1051</Words>
  <Application>Microsoft Office PowerPoint</Application>
  <PresentationFormat>On-screen Show (4:3)</PresentationFormat>
  <Paragraphs>181</Paragraphs>
  <Slides>19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Arial Narrow</vt:lpstr>
      <vt:lpstr>Bookshelf Symbol 2</vt:lpstr>
      <vt:lpstr>Cambria Math</vt:lpstr>
      <vt:lpstr>Symbol</vt:lpstr>
      <vt:lpstr>Times New Roman</vt:lpstr>
      <vt:lpstr>Wingdings</vt:lpstr>
      <vt:lpstr>Blends</vt:lpstr>
      <vt:lpstr>Equation</vt:lpstr>
      <vt:lpstr>MathType 6.0 Equation</vt:lpstr>
      <vt:lpstr>Đại Số Ma Trận</vt:lpstr>
      <vt:lpstr>MA TRẬN KHẢ NGHỊCH</vt:lpstr>
      <vt:lpstr>MA TRẬN KHẢ NGHỊCH</vt:lpstr>
      <vt:lpstr>MA TRẬN KHẢ NGHỊCH</vt:lpstr>
      <vt:lpstr>MA TRẬN KHẢ NGHỊCH</vt:lpstr>
      <vt:lpstr>MA TRẬN KHẢ NGHỊCH</vt:lpstr>
      <vt:lpstr>CÁC MA TRẬN SƠ CẤP</vt:lpstr>
      <vt:lpstr>CÁC MA TRẬN SƠ CẤP</vt:lpstr>
      <vt:lpstr>CÁC MA TRẬN SƠ CẤP</vt:lpstr>
      <vt:lpstr>CÁC MA TRẬN SƠ CẤP</vt:lpstr>
      <vt:lpstr>CÁC MA TRẬN SƠ CẤP</vt:lpstr>
      <vt:lpstr>CÁC MA TRẬN SƠ CẤP</vt:lpstr>
      <vt:lpstr>CÁC MA TRẬN SƠ CẤP</vt:lpstr>
      <vt:lpstr>THUẬT TOÁN TÌM </vt:lpstr>
      <vt:lpstr>THUẬT TOÁN TÌM </vt:lpstr>
      <vt:lpstr>THUẬT TOÁN TÌM </vt:lpstr>
      <vt:lpstr>THUẬT TOÁN TÌM </vt:lpstr>
      <vt:lpstr>CÁCH NHÌN KHÁC VỀ VIỆC TÌM NGHỊCH ĐẢO CỦA MA TRẬN</vt:lpstr>
      <vt:lpstr>CÁCH NHÌN KHÁC VỀ VIỆC TÌM NGHỊCH ĐẢO CỦA MA TRẬN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998</cp:revision>
  <dcterms:created xsi:type="dcterms:W3CDTF">2005-10-22T18:34:54Z</dcterms:created>
  <dcterms:modified xsi:type="dcterms:W3CDTF">2016-07-28T14:41:16Z</dcterms:modified>
</cp:coreProperties>
</file>