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6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82" autoAdjust="0"/>
    <p:restoredTop sz="98725" autoAdjust="0"/>
  </p:normalViewPr>
  <p:slideViewPr>
    <p:cSldViewPr>
      <p:cViewPr varScale="1">
        <p:scale>
          <a:sx n="114" d="100"/>
          <a:sy n="114" d="100"/>
        </p:scale>
        <p:origin x="-1800" y="-10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 smtClean="0"/>
              <a:t>Click to edit Master text styles</a:t>
            </a:r>
          </a:p>
          <a:p>
            <a:pPr lvl="1"/>
            <a:r>
              <a:rPr lang="en-US" altLang="en-US" noProof="0" smtClean="0"/>
              <a:t>Second level</a:t>
            </a:r>
          </a:p>
          <a:p>
            <a:pPr lvl="2"/>
            <a:r>
              <a:rPr lang="en-US" altLang="en-US" noProof="0" smtClean="0"/>
              <a:t>Third level</a:t>
            </a:r>
          </a:p>
          <a:p>
            <a:pPr lvl="3"/>
            <a:r>
              <a:rPr lang="en-US" altLang="en-US" noProof="0" smtClean="0"/>
              <a:t>Fourth level</a:t>
            </a:r>
          </a:p>
          <a:p>
            <a:pPr lvl="4"/>
            <a:r>
              <a:rPr lang="en-US" altLang="en-US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54F01C-9DAE-4834-B3FA-3D4760BB017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404709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A9C20A67-9360-415D-8A66-BED502C09899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78495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423364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97588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370323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32296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68758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3986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74208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16291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41159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933384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231451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0298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195455FB-0CCA-4344-9073-52441C2645F4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19795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 dirty="0">
                <a:solidFill>
                  <a:srgbClr val="4C7816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 dirty="0" smtClean="0">
                <a:solidFill>
                  <a:srgbClr val="CD8019"/>
                </a:solidFill>
                <a:latin typeface="Arial" panose="020B0604020202020204" pitchFamily="34" charset="0"/>
              </a:rPr>
              <a:t>2.5</a:t>
            </a:r>
            <a:endParaRPr lang="en-US" altLang="en-US" sz="3200" b="1" dirty="0">
              <a:solidFill>
                <a:srgbClr val="CD8019"/>
              </a:solidFill>
              <a:latin typeface="Arial" panose="020B0604020202020204" pitchFamily="34" charset="0"/>
            </a:endParaRP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268506"/>
            <a:ext cx="2971800" cy="371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48795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90E932-D1B3-4534-813D-FD4EBE5E39C2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683769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11AF1AB-C2F6-4C2D-A675-8FAD64D2E68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28262687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3986BFB6-CA82-4812-BE97-DA0F65491B7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17108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E6DAF540-46D9-4094-8FE8-0834E2370D1A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569669486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487CA900-6A0F-4284-BBF9-FA441424FECD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714635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D08BDEBC-B0EE-4876-A910-04FE4D7A43B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443986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8667CB26-4B9D-4316-91C7-62ACA1D37795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5084770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3411FFC-3F1F-41E6-A5CD-496F1593754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7073260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666FB77A-CE67-40A9-945B-251200CD2367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7739980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40906E5-C24C-4790-AE21-7B84BA83C02F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16291343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 dirty="0"/>
              <a:t>Slide 2.2- </a:t>
            </a:r>
            <a:fld id="{CE7008AD-6ACD-4396-A6D7-C548241CE52C}" type="slidenum">
              <a:rPr lang="en-US" altLang="en-US"/>
              <a:pPr>
                <a:defRPr/>
              </a:pPr>
              <a:t>‹#›</a:t>
            </a:fld>
            <a:endParaRPr lang="en-CA" altLang="en-US" dirty="0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</a:t>
            </a:r>
            <a:r>
              <a:rPr lang="en-US" altLang="en-US" dirty="0" smtClean="0"/>
              <a:t>Ltd.</a:t>
            </a:r>
            <a:endParaRPr lang="en-US" altLang="en-US" dirty="0"/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9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6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0.emf"/><Relationship Id="rId5" Type="http://schemas.openxmlformats.org/officeDocument/2006/relationships/image" Target="../media/image4.wmf"/><Relationship Id="rId4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Matrix Algebra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MATRIX FACTORIZATIONS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MATRIX FACTORIZATIONS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816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A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factorization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of a matrix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is an equation that expresses </a:t>
            </a:r>
            <a:r>
              <a:rPr lang="en-US" altLang="en-US" sz="28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as a product of two or more matrices.</a:t>
            </a:r>
          </a:p>
          <a:p>
            <a:pPr eaLnBrk="1" hangingPunct="1"/>
            <a:r>
              <a:rPr lang="en-US" altLang="en-US" sz="2800" dirty="0" smtClean="0">
                <a:cs typeface="Times New Roman" panose="02020603050405020304" pitchFamily="18" charset="0"/>
              </a:rPr>
              <a:t>Whereas matrix multiplication involves a </a:t>
            </a:r>
            <a:r>
              <a:rPr lang="en-US" altLang="en-US" sz="2800" i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synthesis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of data (combining the effects of two or more linear transformations into a single matrix), matrix factorization is an </a:t>
            </a:r>
            <a:r>
              <a:rPr lang="en-US" altLang="en-US" sz="2800" i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analysis</a:t>
            </a:r>
            <a:r>
              <a:rPr lang="en-US" altLang="en-US" sz="2800" dirty="0" smtClean="0">
                <a:cs typeface="Times New Roman" panose="02020603050405020304" pitchFamily="18" charset="0"/>
              </a:rPr>
              <a:t> of data.</a:t>
            </a: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70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LU FACTORIZATION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0668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The LU factorization is motivated by the fairly common industrial and business problem of solving a sequence of equations, all with the same coefficient matrix: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𝐴𝑥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  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𝐴𝑥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en-US" sz="27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…,  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𝐴𝑥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𝑏𝑝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</m:oMath>
                </a14:m>
                <a:r>
                  <a:rPr lang="en-US" altLang="en-US" sz="2750" dirty="0" smtClean="0">
                    <a:cs typeface="Times New Roman" panose="02020603050405020304" pitchFamily="18" charset="0"/>
                  </a:rPr>
                  <a:t>             (1)</a:t>
                </a:r>
              </a:p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When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is invertible, one could compute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baseline="30000" dirty="0" smtClean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and then compute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baseline="30000" dirty="0" smtClean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50" baseline="-25000" dirty="0" smtClean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baseline="30000" dirty="0" smtClean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b</a:t>
                </a:r>
                <a:r>
                  <a:rPr lang="en-US" altLang="en-US" sz="2750" baseline="-25000" dirty="0" smtClean="0">
                    <a:cs typeface="Times New Roman" panose="02020603050405020304" pitchFamily="18" charset="0"/>
                  </a:rPr>
                  <a:t>2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, and so on.</a:t>
                </a:r>
              </a:p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However, it is more efficient to solve the first equation in the sequence (1) by row reduction and obtain the LU factorization of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at the same time. Thereafter, the remaining equations in sequence (1) are solved with the LU factorization.</a:t>
                </a: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066800"/>
                <a:ext cx="8534400" cy="5181600"/>
              </a:xfrm>
              <a:blipFill rotWithShape="1">
                <a:blip r:embed="rId4"/>
                <a:stretch>
                  <a:fillRect l="-1214" t="-1176" r="-2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1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302011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LU FACTORIZATION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066800"/>
                <a:ext cx="85344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Assume that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is an </a:t>
                </a:r>
                <a14:m>
                  <m:oMath xmlns:m="http://schemas.openxmlformats.org/officeDocument/2006/math"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en-US" sz="2750" dirty="0" smtClean="0">
                    <a:cs typeface="Times New Roman" panose="02020603050405020304" pitchFamily="18" charset="0"/>
                  </a:rPr>
                  <a:t> matrix that can be row reduced to echelon form,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without row interchanges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.</a:t>
                </a:r>
              </a:p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Then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can be written in the form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 = LU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, were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is an </a:t>
                </a:r>
                <a14:m>
                  <m:oMath xmlns:m="http://schemas.openxmlformats.org/officeDocument/2006/math"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en-US" sz="2750" dirty="0" smtClean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50" dirty="0" smtClean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lower triangular matrix 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with 1’s on the diagonal and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is an </a:t>
                </a:r>
                <a14:m>
                  <m:oMath xmlns:m="http://schemas.openxmlformats.org/officeDocument/2006/math"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</m:oMath>
                </a14:m>
                <a:r>
                  <a:rPr lang="en-US" altLang="en-US" sz="2750" dirty="0" smtClean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750" dirty="0" smtClean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echelon form 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of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. </a:t>
                </a:r>
              </a:p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For instance, see Fig. 1 below. Such a factorization is called an </a:t>
                </a:r>
                <a:r>
                  <a:rPr lang="en-US" altLang="en-US" sz="2750" b="1" dirty="0" smtClean="0">
                    <a:cs typeface="Times New Roman" panose="02020603050405020304" pitchFamily="18" charset="0"/>
                  </a:rPr>
                  <a:t>LU factorization 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of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. The matrix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is invertible and is called a </a:t>
                </a:r>
                <a:r>
                  <a:rPr lang="en-US" altLang="en-US" sz="2750" dirty="0" smtClean="0">
                    <a:solidFill>
                      <a:srgbClr val="0000FF"/>
                    </a:solidFill>
                    <a:cs typeface="Times New Roman" panose="02020603050405020304" pitchFamily="18" charset="0"/>
                  </a:rPr>
                  <a:t>unit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lower triangular matrix.</a:t>
                </a: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066800"/>
                <a:ext cx="8534400" cy="5181600"/>
              </a:xfrm>
              <a:blipFill rotWithShape="1">
                <a:blip r:embed="rId4"/>
                <a:stretch>
                  <a:fillRect l="-1214" t="-1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14600" y="4800600"/>
            <a:ext cx="4791418" cy="1592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48087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LU FACTORIZATION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534400" cy="5181600"/>
          </a:xfrm>
        </p:spPr>
        <p:txBody>
          <a:bodyPr/>
          <a:lstStyle/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Why is LU factorization useful?</a:t>
            </a:r>
          </a:p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 When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 = LU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, the equation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Ax = 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can be written as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L(Ux) = 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. </a:t>
            </a:r>
          </a:p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Writing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y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for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Ux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, we can find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x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by solving the pair of equations</a:t>
            </a: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First solve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Ly = b 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for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y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, and then solve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Ux = y 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for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x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. See Fig. 2 on the next slide. Each equation is easy to solve because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L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and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U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are triangular.</a:t>
            </a: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8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000500" y="3512403"/>
            <a:ext cx="1295400" cy="830997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i="1" dirty="0" smtClean="0">
                <a:latin typeface="+mn-lt"/>
              </a:rPr>
              <a:t>Ly = b</a:t>
            </a:r>
          </a:p>
          <a:p>
            <a:r>
              <a:rPr lang="en-US" i="1" dirty="0" smtClean="0">
                <a:latin typeface="+mn-lt"/>
              </a:rPr>
              <a:t>Ux = y</a:t>
            </a:r>
            <a:endParaRPr lang="en-US" i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8320368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LU FACTORIZATION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381000" y="1219200"/>
                <a:ext cx="8534400" cy="5181600"/>
              </a:xfrm>
            </p:spPr>
            <p:txBody>
              <a:bodyPr/>
              <a:lstStyle/>
              <a:p>
                <a:pPr eaLnBrk="1" hangingPunct="1"/>
                <a:endParaRPr lang="en-US" altLang="en-US" sz="275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5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50" dirty="0" smtClean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5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50" b="1" dirty="0" smtClean="0">
                    <a:cs typeface="Times New Roman" panose="02020603050405020304" pitchFamily="18" charset="0"/>
                  </a:rPr>
                  <a:t>Example 1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  It can be verified that </a:t>
                </a:r>
                <a:endParaRPr lang="en-US" altLang="en-US" sz="275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5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50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Use this factorization of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to solve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Ax=b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 sz="22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en-US" altLang="en-US" sz="22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en-US" sz="220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2200" b="0" i="1" smtClean="0">
                                <a:latin typeface="Cambria Math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−9</m:t>
                            </m:r>
                          </m:e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7</m:t>
                            </m:r>
                          </m:e>
                          <m:e>
                            <m:r>
                              <a:rPr lang="en-US" altLang="en-US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11</m:t>
                            </m:r>
                          </m:e>
                        </m:eqArr>
                      </m:e>
                    </m:d>
                  </m:oMath>
                </a14:m>
                <a:endParaRPr lang="en-US" altLang="en-US" sz="2200" dirty="0" smtClean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81000" y="1219200"/>
                <a:ext cx="8534400" cy="5181600"/>
              </a:xfrm>
              <a:blipFill rotWithShape="0">
                <a:blip r:embed="rId4"/>
                <a:stretch>
                  <a:fillRect l="-12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1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/>
          <a:srcRect l="4758"/>
          <a:stretch/>
        </p:blipFill>
        <p:spPr>
          <a:xfrm>
            <a:off x="320587" y="3884169"/>
            <a:ext cx="7580668" cy="133553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5400" y="1261210"/>
            <a:ext cx="6705600" cy="201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6152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LU FACTORIZATION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534400" cy="5181600"/>
          </a:xfrm>
        </p:spPr>
        <p:txBody>
          <a:bodyPr/>
          <a:lstStyle/>
          <a:p>
            <a:pPr eaLnBrk="1" hangingPunct="1"/>
            <a:r>
              <a:rPr lang="en-US" altLang="en-US" sz="2750" b="1" dirty="0" smtClean="0">
                <a:cs typeface="Times New Roman" panose="02020603050405020304" pitchFamily="18" charset="0"/>
              </a:rPr>
              <a:t>Solution   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The solution of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Ly = b 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needs only 6 multiplications and 6 additions, because the arithmetic takes place only in column 5.</a:t>
            </a: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 smtClean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Then, for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Ux = y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, the “backward” phase of row reduction requires 4 divisions, 6 multiplications, and 6 additions. </a:t>
            </a:r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638" y="2774444"/>
            <a:ext cx="7796162" cy="126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166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THE LU FACTORIZATION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534400" cy="5181600"/>
          </a:xfrm>
        </p:spPr>
        <p:txBody>
          <a:bodyPr/>
          <a:lstStyle/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For instance, creating the zeros in column 4 of [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U   y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] requires 1 division in row 4 and 3 multiplication-addition pairs to add multiples of row 4 to the rows above.</a:t>
            </a: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 smtClean="0">
              <a:cs typeface="Times New Roman" panose="02020603050405020304" pitchFamily="18" charset="0"/>
            </a:endParaRPr>
          </a:p>
          <a:p>
            <a:pPr marL="0" indent="0" eaLnBrk="1" hangingPunct="1">
              <a:buNone/>
            </a:pPr>
            <a:endParaRPr lang="en-US" altLang="en-US" sz="2750" dirty="0" smtClean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50" dirty="0" smtClean="0">
                <a:cs typeface="Times New Roman" panose="02020603050405020304" pitchFamily="18" charset="0"/>
              </a:rPr>
              <a:t>To find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x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requires 28 arithmetic operations, or “flops” (floating point operations), excluding the cost of finding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L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 and 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U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. In contrast, row reduction of [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A   b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] to [</a:t>
            </a:r>
            <a:r>
              <a:rPr lang="en-US" altLang="en-US" sz="2750" i="1" dirty="0" smtClean="0">
                <a:cs typeface="Times New Roman" panose="02020603050405020304" pitchFamily="18" charset="0"/>
              </a:rPr>
              <a:t>I    x</a:t>
            </a:r>
            <a:r>
              <a:rPr lang="en-US" altLang="en-US" sz="2750" dirty="0" smtClean="0">
                <a:cs typeface="Times New Roman" panose="02020603050405020304" pitchFamily="18" charset="0"/>
              </a:rPr>
              <a:t>] takes 62 operations.</a:t>
            </a:r>
            <a:endParaRPr lang="en-US" altLang="en-US" sz="275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50" dirty="0">
              <a:cs typeface="Times New Roman" panose="02020603050405020304" pitchFamily="18" charset="0"/>
            </a:endParaRPr>
          </a:p>
        </p:txBody>
      </p:sp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8" name="Equation" r:id="rId4" imgW="475104" imgH="810471" progId="">
                  <p:embed/>
                </p:oleObj>
              </mc:Choice>
              <mc:Fallback>
                <p:oleObj name="Equation" r:id="rId4" imgW="475104" imgH="810471" progId="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48000"/>
            <a:ext cx="8225425" cy="1265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1120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AN LU FACTORIZATION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219200"/>
                <a:ext cx="8991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600" dirty="0" smtClean="0">
                    <a:cs typeface="Times New Roman" panose="02020603050405020304" pitchFamily="18" charset="0"/>
                  </a:rPr>
                  <a:t>Suppose </a:t>
                </a:r>
                <a:r>
                  <a:rPr lang="en-US" altLang="en-US" sz="260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600" dirty="0" smtClean="0">
                    <a:cs typeface="Times New Roman" panose="02020603050405020304" pitchFamily="18" charset="0"/>
                  </a:rPr>
                  <a:t> can be reduced to an echelon form </a:t>
                </a:r>
                <a:r>
                  <a:rPr lang="en-US" altLang="en-US" sz="2600" i="1" dirty="0" smtClean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600" dirty="0" smtClean="0">
                    <a:cs typeface="Times New Roman" panose="02020603050405020304" pitchFamily="18" charset="0"/>
                  </a:rPr>
                  <a:t> using only row replacements that add a multiple of one row to another below it.</a:t>
                </a:r>
              </a:p>
              <a:p>
                <a:pPr eaLnBrk="1" hangingPunct="1"/>
                <a:r>
                  <a:rPr lang="en-US" altLang="en-US" sz="2600" dirty="0" smtClean="0">
                    <a:cs typeface="Times New Roman" panose="02020603050405020304" pitchFamily="18" charset="0"/>
                  </a:rPr>
                  <a:t>In this case, there exist unit lower triangular elementary matrices </a:t>
                </a:r>
                <a:r>
                  <a:rPr lang="en-US" altLang="en-US" sz="2600" i="1" dirty="0" smtClean="0">
                    <a:cs typeface="Times New Roman" panose="02020603050405020304" pitchFamily="18" charset="0"/>
                  </a:rPr>
                  <a:t>E</a:t>
                </a:r>
                <a:r>
                  <a:rPr lang="en-US" altLang="en-US" sz="2600" baseline="-25000" dirty="0" smtClean="0">
                    <a:cs typeface="Times New Roman" panose="02020603050405020304" pitchFamily="18" charset="0"/>
                  </a:rPr>
                  <a:t>1 </a:t>
                </a:r>
                <a:r>
                  <a:rPr lang="en-US" altLang="en-US" sz="2600" dirty="0" smtClean="0">
                    <a:cs typeface="Times New Roman" panose="02020603050405020304" pitchFamily="18" charset="0"/>
                  </a:rPr>
                  <a:t>,…, </a:t>
                </a:r>
                <a:r>
                  <a:rPr lang="en-US" altLang="en-US" sz="2600" i="1" dirty="0" smtClean="0">
                    <a:cs typeface="Times New Roman" panose="02020603050405020304" pitchFamily="18" charset="0"/>
                  </a:rPr>
                  <a:t>E</a:t>
                </a:r>
                <a:r>
                  <a:rPr lang="en-US" altLang="en-US" sz="2600" baseline="-25000" dirty="0" smtClean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600" dirty="0" smtClean="0">
                    <a:cs typeface="Times New Roman" panose="02020603050405020304" pitchFamily="18" charset="0"/>
                  </a:rPr>
                  <a:t> such that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en-US" sz="26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…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𝐸</m:t>
                      </m:r>
                      <m:r>
                        <a:rPr lang="en-US" altLang="en-US" sz="2600" b="0" i="1" baseline="-25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</m:oMath>
                  </m:oMathPara>
                </a14:m>
                <a:endParaRPr lang="en-US" altLang="en-US" sz="2600" b="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600" dirty="0" smtClean="0">
                    <a:cs typeface="Times New Roman" panose="02020603050405020304" pitchFamily="18" charset="0"/>
                  </a:rPr>
                  <a:t>Then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en-US" sz="26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…</m:t>
                          </m:r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en-US" sz="26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en-US" sz="2600" b="0" i="1" baseline="30000" smtClean="0">
                          <a:latin typeface="Cambria Math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en-US" sz="26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𝑈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𝐿𝑈</m:t>
                      </m:r>
                    </m:oMath>
                  </m:oMathPara>
                </a14:m>
                <a:endParaRPr lang="en-US" altLang="en-US" sz="2600" b="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600" dirty="0" smtClean="0">
                    <a:cs typeface="Times New Roman" panose="02020603050405020304" pitchFamily="18" charset="0"/>
                  </a:rPr>
                  <a:t>where</a:t>
                </a:r>
              </a:p>
              <a:p>
                <a:pPr marL="0" indent="0" eaLnBrk="1" hangingPunct="1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altLang="en-US" sz="26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en-US" sz="2600" b="0" i="1" smtClean="0">
                              <a:latin typeface="Cambria Math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en-US" sz="26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…</m:t>
                          </m:r>
                          <m:r>
                            <a:rPr lang="en-US" altLang="en-US" sz="26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  <m:r>
                            <a:rPr lang="en-US" altLang="en-US" sz="2600" b="0" i="1" baseline="-2500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en-US" sz="2600" b="0" i="1" baseline="3000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−1</m:t>
                      </m:r>
                    </m:oMath>
                  </m:oMathPara>
                </a14:m>
                <a:endParaRPr lang="en-US" altLang="en-US" sz="2600" baseline="3000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600" dirty="0" smtClean="0">
                    <a:cs typeface="Times New Roman" panose="02020603050405020304" pitchFamily="18" charset="0"/>
                  </a:rPr>
                  <a:t>It can be shown that products and inverses of unit lower triangular matrices are also unit lower triangular. Thus </a:t>
                </a:r>
                <a:r>
                  <a:rPr lang="en-US" altLang="en-US" sz="260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600" dirty="0" smtClean="0">
                    <a:cs typeface="Times New Roman" panose="02020603050405020304" pitchFamily="18" charset="0"/>
                  </a:rPr>
                  <a:t> is unit lower triangular.</a:t>
                </a:r>
                <a:endParaRPr lang="en-US" altLang="en-US" sz="26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219200"/>
                <a:ext cx="8991600" cy="5181600"/>
              </a:xfrm>
              <a:blipFill rotWithShape="1">
                <a:blip r:embed="rId4"/>
                <a:stretch>
                  <a:fillRect l="-1017" t="-1059" r="-1492" b="-24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59" name="Object 30"/>
          <p:cNvGraphicFramePr>
            <a:graphicFrameLocks noChangeAspect="1"/>
          </p:cNvGraphicFramePr>
          <p:nvPr/>
        </p:nvGraphicFramePr>
        <p:xfrm>
          <a:off x="2959100" y="2032000"/>
          <a:ext cx="91440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3" name="Equation" r:id="rId5" imgW="475104" imgH="810471" progId="">
                  <p:embed/>
                </p:oleObj>
              </mc:Choice>
              <mc:Fallback>
                <p:oleObj name="Equation" r:id="rId5" imgW="475104" imgH="810471" progId="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9100" y="2032000"/>
                        <a:ext cx="914400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8001000" y="3407229"/>
            <a:ext cx="6858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(3)</a:t>
            </a:r>
            <a:endParaRPr lang="en-US" dirty="0"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01000" y="4628583"/>
            <a:ext cx="6858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(4)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8200326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AN LU FACTORIZATION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219200"/>
                <a:ext cx="8991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Note that row operations in equation (3), which reduce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to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, also reduce the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in equation (4) to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I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, because </a:t>
                </a:r>
                <a14:m>
                  <m:oMath xmlns:m="http://schemas.openxmlformats.org/officeDocument/2006/math"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en-US" sz="27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en-US" sz="27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en-US" sz="275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en-US" sz="275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en-US" sz="27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</m:t>
                        </m:r>
                        <m:r>
                          <a:rPr lang="en-US" altLang="en-US" sz="27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en-US" sz="275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d>
                      <m:dPr>
                        <m:ctrlPr>
                          <a:rPr lang="en-US" altLang="en-US" sz="2750" b="0" i="1" smtClean="0">
                            <a:latin typeface="Cambria Math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en-US" sz="27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en-US" sz="275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en-US" sz="27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…</m:t>
                        </m:r>
                        <m:r>
                          <a:rPr lang="en-US" altLang="en-US" sz="275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  <m:r>
                          <a:rPr lang="en-US" altLang="en-US" sz="2750" b="0" i="1" baseline="-250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  <m:r>
                      <a:rPr lang="en-US" altLang="en-US" sz="2750" b="0" i="1" baseline="30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</m:t>
                    </m:r>
                  </m:oMath>
                </a14:m>
                <a:r>
                  <a:rPr lang="en-US" altLang="en-US" sz="2750" dirty="0" smtClean="0">
                    <a:cs typeface="Times New Roman" panose="02020603050405020304" pitchFamily="18" charset="0"/>
                  </a:rPr>
                  <a:t> . </a:t>
                </a:r>
              </a:p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This observation is the key to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constructing L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.</a:t>
                </a:r>
                <a:endParaRPr lang="en-US" altLang="en-US" sz="275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219200"/>
                <a:ext cx="8991600" cy="5181600"/>
              </a:xfrm>
              <a:blipFill rotWithShape="1">
                <a:blip r:embed="rId3"/>
                <a:stretch>
                  <a:fillRect l="-1085" t="-1176" r="-54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457200" y="3354303"/>
            <a:ext cx="8229600" cy="2208297"/>
          </a:xfrm>
          <a:prstGeom prst="rect">
            <a:avLst/>
          </a:prstGeom>
          <a:noFill/>
          <a:ln w="28575">
            <a:solidFill>
              <a:srgbClr val="077C97"/>
            </a:solidFill>
          </a:ln>
        </p:spPr>
        <p:txBody>
          <a:bodyPr wrap="square" rtlCol="0">
            <a:spAutoFit/>
          </a:bodyPr>
          <a:lstStyle/>
          <a:p>
            <a:r>
              <a:rPr lang="en-US" sz="2750" b="1" dirty="0" smtClean="0">
                <a:solidFill>
                  <a:srgbClr val="077C97"/>
                </a:solidFill>
                <a:latin typeface="+mn-lt"/>
              </a:rPr>
              <a:t>Algorithm for an LU Factorization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750" dirty="0" smtClean="0">
                <a:latin typeface="+mn-lt"/>
              </a:rPr>
              <a:t>Reduce </a:t>
            </a:r>
            <a:r>
              <a:rPr lang="en-US" sz="2750" i="1" dirty="0" smtClean="0">
                <a:latin typeface="+mn-lt"/>
              </a:rPr>
              <a:t>A</a:t>
            </a:r>
            <a:r>
              <a:rPr lang="en-US" sz="2750" dirty="0" smtClean="0">
                <a:latin typeface="+mn-lt"/>
              </a:rPr>
              <a:t> to an echelon form </a:t>
            </a:r>
            <a:r>
              <a:rPr lang="en-US" sz="2750" i="1" dirty="0" smtClean="0">
                <a:latin typeface="+mn-lt"/>
              </a:rPr>
              <a:t>U</a:t>
            </a:r>
            <a:r>
              <a:rPr lang="en-US" sz="2750" dirty="0" smtClean="0">
                <a:latin typeface="+mn-lt"/>
              </a:rPr>
              <a:t> by a sequence of row replacement operations, if possible.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750" dirty="0" smtClean="0">
                <a:latin typeface="+mn-lt"/>
              </a:rPr>
              <a:t>Place entries in </a:t>
            </a:r>
            <a:r>
              <a:rPr lang="en-US" sz="2750" i="1" dirty="0" smtClean="0">
                <a:latin typeface="+mn-lt"/>
              </a:rPr>
              <a:t>L</a:t>
            </a:r>
            <a:r>
              <a:rPr lang="en-US" sz="2750" dirty="0" smtClean="0">
                <a:latin typeface="+mn-lt"/>
              </a:rPr>
              <a:t> such that the </a:t>
            </a:r>
            <a:r>
              <a:rPr lang="en-US" sz="2750" i="1" dirty="0" smtClean="0">
                <a:solidFill>
                  <a:srgbClr val="0000FF"/>
                </a:solidFill>
                <a:latin typeface="+mn-lt"/>
              </a:rPr>
              <a:t>same</a:t>
            </a:r>
            <a:r>
              <a:rPr lang="en-US" sz="2750" i="1" dirty="0" smtClean="0">
                <a:latin typeface="+mn-lt"/>
              </a:rPr>
              <a:t> sequence of row operations </a:t>
            </a:r>
            <a:r>
              <a:rPr lang="en-US" sz="2750" dirty="0" smtClean="0">
                <a:latin typeface="+mn-lt"/>
              </a:rPr>
              <a:t>reduces </a:t>
            </a:r>
            <a:r>
              <a:rPr lang="en-US" sz="2750" i="1" dirty="0" smtClean="0">
                <a:latin typeface="+mn-lt"/>
              </a:rPr>
              <a:t>L</a:t>
            </a:r>
            <a:r>
              <a:rPr lang="en-US" sz="2750" dirty="0" smtClean="0">
                <a:latin typeface="+mn-lt"/>
              </a:rPr>
              <a:t> to </a:t>
            </a:r>
            <a:r>
              <a:rPr lang="en-US" sz="2750" i="1" dirty="0" smtClean="0">
                <a:latin typeface="+mn-lt"/>
              </a:rPr>
              <a:t>I</a:t>
            </a:r>
            <a:r>
              <a:rPr lang="en-US" sz="2750" dirty="0" smtClean="0">
                <a:latin typeface="+mn-lt"/>
              </a:rPr>
              <a:t>.</a:t>
            </a:r>
            <a:endParaRPr lang="en-US" sz="275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29008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AN LU FACTORIZATION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219200"/>
                <a:ext cx="8991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Step 1 is not always possible, but when it is, the argument above shows that an LU factorization exists. </a:t>
                </a:r>
              </a:p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Example 2 on the following slides will show how to implement step 2. By construction,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will satisfy</a:t>
                </a:r>
              </a:p>
              <a:p>
                <a:pPr marL="0" indent="0" algn="ctr" eaLnBrk="1" hangingPunct="1">
                  <a:buNone/>
                </a:pPr>
                <a14:m>
                  <m:oMath xmlns:m="http://schemas.openxmlformats.org/officeDocument/2006/math"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𝐸𝑝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en-US" sz="275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750" dirty="0" smtClean="0">
                    <a:cs typeface="Times New Roman" panose="02020603050405020304" pitchFamily="18" charset="0"/>
                  </a:rPr>
                  <a:t>)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 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=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I</a:t>
                </a:r>
                <a:endParaRPr lang="en-US" altLang="en-US" sz="2750" i="1" dirty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50" dirty="0" smtClean="0">
                    <a:cs typeface="Times New Roman" panose="02020603050405020304" pitchFamily="18" charset="0"/>
                  </a:rPr>
                  <a:t>using the same </a:t>
                </a:r>
                <a14:m>
                  <m:oMath xmlns:m="http://schemas.openxmlformats.org/officeDocument/2006/math"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en-US" sz="275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en-US" sz="2750" b="0" i="1" baseline="-250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…,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en-US" sz="275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1 </m:t>
                    </m:r>
                  </m:oMath>
                </a14:m>
                <a:r>
                  <a:rPr lang="en-US" altLang="en-US" sz="2750" dirty="0" smtClean="0">
                    <a:cs typeface="Times New Roman" panose="02020603050405020304" pitchFamily="18" charset="0"/>
                  </a:rPr>
                  <a:t>as in equation (3). Thus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will be invertible, by the Invertible Matrix Theorem, with (</a:t>
                </a:r>
                <a14:m>
                  <m:oMath xmlns:m="http://schemas.openxmlformats.org/officeDocument/2006/math"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en-US" sz="275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…</m:t>
                    </m:r>
                    <m:r>
                      <a:rPr lang="en-US" altLang="en-US" sz="275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𝐸</m:t>
                    </m:r>
                    <m:r>
                      <a:rPr lang="en-US" altLang="en-US" sz="2750" i="1" baseline="-250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altLang="en-US" sz="2750" dirty="0" smtClean="0">
                    <a:cs typeface="Times New Roman" panose="02020603050405020304" pitchFamily="18" charset="0"/>
                  </a:rPr>
                  <a:t>)= L</a:t>
                </a:r>
                <a:r>
                  <a:rPr lang="en-US" altLang="en-US" sz="2750" baseline="30000" dirty="0" smtClean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. From (3),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50" i="1" baseline="30000" dirty="0" smtClean="0">
                    <a:cs typeface="Times New Roman" panose="02020603050405020304" pitchFamily="18" charset="0"/>
                  </a:rPr>
                  <a:t>-1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 = U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, and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 = LU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. So step 2 will produce an acceptable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.</a:t>
                </a:r>
                <a:endParaRPr lang="en-US" altLang="en-US" sz="275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219200"/>
                <a:ext cx="8991600" cy="5181600"/>
              </a:xfrm>
              <a:blipFill rotWithShape="1">
                <a:blip r:embed="rId3"/>
                <a:stretch>
                  <a:fillRect l="-1085" t="-117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363324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AN LU FACTORIZATION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152400" y="1219200"/>
                <a:ext cx="8991600" cy="5181600"/>
              </a:xfrm>
            </p:spPr>
            <p:txBody>
              <a:bodyPr/>
              <a:lstStyle/>
              <a:p>
                <a:pPr eaLnBrk="1" hangingPunct="1"/>
                <a:r>
                  <a:rPr lang="en-US" altLang="en-US" sz="2750" b="1" dirty="0" smtClean="0">
                    <a:cs typeface="Times New Roman" panose="02020603050405020304" pitchFamily="18" charset="0"/>
                  </a:rPr>
                  <a:t>Example 2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  Find an LU factorization of</a:t>
                </a:r>
              </a:p>
              <a:p>
                <a:pPr eaLnBrk="1" hangingPunct="1"/>
                <a:endParaRPr lang="en-US" altLang="en-US" sz="2750" dirty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50" dirty="0" smtClean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endParaRPr lang="en-US" altLang="en-US" sz="2750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endParaRPr lang="en-US" altLang="en-US" sz="2750" b="1" dirty="0" smtClean="0">
                  <a:cs typeface="Times New Roman" panose="02020603050405020304" pitchFamily="18" charset="0"/>
                </a:endParaRPr>
              </a:p>
              <a:p>
                <a:pPr eaLnBrk="1" hangingPunct="1"/>
                <a:r>
                  <a:rPr lang="en-US" altLang="en-US" sz="2750" b="1" dirty="0" smtClean="0">
                    <a:cs typeface="Times New Roman" panose="02020603050405020304" pitchFamily="18" charset="0"/>
                  </a:rPr>
                  <a:t>Solution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 Since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has four rows,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should be </a:t>
                </a:r>
                <a14:m>
                  <m:oMath xmlns:m="http://schemas.openxmlformats.org/officeDocument/2006/math">
                    <m:r>
                      <a:rPr lang="en-US" altLang="en-US" sz="275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en-US" sz="275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×4</m:t>
                    </m:r>
                  </m:oMath>
                </a14:m>
                <a:r>
                  <a:rPr lang="en-US" altLang="en-US" sz="2750" dirty="0" smtClean="0">
                    <a:cs typeface="Times New Roman" panose="02020603050405020304" pitchFamily="18" charset="0"/>
                  </a:rPr>
                  <a:t>. The first column of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L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is the first column of </a:t>
                </a:r>
                <a:r>
                  <a:rPr lang="en-US" altLang="en-US" sz="2750" i="1" dirty="0" smtClean="0">
                    <a:cs typeface="Times New Roman" panose="02020603050405020304" pitchFamily="18" charset="0"/>
                  </a:rPr>
                  <a:t>A</a:t>
                </a:r>
                <a:r>
                  <a:rPr lang="en-US" altLang="en-US" sz="2750" dirty="0" smtClean="0">
                    <a:cs typeface="Times New Roman" panose="02020603050405020304" pitchFamily="18" charset="0"/>
                  </a:rPr>
                  <a:t> divided by the top pivot entry:</a:t>
                </a:r>
                <a:endParaRPr lang="en-US" altLang="en-US" sz="275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52400" y="1219200"/>
                <a:ext cx="8991600" cy="5181600"/>
              </a:xfrm>
              <a:blipFill rotWithShape="0">
                <a:blip r:embed="rId3"/>
                <a:stretch>
                  <a:fillRect l="-1153" t="-1176" r="-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b="7223"/>
          <a:stretch/>
        </p:blipFill>
        <p:spPr>
          <a:xfrm>
            <a:off x="2387851" y="1954574"/>
            <a:ext cx="4149352" cy="162682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4972050"/>
            <a:ext cx="3445876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7821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AN LU FACTORIZATION ALGORITHM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8991600" cy="5181600"/>
          </a:xfrm>
        </p:spPr>
        <p:txBody>
          <a:bodyPr/>
          <a:lstStyle/>
          <a:p>
            <a:pPr eaLnBrk="1" hangingPunct="1"/>
            <a:r>
              <a:rPr lang="en-US" altLang="en-US" sz="2450" dirty="0" smtClean="0">
                <a:cs typeface="Times New Roman" panose="02020603050405020304" pitchFamily="18" charset="0"/>
              </a:rPr>
              <a:t>Compare the first columns of 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 and 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L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. 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The row operations that create zeros in the first column of A will also create zeros in the first column of L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2450" dirty="0" smtClean="0">
                <a:cs typeface="Times New Roman" panose="02020603050405020304" pitchFamily="18" charset="0"/>
              </a:rPr>
              <a:t>To make this same correspondence of row operations on 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 hold for the rest of 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L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, watch a row reduction of 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 to an echelon form 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U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. That is, </a:t>
            </a:r>
            <a:r>
              <a:rPr lang="en-US" altLang="en-US" sz="2450" i="1" dirty="0" smtClean="0">
                <a:solidFill>
                  <a:srgbClr val="0000FF"/>
                </a:solidFill>
                <a:cs typeface="Times New Roman" panose="02020603050405020304" pitchFamily="18" charset="0"/>
              </a:rPr>
              <a:t>highlight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 the entries 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in each matrix that are used to determine the sequence of row operations that transform 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 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into </a:t>
            </a:r>
            <a:r>
              <a:rPr lang="en-US" altLang="en-US" sz="2450" i="1" dirty="0" smtClean="0">
                <a:cs typeface="Times New Roman" panose="02020603050405020304" pitchFamily="18" charset="0"/>
              </a:rPr>
              <a:t>U</a:t>
            </a:r>
            <a:r>
              <a:rPr lang="en-US" altLang="en-US" sz="2450" dirty="0" smtClean="0">
                <a:cs typeface="Times New Roman" panose="02020603050405020304" pitchFamily="18" charset="0"/>
              </a:rPr>
              <a:t>.</a:t>
            </a:r>
            <a:endParaRPr lang="en-US" altLang="en-US" sz="2450" dirty="0"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114800"/>
            <a:ext cx="6302405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80402" y="5020469"/>
            <a:ext cx="685800" cy="457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n-lt"/>
              </a:rPr>
              <a:t>(5)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96522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 dirty="0">
                <a:latin typeface="Arial" panose="020B0604020202020204" pitchFamily="34" charset="0"/>
              </a:rPr>
              <a:t>Slide </a:t>
            </a:r>
            <a:r>
              <a:rPr lang="en-US" altLang="en-US" sz="1200" dirty="0" smtClean="0">
                <a:latin typeface="Arial" panose="020B0604020202020204" pitchFamily="34" charset="0"/>
              </a:rPr>
              <a:t>2.5- </a:t>
            </a:r>
            <a:fld id="{13CCF1D0-3A87-4DC6-85CD-0E9CC5054675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 dirty="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</a:t>
            </a:r>
            <a:r>
              <a:rPr lang="en-US" altLang="en-US" sz="1200" dirty="0" smtClean="0">
                <a:latin typeface="Arial" panose="020B0604020202020204" pitchFamily="34" charset="0"/>
              </a:rPr>
              <a:t>2016 </a:t>
            </a:r>
            <a:r>
              <a:rPr lang="en-US" altLang="en-US" sz="1200" dirty="0">
                <a:latin typeface="Arial" panose="020B0604020202020204" pitchFamily="34" charset="0"/>
              </a:rPr>
              <a:t>Pearson Education, </a:t>
            </a:r>
            <a:r>
              <a:rPr lang="en-US" altLang="en-US" sz="1200" dirty="0" smtClean="0">
                <a:latin typeface="Arial" panose="020B0604020202020204" pitchFamily="34" charset="0"/>
              </a:rPr>
              <a:t>Ltd.</a:t>
            </a:r>
            <a:endParaRPr lang="en-US" altLang="en-US" sz="1200" dirty="0">
              <a:latin typeface="Arial" panose="020B060402020202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AN LU FACTORIZATION ALGORITHM</a:t>
            </a:r>
          </a:p>
        </p:txBody>
      </p:sp>
      <p:sp>
        <p:nvSpPr>
          <p:cNvPr id="316424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76200" y="1143000"/>
            <a:ext cx="8991600" cy="5181600"/>
          </a:xfrm>
        </p:spPr>
        <p:txBody>
          <a:bodyPr/>
          <a:lstStyle/>
          <a:p>
            <a:pPr eaLnBrk="1" hangingPunct="1"/>
            <a:r>
              <a:rPr lang="en-US" altLang="en-US" sz="2700" dirty="0" smtClean="0">
                <a:cs typeface="Times New Roman" panose="02020603050405020304" pitchFamily="18" charset="0"/>
              </a:rPr>
              <a:t>The highlighted entries above determine the row reduction of </a:t>
            </a:r>
            <a:r>
              <a:rPr lang="en-US" altLang="en-US" sz="2700" i="1" dirty="0" smtClean="0">
                <a:cs typeface="Times New Roman" panose="02020603050405020304" pitchFamily="18" charset="0"/>
              </a:rPr>
              <a:t>A</a:t>
            </a:r>
            <a:r>
              <a:rPr lang="en-US" altLang="en-US" sz="2700" dirty="0" smtClean="0">
                <a:cs typeface="Times New Roman" panose="02020603050405020304" pitchFamily="18" charset="0"/>
              </a:rPr>
              <a:t> to </a:t>
            </a:r>
            <a:r>
              <a:rPr lang="en-US" altLang="en-US" sz="2700" i="1" dirty="0" smtClean="0">
                <a:cs typeface="Times New Roman" panose="02020603050405020304" pitchFamily="18" charset="0"/>
              </a:rPr>
              <a:t>U</a:t>
            </a:r>
            <a:r>
              <a:rPr lang="en-US" altLang="en-US" sz="2700" dirty="0" smtClean="0">
                <a:cs typeface="Times New Roman" panose="02020603050405020304" pitchFamily="18" charset="0"/>
              </a:rPr>
              <a:t>. At each pivot column, divide the highlighted entries by the pivot and place the </a:t>
            </a:r>
            <a:r>
              <a:rPr lang="en-US" altLang="en-US" sz="2700" smtClean="0">
                <a:cs typeface="Times New Roman" panose="02020603050405020304" pitchFamily="18" charset="0"/>
              </a:rPr>
              <a:t>result </a:t>
            </a:r>
            <a:r>
              <a:rPr lang="en-US" altLang="en-US" sz="2700" smtClean="0">
                <a:cs typeface="Times New Roman" panose="02020603050405020304" pitchFamily="18" charset="0"/>
              </a:rPr>
              <a:t>into </a:t>
            </a:r>
            <a:r>
              <a:rPr lang="en-US" altLang="en-US" sz="2700" i="1" dirty="0" smtClean="0">
                <a:cs typeface="Times New Roman" panose="02020603050405020304" pitchFamily="18" charset="0"/>
              </a:rPr>
              <a:t>L</a:t>
            </a:r>
            <a:r>
              <a:rPr lang="en-US" altLang="en-US" sz="2700" dirty="0" smtClean="0">
                <a:cs typeface="Times New Roman" panose="02020603050405020304" pitchFamily="18" charset="0"/>
              </a:rPr>
              <a:t>:</a:t>
            </a: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 smtClean="0"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700" dirty="0" smtClean="0">
                <a:cs typeface="Times New Roman" panose="02020603050405020304" pitchFamily="18" charset="0"/>
              </a:rPr>
              <a:t>An easy calculation verifies that this </a:t>
            </a:r>
            <a:r>
              <a:rPr lang="en-US" altLang="en-US" sz="2700" i="1" dirty="0" smtClean="0">
                <a:cs typeface="Times New Roman" panose="02020603050405020304" pitchFamily="18" charset="0"/>
              </a:rPr>
              <a:t>L</a:t>
            </a:r>
            <a:r>
              <a:rPr lang="en-US" altLang="en-US" sz="2700" dirty="0" smtClean="0">
                <a:cs typeface="Times New Roman" panose="02020603050405020304" pitchFamily="18" charset="0"/>
              </a:rPr>
              <a:t> and </a:t>
            </a:r>
            <a:r>
              <a:rPr lang="en-US" altLang="en-US" sz="2700" i="1" dirty="0" smtClean="0">
                <a:cs typeface="Times New Roman" panose="02020603050405020304" pitchFamily="18" charset="0"/>
              </a:rPr>
              <a:t>U</a:t>
            </a:r>
            <a:r>
              <a:rPr lang="en-US" altLang="en-US" sz="2700" dirty="0" smtClean="0">
                <a:cs typeface="Times New Roman" panose="02020603050405020304" pitchFamily="18" charset="0"/>
              </a:rPr>
              <a:t> satisfy </a:t>
            </a:r>
            <a:r>
              <a:rPr lang="en-US" altLang="en-US" sz="2700" i="1" dirty="0" smtClean="0">
                <a:cs typeface="Times New Roman" panose="02020603050405020304" pitchFamily="18" charset="0"/>
              </a:rPr>
              <a:t>LU = A</a:t>
            </a:r>
            <a:r>
              <a:rPr lang="en-US" altLang="en-US" sz="2700" dirty="0" smtClean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sz="2700" dirty="0"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1200" y="2667000"/>
            <a:ext cx="5605327" cy="2959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1567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 Narrow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14805</TotalTime>
  <Words>1197</Words>
  <Application>Microsoft Office PowerPoint</Application>
  <PresentationFormat>如螢幕大小 (4:3)</PresentationFormat>
  <Paragraphs>129</Paragraphs>
  <Slides>14</Slides>
  <Notes>14</Notes>
  <HiddenSlides>0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6" baseType="lpstr">
      <vt:lpstr>Blends</vt:lpstr>
      <vt:lpstr>Equation</vt:lpstr>
      <vt:lpstr>Matrix Algebra</vt:lpstr>
      <vt:lpstr>MATRIX FACTORIZATIONS</vt:lpstr>
      <vt:lpstr>THE LU FACTORIZATION</vt:lpstr>
      <vt:lpstr>THE LU FACTORIZATION</vt:lpstr>
      <vt:lpstr>THE LU FACTORIZATION</vt:lpstr>
      <vt:lpstr>THE LU FACTORIZATION</vt:lpstr>
      <vt:lpstr>THE LU FACTORIZATION</vt:lpstr>
      <vt:lpstr>THE LU FACTORIZATION</vt:lpstr>
      <vt:lpstr>AN LU FACTORIZATION ALGORITHM</vt:lpstr>
      <vt:lpstr>AN LU FACTORIZATION ALGORITHM</vt:lpstr>
      <vt:lpstr>AN LU FACTORIZATION ALGORITHM</vt:lpstr>
      <vt:lpstr>AN LU FACTORIZATION ALGORITHM</vt:lpstr>
      <vt:lpstr>AN LU FACTORIZATION ALGORITHM</vt:lpstr>
      <vt:lpstr>AN LU FACTORIZATION ALGORITHM</vt:lpstr>
    </vt:vector>
  </TitlesOfParts>
  <Company>© 2012 Pearson Education, Inc. All rights reserved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jhwang</cp:lastModifiedBy>
  <cp:revision>1000</cp:revision>
  <dcterms:created xsi:type="dcterms:W3CDTF">2005-10-22T18:34:54Z</dcterms:created>
  <dcterms:modified xsi:type="dcterms:W3CDTF">2016-03-23T00:12:38Z</dcterms:modified>
</cp:coreProperties>
</file>