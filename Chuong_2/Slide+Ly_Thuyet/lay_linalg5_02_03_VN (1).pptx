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jpeg" ContentType="image/jpeg"/>
  <Default Extension="wmf" ContentType="image/x-wmf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9" r:id="rId1"/>
  </p:sldMasterIdLst>
  <p:notesMasterIdLst>
    <p:notesMasterId r:id="rId15"/>
  </p:notesMasterIdLst>
  <p:sldIdLst>
    <p:sldId id="424" r:id="rId2"/>
    <p:sldId id="362" r:id="rId3"/>
    <p:sldId id="425" r:id="rId4"/>
    <p:sldId id="426" r:id="rId5"/>
    <p:sldId id="427" r:id="rId6"/>
    <p:sldId id="428" r:id="rId7"/>
    <p:sldId id="429" r:id="rId8"/>
    <p:sldId id="430" r:id="rId9"/>
    <p:sldId id="431" r:id="rId10"/>
    <p:sldId id="432" r:id="rId11"/>
    <p:sldId id="433" r:id="rId12"/>
    <p:sldId id="434" r:id="rId13"/>
    <p:sldId id="435" r:id="rId14"/>
  </p:sldIdLst>
  <p:sldSz cx="9144000" cy="6858000" type="screen4x3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Bookshelf Symbol 2" pitchFamily="2" charset="2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Bookshelf Symbol 2" pitchFamily="2" charset="2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Bookshelf Symbol 2" pitchFamily="2" charset="2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Bookshelf Symbol 2" pitchFamily="2" charset="2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Bookshelf Symbol 2" pitchFamily="2" charset="2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Bookshelf Symbol 2" pitchFamily="2" charset="2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Bookshelf Symbol 2" pitchFamily="2" charset="2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Bookshelf Symbol 2" pitchFamily="2" charset="2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Bookshelf Symbol 2" pitchFamily="2" charset="2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296">
          <p15:clr>
            <a:srgbClr val="A4A3A4"/>
          </p15:clr>
        </p15:guide>
        <p15:guide id="2" orient="horz" pos="3888">
          <p15:clr>
            <a:srgbClr val="A4A3A4"/>
          </p15:clr>
        </p15:guide>
        <p15:guide id="3" pos="288">
          <p15:clr>
            <a:srgbClr val="A4A3A4"/>
          </p15:clr>
        </p15:guide>
        <p15:guide id="4" pos="5472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077C97"/>
    <a:srgbClr val="D7791B"/>
    <a:srgbClr val="4C7816"/>
    <a:srgbClr val="528218"/>
    <a:srgbClr val="B6CEAA"/>
    <a:srgbClr val="ADC8A0"/>
    <a:srgbClr val="CD8019"/>
    <a:srgbClr val="0099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0711" autoAdjust="0"/>
    <p:restoredTop sz="84426" autoAdjust="0"/>
  </p:normalViewPr>
  <p:slideViewPr>
    <p:cSldViewPr>
      <p:cViewPr varScale="1">
        <p:scale>
          <a:sx n="92" d="100"/>
          <a:sy n="92" d="100"/>
        </p:scale>
        <p:origin x="1411" y="72"/>
      </p:cViewPr>
      <p:guideLst>
        <p:guide orient="horz" pos="1296"/>
        <p:guide orient="horz" pos="3888"/>
        <p:guide pos="288"/>
        <p:guide pos="5472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wmf"/></Relationships>
</file>

<file path=ppt/drawings/_rels/vmlDrawing2.vml.rels><?xml version="1.0" encoding="UTF-8" standalone="yes"?>
<Relationships xmlns="http://schemas.openxmlformats.org/package/2006/relationships"><Relationship Id="rId3" Type="http://schemas.openxmlformats.org/officeDocument/2006/relationships/image" Target="../media/image7.wmf"/><Relationship Id="rId2" Type="http://schemas.openxmlformats.org/officeDocument/2006/relationships/image" Target="../media/image6.wmf"/><Relationship Id="rId1" Type="http://schemas.openxmlformats.org/officeDocument/2006/relationships/image" Target="../media/image5.wmf"/><Relationship Id="rId5" Type="http://schemas.openxmlformats.org/officeDocument/2006/relationships/image" Target="../media/image9.wmf"/><Relationship Id="rId4" Type="http://schemas.openxmlformats.org/officeDocument/2006/relationships/image" Target="../media/image8.w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11.wmf"/></Relationships>
</file>

<file path=ppt/drawings/_rels/vmlDrawing4.vml.rels><?xml version="1.0" encoding="UTF-8" standalone="yes"?>
<Relationships xmlns="http://schemas.openxmlformats.org/package/2006/relationships"><Relationship Id="rId3" Type="http://schemas.openxmlformats.org/officeDocument/2006/relationships/image" Target="../media/image15.wmf"/><Relationship Id="rId2" Type="http://schemas.openxmlformats.org/officeDocument/2006/relationships/image" Target="../media/image14.wmf"/><Relationship Id="rId1" Type="http://schemas.openxmlformats.org/officeDocument/2006/relationships/image" Target="../media/image13.wmf"/><Relationship Id="rId6" Type="http://schemas.openxmlformats.org/officeDocument/2006/relationships/image" Target="../media/image18.wmf"/><Relationship Id="rId5" Type="http://schemas.openxmlformats.org/officeDocument/2006/relationships/image" Target="../media/image17.wmf"/><Relationship Id="rId4" Type="http://schemas.openxmlformats.org/officeDocument/2006/relationships/image" Target="../media/image16.wmf"/></Relationships>
</file>

<file path=ppt/drawings/_rels/vmlDrawing5.vml.rels><?xml version="1.0" encoding="UTF-8" standalone="yes"?>
<Relationships xmlns="http://schemas.openxmlformats.org/package/2006/relationships"><Relationship Id="rId3" Type="http://schemas.openxmlformats.org/officeDocument/2006/relationships/image" Target="../media/image21.wmf"/><Relationship Id="rId2" Type="http://schemas.openxmlformats.org/officeDocument/2006/relationships/image" Target="../media/image20.wmf"/><Relationship Id="rId1" Type="http://schemas.openxmlformats.org/officeDocument/2006/relationships/image" Target="../media/image19.wmf"/><Relationship Id="rId6" Type="http://schemas.openxmlformats.org/officeDocument/2006/relationships/image" Target="../media/image24.wmf"/><Relationship Id="rId5" Type="http://schemas.openxmlformats.org/officeDocument/2006/relationships/image" Target="../media/image23.wmf"/><Relationship Id="rId4" Type="http://schemas.openxmlformats.org/officeDocument/2006/relationships/image" Target="../media/image22.wmf"/></Relationships>
</file>

<file path=ppt/drawings/_rels/vmlDrawing6.vml.rels><?xml version="1.0" encoding="UTF-8" standalone="yes"?>
<Relationships xmlns="http://schemas.openxmlformats.org/package/2006/relationships"><Relationship Id="rId3" Type="http://schemas.openxmlformats.org/officeDocument/2006/relationships/image" Target="../media/image27.wmf"/><Relationship Id="rId2" Type="http://schemas.openxmlformats.org/officeDocument/2006/relationships/image" Target="../media/image26.wmf"/><Relationship Id="rId1" Type="http://schemas.openxmlformats.org/officeDocument/2006/relationships/image" Target="../media/image25.wmf"/><Relationship Id="rId4" Type="http://schemas.openxmlformats.org/officeDocument/2006/relationships/image" Target="../media/image28.wmf"/></Relationships>
</file>

<file path=ppt/drawings/_rels/vmlDrawing7.vml.rels><?xml version="1.0" encoding="UTF-8" standalone="yes"?>
<Relationships xmlns="http://schemas.openxmlformats.org/package/2006/relationships"><Relationship Id="rId2" Type="http://schemas.openxmlformats.org/officeDocument/2006/relationships/image" Target="../media/image31.wmf"/><Relationship Id="rId1" Type="http://schemas.openxmlformats.org/officeDocument/2006/relationships/image" Target="../media/image30.wmf"/></Relationships>
</file>

<file path=ppt/drawings/_rels/vmlDrawing8.vml.rels><?xml version="1.0" encoding="UTF-8" standalone="yes"?>
<Relationships xmlns="http://schemas.openxmlformats.org/package/2006/relationships"><Relationship Id="rId2" Type="http://schemas.openxmlformats.org/officeDocument/2006/relationships/image" Target="../media/image33.wmf"/><Relationship Id="rId1" Type="http://schemas.openxmlformats.org/officeDocument/2006/relationships/image" Target="../media/image32.wmf"/></Relationships>
</file>

<file path=ppt/drawings/_rels/vmlDrawing9.vml.rels><?xml version="1.0" encoding="UTF-8" standalone="yes"?>
<Relationships xmlns="http://schemas.openxmlformats.org/package/2006/relationships"><Relationship Id="rId1" Type="http://schemas.openxmlformats.org/officeDocument/2006/relationships/image" Target="../media/image34.wmf"/></Relationships>
</file>

<file path=ppt/drawings/_rels/vmlDrawing10.vml.rels><?xml version="1.0" encoding="UTF-8" standalone="yes"?>
<Relationships xmlns="http://schemas.openxmlformats.org/package/2006/relationships"><Relationship Id="rId3" Type="http://schemas.openxmlformats.org/officeDocument/2006/relationships/image" Target="../media/image38.wmf"/><Relationship Id="rId2" Type="http://schemas.openxmlformats.org/officeDocument/2006/relationships/image" Target="../media/image37.wmf"/><Relationship Id="rId1" Type="http://schemas.openxmlformats.org/officeDocument/2006/relationships/image" Target="../media/image36.wmf"/></Relationships>
</file>

<file path=ppt/drawings/_rels/vmlDrawing11.vml.rels><?xml version="1.0" encoding="UTF-8" standalone="yes"?>
<Relationships xmlns="http://schemas.openxmlformats.org/package/2006/relationships"><Relationship Id="rId3" Type="http://schemas.openxmlformats.org/officeDocument/2006/relationships/image" Target="../media/image42.wmf"/><Relationship Id="rId2" Type="http://schemas.openxmlformats.org/officeDocument/2006/relationships/image" Target="../media/image41.wmf"/><Relationship Id="rId1" Type="http://schemas.openxmlformats.org/officeDocument/2006/relationships/image" Target="../media/image40.wmf"/><Relationship Id="rId4" Type="http://schemas.openxmlformats.org/officeDocument/2006/relationships/image" Target="../media/image43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eaLnBrk="1" hangingPunct="1">
              <a:defRPr sz="1200" smtClean="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 smtClean="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307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307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noProof="0"/>
              <a:t>Click to edit Master text styles</a:t>
            </a:r>
          </a:p>
          <a:p>
            <a:pPr lvl="1"/>
            <a:r>
              <a:rPr lang="en-US" altLang="en-US" noProof="0"/>
              <a:t>Second level</a:t>
            </a:r>
          </a:p>
          <a:p>
            <a:pPr lvl="2"/>
            <a:r>
              <a:rPr lang="en-US" altLang="en-US" noProof="0"/>
              <a:t>Third level</a:t>
            </a:r>
          </a:p>
          <a:p>
            <a:pPr lvl="3"/>
            <a:r>
              <a:rPr lang="en-US" altLang="en-US" noProof="0"/>
              <a:t>Fourth level</a:t>
            </a:r>
          </a:p>
          <a:p>
            <a:pPr lvl="4"/>
            <a:r>
              <a:rPr lang="en-US" altLang="en-US" noProof="0"/>
              <a:t>Fifth level</a:t>
            </a:r>
          </a:p>
        </p:txBody>
      </p:sp>
      <p:sp>
        <p:nvSpPr>
          <p:cNvPr id="307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 eaLnBrk="1" hangingPunct="1">
              <a:defRPr sz="1200" smtClean="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307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 smtClean="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E5C415D3-1B3D-43CA-BE76-C9791AEA48E7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100957791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algn="r"/>
            <a:fld id="{530E6D37-CBE4-42F0-8F6E-7F3FE921F186}" type="slidenum">
              <a:rPr lang="en-US" altLang="en-US" sz="1200">
                <a:latin typeface="Arial" panose="020B0604020202020204" pitchFamily="34" charset="0"/>
              </a:rPr>
              <a:pPr algn="r"/>
              <a:t>1</a:t>
            </a:fld>
            <a:endParaRPr lang="en-US" altLang="en-US" sz="1200">
              <a:latin typeface="Arial" panose="020B0604020202020204" pitchFamily="34" charset="0"/>
            </a:endParaRPr>
          </a:p>
        </p:txBody>
      </p:sp>
      <p:sp>
        <p:nvSpPr>
          <p:cNvPr id="512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12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noFill/>
        </p:spPr>
        <p:txBody>
          <a:bodyPr/>
          <a:lstStyle/>
          <a:p>
            <a:pPr eaLnBrk="1" hangingPunct="1"/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26991021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algn="r"/>
            <a:fld id="{EC7E6311-E4AB-4FAB-B74E-78B5B68A1AF5}" type="slidenum">
              <a:rPr lang="en-US" altLang="en-US" sz="1200">
                <a:latin typeface="Arial" panose="020B0604020202020204" pitchFamily="34" charset="0"/>
              </a:rPr>
              <a:pPr algn="r"/>
              <a:t>2</a:t>
            </a:fld>
            <a:endParaRPr lang="en-US" altLang="en-US" sz="1200">
              <a:latin typeface="Arial" panose="020B0604020202020204" pitchFamily="34" charset="0"/>
            </a:endParaRPr>
          </a:p>
        </p:txBody>
      </p:sp>
      <p:sp>
        <p:nvSpPr>
          <p:cNvPr id="71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172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68726300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jpe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11" descr="pearson_ppt_logo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6292850"/>
            <a:ext cx="1295400" cy="488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Line 12"/>
          <p:cNvSpPr>
            <a:spLocks noChangeShapeType="1"/>
          </p:cNvSpPr>
          <p:nvPr userDrawn="1"/>
        </p:nvSpPr>
        <p:spPr bwMode="auto">
          <a:xfrm>
            <a:off x="0" y="2667000"/>
            <a:ext cx="4953000" cy="0"/>
          </a:xfrm>
          <a:prstGeom prst="line">
            <a:avLst/>
          </a:prstGeom>
          <a:noFill/>
          <a:ln w="12700">
            <a:solidFill>
              <a:srgbClr val="077C97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" name="Text Box 14" descr="Pink tissue paper"/>
          <p:cNvSpPr txBox="1">
            <a:spLocks noChangeArrowheads="1"/>
          </p:cNvSpPr>
          <p:nvPr userDrawn="1"/>
        </p:nvSpPr>
        <p:spPr bwMode="auto">
          <a:xfrm>
            <a:off x="533400" y="304800"/>
            <a:ext cx="533400" cy="7318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 r:embed="rId3"/>
                  <a:srcRect/>
                  <a:tile tx="0" ty="0" sx="100000" sy="100000" flip="none" algn="tl"/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algn="l" eaLnBrk="1" hangingPunct="1">
              <a:spcBef>
                <a:spcPct val="50000"/>
              </a:spcBef>
            </a:pPr>
            <a:r>
              <a:rPr lang="en-US" altLang="en-US" sz="4200" b="1">
                <a:solidFill>
                  <a:srgbClr val="4C7816"/>
                </a:solidFill>
                <a:latin typeface="Arial" panose="020B0604020202020204" pitchFamily="34" charset="0"/>
              </a:rPr>
              <a:t>2</a:t>
            </a:r>
          </a:p>
        </p:txBody>
      </p:sp>
      <p:sp>
        <p:nvSpPr>
          <p:cNvPr id="7" name="Text Box 15" descr="Pink tissue paper"/>
          <p:cNvSpPr txBox="1">
            <a:spLocks noChangeArrowheads="1"/>
          </p:cNvSpPr>
          <p:nvPr userDrawn="1"/>
        </p:nvSpPr>
        <p:spPr bwMode="auto">
          <a:xfrm>
            <a:off x="304800" y="2057400"/>
            <a:ext cx="83820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 r:embed="rId3"/>
                  <a:srcRect/>
                  <a:tile tx="0" ty="0" sx="100000" sy="100000" flip="none" algn="tl"/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algn="r" eaLnBrk="1" hangingPunct="1">
              <a:spcBef>
                <a:spcPct val="50000"/>
              </a:spcBef>
            </a:pPr>
            <a:r>
              <a:rPr lang="en-US" altLang="en-US" sz="3200" b="1">
                <a:solidFill>
                  <a:srgbClr val="CD8019"/>
                </a:solidFill>
                <a:latin typeface="Arial" panose="020B0604020202020204" pitchFamily="34" charset="0"/>
              </a:rPr>
              <a:t>2.3</a:t>
            </a:r>
          </a:p>
        </p:txBody>
      </p:sp>
      <p:sp>
        <p:nvSpPr>
          <p:cNvPr id="8" name="Line 21"/>
          <p:cNvSpPr>
            <a:spLocks noChangeShapeType="1"/>
          </p:cNvSpPr>
          <p:nvPr userDrawn="1"/>
        </p:nvSpPr>
        <p:spPr bwMode="auto">
          <a:xfrm rot="5400000" flipH="1">
            <a:off x="4572000" y="-4343400"/>
            <a:ext cx="0" cy="9144000"/>
          </a:xfrm>
          <a:prstGeom prst="line">
            <a:avLst/>
          </a:prstGeom>
          <a:noFill/>
          <a:ln w="63500">
            <a:solidFill>
              <a:srgbClr val="077C97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" name="Line 23"/>
          <p:cNvSpPr>
            <a:spLocks noChangeShapeType="1"/>
          </p:cNvSpPr>
          <p:nvPr userDrawn="1"/>
        </p:nvSpPr>
        <p:spPr bwMode="auto">
          <a:xfrm rot="5400000" flipH="1">
            <a:off x="762000" y="701675"/>
            <a:ext cx="0" cy="609600"/>
          </a:xfrm>
          <a:prstGeom prst="line">
            <a:avLst/>
          </a:prstGeom>
          <a:noFill/>
          <a:ln w="38100">
            <a:solidFill>
              <a:srgbClr val="B6CEAA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" name="Line 24"/>
          <p:cNvSpPr>
            <a:spLocks noChangeShapeType="1"/>
          </p:cNvSpPr>
          <p:nvPr userDrawn="1"/>
        </p:nvSpPr>
        <p:spPr bwMode="auto">
          <a:xfrm rot="16200000" flipH="1" flipV="1">
            <a:off x="-19050" y="495300"/>
            <a:ext cx="990600" cy="0"/>
          </a:xfrm>
          <a:prstGeom prst="line">
            <a:avLst/>
          </a:prstGeom>
          <a:noFill/>
          <a:ln w="38100">
            <a:solidFill>
              <a:srgbClr val="B6CEAA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2" name="Freeform 31"/>
          <p:cNvSpPr>
            <a:spLocks/>
          </p:cNvSpPr>
          <p:nvPr userDrawn="1"/>
        </p:nvSpPr>
        <p:spPr bwMode="auto">
          <a:xfrm>
            <a:off x="0" y="2057400"/>
            <a:ext cx="1143000" cy="609600"/>
          </a:xfrm>
          <a:custGeom>
            <a:avLst/>
            <a:gdLst>
              <a:gd name="T0" fmla="*/ 0 w 96"/>
              <a:gd name="T1" fmla="*/ 0 h 192"/>
              <a:gd name="T2" fmla="*/ 1143000 w 96"/>
              <a:gd name="T3" fmla="*/ 0 h 192"/>
              <a:gd name="T4" fmla="*/ 1143000 w 96"/>
              <a:gd name="T5" fmla="*/ 609600 h 192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96" h="192">
                <a:moveTo>
                  <a:pt x="0" y="0"/>
                </a:moveTo>
                <a:lnTo>
                  <a:pt x="96" y="0"/>
                </a:lnTo>
                <a:lnTo>
                  <a:pt x="96" y="192"/>
                </a:lnTo>
              </a:path>
            </a:pathLst>
          </a:custGeom>
          <a:noFill/>
          <a:ln w="12700" cap="flat" cmpd="sng">
            <a:solidFill>
              <a:srgbClr val="077C97"/>
            </a:solidFill>
            <a:prstDash val="solid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CCCC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05200" name="Rectangle 16"/>
          <p:cNvSpPr>
            <a:spLocks noGrp="1" noChangeArrowheads="1"/>
          </p:cNvSpPr>
          <p:nvPr>
            <p:ph type="ctrTitle" sz="quarter"/>
          </p:nvPr>
        </p:nvSpPr>
        <p:spPr>
          <a:xfrm>
            <a:off x="1219200" y="609600"/>
            <a:ext cx="5943600" cy="1295400"/>
          </a:xfrm>
        </p:spPr>
        <p:txBody>
          <a:bodyPr anchor="t"/>
          <a:lstStyle>
            <a:lvl1pPr>
              <a:defRPr sz="3600">
                <a:latin typeface="Times New Roman" panose="02020603050405020304" pitchFamily="18" charset="0"/>
              </a:defRPr>
            </a:lvl1pPr>
          </a:lstStyle>
          <a:p>
            <a:pPr lvl="0"/>
            <a:r>
              <a:rPr lang="en-US" altLang="en-US" noProof="0" dirty="0"/>
              <a:t>Click to edit Master title style</a:t>
            </a:r>
          </a:p>
        </p:txBody>
      </p:sp>
      <p:sp>
        <p:nvSpPr>
          <p:cNvPr id="605201" name="Rectangle 17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457200" y="2819400"/>
            <a:ext cx="4495800" cy="3352800"/>
          </a:xfrm>
        </p:spPr>
        <p:txBody>
          <a:bodyPr/>
          <a:lstStyle>
            <a:lvl1pPr marL="0" indent="0">
              <a:buFont typeface="Wingdings" panose="05000000000000000000" pitchFamily="2" charset="2"/>
              <a:buNone/>
              <a:defRPr sz="2800">
                <a:solidFill>
                  <a:srgbClr val="077C97"/>
                </a:solidFill>
                <a:latin typeface="Arial Narrow" panose="020B0606020202030204" pitchFamily="34" charset="0"/>
              </a:defRPr>
            </a:lvl1pPr>
          </a:lstStyle>
          <a:p>
            <a:pPr lvl="0"/>
            <a:r>
              <a:rPr lang="en-US" altLang="en-US" noProof="0" dirty="0"/>
              <a:t>Click to edit Master subtitle style</a:t>
            </a:r>
          </a:p>
        </p:txBody>
      </p:sp>
      <p:sp>
        <p:nvSpPr>
          <p:cNvPr id="13" name="Footer Placeholder 9"/>
          <p:cNvSpPr>
            <a:spLocks noGrp="1"/>
          </p:cNvSpPr>
          <p:nvPr>
            <p:ph type="ftr" sz="quarter" idx="10"/>
          </p:nvPr>
        </p:nvSpPr>
        <p:spPr>
          <a:xfrm>
            <a:off x="1752600" y="6305550"/>
            <a:ext cx="6934200" cy="476250"/>
          </a:xfrm>
        </p:spPr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US" altLang="en-US" dirty="0"/>
              <a:t> © 2012 Pearson Education, Ltd.</a:t>
            </a:r>
          </a:p>
        </p:txBody>
      </p:sp>
      <p:pic>
        <p:nvPicPr>
          <p:cNvPr id="2" name="Picture 1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5329238" y="2080576"/>
            <a:ext cx="3281362" cy="41001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2843419"/>
      </p:ext>
    </p:extLst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Slide 2.3- </a:t>
            </a:r>
            <a:fld id="{68B68C20-781F-482C-BC14-293A25C2192D}" type="slidenum">
              <a:rPr lang="en-US" altLang="en-US"/>
              <a:pPr>
                <a:defRPr/>
              </a:pPr>
              <a:t>‹#›</a:t>
            </a:fld>
            <a:endParaRPr lang="en-CA" altLang="en-US"/>
          </a:p>
        </p:txBody>
      </p:sp>
      <p:sp>
        <p:nvSpPr>
          <p:cNvPr id="5" name="Footer Placeholder 9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 dirty="0"/>
              <a:t> © 2012 Pearson Education, Ltd.</a:t>
            </a:r>
          </a:p>
        </p:txBody>
      </p:sp>
    </p:spTree>
    <p:extLst>
      <p:ext uri="{BB962C8B-B14F-4D97-AF65-F5344CB8AC3E}">
        <p14:creationId xmlns:p14="http://schemas.microsoft.com/office/powerpoint/2010/main" val="1403590852"/>
      </p:ext>
    </p:extLst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Slide 2.3- </a:t>
            </a:r>
            <a:fld id="{64595330-7967-4585-8F5B-0DF5F402655C}" type="slidenum">
              <a:rPr lang="en-US" altLang="en-US"/>
              <a:pPr>
                <a:defRPr/>
              </a:pPr>
              <a:t>‹#›</a:t>
            </a:fld>
            <a:endParaRPr lang="en-CA" altLang="en-US"/>
          </a:p>
        </p:txBody>
      </p:sp>
      <p:sp>
        <p:nvSpPr>
          <p:cNvPr id="5" name="Footer Placeholder 9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 dirty="0"/>
              <a:t> © 2012 Pearson Education, Ltd.</a:t>
            </a:r>
          </a:p>
        </p:txBody>
      </p:sp>
    </p:spTree>
    <p:extLst>
      <p:ext uri="{BB962C8B-B14F-4D97-AF65-F5344CB8AC3E}">
        <p14:creationId xmlns:p14="http://schemas.microsoft.com/office/powerpoint/2010/main" val="2268715226"/>
      </p:ext>
    </p:extLst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72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72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Slide 2.3- </a:t>
            </a:r>
            <a:fld id="{F8A907E2-E321-4AFC-BB17-A91BCD98C734}" type="slidenum">
              <a:rPr lang="en-US" altLang="en-US"/>
              <a:pPr>
                <a:defRPr/>
              </a:pPr>
              <a:t>‹#›</a:t>
            </a:fld>
            <a:endParaRPr lang="en-CA" altLang="en-US"/>
          </a:p>
        </p:txBody>
      </p:sp>
      <p:sp>
        <p:nvSpPr>
          <p:cNvPr id="6" name="Footer Placeholder 9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 dirty="0"/>
              <a:t> © 2012 Pearson Education, Ltd.</a:t>
            </a:r>
          </a:p>
        </p:txBody>
      </p:sp>
    </p:spTree>
    <p:extLst>
      <p:ext uri="{BB962C8B-B14F-4D97-AF65-F5344CB8AC3E}">
        <p14:creationId xmlns:p14="http://schemas.microsoft.com/office/powerpoint/2010/main" val="1114755213"/>
      </p:ext>
    </p:extLst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2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Slide 2.3- </a:t>
            </a:r>
            <a:fld id="{B480C788-80E0-4631-84FC-4E1C63BCE726}" type="slidenum">
              <a:rPr lang="en-US" altLang="en-US"/>
              <a:pPr>
                <a:defRPr/>
              </a:pPr>
              <a:t>‹#›</a:t>
            </a:fld>
            <a:endParaRPr lang="en-CA" altLang="en-US"/>
          </a:p>
        </p:txBody>
      </p:sp>
      <p:sp>
        <p:nvSpPr>
          <p:cNvPr id="8" name="Footer Placeholder 9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 dirty="0"/>
              <a:t> © 2012 Pearson Education, Ltd.</a:t>
            </a:r>
          </a:p>
        </p:txBody>
      </p:sp>
    </p:spTree>
    <p:extLst>
      <p:ext uri="{BB962C8B-B14F-4D97-AF65-F5344CB8AC3E}">
        <p14:creationId xmlns:p14="http://schemas.microsoft.com/office/powerpoint/2010/main" val="2797196479"/>
      </p:ext>
    </p:extLst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2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Slide 2.3- </a:t>
            </a:r>
            <a:fld id="{2DD8B738-7B8D-4263-9772-ED8B299803A6}" type="slidenum">
              <a:rPr lang="en-US" altLang="en-US"/>
              <a:pPr>
                <a:defRPr/>
              </a:pPr>
              <a:t>‹#›</a:t>
            </a:fld>
            <a:endParaRPr lang="en-CA" altLang="en-US"/>
          </a:p>
        </p:txBody>
      </p:sp>
      <p:sp>
        <p:nvSpPr>
          <p:cNvPr id="4" name="Footer Placeholder 9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 dirty="0"/>
              <a:t> © 2012 Pearson Education, Ltd.</a:t>
            </a:r>
          </a:p>
        </p:txBody>
      </p:sp>
    </p:spTree>
    <p:extLst>
      <p:ext uri="{BB962C8B-B14F-4D97-AF65-F5344CB8AC3E}">
        <p14:creationId xmlns:p14="http://schemas.microsoft.com/office/powerpoint/2010/main" val="113654818"/>
      </p:ext>
    </p:extLst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Slide 2.3- </a:t>
            </a:r>
            <a:fld id="{FDE8A337-C894-491A-B5CC-1E581B98D22C}" type="slidenum">
              <a:rPr lang="en-US" altLang="en-US"/>
              <a:pPr>
                <a:defRPr/>
              </a:pPr>
              <a:t>‹#›</a:t>
            </a:fld>
            <a:endParaRPr lang="en-CA" altLang="en-US"/>
          </a:p>
        </p:txBody>
      </p:sp>
      <p:sp>
        <p:nvSpPr>
          <p:cNvPr id="3" name="Footer Placeholder 9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 dirty="0"/>
              <a:t> © 2012 Pearson Education, Ltd.</a:t>
            </a:r>
          </a:p>
        </p:txBody>
      </p:sp>
    </p:spTree>
    <p:extLst>
      <p:ext uri="{BB962C8B-B14F-4D97-AF65-F5344CB8AC3E}">
        <p14:creationId xmlns:p14="http://schemas.microsoft.com/office/powerpoint/2010/main" val="135349108"/>
      </p:ext>
    </p:extLst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Slide 2.3- </a:t>
            </a:r>
            <a:fld id="{FA0FB03B-AAA6-472E-B606-92A528D9B962}" type="slidenum">
              <a:rPr lang="en-US" altLang="en-US"/>
              <a:pPr>
                <a:defRPr/>
              </a:pPr>
              <a:t>‹#›</a:t>
            </a:fld>
            <a:endParaRPr lang="en-CA" altLang="en-US"/>
          </a:p>
        </p:txBody>
      </p:sp>
      <p:sp>
        <p:nvSpPr>
          <p:cNvPr id="6" name="Footer Placeholder 9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 dirty="0"/>
              <a:t> © 2012 Pearson Education, Ltd.</a:t>
            </a:r>
          </a:p>
        </p:txBody>
      </p:sp>
    </p:spTree>
    <p:extLst>
      <p:ext uri="{BB962C8B-B14F-4D97-AF65-F5344CB8AC3E}">
        <p14:creationId xmlns:p14="http://schemas.microsoft.com/office/powerpoint/2010/main" val="3346114111"/>
      </p:ext>
    </p:extLst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Slide 2.3- </a:t>
            </a:r>
            <a:fld id="{446E9C6C-17A0-4C16-91FA-594474B34C95}" type="slidenum">
              <a:rPr lang="en-US" altLang="en-US"/>
              <a:pPr>
                <a:defRPr/>
              </a:pPr>
              <a:t>‹#›</a:t>
            </a:fld>
            <a:endParaRPr lang="en-CA" altLang="en-US"/>
          </a:p>
        </p:txBody>
      </p:sp>
      <p:sp>
        <p:nvSpPr>
          <p:cNvPr id="6" name="Footer Placeholder 9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 dirty="0"/>
              <a:t> © 2012 Pearson Education, Ltd.</a:t>
            </a:r>
          </a:p>
        </p:txBody>
      </p:sp>
    </p:spTree>
    <p:extLst>
      <p:ext uri="{BB962C8B-B14F-4D97-AF65-F5344CB8AC3E}">
        <p14:creationId xmlns:p14="http://schemas.microsoft.com/office/powerpoint/2010/main" val="2601095003"/>
      </p:ext>
    </p:extLst>
  </p:cSld>
  <p:clrMapOvr>
    <a:masterClrMapping/>
  </p:clrMapOvr>
  <p:transition spd="med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Slide 2.3- </a:t>
            </a:r>
            <a:fld id="{769FFC24-2EF4-4E0E-9D0D-656FFC401BC5}" type="slidenum">
              <a:rPr lang="en-US" altLang="en-US"/>
              <a:pPr>
                <a:defRPr/>
              </a:pPr>
              <a:t>‹#›</a:t>
            </a:fld>
            <a:endParaRPr lang="en-CA" altLang="en-US"/>
          </a:p>
        </p:txBody>
      </p:sp>
      <p:sp>
        <p:nvSpPr>
          <p:cNvPr id="5" name="Footer Placeholder 9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 dirty="0"/>
              <a:t> © 2012 Pearson Education, Ltd.</a:t>
            </a:r>
          </a:p>
        </p:txBody>
      </p:sp>
    </p:spTree>
    <p:extLst>
      <p:ext uri="{BB962C8B-B14F-4D97-AF65-F5344CB8AC3E}">
        <p14:creationId xmlns:p14="http://schemas.microsoft.com/office/powerpoint/2010/main" val="971578993"/>
      </p:ext>
    </p:extLst>
  </p:cSld>
  <p:clrMapOvr>
    <a:masterClrMapping/>
  </p:clrMapOvr>
  <p:transition spd="med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0"/>
            <a:ext cx="2057400" cy="61722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0"/>
            <a:ext cx="6019800" cy="61722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Slide 2.3- </a:t>
            </a:r>
            <a:fld id="{2713B66E-F2D4-4FD0-856A-43191C8DA042}" type="slidenum">
              <a:rPr lang="en-US" altLang="en-US"/>
              <a:pPr>
                <a:defRPr/>
              </a:pPr>
              <a:t>‹#›</a:t>
            </a:fld>
            <a:endParaRPr lang="en-CA" altLang="en-US"/>
          </a:p>
        </p:txBody>
      </p:sp>
      <p:sp>
        <p:nvSpPr>
          <p:cNvPr id="5" name="Footer Placeholder 9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 dirty="0"/>
              <a:t> © 2012 Pearson Education, Ltd.</a:t>
            </a:r>
          </a:p>
        </p:txBody>
      </p:sp>
    </p:spTree>
    <p:extLst>
      <p:ext uri="{BB962C8B-B14F-4D97-AF65-F5344CB8AC3E}">
        <p14:creationId xmlns:p14="http://schemas.microsoft.com/office/powerpoint/2010/main" val="3790569144"/>
      </p:ext>
    </p:extLst>
  </p:cSld>
  <p:clrMapOvr>
    <a:masterClrMapping/>
  </p:clrMapOvr>
  <p:transition spd="med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OverObj" preserve="1">
  <p:cSld name="Title and Tex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0668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8229600" cy="2209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3962400"/>
            <a:ext cx="8229600" cy="2209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Slide 2.3- </a:t>
            </a:r>
            <a:fld id="{D3D2CC33-CF77-4EC5-B4E6-8CC4EBACEEC3}" type="slidenum">
              <a:rPr lang="en-US" altLang="en-US"/>
              <a:pPr>
                <a:defRPr/>
              </a:pPr>
              <a:t>‹#›</a:t>
            </a:fld>
            <a:endParaRPr lang="en-CA" altLang="en-US"/>
          </a:p>
        </p:txBody>
      </p:sp>
      <p:sp>
        <p:nvSpPr>
          <p:cNvPr id="6" name="Footer Placeholder 9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 dirty="0"/>
              <a:t> © 2012 Pearson Education, Ltd.</a:t>
            </a:r>
          </a:p>
        </p:txBody>
      </p:sp>
    </p:spTree>
    <p:extLst>
      <p:ext uri="{BB962C8B-B14F-4D97-AF65-F5344CB8AC3E}">
        <p14:creationId xmlns:p14="http://schemas.microsoft.com/office/powerpoint/2010/main" val="1593989058"/>
      </p:ext>
    </p:extLst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586" name="Rectangle 2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781800" y="6307138"/>
            <a:ext cx="1905000" cy="4746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 b="1" smtClean="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r>
              <a:rPr lang="en-US" altLang="en-US"/>
              <a:t>Slide 2.3- </a:t>
            </a:r>
            <a:fld id="{C759CB02-1C69-4BD9-831C-656A9439D3B3}" type="slidenum">
              <a:rPr lang="en-US" altLang="en-US"/>
              <a:pPr>
                <a:defRPr/>
              </a:pPr>
              <a:t>‹#›</a:t>
            </a:fld>
            <a:endParaRPr lang="en-CA" altLang="en-US"/>
          </a:p>
        </p:txBody>
      </p:sp>
      <p:sp>
        <p:nvSpPr>
          <p:cNvPr id="1027" name="Rectangle 5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0"/>
            <a:ext cx="8229600" cy="1066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8" name="Rectangle 6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72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3"/>
          </p:nvPr>
        </p:nvSpPr>
        <p:spPr>
          <a:xfrm>
            <a:off x="457200" y="6305550"/>
            <a:ext cx="6324600" cy="47625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 eaLnBrk="1" hangingPunct="1">
              <a:buFont typeface="Symbol" panose="05050102010706020507" pitchFamily="18" charset="2"/>
              <a:buNone/>
              <a:defRPr sz="1200" smtClean="0">
                <a:latin typeface="Arial" panose="020B0604020202020204" pitchFamily="34" charset="0"/>
                <a:sym typeface="Symbol" panose="05050102010706020507" pitchFamily="18" charset="2"/>
              </a:defRPr>
            </a:lvl1pPr>
          </a:lstStyle>
          <a:p>
            <a:pPr>
              <a:defRPr/>
            </a:pPr>
            <a:r>
              <a:rPr lang="en-US" altLang="en-US" dirty="0"/>
              <a:t> © 2012 Pearson Education, Ltd.</a:t>
            </a:r>
          </a:p>
        </p:txBody>
      </p:sp>
      <p:sp>
        <p:nvSpPr>
          <p:cNvPr id="1030" name="Line 13"/>
          <p:cNvSpPr>
            <a:spLocks noChangeShapeType="1"/>
          </p:cNvSpPr>
          <p:nvPr userDrawn="1"/>
        </p:nvSpPr>
        <p:spPr bwMode="auto">
          <a:xfrm rot="5400000" flipH="1">
            <a:off x="4572000" y="-3505200"/>
            <a:ext cx="0" cy="9144000"/>
          </a:xfrm>
          <a:prstGeom prst="line">
            <a:avLst/>
          </a:prstGeom>
          <a:noFill/>
          <a:ln w="63500">
            <a:solidFill>
              <a:srgbClr val="077C97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38" r:id="rId1"/>
    <p:sldLayoutId id="2147483727" r:id="rId2"/>
    <p:sldLayoutId id="2147483728" r:id="rId3"/>
    <p:sldLayoutId id="2147483729" r:id="rId4"/>
    <p:sldLayoutId id="2147483730" r:id="rId5"/>
    <p:sldLayoutId id="2147483731" r:id="rId6"/>
    <p:sldLayoutId id="2147483732" r:id="rId7"/>
    <p:sldLayoutId id="2147483733" r:id="rId8"/>
    <p:sldLayoutId id="2147483734" r:id="rId9"/>
    <p:sldLayoutId id="2147483735" r:id="rId10"/>
    <p:sldLayoutId id="2147483736" r:id="rId11"/>
    <p:sldLayoutId id="2147483737" r:id="rId12"/>
  </p:sldLayoutIdLst>
  <p:transition spd="med"/>
  <p:hf hd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kern="1200">
          <a:solidFill>
            <a:srgbClr val="077C97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>
          <a:solidFill>
            <a:srgbClr val="077C97"/>
          </a:solidFill>
          <a:latin typeface="Arial Narrow" panose="020B0606020202030204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>
          <a:solidFill>
            <a:srgbClr val="077C97"/>
          </a:solidFill>
          <a:latin typeface="Arial Narrow" panose="020B0606020202030204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>
          <a:solidFill>
            <a:srgbClr val="077C97"/>
          </a:solidFill>
          <a:latin typeface="Arial Narrow" panose="020B0606020202030204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>
          <a:solidFill>
            <a:srgbClr val="077C97"/>
          </a:solidFill>
          <a:latin typeface="Arial Narrow" panose="020B0606020202030204" pitchFamily="34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3200">
          <a:solidFill>
            <a:srgbClr val="077C97"/>
          </a:solidFill>
          <a:latin typeface="Arial Narrow" panose="020B0606020202030204" pitchFamily="34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3200">
          <a:solidFill>
            <a:srgbClr val="077C97"/>
          </a:solidFill>
          <a:latin typeface="Arial Narrow" panose="020B0606020202030204" pitchFamily="34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3200">
          <a:solidFill>
            <a:srgbClr val="077C97"/>
          </a:solidFill>
          <a:latin typeface="Arial Narrow" panose="020B0606020202030204" pitchFamily="34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3200">
          <a:solidFill>
            <a:srgbClr val="077C97"/>
          </a:solidFill>
          <a:latin typeface="Arial Narrow" panose="020B0606020202030204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rgbClr val="077C97"/>
        </a:buClr>
        <a:buFont typeface="Wingdings" panose="05000000000000000000" pitchFamily="2" charset="2"/>
        <a:buChar char="§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rgbClr val="077C97"/>
        </a:buClr>
        <a:buFont typeface="Wingdings" panose="05000000000000000000" pitchFamily="2" charset="2"/>
        <a:buChar char="§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rgbClr val="077C97"/>
        </a:buClr>
        <a:buFont typeface="Wingdings" panose="05000000000000000000" pitchFamily="2" charset="2"/>
        <a:buChar char="§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rgbClr val="077C97"/>
        </a:buClr>
        <a:buFont typeface="Wingdings" panose="05000000000000000000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rgbClr val="077C97"/>
        </a:buClr>
        <a:buFont typeface="Wingdings" panose="05000000000000000000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5" Type="http://schemas.openxmlformats.org/officeDocument/2006/relationships/image" Target="../media/image4.wmf"/><Relationship Id="rId4" Type="http://schemas.openxmlformats.org/officeDocument/2006/relationships/oleObject" Target="../embeddings/oleObject1.bin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.bin"/><Relationship Id="rId13" Type="http://schemas.openxmlformats.org/officeDocument/2006/relationships/image" Target="../media/image9.wmf"/><Relationship Id="rId3" Type="http://schemas.openxmlformats.org/officeDocument/2006/relationships/image" Target="../media/image10.png"/><Relationship Id="rId7" Type="http://schemas.openxmlformats.org/officeDocument/2006/relationships/image" Target="../media/image6.wmf"/><Relationship Id="rId12" Type="http://schemas.openxmlformats.org/officeDocument/2006/relationships/oleObject" Target="../embeddings/oleObject6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6" Type="http://schemas.openxmlformats.org/officeDocument/2006/relationships/oleObject" Target="../embeddings/oleObject3.bin"/><Relationship Id="rId11" Type="http://schemas.openxmlformats.org/officeDocument/2006/relationships/image" Target="../media/image8.wmf"/><Relationship Id="rId5" Type="http://schemas.openxmlformats.org/officeDocument/2006/relationships/image" Target="../media/image5.wmf"/><Relationship Id="rId10" Type="http://schemas.openxmlformats.org/officeDocument/2006/relationships/oleObject" Target="../embeddings/oleObject5.bin"/><Relationship Id="rId4" Type="http://schemas.openxmlformats.org/officeDocument/2006/relationships/oleObject" Target="../embeddings/oleObject2.bin"/><Relationship Id="rId9" Type="http://schemas.openxmlformats.org/officeDocument/2006/relationships/image" Target="../media/image7.wmf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.vml"/><Relationship Id="rId5" Type="http://schemas.openxmlformats.org/officeDocument/2006/relationships/image" Target="../media/image12.png"/><Relationship Id="rId4" Type="http://schemas.openxmlformats.org/officeDocument/2006/relationships/image" Target="../media/image11.wmf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wmf"/><Relationship Id="rId13" Type="http://schemas.openxmlformats.org/officeDocument/2006/relationships/oleObject" Target="../embeddings/oleObject13.bin"/><Relationship Id="rId3" Type="http://schemas.openxmlformats.org/officeDocument/2006/relationships/oleObject" Target="../embeddings/oleObject8.bin"/><Relationship Id="rId7" Type="http://schemas.openxmlformats.org/officeDocument/2006/relationships/oleObject" Target="../embeddings/oleObject10.bin"/><Relationship Id="rId12" Type="http://schemas.openxmlformats.org/officeDocument/2006/relationships/image" Target="../media/image17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4.vml"/><Relationship Id="rId6" Type="http://schemas.openxmlformats.org/officeDocument/2006/relationships/image" Target="../media/image14.wmf"/><Relationship Id="rId11" Type="http://schemas.openxmlformats.org/officeDocument/2006/relationships/oleObject" Target="../embeddings/oleObject12.bin"/><Relationship Id="rId5" Type="http://schemas.openxmlformats.org/officeDocument/2006/relationships/oleObject" Target="../embeddings/oleObject9.bin"/><Relationship Id="rId10" Type="http://schemas.openxmlformats.org/officeDocument/2006/relationships/image" Target="../media/image16.wmf"/><Relationship Id="rId4" Type="http://schemas.openxmlformats.org/officeDocument/2006/relationships/image" Target="../media/image13.wmf"/><Relationship Id="rId9" Type="http://schemas.openxmlformats.org/officeDocument/2006/relationships/oleObject" Target="../embeddings/oleObject11.bin"/><Relationship Id="rId14" Type="http://schemas.openxmlformats.org/officeDocument/2006/relationships/image" Target="../media/image18.wmf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wmf"/><Relationship Id="rId13" Type="http://schemas.openxmlformats.org/officeDocument/2006/relationships/oleObject" Target="../embeddings/oleObject19.bin"/><Relationship Id="rId3" Type="http://schemas.openxmlformats.org/officeDocument/2006/relationships/oleObject" Target="../embeddings/oleObject14.bin"/><Relationship Id="rId7" Type="http://schemas.openxmlformats.org/officeDocument/2006/relationships/oleObject" Target="../embeddings/oleObject16.bin"/><Relationship Id="rId12" Type="http://schemas.openxmlformats.org/officeDocument/2006/relationships/image" Target="../media/image23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5.vml"/><Relationship Id="rId6" Type="http://schemas.openxmlformats.org/officeDocument/2006/relationships/image" Target="../media/image20.wmf"/><Relationship Id="rId11" Type="http://schemas.openxmlformats.org/officeDocument/2006/relationships/oleObject" Target="../embeddings/oleObject18.bin"/><Relationship Id="rId5" Type="http://schemas.openxmlformats.org/officeDocument/2006/relationships/oleObject" Target="../embeddings/oleObject15.bin"/><Relationship Id="rId10" Type="http://schemas.openxmlformats.org/officeDocument/2006/relationships/image" Target="../media/image22.wmf"/><Relationship Id="rId4" Type="http://schemas.openxmlformats.org/officeDocument/2006/relationships/image" Target="../media/image19.wmf"/><Relationship Id="rId9" Type="http://schemas.openxmlformats.org/officeDocument/2006/relationships/oleObject" Target="../embeddings/oleObject17.bin"/><Relationship Id="rId14" Type="http://schemas.openxmlformats.org/officeDocument/2006/relationships/image" Target="../media/image24.wmf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2.bin"/><Relationship Id="rId3" Type="http://schemas.openxmlformats.org/officeDocument/2006/relationships/image" Target="../media/image29.png"/><Relationship Id="rId7" Type="http://schemas.openxmlformats.org/officeDocument/2006/relationships/image" Target="../media/image26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6.vml"/><Relationship Id="rId6" Type="http://schemas.openxmlformats.org/officeDocument/2006/relationships/oleObject" Target="../embeddings/oleObject21.bin"/><Relationship Id="rId11" Type="http://schemas.openxmlformats.org/officeDocument/2006/relationships/image" Target="../media/image28.wmf"/><Relationship Id="rId5" Type="http://schemas.openxmlformats.org/officeDocument/2006/relationships/image" Target="../media/image25.wmf"/><Relationship Id="rId10" Type="http://schemas.openxmlformats.org/officeDocument/2006/relationships/oleObject" Target="../embeddings/oleObject23.bin"/><Relationship Id="rId4" Type="http://schemas.openxmlformats.org/officeDocument/2006/relationships/oleObject" Target="../embeddings/oleObject20.bin"/><Relationship Id="rId9" Type="http://schemas.openxmlformats.org/officeDocument/2006/relationships/image" Target="../media/image27.wmf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4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7.vml"/><Relationship Id="rId6" Type="http://schemas.openxmlformats.org/officeDocument/2006/relationships/image" Target="../media/image31.wmf"/><Relationship Id="rId5" Type="http://schemas.openxmlformats.org/officeDocument/2006/relationships/oleObject" Target="../embeddings/oleObject25.bin"/><Relationship Id="rId4" Type="http://schemas.openxmlformats.org/officeDocument/2006/relationships/image" Target="../media/image30.wmf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6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8.vml"/><Relationship Id="rId6" Type="http://schemas.openxmlformats.org/officeDocument/2006/relationships/image" Target="../media/image33.wmf"/><Relationship Id="rId5" Type="http://schemas.openxmlformats.org/officeDocument/2006/relationships/oleObject" Target="../embeddings/oleObject27.bin"/><Relationship Id="rId4" Type="http://schemas.openxmlformats.org/officeDocument/2006/relationships/image" Target="../media/image32.wmf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8.bin"/><Relationship Id="rId2" Type="http://schemas.openxmlformats.org/officeDocument/2006/relationships/slideLayout" Target="../slideLayouts/slideLayout12.xml"/><Relationship Id="rId1" Type="http://schemas.openxmlformats.org/officeDocument/2006/relationships/vmlDrawing" Target="../drawings/vmlDrawing9.vml"/><Relationship Id="rId5" Type="http://schemas.openxmlformats.org/officeDocument/2006/relationships/image" Target="../media/image35.png"/><Relationship Id="rId4" Type="http://schemas.openxmlformats.org/officeDocument/2006/relationships/image" Target="../media/image34.wmf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1.bin"/><Relationship Id="rId3" Type="http://schemas.openxmlformats.org/officeDocument/2006/relationships/image" Target="../media/image39.png"/><Relationship Id="rId7" Type="http://schemas.openxmlformats.org/officeDocument/2006/relationships/image" Target="../media/image37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0.vml"/><Relationship Id="rId6" Type="http://schemas.openxmlformats.org/officeDocument/2006/relationships/oleObject" Target="../embeddings/oleObject30.bin"/><Relationship Id="rId5" Type="http://schemas.openxmlformats.org/officeDocument/2006/relationships/image" Target="../media/image36.wmf"/><Relationship Id="rId4" Type="http://schemas.openxmlformats.org/officeDocument/2006/relationships/oleObject" Target="../embeddings/oleObject29.bin"/><Relationship Id="rId9" Type="http://schemas.openxmlformats.org/officeDocument/2006/relationships/image" Target="../media/image38.wmf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4.bin"/><Relationship Id="rId3" Type="http://schemas.openxmlformats.org/officeDocument/2006/relationships/image" Target="../media/image44.png"/><Relationship Id="rId7" Type="http://schemas.openxmlformats.org/officeDocument/2006/relationships/image" Target="../media/image41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1.vml"/><Relationship Id="rId6" Type="http://schemas.openxmlformats.org/officeDocument/2006/relationships/oleObject" Target="../embeddings/oleObject33.bin"/><Relationship Id="rId11" Type="http://schemas.openxmlformats.org/officeDocument/2006/relationships/image" Target="../media/image43.wmf"/><Relationship Id="rId5" Type="http://schemas.openxmlformats.org/officeDocument/2006/relationships/image" Target="../media/image40.wmf"/><Relationship Id="rId10" Type="http://schemas.openxmlformats.org/officeDocument/2006/relationships/oleObject" Target="../embeddings/oleObject35.bin"/><Relationship Id="rId4" Type="http://schemas.openxmlformats.org/officeDocument/2006/relationships/oleObject" Target="../embeddings/oleObject32.bin"/><Relationship Id="rId9" Type="http://schemas.openxmlformats.org/officeDocument/2006/relationships/image" Target="../media/image42.w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Footer Placeholder 9"/>
          <p:cNvSpPr>
            <a:spLocks noGrp="1"/>
          </p:cNvSpPr>
          <p:nvPr>
            <p:ph type="ftr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algn="l"/>
            <a:r>
              <a:rPr lang="en-US" altLang="en-US" sz="1200" dirty="0">
                <a:latin typeface="Arial" panose="020B0604020202020204" pitchFamily="34" charset="0"/>
              </a:rPr>
              <a:t> © 2016 Pearson Education, Ltd.</a:t>
            </a:r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pPr eaLnBrk="1" hangingPunct="1"/>
            <a:r>
              <a:rPr lang="en-US" altLang="en-US" dirty="0" err="1"/>
              <a:t>Đại</a:t>
            </a:r>
            <a:r>
              <a:rPr lang="en-US" altLang="en-US" dirty="0"/>
              <a:t> </a:t>
            </a:r>
            <a:r>
              <a:rPr lang="en-US" altLang="en-US" dirty="0" err="1"/>
              <a:t>Số</a:t>
            </a:r>
            <a:r>
              <a:rPr lang="en-US" altLang="en-US" dirty="0"/>
              <a:t> Ma </a:t>
            </a:r>
            <a:r>
              <a:rPr lang="en-US" altLang="en-US" dirty="0" err="1"/>
              <a:t>Trận</a:t>
            </a:r>
            <a:endParaRPr lang="en-US" altLang="en-US" dirty="0"/>
          </a:p>
        </p:txBody>
      </p:sp>
      <p:sp>
        <p:nvSpPr>
          <p:cNvPr id="4100" name="Rectangle 4"/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pPr eaLnBrk="1" hangingPunct="1"/>
            <a:r>
              <a:rPr lang="en-US" altLang="en-US" dirty="0">
                <a:latin typeface="+mj-lt"/>
              </a:rPr>
              <a:t>CÁC ĐẶC TRƯNG CỦA MA TRẬN KHẢ NGHỊCH</a:t>
            </a:r>
          </a:p>
        </p:txBody>
      </p:sp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algn="r"/>
            <a:r>
              <a:rPr lang="en-US" altLang="en-US" sz="1200">
                <a:latin typeface="Arial" panose="020B0604020202020204" pitchFamily="34" charset="0"/>
              </a:rPr>
              <a:t>Slide 2.3- </a:t>
            </a:r>
            <a:fld id="{5D0088CA-51C6-486A-8903-81804C777CBE}" type="slidenum">
              <a:rPr lang="en-US" altLang="en-US" sz="1200">
                <a:latin typeface="Arial" panose="020B0604020202020204" pitchFamily="34" charset="0"/>
              </a:rPr>
              <a:pPr algn="r"/>
              <a:t>2</a:t>
            </a:fld>
            <a:endParaRPr lang="en-CA" altLang="en-US" sz="1200">
              <a:latin typeface="Arial" panose="020B0604020202020204" pitchFamily="34" charset="0"/>
            </a:endParaRPr>
          </a:p>
        </p:txBody>
      </p:sp>
      <p:sp>
        <p:nvSpPr>
          <p:cNvPr id="6147" name="Footer Placeholder 4"/>
          <p:cNvSpPr>
            <a:spLocks noGrp="1"/>
          </p:cNvSpPr>
          <p:nvPr>
            <p:ph type="ftr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algn="l"/>
            <a:r>
              <a:rPr lang="en-US" altLang="en-US" sz="1200" dirty="0">
                <a:latin typeface="Arial" panose="020B0604020202020204" pitchFamily="34" charset="0"/>
              </a:rPr>
              <a:t> © 2016 Pearson Education, Ltd.</a:t>
            </a:r>
          </a:p>
        </p:txBody>
      </p:sp>
      <p:sp>
        <p:nvSpPr>
          <p:cNvPr id="614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ĐỊNH LÍ MA TRẬN KHẢ NGHỊCH</a:t>
            </a:r>
          </a:p>
        </p:txBody>
      </p:sp>
      <p:sp>
        <p:nvSpPr>
          <p:cNvPr id="316424" name="Rectangle 8"/>
          <p:cNvSpPr>
            <a:spLocks noGrp="1" noChangeArrowheads="1"/>
          </p:cNvSpPr>
          <p:nvPr>
            <p:ph type="body" idx="1"/>
          </p:nvPr>
        </p:nvSpPr>
        <p:spPr>
          <a:xfrm>
            <a:off x="304800" y="1295400"/>
            <a:ext cx="8458200" cy="5410200"/>
          </a:xfrm>
        </p:spPr>
        <p:txBody>
          <a:bodyPr/>
          <a:lstStyle/>
          <a:p>
            <a:pPr marL="0" indent="0" eaLnBrk="1" hangingPunct="1">
              <a:buNone/>
            </a:pPr>
            <a:r>
              <a:rPr lang="en-US" altLang="en-US" sz="2800" b="1" dirty="0" err="1">
                <a:solidFill>
                  <a:srgbClr val="077C97"/>
                </a:solidFill>
                <a:cs typeface="Times New Roman" panose="02020603050405020304" pitchFamily="18" charset="0"/>
              </a:rPr>
              <a:t>Định</a:t>
            </a:r>
            <a:r>
              <a:rPr lang="en-US" altLang="en-US" sz="2800" b="1" dirty="0">
                <a:solidFill>
                  <a:srgbClr val="077C97"/>
                </a:solidFill>
                <a:cs typeface="Times New Roman" panose="02020603050405020304" pitchFamily="18" charset="0"/>
              </a:rPr>
              <a:t> </a:t>
            </a:r>
            <a:r>
              <a:rPr lang="en-US" altLang="en-US" sz="2800" b="1" dirty="0" err="1">
                <a:solidFill>
                  <a:srgbClr val="077C97"/>
                </a:solidFill>
                <a:cs typeface="Times New Roman" panose="02020603050405020304" pitchFamily="18" charset="0"/>
              </a:rPr>
              <a:t>lí</a:t>
            </a:r>
            <a:r>
              <a:rPr lang="en-US" altLang="en-US" sz="2800" b="1" dirty="0">
                <a:solidFill>
                  <a:srgbClr val="077C97"/>
                </a:solidFill>
                <a:cs typeface="Times New Roman" panose="02020603050405020304" pitchFamily="18" charset="0"/>
              </a:rPr>
              <a:t> 8</a:t>
            </a:r>
            <a:r>
              <a:rPr lang="en-US" altLang="en-US" sz="2800" b="1" dirty="0">
                <a:cs typeface="Times New Roman" panose="02020603050405020304" pitchFamily="18" charset="0"/>
              </a:rPr>
              <a:t>:</a:t>
            </a:r>
            <a:r>
              <a:rPr lang="en-US" altLang="en-US" sz="2800" dirty="0">
                <a:cs typeface="Times New Roman" panose="02020603050405020304" pitchFamily="18" charset="0"/>
              </a:rPr>
              <a:t> Cho </a:t>
            </a:r>
            <a:r>
              <a:rPr lang="en-US" altLang="en-US" sz="2800" i="1" dirty="0">
                <a:cs typeface="Times New Roman" panose="02020603050405020304" pitchFamily="18" charset="0"/>
              </a:rPr>
              <a:t>A</a:t>
            </a:r>
            <a:r>
              <a:rPr lang="en-US" altLang="en-US" sz="2800" dirty="0"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cs typeface="Times New Roman" panose="02020603050405020304" pitchFamily="18" charset="0"/>
              </a:rPr>
              <a:t>là</a:t>
            </a:r>
            <a:r>
              <a:rPr lang="en-US" altLang="en-US" sz="2800" dirty="0"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cs typeface="Times New Roman" panose="02020603050405020304" pitchFamily="18" charset="0"/>
              </a:rPr>
              <a:t>một</a:t>
            </a:r>
            <a:r>
              <a:rPr lang="en-US" altLang="en-US" sz="2800" dirty="0">
                <a:cs typeface="Times New Roman" panose="02020603050405020304" pitchFamily="18" charset="0"/>
              </a:rPr>
              <a:t> </a:t>
            </a:r>
            <a:r>
              <a:rPr lang="it-IT" altLang="en-US" sz="2800" dirty="0">
                <a:cs typeface="Times New Roman" panose="02020603050405020304" pitchFamily="18" charset="0"/>
              </a:rPr>
              <a:t>ma trận vuông cấp n</a:t>
            </a:r>
            <a:r>
              <a:rPr lang="en-US" altLang="en-US" sz="2800" dirty="0">
                <a:cs typeface="Times New Roman" panose="02020603050405020304" pitchFamily="18" charset="0"/>
              </a:rPr>
              <a:t>. </a:t>
            </a:r>
            <a:r>
              <a:rPr lang="en-US" altLang="en-US" sz="2800" dirty="0" err="1">
                <a:cs typeface="Times New Roman" panose="02020603050405020304" pitchFamily="18" charset="0"/>
              </a:rPr>
              <a:t>Khi</a:t>
            </a:r>
            <a:r>
              <a:rPr lang="en-US" altLang="en-US" sz="2800" dirty="0"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cs typeface="Times New Roman" panose="02020603050405020304" pitchFamily="18" charset="0"/>
              </a:rPr>
              <a:t>đó</a:t>
            </a:r>
            <a:r>
              <a:rPr lang="en-US" altLang="en-US" sz="2800" dirty="0"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cs typeface="Times New Roman" panose="02020603050405020304" pitchFamily="18" charset="0"/>
              </a:rPr>
              <a:t>các</a:t>
            </a:r>
            <a:r>
              <a:rPr lang="en-US" altLang="en-US" sz="2800" dirty="0"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cs typeface="Times New Roman" panose="02020603050405020304" pitchFamily="18" charset="0"/>
              </a:rPr>
              <a:t>phát</a:t>
            </a:r>
            <a:r>
              <a:rPr lang="en-US" altLang="en-US" sz="2800" dirty="0"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cs typeface="Times New Roman" panose="02020603050405020304" pitchFamily="18" charset="0"/>
              </a:rPr>
              <a:t>biểu</a:t>
            </a:r>
            <a:r>
              <a:rPr lang="en-US" altLang="en-US" sz="2800" dirty="0"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cs typeface="Times New Roman" panose="02020603050405020304" pitchFamily="18" charset="0"/>
              </a:rPr>
              <a:t>sau</a:t>
            </a:r>
            <a:r>
              <a:rPr lang="en-US" altLang="en-US" sz="2800" dirty="0"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cs typeface="Times New Roman" panose="02020603050405020304" pitchFamily="18" charset="0"/>
              </a:rPr>
              <a:t>tương</a:t>
            </a:r>
            <a:r>
              <a:rPr lang="en-US" altLang="en-US" sz="2800" dirty="0"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cs typeface="Times New Roman" panose="02020603050405020304" pitchFamily="18" charset="0"/>
              </a:rPr>
              <a:t>đương</a:t>
            </a:r>
            <a:r>
              <a:rPr lang="en-US" altLang="en-US" sz="2800" dirty="0">
                <a:cs typeface="Times New Roman" panose="02020603050405020304" pitchFamily="18" charset="0"/>
              </a:rPr>
              <a:t>. </a:t>
            </a:r>
            <a:r>
              <a:rPr lang="en-US" altLang="en-US" sz="2800" dirty="0" err="1">
                <a:cs typeface="Times New Roman" panose="02020603050405020304" pitchFamily="18" charset="0"/>
              </a:rPr>
              <a:t>Đó</a:t>
            </a:r>
            <a:r>
              <a:rPr lang="en-US" altLang="en-US" sz="2800" dirty="0"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cs typeface="Times New Roman" panose="02020603050405020304" pitchFamily="18" charset="0"/>
              </a:rPr>
              <a:t>là</a:t>
            </a:r>
            <a:r>
              <a:rPr lang="en-US" altLang="en-US" sz="2800" dirty="0">
                <a:cs typeface="Times New Roman" panose="02020603050405020304" pitchFamily="18" charset="0"/>
              </a:rPr>
              <a:t>, </a:t>
            </a:r>
            <a:r>
              <a:rPr lang="en-US" altLang="en-US" sz="2800" dirty="0" err="1">
                <a:cs typeface="Times New Roman" panose="02020603050405020304" pitchFamily="18" charset="0"/>
              </a:rPr>
              <a:t>với</a:t>
            </a:r>
            <a:r>
              <a:rPr lang="en-US" altLang="en-US" sz="2800" dirty="0">
                <a:cs typeface="Times New Roman" panose="02020603050405020304" pitchFamily="18" charset="0"/>
              </a:rPr>
              <a:t> </a:t>
            </a:r>
            <a:r>
              <a:rPr lang="en-US" altLang="en-US" sz="2800" i="1" dirty="0">
                <a:cs typeface="Times New Roman" panose="02020603050405020304" pitchFamily="18" charset="0"/>
              </a:rPr>
              <a:t>A </a:t>
            </a:r>
            <a:r>
              <a:rPr lang="en-US" altLang="en-US" sz="2800" dirty="0" err="1">
                <a:cs typeface="Times New Roman" panose="02020603050405020304" pitchFamily="18" charset="0"/>
              </a:rPr>
              <a:t>cho</a:t>
            </a:r>
            <a:r>
              <a:rPr lang="en-US" altLang="en-US" sz="2800" dirty="0"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cs typeface="Times New Roman" panose="02020603050405020304" pitchFamily="18" charset="0"/>
              </a:rPr>
              <a:t>trước</a:t>
            </a:r>
            <a:r>
              <a:rPr lang="en-US" altLang="en-US" sz="2800" dirty="0">
                <a:cs typeface="Times New Roman" panose="02020603050405020304" pitchFamily="18" charset="0"/>
              </a:rPr>
              <a:t>, </a:t>
            </a:r>
            <a:r>
              <a:rPr lang="en-US" altLang="en-US" sz="2800" dirty="0" err="1">
                <a:cs typeface="Times New Roman" panose="02020603050405020304" pitchFamily="18" charset="0"/>
              </a:rPr>
              <a:t>các</a:t>
            </a:r>
            <a:r>
              <a:rPr lang="en-US" altLang="en-US" sz="2800" dirty="0"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cs typeface="Times New Roman" panose="02020603050405020304" pitchFamily="18" charset="0"/>
              </a:rPr>
              <a:t>phát</a:t>
            </a:r>
            <a:r>
              <a:rPr lang="en-US" altLang="en-US" sz="2800" dirty="0"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cs typeface="Times New Roman" panose="02020603050405020304" pitchFamily="18" charset="0"/>
              </a:rPr>
              <a:t>biểu</a:t>
            </a:r>
            <a:r>
              <a:rPr lang="en-US" altLang="en-US" sz="2800" dirty="0"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cs typeface="Times New Roman" panose="02020603050405020304" pitchFamily="18" charset="0"/>
              </a:rPr>
              <a:t>là</a:t>
            </a:r>
            <a:r>
              <a:rPr lang="en-US" altLang="en-US" sz="2800" dirty="0"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cs typeface="Times New Roman" panose="02020603050405020304" pitchFamily="18" charset="0"/>
              </a:rPr>
              <a:t>cùng</a:t>
            </a:r>
            <a:r>
              <a:rPr lang="en-US" altLang="en-US" sz="2800" dirty="0"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cs typeface="Times New Roman" panose="02020603050405020304" pitchFamily="18" charset="0"/>
              </a:rPr>
              <a:t>đúng</a:t>
            </a:r>
            <a:r>
              <a:rPr lang="en-US" altLang="en-US" sz="2800" dirty="0"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cs typeface="Times New Roman" panose="02020603050405020304" pitchFamily="18" charset="0"/>
              </a:rPr>
              <a:t>hoặc</a:t>
            </a:r>
            <a:r>
              <a:rPr lang="en-US" altLang="en-US" sz="2800" dirty="0"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cs typeface="Times New Roman" panose="02020603050405020304" pitchFamily="18" charset="0"/>
              </a:rPr>
              <a:t>cùng</a:t>
            </a:r>
            <a:r>
              <a:rPr lang="en-US" altLang="en-US" sz="2800" dirty="0"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cs typeface="Times New Roman" panose="02020603050405020304" pitchFamily="18" charset="0"/>
              </a:rPr>
              <a:t>sai</a:t>
            </a:r>
            <a:r>
              <a:rPr lang="en-US" altLang="en-US" sz="2800" dirty="0">
                <a:cs typeface="Times New Roman" panose="02020603050405020304" pitchFamily="18" charset="0"/>
              </a:rPr>
              <a:t>.</a:t>
            </a:r>
          </a:p>
          <a:p>
            <a:pPr marL="1371600" lvl="2" indent="-457200" eaLnBrk="1" hangingPunct="1">
              <a:buFont typeface="Wingdings" panose="05000000000000000000" pitchFamily="2" charset="2"/>
              <a:buAutoNum type="alphaLcPeriod"/>
            </a:pPr>
            <a:r>
              <a:rPr lang="en-US" altLang="en-US" sz="2800" dirty="0">
                <a:cs typeface="Times New Roman" panose="02020603050405020304" pitchFamily="18" charset="0"/>
              </a:rPr>
              <a:t> </a:t>
            </a:r>
            <a:r>
              <a:rPr lang="en-US" altLang="en-US" sz="2800" i="1" dirty="0">
                <a:cs typeface="Times New Roman" panose="02020603050405020304" pitchFamily="18" charset="0"/>
              </a:rPr>
              <a:t>A</a:t>
            </a:r>
            <a:r>
              <a:rPr lang="en-US" altLang="en-US" sz="2800" dirty="0"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cs typeface="Times New Roman" panose="02020603050405020304" pitchFamily="18" charset="0"/>
              </a:rPr>
              <a:t>là</a:t>
            </a:r>
            <a:r>
              <a:rPr lang="en-US" altLang="en-US" sz="2800" dirty="0"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cs typeface="Times New Roman" panose="02020603050405020304" pitchFamily="18" charset="0"/>
              </a:rPr>
              <a:t>một</a:t>
            </a:r>
            <a:r>
              <a:rPr lang="en-US" altLang="en-US" sz="2800" dirty="0">
                <a:cs typeface="Times New Roman" panose="02020603050405020304" pitchFamily="18" charset="0"/>
              </a:rPr>
              <a:t> ma </a:t>
            </a:r>
            <a:r>
              <a:rPr lang="en-US" altLang="en-US" sz="2800" dirty="0" err="1">
                <a:cs typeface="Times New Roman" panose="02020603050405020304" pitchFamily="18" charset="0"/>
              </a:rPr>
              <a:t>trận</a:t>
            </a:r>
            <a:r>
              <a:rPr lang="en-US" altLang="en-US" sz="2800" dirty="0"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cs typeface="Times New Roman" panose="02020603050405020304" pitchFamily="18" charset="0"/>
              </a:rPr>
              <a:t>khả</a:t>
            </a:r>
            <a:r>
              <a:rPr lang="en-US" altLang="en-US" sz="2800" dirty="0"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cs typeface="Times New Roman" panose="02020603050405020304" pitchFamily="18" charset="0"/>
              </a:rPr>
              <a:t>nghịch</a:t>
            </a:r>
            <a:r>
              <a:rPr lang="en-US" altLang="en-US" sz="2800" dirty="0">
                <a:cs typeface="Times New Roman" panose="02020603050405020304" pitchFamily="18" charset="0"/>
              </a:rPr>
              <a:t>.</a:t>
            </a:r>
          </a:p>
          <a:p>
            <a:pPr marL="1371600" lvl="2" indent="-457200" eaLnBrk="1" hangingPunct="1">
              <a:buFont typeface="Wingdings" panose="05000000000000000000" pitchFamily="2" charset="2"/>
              <a:buAutoNum type="alphaLcPeriod"/>
            </a:pPr>
            <a:r>
              <a:rPr lang="en-US" altLang="en-US" sz="2800" dirty="0">
                <a:cs typeface="Times New Roman" panose="02020603050405020304" pitchFamily="18" charset="0"/>
              </a:rPr>
              <a:t> </a:t>
            </a:r>
            <a:r>
              <a:rPr lang="en-US" altLang="en-US" sz="2800" i="1" dirty="0">
                <a:cs typeface="Times New Roman" panose="02020603050405020304" pitchFamily="18" charset="0"/>
              </a:rPr>
              <a:t>A</a:t>
            </a:r>
            <a:r>
              <a:rPr lang="en-US" altLang="en-US" sz="2800" dirty="0"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cs typeface="Times New Roman" panose="02020603050405020304" pitchFamily="18" charset="0"/>
              </a:rPr>
              <a:t>tương</a:t>
            </a:r>
            <a:r>
              <a:rPr lang="en-US" altLang="en-US" sz="2800" dirty="0"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cs typeface="Times New Roman" panose="02020603050405020304" pitchFamily="18" charset="0"/>
              </a:rPr>
              <a:t>đương</a:t>
            </a:r>
            <a:r>
              <a:rPr lang="en-US" altLang="en-US" sz="2800" dirty="0"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cs typeface="Times New Roman" panose="02020603050405020304" pitchFamily="18" charset="0"/>
              </a:rPr>
              <a:t>hàng</a:t>
            </a:r>
            <a:r>
              <a:rPr lang="en-US" altLang="en-US" sz="2800" dirty="0"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cs typeface="Times New Roman" panose="02020603050405020304" pitchFamily="18" charset="0"/>
              </a:rPr>
              <a:t>với</a:t>
            </a:r>
            <a:r>
              <a:rPr lang="en-US" altLang="en-US" sz="2800" dirty="0">
                <a:cs typeface="Times New Roman" panose="02020603050405020304" pitchFamily="18" charset="0"/>
              </a:rPr>
              <a:t> ma </a:t>
            </a:r>
            <a:r>
              <a:rPr lang="en-US" altLang="en-US" sz="2800" dirty="0" err="1">
                <a:cs typeface="Times New Roman" panose="02020603050405020304" pitchFamily="18" charset="0"/>
              </a:rPr>
              <a:t>trận</a:t>
            </a:r>
            <a:r>
              <a:rPr lang="en-US" altLang="en-US" sz="2800" dirty="0"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cs typeface="Times New Roman" panose="02020603050405020304" pitchFamily="18" charset="0"/>
              </a:rPr>
              <a:t>đơn</a:t>
            </a:r>
            <a:r>
              <a:rPr lang="en-US" altLang="en-US" sz="2800" dirty="0"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cs typeface="Times New Roman" panose="02020603050405020304" pitchFamily="18" charset="0"/>
              </a:rPr>
              <a:t>vị</a:t>
            </a:r>
            <a:r>
              <a:rPr lang="en-US" altLang="en-US" sz="2800" dirty="0"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cs typeface="Times New Roman" panose="02020603050405020304" pitchFamily="18" charset="0"/>
              </a:rPr>
              <a:t>cấp</a:t>
            </a:r>
            <a:r>
              <a:rPr lang="en-US" altLang="en-US" sz="2800" dirty="0">
                <a:cs typeface="Times New Roman" panose="02020603050405020304" pitchFamily="18" charset="0"/>
              </a:rPr>
              <a:t> n.</a:t>
            </a:r>
          </a:p>
          <a:p>
            <a:pPr marL="1371600" lvl="2" indent="-457200" eaLnBrk="1" hangingPunct="1">
              <a:buFont typeface="Wingdings" panose="05000000000000000000" pitchFamily="2" charset="2"/>
              <a:buAutoNum type="alphaLcPeriod"/>
            </a:pPr>
            <a:r>
              <a:rPr lang="en-US" altLang="en-US" sz="2800" dirty="0">
                <a:cs typeface="Times New Roman" panose="02020603050405020304" pitchFamily="18" charset="0"/>
              </a:rPr>
              <a:t> </a:t>
            </a:r>
            <a:r>
              <a:rPr lang="en-US" altLang="en-US" sz="2800" i="1" dirty="0">
                <a:cs typeface="Times New Roman" panose="02020603050405020304" pitchFamily="18" charset="0"/>
              </a:rPr>
              <a:t>A</a:t>
            </a:r>
            <a:r>
              <a:rPr lang="en-US" altLang="en-US" sz="2800" dirty="0"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cs typeface="Times New Roman" panose="02020603050405020304" pitchFamily="18" charset="0"/>
              </a:rPr>
              <a:t>có</a:t>
            </a:r>
            <a:r>
              <a:rPr lang="en-US" altLang="en-US" sz="2800" dirty="0">
                <a:cs typeface="Times New Roman" panose="02020603050405020304" pitchFamily="18" charset="0"/>
              </a:rPr>
              <a:t> </a:t>
            </a:r>
            <a:r>
              <a:rPr lang="en-US" altLang="en-US" sz="2800" i="1" dirty="0">
                <a:cs typeface="Times New Roman" panose="02020603050405020304" pitchFamily="18" charset="0"/>
              </a:rPr>
              <a:t>n </a:t>
            </a:r>
            <a:r>
              <a:rPr lang="en-US" altLang="en-US" sz="2800" dirty="0" err="1">
                <a:cs typeface="Times New Roman" panose="02020603050405020304" pitchFamily="18" charset="0"/>
              </a:rPr>
              <a:t>vị</a:t>
            </a:r>
            <a:r>
              <a:rPr lang="en-US" altLang="en-US" sz="2800" dirty="0"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cs typeface="Times New Roman" panose="02020603050405020304" pitchFamily="18" charset="0"/>
              </a:rPr>
              <a:t>trí</a:t>
            </a:r>
            <a:r>
              <a:rPr lang="en-US" altLang="en-US" sz="2800" dirty="0"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cs typeface="Times New Roman" panose="02020603050405020304" pitchFamily="18" charset="0"/>
              </a:rPr>
              <a:t>chốt</a:t>
            </a:r>
            <a:r>
              <a:rPr lang="en-US" altLang="en-US" sz="2800" dirty="0">
                <a:cs typeface="Times New Roman" panose="02020603050405020304" pitchFamily="18" charset="0"/>
              </a:rPr>
              <a:t>.</a:t>
            </a:r>
          </a:p>
          <a:p>
            <a:pPr marL="1371600" lvl="2" indent="-457200" eaLnBrk="1" hangingPunct="1">
              <a:buFont typeface="Wingdings" panose="05000000000000000000" pitchFamily="2" charset="2"/>
              <a:buAutoNum type="alphaLcPeriod"/>
            </a:pPr>
            <a:r>
              <a:rPr lang="en-US" altLang="en-US" sz="2800" dirty="0">
                <a:cs typeface="Times New Roman" panose="02020603050405020304" pitchFamily="18" charset="0"/>
              </a:rPr>
              <a:t>P</a:t>
            </a:r>
            <a:r>
              <a:rPr lang="vi-VN" altLang="en-US" sz="2800" dirty="0">
                <a:cs typeface="Times New Roman" panose="02020603050405020304" pitchFamily="18" charset="0"/>
              </a:rPr>
              <a:t>hương trình</a:t>
            </a:r>
            <a:r>
              <a:rPr lang="en-US" altLang="en-US" sz="2800" dirty="0">
                <a:cs typeface="Times New Roman" panose="02020603050405020304" pitchFamily="18" charset="0"/>
              </a:rPr>
              <a:t>              </a:t>
            </a:r>
            <a:r>
              <a:rPr lang="en-US" altLang="en-US" sz="2800" dirty="0" err="1">
                <a:cs typeface="Times New Roman" panose="02020603050405020304" pitchFamily="18" charset="0"/>
              </a:rPr>
              <a:t>chỉ</a:t>
            </a:r>
            <a:r>
              <a:rPr lang="en-US" altLang="en-US" sz="2800" dirty="0"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cs typeface="Times New Roman" panose="02020603050405020304" pitchFamily="18" charset="0"/>
              </a:rPr>
              <a:t>có</a:t>
            </a:r>
            <a:r>
              <a:rPr lang="en-US" altLang="en-US" sz="2800" dirty="0"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cs typeface="Times New Roman" panose="02020603050405020304" pitchFamily="18" charset="0"/>
              </a:rPr>
              <a:t>nghiệm</a:t>
            </a:r>
            <a:r>
              <a:rPr lang="en-US" altLang="en-US" sz="2800" dirty="0"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cs typeface="Times New Roman" panose="02020603050405020304" pitchFamily="18" charset="0"/>
              </a:rPr>
              <a:t>tầm</a:t>
            </a:r>
            <a:r>
              <a:rPr lang="en-US" altLang="en-US" sz="2800" dirty="0"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cs typeface="Times New Roman" panose="02020603050405020304" pitchFamily="18" charset="0"/>
              </a:rPr>
              <a:t>thường</a:t>
            </a:r>
            <a:endParaRPr lang="en-US" altLang="en-US" sz="2800" dirty="0">
              <a:cs typeface="Times New Roman" panose="02020603050405020304" pitchFamily="18" charset="0"/>
            </a:endParaRPr>
          </a:p>
          <a:p>
            <a:pPr marL="1371600" lvl="2" indent="-457200" eaLnBrk="1" hangingPunct="1">
              <a:buFont typeface="Wingdings" panose="05000000000000000000" pitchFamily="2" charset="2"/>
              <a:buAutoNum type="alphaLcPeriod"/>
            </a:pPr>
            <a:r>
              <a:rPr lang="en-US" altLang="en-US" sz="2800" dirty="0" err="1">
                <a:cs typeface="Times New Roman" panose="02020603050405020304" pitchFamily="18" charset="0"/>
              </a:rPr>
              <a:t>Tập</a:t>
            </a:r>
            <a:r>
              <a:rPr lang="en-US" altLang="en-US" sz="2800" dirty="0"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cs typeface="Times New Roman" panose="02020603050405020304" pitchFamily="18" charset="0"/>
              </a:rPr>
              <a:t>các</a:t>
            </a:r>
            <a:r>
              <a:rPr lang="en-US" altLang="en-US" sz="2800" dirty="0"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cs typeface="Times New Roman" panose="02020603050405020304" pitchFamily="18" charset="0"/>
              </a:rPr>
              <a:t>vectơ</a:t>
            </a:r>
            <a:r>
              <a:rPr lang="en-US" altLang="en-US" sz="2800" dirty="0"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cs typeface="Times New Roman" panose="02020603050405020304" pitchFamily="18" charset="0"/>
              </a:rPr>
              <a:t>cột</a:t>
            </a:r>
            <a:r>
              <a:rPr lang="en-US" altLang="en-US" sz="2800" dirty="0"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cs typeface="Times New Roman" panose="02020603050405020304" pitchFamily="18" charset="0"/>
              </a:rPr>
              <a:t>của</a:t>
            </a:r>
            <a:r>
              <a:rPr lang="en-US" altLang="en-US" sz="2800" dirty="0">
                <a:cs typeface="Times New Roman" panose="02020603050405020304" pitchFamily="18" charset="0"/>
              </a:rPr>
              <a:t> </a:t>
            </a:r>
            <a:r>
              <a:rPr lang="en-US" altLang="en-US" sz="2800" i="1" dirty="0">
                <a:cs typeface="Times New Roman" panose="02020603050405020304" pitchFamily="18" charset="0"/>
              </a:rPr>
              <a:t>A</a:t>
            </a:r>
            <a:r>
              <a:rPr lang="en-US" altLang="en-US" sz="2800" dirty="0"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cs typeface="Times New Roman" panose="02020603050405020304" pitchFamily="18" charset="0"/>
              </a:rPr>
              <a:t>là</a:t>
            </a:r>
            <a:r>
              <a:rPr lang="en-US" altLang="en-US" sz="2800" dirty="0"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cs typeface="Times New Roman" panose="02020603050405020304" pitchFamily="18" charset="0"/>
              </a:rPr>
              <a:t>độc</a:t>
            </a:r>
            <a:r>
              <a:rPr lang="en-US" altLang="en-US" sz="2800" dirty="0"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cs typeface="Times New Roman" panose="02020603050405020304" pitchFamily="18" charset="0"/>
              </a:rPr>
              <a:t>lập</a:t>
            </a:r>
            <a:r>
              <a:rPr lang="en-US" altLang="en-US" sz="2800" dirty="0"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cs typeface="Times New Roman" panose="02020603050405020304" pitchFamily="18" charset="0"/>
              </a:rPr>
              <a:t>tuyến</a:t>
            </a:r>
            <a:r>
              <a:rPr lang="en-US" altLang="en-US" sz="2800" dirty="0"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cs typeface="Times New Roman" panose="02020603050405020304" pitchFamily="18" charset="0"/>
              </a:rPr>
              <a:t>tính</a:t>
            </a:r>
            <a:r>
              <a:rPr lang="en-US" altLang="en-US" sz="2800" dirty="0">
                <a:cs typeface="Times New Roman" panose="02020603050405020304" pitchFamily="18" charset="0"/>
              </a:rPr>
              <a:t>.</a:t>
            </a:r>
          </a:p>
        </p:txBody>
      </p:sp>
      <p:graphicFrame>
        <p:nvGraphicFramePr>
          <p:cNvPr id="316448" name="Object 3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84240271"/>
              </p:ext>
            </p:extLst>
          </p:nvPr>
        </p:nvGraphicFramePr>
        <p:xfrm>
          <a:off x="3657600" y="4267200"/>
          <a:ext cx="11303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01" name="Equation" r:id="rId4" imgW="1129810" imgH="342751" progId="">
                  <p:embed/>
                </p:oleObj>
              </mc:Choice>
              <mc:Fallback>
                <p:oleObj name="Equation" r:id="rId4" imgW="1129810" imgH="342751" progId="">
                  <p:embed/>
                  <p:pic>
                    <p:nvPicPr>
                      <p:cNvPr id="0" name="Picture 2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57600" y="4267200"/>
                        <a:ext cx="1130300" cy="342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algn="r"/>
            <a:r>
              <a:rPr lang="en-US" altLang="en-US" sz="1200">
                <a:latin typeface="Arial" panose="020B0604020202020204" pitchFamily="34" charset="0"/>
              </a:rPr>
              <a:t>Slide 2.3- </a:t>
            </a:r>
            <a:fld id="{FBBB2B08-728D-4FC3-A837-2C8A2089FE41}" type="slidenum">
              <a:rPr lang="en-US" altLang="en-US" sz="1200">
                <a:latin typeface="Arial" panose="020B0604020202020204" pitchFamily="34" charset="0"/>
              </a:rPr>
              <a:pPr algn="r"/>
              <a:t>3</a:t>
            </a:fld>
            <a:endParaRPr lang="en-CA" altLang="en-US" sz="1200">
              <a:latin typeface="Arial" panose="020B0604020202020204" pitchFamily="34" charset="0"/>
            </a:endParaRPr>
          </a:p>
        </p:txBody>
      </p:sp>
      <p:sp>
        <p:nvSpPr>
          <p:cNvPr id="819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ĐỊNH LÍ MA TRẬN KHẢ NGHỊCH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95299" name="Rectangle 3"/>
              <p:cNvSpPr>
                <a:spLocks noGrp="1" noChangeArrowheads="1"/>
              </p:cNvSpPr>
              <p:nvPr>
                <p:ph type="body" idx="1"/>
              </p:nvPr>
            </p:nvSpPr>
            <p:spPr>
              <a:xfrm>
                <a:off x="304800" y="1447800"/>
                <a:ext cx="8229600" cy="4876800"/>
              </a:xfrm>
            </p:spPr>
            <p:txBody>
              <a:bodyPr/>
              <a:lstStyle/>
              <a:p>
                <a:pPr marL="1371600" lvl="2" indent="-457200" eaLnBrk="1" hangingPunct="1">
                  <a:buFont typeface="Wingdings" panose="05000000000000000000" pitchFamily="2" charset="2"/>
                  <a:buAutoNum type="alphaLcPeriod" startAt="6"/>
                </a:pPr>
                <a:r>
                  <a:rPr lang="en-US" altLang="en-US" sz="2800" dirty="0" err="1"/>
                  <a:t>Phép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biến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đổi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tuyến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tính</a:t>
                </a:r>
                <a:r>
                  <a:rPr lang="en-US" altLang="en-US" sz="2800" dirty="0"/>
                  <a:t>                 </a:t>
                </a:r>
                <a:r>
                  <a:rPr lang="en-US" altLang="en-US" sz="2800" dirty="0" err="1"/>
                  <a:t>là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đơn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cấu</a:t>
                </a:r>
                <a:r>
                  <a:rPr lang="en-US" altLang="en-US" sz="2800" dirty="0"/>
                  <a:t>.</a:t>
                </a:r>
              </a:p>
              <a:p>
                <a:pPr marL="1371600" lvl="2" indent="-457200" eaLnBrk="1" hangingPunct="1">
                  <a:buFont typeface="Wingdings" panose="05000000000000000000" pitchFamily="2" charset="2"/>
                  <a:buAutoNum type="alphaLcPeriod" startAt="6"/>
                </a:pPr>
                <a:r>
                  <a:rPr lang="en-US" altLang="en-US" sz="2800" dirty="0"/>
                  <a:t>P</a:t>
                </a:r>
                <a:r>
                  <a:rPr lang="vi-VN" altLang="en-US" sz="2800" dirty="0"/>
                  <a:t>hương trình</a:t>
                </a:r>
                <a:r>
                  <a:rPr lang="en-US" altLang="en-US" sz="2800" dirty="0"/>
                  <a:t>              </a:t>
                </a:r>
                <a:r>
                  <a:rPr lang="en-US" altLang="en-US" sz="2800" dirty="0" err="1"/>
                  <a:t>có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ít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nhất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một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nghiệm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với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mỗi</a:t>
                </a:r>
                <a:r>
                  <a:rPr lang="en-US" altLang="en-US" sz="2800" dirty="0"/>
                  <a:t> b </a:t>
                </a:r>
                <a:r>
                  <a:rPr lang="en-US" altLang="en-US" sz="2800" dirty="0" err="1"/>
                  <a:t>trong</a:t>
                </a:r>
                <a:r>
                  <a:rPr lang="en-US" altLang="en-US" sz="2800" dirty="0"/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en-US" sz="28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en-US" sz="28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n-US" altLang="en-US" sz="28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en-US" altLang="en-US" sz="2800" dirty="0"/>
                  <a:t>.</a:t>
                </a:r>
              </a:p>
              <a:p>
                <a:pPr marL="1371600" lvl="2" indent="-457200" eaLnBrk="1" hangingPunct="1">
                  <a:buFont typeface="Wingdings" panose="05000000000000000000" pitchFamily="2" charset="2"/>
                  <a:buAutoNum type="alphaLcPeriod" startAt="6"/>
                </a:pPr>
                <a:r>
                  <a:rPr lang="en-US" altLang="en-US" sz="2800" dirty="0" err="1"/>
                  <a:t>Các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cột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của</a:t>
                </a:r>
                <a:r>
                  <a:rPr lang="en-US" altLang="en-US" sz="2800" dirty="0"/>
                  <a:t> </a:t>
                </a:r>
                <a:r>
                  <a:rPr lang="en-US" altLang="en-US" sz="2800" i="1" dirty="0"/>
                  <a:t>A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sinh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ra</a:t>
                </a:r>
                <a:r>
                  <a:rPr lang="en-US" altLang="en-US" sz="2800" dirty="0"/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en-US" sz="28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en-US" sz="28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n-US" altLang="en-US" sz="28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en-US" altLang="en-US" sz="2800" dirty="0"/>
                  <a:t>.</a:t>
                </a:r>
              </a:p>
              <a:p>
                <a:pPr marL="1371600" lvl="2" indent="-457200" eaLnBrk="1" hangingPunct="1">
                  <a:buFont typeface="Wingdings" panose="05000000000000000000" pitchFamily="2" charset="2"/>
                  <a:buAutoNum type="alphaLcPeriod" startAt="6"/>
                </a:pPr>
                <a:r>
                  <a:rPr lang="en-US" altLang="en-US" sz="2800" dirty="0" err="1"/>
                  <a:t>Phép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biến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đổi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tuyến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tính</a:t>
                </a:r>
                <a:r>
                  <a:rPr lang="en-US" altLang="en-US" sz="2800" dirty="0"/>
                  <a:t>                 </a:t>
                </a:r>
                <a:r>
                  <a:rPr lang="en-US" altLang="en-US" sz="2800" dirty="0" err="1"/>
                  <a:t>ánh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xạ</a:t>
                </a:r>
                <a:r>
                  <a:rPr lang="en-US" altLang="en-US" sz="2800" dirty="0"/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en-US" sz="28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en-US" sz="28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n-US" altLang="en-US" sz="28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en-US" altLang="en-US" sz="2800" dirty="0"/>
                  <a:t>     lên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en-US" sz="28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en-US" sz="28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n-US" altLang="en-US" sz="28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en-US" altLang="en-US" sz="2800" dirty="0"/>
                  <a:t> (</a:t>
                </a:r>
                <a:r>
                  <a:rPr lang="en-US" altLang="en-US" sz="2800" dirty="0" err="1"/>
                  <a:t>toàn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cấu</a:t>
                </a:r>
                <a:r>
                  <a:rPr lang="en-US" altLang="en-US" sz="2800" dirty="0"/>
                  <a:t>).</a:t>
                </a:r>
              </a:p>
              <a:p>
                <a:pPr marL="1371600" lvl="2" indent="-457200" eaLnBrk="1" hangingPunct="1">
                  <a:buFont typeface="Wingdings" panose="05000000000000000000" pitchFamily="2" charset="2"/>
                  <a:buAutoNum type="alphaLcPeriod" startAt="6"/>
                </a:pPr>
                <a:r>
                  <a:rPr lang="en-US" altLang="en-US" sz="2800" dirty="0" err="1"/>
                  <a:t>Có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một</a:t>
                </a:r>
                <a:r>
                  <a:rPr lang="en-US" altLang="en-US" sz="2800" dirty="0"/>
                  <a:t> ma </a:t>
                </a:r>
                <a:r>
                  <a:rPr lang="en-US" altLang="en-US" sz="2800" dirty="0" err="1"/>
                  <a:t>trận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vuông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cấp</a:t>
                </a:r>
                <a:r>
                  <a:rPr lang="en-US" altLang="en-US" sz="2800" dirty="0"/>
                  <a:t> n </a:t>
                </a:r>
                <a:r>
                  <a:rPr lang="en-US" altLang="en-US" sz="2800" i="1" dirty="0"/>
                  <a:t>C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sao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cho</a:t>
                </a:r>
                <a:r>
                  <a:rPr lang="en-US" altLang="en-US" sz="2800" dirty="0"/>
                  <a:t>              </a:t>
                </a:r>
              </a:p>
              <a:p>
                <a:pPr marL="1371600" lvl="2" indent="-457200" eaLnBrk="1" hangingPunct="1">
                  <a:buFont typeface="Wingdings" panose="05000000000000000000" pitchFamily="2" charset="2"/>
                  <a:buAutoNum type="alphaLcPeriod" startAt="6"/>
                </a:pPr>
                <a:r>
                  <a:rPr lang="en-US" altLang="en-US" sz="2800" dirty="0" err="1"/>
                  <a:t>Có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một</a:t>
                </a:r>
                <a:r>
                  <a:rPr lang="en-US" altLang="en-US" sz="2800" dirty="0"/>
                  <a:t> ma </a:t>
                </a:r>
                <a:r>
                  <a:rPr lang="en-US" altLang="en-US" sz="2800" dirty="0" err="1"/>
                  <a:t>trận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vuông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cấp</a:t>
                </a:r>
                <a:r>
                  <a:rPr lang="en-US" altLang="en-US" sz="2800" dirty="0"/>
                  <a:t> n </a:t>
                </a:r>
                <a:r>
                  <a:rPr lang="en-US" altLang="en-US" sz="2800" i="1" dirty="0"/>
                  <a:t>D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sao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cho</a:t>
                </a:r>
                <a:r>
                  <a:rPr lang="en-US" altLang="en-US" sz="2800" dirty="0"/>
                  <a:t>              </a:t>
                </a:r>
              </a:p>
              <a:p>
                <a:pPr marL="1371600" lvl="2" indent="-457200" eaLnBrk="1" hangingPunct="1">
                  <a:buFont typeface="Wingdings" panose="05000000000000000000" pitchFamily="2" charset="2"/>
                  <a:buAutoNum type="alphaLcPeriod" startAt="6"/>
                </a:pPr>
                <a:r>
                  <a:rPr lang="en-US" altLang="en-US" sz="2800" i="1" dirty="0"/>
                  <a:t>A</a:t>
                </a:r>
                <a:r>
                  <a:rPr lang="en-US" altLang="en-US" sz="2800" i="1" baseline="30000" dirty="0"/>
                  <a:t>T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là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một</a:t>
                </a:r>
                <a:r>
                  <a:rPr lang="en-US" altLang="en-US" sz="2800" dirty="0"/>
                  <a:t> ma </a:t>
                </a:r>
                <a:r>
                  <a:rPr lang="en-US" altLang="en-US" sz="2800" dirty="0" err="1"/>
                  <a:t>trận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khả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nghịch</a:t>
                </a:r>
                <a:r>
                  <a:rPr lang="en-US" altLang="en-US" sz="2800" dirty="0"/>
                  <a:t>.</a:t>
                </a:r>
              </a:p>
            </p:txBody>
          </p:sp>
        </mc:Choice>
        <mc:Fallback>
          <p:sp>
            <p:nvSpPr>
              <p:cNvPr id="695299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304800" y="1447800"/>
                <a:ext cx="8229600" cy="4876800"/>
              </a:xfrm>
              <a:blipFill>
                <a:blip r:embed="rId3"/>
                <a:stretch>
                  <a:fillRect t="-13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695300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91041658"/>
              </p:ext>
            </p:extLst>
          </p:nvPr>
        </p:nvGraphicFramePr>
        <p:xfrm>
          <a:off x="5283200" y="1524000"/>
          <a:ext cx="1346200" cy="330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345" name="Equation" r:id="rId4" imgW="1346200" imgH="330200" progId="">
                  <p:embed/>
                </p:oleObj>
              </mc:Choice>
              <mc:Fallback>
                <p:oleObj name="Equation" r:id="rId4" imgW="1346200" imgH="330200" progId="">
                  <p:embed/>
                  <p:pic>
                    <p:nvPicPr>
                      <p:cNvPr id="0" name="Picture 5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83200" y="1524000"/>
                        <a:ext cx="1346200" cy="3302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95301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82326685"/>
              </p:ext>
            </p:extLst>
          </p:nvPr>
        </p:nvGraphicFramePr>
        <p:xfrm>
          <a:off x="3657600" y="2057400"/>
          <a:ext cx="1143000" cy="355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346" name="Equation" r:id="rId6" imgW="1143000" imgH="355600" progId="">
                  <p:embed/>
                </p:oleObj>
              </mc:Choice>
              <mc:Fallback>
                <p:oleObj name="Equation" r:id="rId6" imgW="1143000" imgH="355600" progId="">
                  <p:embed/>
                  <p:pic>
                    <p:nvPicPr>
                      <p:cNvPr id="0" name="Picture 5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57600" y="2057400"/>
                        <a:ext cx="1143000" cy="355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95304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48892065"/>
              </p:ext>
            </p:extLst>
          </p:nvPr>
        </p:nvGraphicFramePr>
        <p:xfrm>
          <a:off x="5288742" y="3505200"/>
          <a:ext cx="1346200" cy="330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347" name="Equation" r:id="rId8" imgW="1346200" imgH="330200" progId="">
                  <p:embed/>
                </p:oleObj>
              </mc:Choice>
              <mc:Fallback>
                <p:oleObj name="Equation" r:id="rId8" imgW="1346200" imgH="330200" progId="">
                  <p:embed/>
                  <p:pic>
                    <p:nvPicPr>
                      <p:cNvPr id="0" name="Picture 5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88742" y="3505200"/>
                        <a:ext cx="1346200" cy="3302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95308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02330585"/>
              </p:ext>
            </p:extLst>
          </p:nvPr>
        </p:nvGraphicFramePr>
        <p:xfrm>
          <a:off x="7390245" y="4458998"/>
          <a:ext cx="11303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348" name="Equation" r:id="rId10" imgW="1129810" imgH="342751" progId="">
                  <p:embed/>
                </p:oleObj>
              </mc:Choice>
              <mc:Fallback>
                <p:oleObj name="Equation" r:id="rId10" imgW="1129810" imgH="342751" progId="">
                  <p:embed/>
                  <p:pic>
                    <p:nvPicPr>
                      <p:cNvPr id="0" name="Picture 6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90245" y="4458998"/>
                        <a:ext cx="1130300" cy="342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95309" name="Object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22982152"/>
              </p:ext>
            </p:extLst>
          </p:nvPr>
        </p:nvGraphicFramePr>
        <p:xfrm>
          <a:off x="7390245" y="4953000"/>
          <a:ext cx="1206500" cy="330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349" name="Equation" r:id="rId12" imgW="1206500" imgH="330200" progId="">
                  <p:embed/>
                </p:oleObj>
              </mc:Choice>
              <mc:Fallback>
                <p:oleObj name="Equation" r:id="rId12" imgW="1206500" imgH="330200" progId="">
                  <p:embed/>
                  <p:pic>
                    <p:nvPicPr>
                      <p:cNvPr id="0" name="Picture 6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90245" y="4953000"/>
                        <a:ext cx="1206500" cy="3302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" name="Footer Placeholder 4"/>
          <p:cNvSpPr>
            <a:spLocks noGrp="1"/>
          </p:cNvSpPr>
          <p:nvPr>
            <p:ph type="ftr" sz="quarter" idx="11"/>
          </p:nvPr>
        </p:nvSpPr>
        <p:spPr bwMode="auto">
          <a:xfrm>
            <a:off x="457200" y="6305550"/>
            <a:ext cx="6324600" cy="47625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algn="l"/>
            <a:r>
              <a:rPr lang="en-US" altLang="en-US" sz="1200" dirty="0">
                <a:latin typeface="Arial" panose="020B0604020202020204" pitchFamily="34" charset="0"/>
              </a:rPr>
              <a:t> © 2016 Pearson Education, Ltd.</a:t>
            </a:r>
          </a:p>
        </p:txBody>
      </p:sp>
    </p:spTree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algn="r"/>
            <a:r>
              <a:rPr lang="en-US" altLang="en-US" sz="1200">
                <a:latin typeface="Arial" panose="020B0604020202020204" pitchFamily="34" charset="0"/>
              </a:rPr>
              <a:t>Slide 2.3- </a:t>
            </a:r>
            <a:fld id="{5D8533DE-7617-4EA9-8AF8-375D990EE7D4}" type="slidenum">
              <a:rPr lang="en-US" altLang="en-US" sz="1200">
                <a:latin typeface="Arial" panose="020B0604020202020204" pitchFamily="34" charset="0"/>
              </a:rPr>
              <a:pPr algn="r"/>
              <a:t>4</a:t>
            </a:fld>
            <a:endParaRPr lang="en-CA" altLang="en-US" sz="1200">
              <a:latin typeface="Arial" panose="020B0604020202020204" pitchFamily="34" charset="0"/>
            </a:endParaRPr>
          </a:p>
        </p:txBody>
      </p:sp>
      <p:sp>
        <p:nvSpPr>
          <p:cNvPr id="922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ĐỊNH LÍ MA TRẬN KHẢ NGHỊCH</a:t>
            </a:r>
          </a:p>
        </p:txBody>
      </p:sp>
      <p:sp>
        <p:nvSpPr>
          <p:cNvPr id="69632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143000"/>
            <a:ext cx="8229600" cy="5410200"/>
          </a:xfrm>
        </p:spPr>
        <p:txBody>
          <a:bodyPr/>
          <a:lstStyle/>
          <a:p>
            <a:pPr eaLnBrk="1" hangingPunct="1"/>
            <a:r>
              <a:rPr lang="en-US" altLang="en-US" sz="2800" dirty="0" err="1"/>
              <a:t>Đầu</a:t>
            </a:r>
            <a:r>
              <a:rPr lang="en-US" altLang="en-US" sz="2800" dirty="0"/>
              <a:t> </a:t>
            </a:r>
            <a:r>
              <a:rPr lang="en-US" altLang="en-US" sz="2800" dirty="0" err="1"/>
              <a:t>tiên</a:t>
            </a:r>
            <a:r>
              <a:rPr lang="en-US" altLang="en-US" sz="2800" dirty="0"/>
              <a:t>, ta </a:t>
            </a:r>
            <a:r>
              <a:rPr lang="en-US" altLang="en-US" sz="2800" dirty="0" err="1"/>
              <a:t>cần</a:t>
            </a:r>
            <a:r>
              <a:rPr lang="en-US" altLang="en-US" sz="2800" dirty="0"/>
              <a:t> </a:t>
            </a:r>
            <a:r>
              <a:rPr lang="en-US" altLang="en-US" sz="2800" dirty="0" err="1"/>
              <a:t>một</a:t>
            </a:r>
            <a:r>
              <a:rPr lang="en-US" altLang="en-US" sz="2800" dirty="0"/>
              <a:t> </a:t>
            </a:r>
            <a:r>
              <a:rPr lang="en-US" altLang="en-US" sz="2800" dirty="0" err="1"/>
              <a:t>vài</a:t>
            </a:r>
            <a:r>
              <a:rPr lang="en-US" altLang="en-US" sz="2800" dirty="0"/>
              <a:t> </a:t>
            </a:r>
            <a:r>
              <a:rPr lang="en-US" altLang="en-US" sz="2800" dirty="0" err="1"/>
              <a:t>kí</a:t>
            </a:r>
            <a:r>
              <a:rPr lang="en-US" altLang="en-US" sz="2800" dirty="0"/>
              <a:t> </a:t>
            </a:r>
            <a:r>
              <a:rPr lang="en-US" altLang="en-US" sz="2800" dirty="0" err="1"/>
              <a:t>hiệu</a:t>
            </a:r>
            <a:r>
              <a:rPr lang="en-US" altLang="en-US" sz="2800" dirty="0"/>
              <a:t>.</a:t>
            </a:r>
          </a:p>
          <a:p>
            <a:pPr eaLnBrk="1" hangingPunct="1"/>
            <a:r>
              <a:rPr lang="en-US" altLang="en-US" sz="2800" dirty="0" err="1"/>
              <a:t>Nếu</a:t>
            </a:r>
            <a:r>
              <a:rPr lang="en-US" altLang="en-US" sz="2800" dirty="0"/>
              <a:t> </a:t>
            </a:r>
            <a:r>
              <a:rPr lang="en-US" altLang="en-US" sz="2800" dirty="0" err="1"/>
              <a:t>phát</a:t>
            </a:r>
            <a:r>
              <a:rPr lang="en-US" altLang="en-US" sz="2800" dirty="0"/>
              <a:t> </a:t>
            </a:r>
            <a:r>
              <a:rPr lang="en-US" altLang="en-US" sz="2800" dirty="0" err="1"/>
              <a:t>biểu</a:t>
            </a:r>
            <a:r>
              <a:rPr lang="en-US" altLang="en-US" sz="2800" dirty="0"/>
              <a:t> </a:t>
            </a:r>
            <a:r>
              <a:rPr lang="en-US" altLang="en-US" sz="2800" dirty="0" err="1"/>
              <a:t>là</a:t>
            </a:r>
            <a:r>
              <a:rPr lang="en-US" altLang="en-US" sz="2800" dirty="0"/>
              <a:t> (a) </a:t>
            </a:r>
            <a:r>
              <a:rPr lang="en-US" altLang="en-US" sz="2800" dirty="0" err="1"/>
              <a:t>đúng</a:t>
            </a:r>
            <a:r>
              <a:rPr lang="en-US" altLang="en-US" sz="2800" dirty="0"/>
              <a:t> </a:t>
            </a:r>
            <a:r>
              <a:rPr lang="en-US" altLang="en-US" sz="2800" dirty="0" err="1"/>
              <a:t>luôn</a:t>
            </a:r>
            <a:r>
              <a:rPr lang="en-US" altLang="en-US" sz="2800" dirty="0"/>
              <a:t> </a:t>
            </a:r>
            <a:r>
              <a:rPr lang="en-US" altLang="en-US" sz="2800" dirty="0" err="1"/>
              <a:t>suy</a:t>
            </a:r>
            <a:r>
              <a:rPr lang="en-US" altLang="en-US" sz="2800" dirty="0"/>
              <a:t> </a:t>
            </a:r>
            <a:r>
              <a:rPr lang="en-US" altLang="en-US" sz="2800" dirty="0" err="1"/>
              <a:t>ra</a:t>
            </a:r>
            <a:r>
              <a:rPr lang="en-US" altLang="en-US" sz="2800" dirty="0"/>
              <a:t> </a:t>
            </a:r>
            <a:r>
              <a:rPr lang="en-US" altLang="en-US" sz="2800" dirty="0" err="1"/>
              <a:t>phát</a:t>
            </a:r>
            <a:r>
              <a:rPr lang="en-US" altLang="en-US" sz="2800" dirty="0"/>
              <a:t> </a:t>
            </a:r>
            <a:r>
              <a:rPr lang="en-US" altLang="en-US" sz="2800" dirty="0" err="1"/>
              <a:t>biểu</a:t>
            </a:r>
            <a:r>
              <a:rPr lang="en-US" altLang="en-US" sz="2800" dirty="0"/>
              <a:t> (j) </a:t>
            </a:r>
            <a:r>
              <a:rPr lang="en-US" altLang="en-US" sz="2800" dirty="0" err="1"/>
              <a:t>là</a:t>
            </a:r>
            <a:r>
              <a:rPr lang="en-US" altLang="en-US" sz="2800" dirty="0"/>
              <a:t> </a:t>
            </a:r>
            <a:r>
              <a:rPr lang="en-US" altLang="en-US" sz="2800" dirty="0" err="1"/>
              <a:t>đúng</a:t>
            </a:r>
            <a:r>
              <a:rPr lang="en-US" altLang="en-US" sz="2800" dirty="0"/>
              <a:t>, </a:t>
            </a:r>
            <a:r>
              <a:rPr lang="en-US" altLang="en-US" sz="2800" dirty="0" err="1"/>
              <a:t>thì</a:t>
            </a:r>
            <a:r>
              <a:rPr lang="en-US" altLang="en-US" sz="2800" dirty="0"/>
              <a:t> ta </a:t>
            </a:r>
            <a:r>
              <a:rPr lang="en-US" altLang="en-US" sz="2800" dirty="0" err="1"/>
              <a:t>nói</a:t>
            </a:r>
            <a:r>
              <a:rPr lang="en-US" altLang="en-US" sz="2800" dirty="0"/>
              <a:t> </a:t>
            </a:r>
            <a:r>
              <a:rPr lang="en-US" altLang="en-US" sz="2800" dirty="0" err="1"/>
              <a:t>rằng</a:t>
            </a:r>
            <a:r>
              <a:rPr lang="en-US" altLang="en-US" sz="2800" dirty="0"/>
              <a:t> (a) </a:t>
            </a:r>
            <a:r>
              <a:rPr lang="en-US" altLang="en-US" sz="2800" i="1" dirty="0" err="1"/>
              <a:t>suy</a:t>
            </a:r>
            <a:r>
              <a:rPr lang="en-US" altLang="en-US" sz="2800" i="1" dirty="0"/>
              <a:t> </a:t>
            </a:r>
            <a:r>
              <a:rPr lang="en-US" altLang="en-US" sz="2800" i="1" dirty="0" err="1"/>
              <a:t>ra</a:t>
            </a:r>
            <a:r>
              <a:rPr lang="en-US" altLang="en-US" sz="2800" dirty="0"/>
              <a:t> (j) </a:t>
            </a:r>
            <a:r>
              <a:rPr lang="en-US" altLang="en-US" sz="2800" dirty="0" err="1"/>
              <a:t>và</a:t>
            </a:r>
            <a:r>
              <a:rPr lang="en-US" altLang="en-US" sz="2800" dirty="0"/>
              <a:t> </a:t>
            </a:r>
            <a:r>
              <a:rPr lang="en-US" altLang="en-US" sz="2800" dirty="0" err="1"/>
              <a:t>viết</a:t>
            </a:r>
            <a:r>
              <a:rPr lang="en-US" altLang="en-US" sz="2800" dirty="0"/>
              <a:t>                 .</a:t>
            </a:r>
          </a:p>
          <a:p>
            <a:pPr eaLnBrk="1" hangingPunct="1"/>
            <a:r>
              <a:rPr lang="en-US" altLang="en-US" sz="2800" dirty="0" err="1"/>
              <a:t>Chứng</a:t>
            </a:r>
            <a:r>
              <a:rPr lang="en-US" altLang="en-US" sz="2800" dirty="0"/>
              <a:t> minh </a:t>
            </a:r>
            <a:r>
              <a:rPr lang="en-US" altLang="en-US" sz="2800" dirty="0" err="1"/>
              <a:t>sẽ</a:t>
            </a:r>
            <a:r>
              <a:rPr lang="en-US" altLang="en-US" sz="2800" dirty="0"/>
              <a:t> </a:t>
            </a:r>
            <a:r>
              <a:rPr lang="en-US" altLang="en-US" sz="2800" dirty="0" err="1"/>
              <a:t>lập</a:t>
            </a:r>
            <a:r>
              <a:rPr lang="en-US" altLang="en-US" sz="2800" dirty="0"/>
              <a:t> </a:t>
            </a:r>
            <a:r>
              <a:rPr lang="en-US" altLang="en-US" sz="2800" dirty="0" err="1"/>
              <a:t>ra</a:t>
            </a:r>
            <a:r>
              <a:rPr lang="en-US" altLang="en-US" sz="2800" dirty="0"/>
              <a:t> </a:t>
            </a:r>
            <a:r>
              <a:rPr lang="en-US" altLang="en-US" sz="2800" dirty="0" err="1"/>
              <a:t>một</a:t>
            </a:r>
            <a:r>
              <a:rPr lang="en-US" altLang="en-US" sz="2800" dirty="0"/>
              <a:t> “</a:t>
            </a:r>
            <a:r>
              <a:rPr lang="en-US" altLang="en-US" sz="2800" dirty="0" err="1"/>
              <a:t>vòng</a:t>
            </a:r>
            <a:r>
              <a:rPr lang="en-US" altLang="en-US" sz="2800" dirty="0"/>
              <a:t> </a:t>
            </a:r>
            <a:r>
              <a:rPr lang="en-US" altLang="en-US" sz="2800" dirty="0" err="1"/>
              <a:t>tròn</a:t>
            </a:r>
            <a:r>
              <a:rPr lang="en-US" altLang="en-US" sz="2800" dirty="0"/>
              <a:t>” </a:t>
            </a:r>
            <a:r>
              <a:rPr lang="en-US" altLang="en-US" sz="2800" dirty="0" err="1"/>
              <a:t>các</a:t>
            </a:r>
            <a:r>
              <a:rPr lang="en-US" altLang="en-US" sz="2800" dirty="0"/>
              <a:t> </a:t>
            </a:r>
            <a:r>
              <a:rPr lang="en-US" altLang="en-US" sz="2800" dirty="0" err="1"/>
              <a:t>suy</a:t>
            </a:r>
            <a:r>
              <a:rPr lang="en-US" altLang="en-US" sz="2800" dirty="0"/>
              <a:t> </a:t>
            </a:r>
            <a:r>
              <a:rPr lang="en-US" altLang="en-US" sz="2800" dirty="0" err="1"/>
              <a:t>ra</a:t>
            </a:r>
            <a:r>
              <a:rPr lang="en-US" altLang="en-US" sz="2800" dirty="0"/>
              <a:t> </a:t>
            </a:r>
            <a:r>
              <a:rPr lang="en-US" altLang="en-US" sz="2800" dirty="0" err="1"/>
              <a:t>như</a:t>
            </a:r>
            <a:r>
              <a:rPr lang="en-US" altLang="en-US" sz="2800" dirty="0"/>
              <a:t> </a:t>
            </a:r>
            <a:r>
              <a:rPr lang="en-US" altLang="en-US" sz="2800" dirty="0" err="1"/>
              <a:t>trong</a:t>
            </a:r>
            <a:r>
              <a:rPr lang="en-US" altLang="en-US" sz="2800" dirty="0"/>
              <a:t> </a:t>
            </a:r>
            <a:r>
              <a:rPr lang="en-US" altLang="en-US" sz="2800" dirty="0" err="1"/>
              <a:t>hình</a:t>
            </a:r>
            <a:r>
              <a:rPr lang="en-US" altLang="en-US" sz="2800" dirty="0"/>
              <a:t> </a:t>
            </a:r>
            <a:r>
              <a:rPr lang="en-US" altLang="en-US" sz="2800" dirty="0" err="1"/>
              <a:t>sau</a:t>
            </a:r>
            <a:r>
              <a:rPr lang="en-US" altLang="en-US" sz="2800" dirty="0"/>
              <a:t>.</a:t>
            </a:r>
          </a:p>
          <a:p>
            <a:pPr eaLnBrk="1" hangingPunct="1"/>
            <a:endParaRPr lang="en-US" altLang="en-US" sz="2800" dirty="0"/>
          </a:p>
          <a:p>
            <a:pPr marL="0" indent="0" eaLnBrk="1" hangingPunct="1">
              <a:buNone/>
            </a:pPr>
            <a:endParaRPr lang="en-US" altLang="en-US" sz="2800" dirty="0"/>
          </a:p>
          <a:p>
            <a:pPr eaLnBrk="1" hangingPunct="1"/>
            <a:r>
              <a:rPr lang="en-US" altLang="en-US" sz="2800" dirty="0" err="1"/>
              <a:t>Nếu</a:t>
            </a:r>
            <a:r>
              <a:rPr lang="en-US" altLang="en-US" sz="2800" dirty="0"/>
              <a:t> </a:t>
            </a:r>
            <a:r>
              <a:rPr lang="en-US" altLang="en-US" sz="2800" dirty="0" err="1"/>
              <a:t>bất</a:t>
            </a:r>
            <a:r>
              <a:rPr lang="en-US" altLang="en-US" sz="2800" dirty="0"/>
              <a:t> </a:t>
            </a:r>
            <a:r>
              <a:rPr lang="en-US" altLang="en-US" sz="2800" dirty="0" err="1"/>
              <a:t>kì</a:t>
            </a:r>
            <a:r>
              <a:rPr lang="en-US" altLang="en-US" sz="2800" dirty="0"/>
              <a:t> </a:t>
            </a:r>
            <a:r>
              <a:rPr lang="en-US" altLang="en-US" sz="2800" dirty="0" err="1"/>
              <a:t>một</a:t>
            </a:r>
            <a:r>
              <a:rPr lang="en-US" altLang="en-US" sz="2800" dirty="0"/>
              <a:t> </a:t>
            </a:r>
            <a:r>
              <a:rPr lang="en-US" altLang="en-US" sz="2800" dirty="0" err="1"/>
              <a:t>trong</a:t>
            </a:r>
            <a:r>
              <a:rPr lang="en-US" altLang="en-US" sz="2800" dirty="0"/>
              <a:t> </a:t>
            </a:r>
            <a:r>
              <a:rPr lang="en-US" altLang="en-US" sz="2800" dirty="0" err="1"/>
              <a:t>năm</a:t>
            </a:r>
            <a:r>
              <a:rPr lang="en-US" altLang="en-US" sz="2800" dirty="0"/>
              <a:t> </a:t>
            </a:r>
            <a:r>
              <a:rPr lang="en-US" altLang="en-US" sz="2800" dirty="0" err="1"/>
              <a:t>phát</a:t>
            </a:r>
            <a:r>
              <a:rPr lang="en-US" altLang="en-US" sz="2800" dirty="0"/>
              <a:t> </a:t>
            </a:r>
            <a:r>
              <a:rPr lang="en-US" altLang="en-US" sz="2800" dirty="0" err="1"/>
              <a:t>biểu</a:t>
            </a:r>
            <a:r>
              <a:rPr lang="en-US" altLang="en-US" sz="2800" dirty="0"/>
              <a:t> </a:t>
            </a:r>
            <a:r>
              <a:rPr lang="en-US" altLang="en-US" sz="2800" dirty="0" err="1"/>
              <a:t>trên</a:t>
            </a:r>
            <a:r>
              <a:rPr lang="en-US" altLang="en-US" sz="2800" dirty="0"/>
              <a:t> </a:t>
            </a:r>
            <a:r>
              <a:rPr lang="en-US" altLang="en-US" sz="2800" dirty="0" err="1"/>
              <a:t>là</a:t>
            </a:r>
            <a:r>
              <a:rPr lang="en-US" altLang="en-US" sz="2800" dirty="0"/>
              <a:t> </a:t>
            </a:r>
            <a:r>
              <a:rPr lang="en-US" altLang="en-US" sz="2800" dirty="0" err="1"/>
              <a:t>đúng</a:t>
            </a:r>
            <a:r>
              <a:rPr lang="en-US" altLang="en-US" sz="2800" dirty="0"/>
              <a:t>, </a:t>
            </a:r>
            <a:r>
              <a:rPr lang="en-US" altLang="en-US" sz="2800" dirty="0" err="1"/>
              <a:t>thì</a:t>
            </a:r>
            <a:r>
              <a:rPr lang="en-US" altLang="en-US" sz="2800" dirty="0"/>
              <a:t> </a:t>
            </a:r>
            <a:r>
              <a:rPr lang="en-US" altLang="en-US" sz="2800" dirty="0" err="1"/>
              <a:t>các</a:t>
            </a:r>
            <a:r>
              <a:rPr lang="en-US" altLang="en-US" sz="2800" dirty="0"/>
              <a:t> </a:t>
            </a:r>
            <a:r>
              <a:rPr lang="en-US" altLang="en-US" sz="2800" dirty="0" err="1"/>
              <a:t>phát</a:t>
            </a:r>
            <a:r>
              <a:rPr lang="en-US" altLang="en-US" sz="2800" dirty="0"/>
              <a:t> </a:t>
            </a:r>
            <a:r>
              <a:rPr lang="en-US" altLang="en-US" sz="2800" dirty="0" err="1"/>
              <a:t>biểu</a:t>
            </a:r>
            <a:r>
              <a:rPr lang="en-US" altLang="en-US" sz="2800" dirty="0"/>
              <a:t> </a:t>
            </a:r>
            <a:r>
              <a:rPr lang="en-US" altLang="en-US" sz="2800" dirty="0" err="1"/>
              <a:t>khác</a:t>
            </a:r>
            <a:r>
              <a:rPr lang="en-US" altLang="en-US" sz="2800" dirty="0"/>
              <a:t> </a:t>
            </a:r>
            <a:r>
              <a:rPr lang="en-US" altLang="en-US" sz="2800" dirty="0" err="1"/>
              <a:t>cũng</a:t>
            </a:r>
            <a:r>
              <a:rPr lang="en-US" altLang="en-US" sz="2800" dirty="0"/>
              <a:t> </a:t>
            </a:r>
            <a:r>
              <a:rPr lang="en-US" altLang="en-US" sz="2800" dirty="0" err="1"/>
              <a:t>đúng</a:t>
            </a:r>
            <a:r>
              <a:rPr lang="en-US" altLang="en-US" sz="2800" dirty="0"/>
              <a:t>.</a:t>
            </a:r>
          </a:p>
          <a:p>
            <a:pPr eaLnBrk="1" hangingPunct="1"/>
            <a:r>
              <a:rPr lang="en-US" altLang="en-US" sz="2800" dirty="0" err="1"/>
              <a:t>Cuối</a:t>
            </a:r>
            <a:r>
              <a:rPr lang="en-US" altLang="en-US" sz="2800" dirty="0"/>
              <a:t> </a:t>
            </a:r>
            <a:r>
              <a:rPr lang="en-US" altLang="en-US" sz="2800" dirty="0" err="1"/>
              <a:t>cùng</a:t>
            </a:r>
            <a:r>
              <a:rPr lang="en-US" altLang="en-US" sz="2800" dirty="0"/>
              <a:t>, </a:t>
            </a:r>
            <a:r>
              <a:rPr lang="en-US" altLang="en-US" sz="2800" dirty="0" err="1"/>
              <a:t>chứng</a:t>
            </a:r>
            <a:r>
              <a:rPr lang="en-US" altLang="en-US" sz="2800" dirty="0"/>
              <a:t> minh </a:t>
            </a:r>
            <a:r>
              <a:rPr lang="en-US" altLang="en-US" sz="2800" dirty="0" err="1"/>
              <a:t>sẽ</a:t>
            </a:r>
            <a:r>
              <a:rPr lang="en-US" altLang="en-US" sz="2800" dirty="0"/>
              <a:t> </a:t>
            </a:r>
            <a:r>
              <a:rPr lang="en-US" altLang="en-US" sz="2800" dirty="0" err="1"/>
              <a:t>kết</a:t>
            </a:r>
            <a:r>
              <a:rPr lang="en-US" altLang="en-US" sz="2800" dirty="0"/>
              <a:t> </a:t>
            </a:r>
            <a:r>
              <a:rPr lang="en-US" altLang="en-US" sz="2800" dirty="0" err="1"/>
              <a:t>nối</a:t>
            </a:r>
            <a:r>
              <a:rPr lang="en-US" altLang="en-US" sz="2800" dirty="0"/>
              <a:t> </a:t>
            </a:r>
            <a:r>
              <a:rPr lang="en-US" altLang="en-US" sz="2800" dirty="0" err="1"/>
              <a:t>các</a:t>
            </a:r>
            <a:r>
              <a:rPr lang="en-US" altLang="en-US" sz="2800" dirty="0"/>
              <a:t> </a:t>
            </a:r>
            <a:r>
              <a:rPr lang="en-US" altLang="en-US" sz="2800" dirty="0" err="1"/>
              <a:t>phát</a:t>
            </a:r>
            <a:r>
              <a:rPr lang="en-US" altLang="en-US" sz="2800" dirty="0"/>
              <a:t> </a:t>
            </a:r>
            <a:r>
              <a:rPr lang="en-US" altLang="en-US" sz="2800" dirty="0" err="1"/>
              <a:t>biểu</a:t>
            </a:r>
            <a:r>
              <a:rPr lang="en-US" altLang="en-US" sz="2800" dirty="0"/>
              <a:t> </a:t>
            </a:r>
            <a:r>
              <a:rPr lang="en-US" altLang="en-US" sz="2800" dirty="0" err="1"/>
              <a:t>còn</a:t>
            </a:r>
            <a:r>
              <a:rPr lang="en-US" altLang="en-US" sz="2800" dirty="0"/>
              <a:t> </a:t>
            </a:r>
            <a:r>
              <a:rPr lang="en-US" altLang="en-US" sz="2800" dirty="0" err="1"/>
              <a:t>lại</a:t>
            </a:r>
            <a:r>
              <a:rPr lang="en-US" altLang="en-US" sz="2800" dirty="0"/>
              <a:t> </a:t>
            </a:r>
            <a:r>
              <a:rPr lang="en-US" altLang="en-US" sz="2800" dirty="0" err="1"/>
              <a:t>của</a:t>
            </a:r>
            <a:r>
              <a:rPr lang="en-US" altLang="en-US" sz="2800" dirty="0"/>
              <a:t> </a:t>
            </a:r>
            <a:r>
              <a:rPr lang="en-US" altLang="en-US" sz="2800" dirty="0" err="1"/>
              <a:t>định</a:t>
            </a:r>
            <a:r>
              <a:rPr lang="en-US" altLang="en-US" sz="2800" dirty="0"/>
              <a:t> </a:t>
            </a:r>
            <a:r>
              <a:rPr lang="en-US" altLang="en-US" sz="2800" dirty="0" err="1"/>
              <a:t>lí</a:t>
            </a:r>
            <a:r>
              <a:rPr lang="en-US" altLang="en-US" sz="2800" dirty="0"/>
              <a:t> </a:t>
            </a:r>
            <a:r>
              <a:rPr lang="en-US" altLang="en-US" sz="2800" dirty="0" err="1"/>
              <a:t>với</a:t>
            </a:r>
            <a:r>
              <a:rPr lang="en-US" altLang="en-US" sz="2800" dirty="0"/>
              <a:t> </a:t>
            </a:r>
            <a:r>
              <a:rPr lang="en-US" altLang="en-US" sz="2800" dirty="0" err="1"/>
              <a:t>các</a:t>
            </a:r>
            <a:r>
              <a:rPr lang="en-US" altLang="en-US" sz="2800" dirty="0"/>
              <a:t> </a:t>
            </a:r>
            <a:r>
              <a:rPr lang="en-US" altLang="en-US" sz="2800" dirty="0" err="1"/>
              <a:t>phát</a:t>
            </a:r>
            <a:r>
              <a:rPr lang="en-US" altLang="en-US" sz="2800" dirty="0"/>
              <a:t> </a:t>
            </a:r>
            <a:r>
              <a:rPr lang="en-US" altLang="en-US" sz="2800" dirty="0" err="1"/>
              <a:t>biểu</a:t>
            </a:r>
            <a:r>
              <a:rPr lang="en-US" altLang="en-US" sz="2800" dirty="0"/>
              <a:t> </a:t>
            </a:r>
            <a:r>
              <a:rPr lang="en-US" altLang="en-US" sz="2800" dirty="0" err="1"/>
              <a:t>trong</a:t>
            </a:r>
            <a:r>
              <a:rPr lang="en-US" altLang="en-US" sz="2800" dirty="0"/>
              <a:t> </a:t>
            </a:r>
            <a:r>
              <a:rPr lang="en-US" altLang="en-US" sz="2800" dirty="0" err="1"/>
              <a:t>đường</a:t>
            </a:r>
            <a:r>
              <a:rPr lang="en-US" altLang="en-US" sz="2800" dirty="0"/>
              <a:t> </a:t>
            </a:r>
            <a:r>
              <a:rPr lang="en-US" altLang="en-US" sz="2800" dirty="0" err="1"/>
              <a:t>tròn</a:t>
            </a:r>
            <a:r>
              <a:rPr lang="en-US" altLang="en-US" sz="2800" dirty="0"/>
              <a:t>.</a:t>
            </a:r>
          </a:p>
          <a:p>
            <a:pPr eaLnBrk="1" hangingPunct="1"/>
            <a:endParaRPr lang="en-US" altLang="en-US" sz="2800" dirty="0"/>
          </a:p>
        </p:txBody>
      </p:sp>
      <p:graphicFrame>
        <p:nvGraphicFramePr>
          <p:cNvPr id="696324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20790310"/>
              </p:ext>
            </p:extLst>
          </p:nvPr>
        </p:nvGraphicFramePr>
        <p:xfrm>
          <a:off x="6763789" y="2133600"/>
          <a:ext cx="1371600" cy="3984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42" name="Equation" r:id="rId3" imgW="1485900" imgH="431800" progId="">
                  <p:embed/>
                </p:oleObj>
              </mc:Choice>
              <mc:Fallback>
                <p:oleObj name="Equation" r:id="rId3" imgW="1485900" imgH="431800" progId="">
                  <p:embed/>
                  <p:pic>
                    <p:nvPicPr>
                      <p:cNvPr id="0" name="Picture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63789" y="2133600"/>
                        <a:ext cx="1371600" cy="3984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696326" name="Picture 6" descr="2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57600" y="3124200"/>
            <a:ext cx="2057400" cy="1555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 bwMode="auto">
          <a:xfrm>
            <a:off x="457200" y="6305550"/>
            <a:ext cx="6324600" cy="47625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algn="l"/>
            <a:r>
              <a:rPr lang="en-US" altLang="en-US" sz="1200" dirty="0">
                <a:latin typeface="Arial" panose="020B0604020202020204" pitchFamily="34" charset="0"/>
              </a:rPr>
              <a:t> © 2016 Pearson Education, Ltd.</a:t>
            </a:r>
          </a:p>
        </p:txBody>
      </p:sp>
    </p:spTree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algn="r"/>
            <a:r>
              <a:rPr lang="en-US" altLang="en-US" sz="1200">
                <a:latin typeface="Arial" panose="020B0604020202020204" pitchFamily="34" charset="0"/>
              </a:rPr>
              <a:t>Slide 2.3- </a:t>
            </a:r>
            <a:fld id="{64C38C4F-12FE-46B7-A30D-73F1B06C6B4B}" type="slidenum">
              <a:rPr lang="en-US" altLang="en-US" sz="1200">
                <a:latin typeface="Arial" panose="020B0604020202020204" pitchFamily="34" charset="0"/>
              </a:rPr>
              <a:pPr algn="r"/>
              <a:t>5</a:t>
            </a:fld>
            <a:endParaRPr lang="en-CA" altLang="en-US" sz="1200">
              <a:latin typeface="Arial" panose="020B0604020202020204" pitchFamily="34" charset="0"/>
            </a:endParaRPr>
          </a:p>
        </p:txBody>
      </p:sp>
      <p:sp>
        <p:nvSpPr>
          <p:cNvPr id="1024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ĐỊNH LÍ MA TRẬN KHẢ NGHỊCH</a:t>
            </a:r>
          </a:p>
        </p:txBody>
      </p:sp>
      <p:sp>
        <p:nvSpPr>
          <p:cNvPr id="6973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143000"/>
            <a:ext cx="8229600" cy="5334000"/>
          </a:xfrm>
        </p:spPr>
        <p:txBody>
          <a:bodyPr/>
          <a:lstStyle/>
          <a:p>
            <a:pPr marL="0" indent="0" eaLnBrk="1" hangingPunct="1">
              <a:buNone/>
            </a:pPr>
            <a:r>
              <a:rPr lang="en-US" altLang="en-US" sz="2800" b="1" dirty="0" err="1"/>
              <a:t>Chứng</a:t>
            </a:r>
            <a:r>
              <a:rPr lang="en-US" altLang="en-US" sz="2800" b="1" dirty="0"/>
              <a:t> minh:</a:t>
            </a:r>
            <a:r>
              <a:rPr lang="en-US" altLang="en-US" sz="2800" dirty="0"/>
              <a:t> </a:t>
            </a:r>
            <a:r>
              <a:rPr lang="en-US" altLang="en-US" sz="2800" dirty="0" err="1"/>
              <a:t>Nếu</a:t>
            </a:r>
            <a:r>
              <a:rPr lang="en-US" altLang="en-US" sz="2800" dirty="0"/>
              <a:t> </a:t>
            </a:r>
            <a:r>
              <a:rPr lang="en-US" altLang="en-US" sz="2800" dirty="0" err="1"/>
              <a:t>phát</a:t>
            </a:r>
            <a:r>
              <a:rPr lang="en-US" altLang="en-US" sz="2800" dirty="0"/>
              <a:t> </a:t>
            </a:r>
            <a:r>
              <a:rPr lang="en-US" altLang="en-US" sz="2800" dirty="0" err="1"/>
              <a:t>biểu</a:t>
            </a:r>
            <a:r>
              <a:rPr lang="en-US" altLang="en-US" sz="2800" dirty="0"/>
              <a:t> (a) </a:t>
            </a:r>
            <a:r>
              <a:rPr lang="en-US" altLang="en-US" sz="2800" dirty="0" err="1"/>
              <a:t>đúng</a:t>
            </a:r>
            <a:r>
              <a:rPr lang="en-US" altLang="en-US" sz="2800" dirty="0"/>
              <a:t>, </a:t>
            </a:r>
            <a:r>
              <a:rPr lang="en-US" altLang="en-US" sz="2800" dirty="0" err="1"/>
              <a:t>thì</a:t>
            </a:r>
            <a:r>
              <a:rPr lang="en-US" altLang="en-US" sz="2800" dirty="0"/>
              <a:t>       </a:t>
            </a:r>
            <a:r>
              <a:rPr lang="en-US" altLang="en-US" sz="2800" dirty="0" err="1"/>
              <a:t>thay</a:t>
            </a:r>
            <a:r>
              <a:rPr lang="en-US" altLang="en-US" sz="2800" dirty="0"/>
              <a:t> </a:t>
            </a:r>
            <a:r>
              <a:rPr lang="en-US" altLang="en-US" sz="2800" dirty="0" err="1"/>
              <a:t>cho</a:t>
            </a:r>
            <a:r>
              <a:rPr lang="en-US" altLang="en-US" sz="2800" dirty="0"/>
              <a:t> </a:t>
            </a:r>
            <a:r>
              <a:rPr lang="en-US" altLang="en-US" sz="2800" i="1" dirty="0"/>
              <a:t>C</a:t>
            </a:r>
            <a:r>
              <a:rPr lang="en-US" altLang="en-US" sz="2800" dirty="0"/>
              <a:t> </a:t>
            </a:r>
            <a:r>
              <a:rPr lang="en-US" altLang="en-US" sz="2800" dirty="0" err="1"/>
              <a:t>trong</a:t>
            </a:r>
            <a:r>
              <a:rPr lang="en-US" altLang="en-US" sz="2800" dirty="0"/>
              <a:t> (j), </a:t>
            </a:r>
            <a:r>
              <a:rPr lang="en-US" altLang="en-US" sz="2800" dirty="0" err="1"/>
              <a:t>nên</a:t>
            </a:r>
            <a:r>
              <a:rPr lang="en-US" altLang="en-US" sz="2800" dirty="0"/>
              <a:t>               . </a:t>
            </a:r>
          </a:p>
          <a:p>
            <a:pPr eaLnBrk="1" hangingPunct="1"/>
            <a:r>
              <a:rPr lang="en-US" altLang="en-US" sz="2800" dirty="0" err="1"/>
              <a:t>Tiếp</a:t>
            </a:r>
            <a:r>
              <a:rPr lang="en-US" altLang="en-US" sz="2800" dirty="0"/>
              <a:t> </a:t>
            </a:r>
            <a:r>
              <a:rPr lang="en-US" altLang="en-US" sz="2800" dirty="0" err="1"/>
              <a:t>theo</a:t>
            </a:r>
            <a:r>
              <a:rPr lang="en-US" altLang="en-US" sz="2800" dirty="0"/>
              <a:t>,                . </a:t>
            </a:r>
          </a:p>
          <a:p>
            <a:pPr eaLnBrk="1" hangingPunct="1"/>
            <a:r>
              <a:rPr lang="en-US" altLang="en-US" sz="2800" dirty="0" err="1"/>
              <a:t>Tương</a:t>
            </a:r>
            <a:r>
              <a:rPr lang="en-US" altLang="en-US" sz="2800" dirty="0"/>
              <a:t> </a:t>
            </a:r>
            <a:r>
              <a:rPr lang="en-US" altLang="en-US" sz="2800" dirty="0" err="1"/>
              <a:t>tự</a:t>
            </a:r>
            <a:r>
              <a:rPr lang="en-US" altLang="en-US" sz="2800" dirty="0"/>
              <a:t>,                .</a:t>
            </a:r>
          </a:p>
          <a:p>
            <a:pPr eaLnBrk="1" hangingPunct="1"/>
            <a:r>
              <a:rPr lang="en-US" altLang="en-US" sz="2800" dirty="0" err="1"/>
              <a:t>Nếu</a:t>
            </a:r>
            <a:r>
              <a:rPr lang="en-US" altLang="en-US" sz="2800" dirty="0"/>
              <a:t> </a:t>
            </a:r>
            <a:r>
              <a:rPr lang="en-US" altLang="en-US" sz="2800" i="1" dirty="0"/>
              <a:t>A</a:t>
            </a:r>
            <a:r>
              <a:rPr lang="en-US" altLang="en-US" sz="2800" dirty="0"/>
              <a:t> </a:t>
            </a:r>
            <a:r>
              <a:rPr lang="en-US" altLang="en-US" sz="2800" dirty="0" err="1"/>
              <a:t>là</a:t>
            </a:r>
            <a:r>
              <a:rPr lang="en-US" altLang="en-US" sz="2800" dirty="0"/>
              <a:t> </a:t>
            </a:r>
            <a:r>
              <a:rPr lang="en-US" altLang="en-US" sz="2800" dirty="0" err="1"/>
              <a:t>vuông</a:t>
            </a:r>
            <a:r>
              <a:rPr lang="en-US" altLang="en-US" sz="2800" dirty="0"/>
              <a:t> </a:t>
            </a:r>
            <a:r>
              <a:rPr lang="en-US" altLang="en-US" sz="2800" dirty="0" err="1"/>
              <a:t>và</a:t>
            </a:r>
            <a:r>
              <a:rPr lang="en-US" altLang="en-US" sz="2800" dirty="0"/>
              <a:t> </a:t>
            </a:r>
            <a:r>
              <a:rPr lang="en-US" altLang="en-US" sz="2800" dirty="0" err="1"/>
              <a:t>có</a:t>
            </a:r>
            <a:r>
              <a:rPr lang="en-US" altLang="en-US" sz="2800" dirty="0"/>
              <a:t> </a:t>
            </a:r>
            <a:r>
              <a:rPr lang="en-US" altLang="en-US" sz="2800" i="1" dirty="0"/>
              <a:t>n</a:t>
            </a:r>
            <a:r>
              <a:rPr lang="en-US" altLang="en-US" sz="2800" dirty="0"/>
              <a:t> </a:t>
            </a:r>
            <a:r>
              <a:rPr lang="en-US" altLang="en-US" sz="2800" dirty="0" err="1"/>
              <a:t>vị</a:t>
            </a:r>
            <a:r>
              <a:rPr lang="en-US" altLang="en-US" sz="2800" dirty="0"/>
              <a:t> </a:t>
            </a:r>
            <a:r>
              <a:rPr lang="en-US" altLang="en-US" sz="2800" dirty="0" err="1"/>
              <a:t>trí</a:t>
            </a:r>
            <a:r>
              <a:rPr lang="en-US" altLang="en-US" sz="2800" dirty="0"/>
              <a:t> </a:t>
            </a:r>
            <a:r>
              <a:rPr lang="en-US" altLang="en-US" sz="2800" dirty="0" err="1"/>
              <a:t>chốt</a:t>
            </a:r>
            <a:r>
              <a:rPr lang="en-US" altLang="en-US" sz="2800" dirty="0"/>
              <a:t>, </a:t>
            </a:r>
            <a:r>
              <a:rPr lang="en-US" altLang="en-US" sz="2800" dirty="0" err="1"/>
              <a:t>thì</a:t>
            </a:r>
            <a:r>
              <a:rPr lang="en-US" altLang="en-US" sz="2800" dirty="0"/>
              <a:t> </a:t>
            </a:r>
            <a:r>
              <a:rPr lang="en-US" altLang="en-US" sz="2800" dirty="0" err="1"/>
              <a:t>các</a:t>
            </a:r>
            <a:r>
              <a:rPr lang="en-US" altLang="en-US" sz="2800" dirty="0"/>
              <a:t> </a:t>
            </a:r>
            <a:r>
              <a:rPr lang="en-US" altLang="en-US" sz="2800" dirty="0" err="1"/>
              <a:t>chốt</a:t>
            </a:r>
            <a:r>
              <a:rPr lang="en-US" altLang="en-US" sz="2800" dirty="0"/>
              <a:t> </a:t>
            </a:r>
            <a:r>
              <a:rPr lang="en-US" altLang="en-US" sz="2800" dirty="0" err="1"/>
              <a:t>phải</a:t>
            </a:r>
            <a:r>
              <a:rPr lang="en-US" altLang="en-US" sz="2800" dirty="0"/>
              <a:t> </a:t>
            </a:r>
            <a:r>
              <a:rPr lang="en-US" altLang="en-US" sz="2800" dirty="0" err="1"/>
              <a:t>nằm</a:t>
            </a:r>
            <a:r>
              <a:rPr lang="en-US" altLang="en-US" sz="2800" dirty="0"/>
              <a:t> </a:t>
            </a:r>
            <a:r>
              <a:rPr lang="en-US" altLang="en-US" sz="2800" dirty="0" err="1"/>
              <a:t>trên</a:t>
            </a:r>
            <a:r>
              <a:rPr lang="en-US" altLang="en-US" sz="2800" dirty="0"/>
              <a:t> </a:t>
            </a:r>
            <a:r>
              <a:rPr lang="en-US" altLang="en-US" sz="2800" dirty="0" err="1"/>
              <a:t>đường</a:t>
            </a:r>
            <a:r>
              <a:rPr lang="en-US" altLang="en-US" sz="2800" dirty="0"/>
              <a:t> </a:t>
            </a:r>
            <a:r>
              <a:rPr lang="en-US" altLang="en-US" sz="2800" dirty="0" err="1"/>
              <a:t>chéo</a:t>
            </a:r>
            <a:r>
              <a:rPr lang="en-US" altLang="en-US" sz="2800" dirty="0"/>
              <a:t> </a:t>
            </a:r>
            <a:r>
              <a:rPr lang="en-US" altLang="en-US" sz="2800" dirty="0" err="1"/>
              <a:t>chính</a:t>
            </a:r>
            <a:r>
              <a:rPr lang="en-US" altLang="en-US" sz="2800" dirty="0"/>
              <a:t>, </a:t>
            </a:r>
            <a:r>
              <a:rPr lang="en-US" altLang="en-US" sz="2800" dirty="0" err="1"/>
              <a:t>trong</a:t>
            </a:r>
            <a:r>
              <a:rPr lang="en-US" altLang="en-US" sz="2800" dirty="0"/>
              <a:t> </a:t>
            </a:r>
            <a:r>
              <a:rPr lang="en-US" altLang="en-US" sz="2800" dirty="0" err="1"/>
              <a:t>trường</a:t>
            </a:r>
            <a:r>
              <a:rPr lang="en-US" altLang="en-US" sz="2800" dirty="0"/>
              <a:t> </a:t>
            </a:r>
            <a:r>
              <a:rPr lang="en-US" altLang="en-US" sz="2800" dirty="0" err="1"/>
              <a:t>hợp</a:t>
            </a:r>
            <a:r>
              <a:rPr lang="en-US" altLang="en-US" sz="2800" dirty="0"/>
              <a:t> </a:t>
            </a:r>
            <a:r>
              <a:rPr lang="en-US" altLang="en-US" sz="2800" dirty="0" err="1"/>
              <a:t>này</a:t>
            </a:r>
            <a:r>
              <a:rPr lang="en-US" altLang="en-US" sz="2800" dirty="0"/>
              <a:t> ma </a:t>
            </a:r>
            <a:r>
              <a:rPr lang="en-US" altLang="en-US" sz="2800" dirty="0" err="1"/>
              <a:t>trận</a:t>
            </a:r>
            <a:r>
              <a:rPr lang="en-US" altLang="en-US" sz="2800" dirty="0"/>
              <a:t> </a:t>
            </a:r>
            <a:r>
              <a:rPr lang="en-US" altLang="en-US" sz="2800" dirty="0" err="1"/>
              <a:t>bậc</a:t>
            </a:r>
            <a:r>
              <a:rPr lang="en-US" altLang="en-US" sz="2800" dirty="0"/>
              <a:t> thang </a:t>
            </a:r>
            <a:r>
              <a:rPr lang="en-US" altLang="en-US" sz="2800" dirty="0" err="1"/>
              <a:t>rút</a:t>
            </a:r>
            <a:r>
              <a:rPr lang="en-US" altLang="en-US" sz="2800" dirty="0"/>
              <a:t> </a:t>
            </a:r>
            <a:r>
              <a:rPr lang="en-US" altLang="en-US" sz="2800" dirty="0" err="1"/>
              <a:t>gọn</a:t>
            </a:r>
            <a:r>
              <a:rPr lang="en-US" altLang="en-US" sz="2800" dirty="0"/>
              <a:t> </a:t>
            </a:r>
            <a:r>
              <a:rPr lang="en-US" altLang="en-US" sz="2800" dirty="0" err="1"/>
              <a:t>của</a:t>
            </a:r>
            <a:r>
              <a:rPr lang="en-US" altLang="en-US" sz="2800" dirty="0"/>
              <a:t> </a:t>
            </a:r>
            <a:r>
              <a:rPr lang="en-US" altLang="en-US" sz="2800" i="1" dirty="0"/>
              <a:t>A</a:t>
            </a:r>
            <a:r>
              <a:rPr lang="en-US" altLang="en-US" sz="2800" dirty="0"/>
              <a:t> </a:t>
            </a:r>
            <a:r>
              <a:rPr lang="en-US" altLang="en-US" sz="2800" dirty="0" err="1"/>
              <a:t>là</a:t>
            </a:r>
            <a:r>
              <a:rPr lang="en-US" altLang="en-US" sz="2800" dirty="0"/>
              <a:t> </a:t>
            </a:r>
            <a:r>
              <a:rPr lang="en-US" altLang="en-US" sz="2800" i="1" dirty="0"/>
              <a:t>I</a:t>
            </a:r>
            <a:r>
              <a:rPr lang="en-US" altLang="en-US" sz="2800" i="1" baseline="-25000" dirty="0"/>
              <a:t>n</a:t>
            </a:r>
            <a:r>
              <a:rPr lang="en-US" altLang="en-US" sz="2800" dirty="0"/>
              <a:t>.</a:t>
            </a:r>
          </a:p>
          <a:p>
            <a:pPr eaLnBrk="1" hangingPunct="1"/>
            <a:r>
              <a:rPr lang="en-US" altLang="en-US" sz="2800" dirty="0"/>
              <a:t>Do </a:t>
            </a:r>
            <a:r>
              <a:rPr lang="en-US" altLang="en-US" sz="2800" dirty="0" err="1"/>
              <a:t>đó</a:t>
            </a:r>
            <a:r>
              <a:rPr lang="en-US" altLang="en-US" sz="2800" dirty="0"/>
              <a:t>                .</a:t>
            </a:r>
          </a:p>
          <a:p>
            <a:pPr eaLnBrk="1" hangingPunct="1"/>
            <a:r>
              <a:rPr lang="en-US" altLang="en-US" sz="2800" dirty="0" err="1"/>
              <a:t>Tương</a:t>
            </a:r>
            <a:r>
              <a:rPr lang="en-US" altLang="en-US" sz="2800" dirty="0"/>
              <a:t> </a:t>
            </a:r>
            <a:r>
              <a:rPr lang="en-US" altLang="en-US" sz="2800" dirty="0" err="1"/>
              <a:t>tự</a:t>
            </a:r>
            <a:r>
              <a:rPr lang="en-US" altLang="en-US" sz="2800" dirty="0"/>
              <a:t>,                .</a:t>
            </a:r>
          </a:p>
        </p:txBody>
      </p:sp>
      <p:graphicFrame>
        <p:nvGraphicFramePr>
          <p:cNvPr id="697348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30078266"/>
              </p:ext>
            </p:extLst>
          </p:nvPr>
        </p:nvGraphicFramePr>
        <p:xfrm>
          <a:off x="2819400" y="1685130"/>
          <a:ext cx="1295400" cy="382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66" name="Equation" r:id="rId3" imgW="1459866" imgH="431613" progId="">
                  <p:embed/>
                </p:oleObj>
              </mc:Choice>
              <mc:Fallback>
                <p:oleObj name="Equation" r:id="rId3" imgW="1459866" imgH="431613" progId="">
                  <p:embed/>
                  <p:pic>
                    <p:nvPicPr>
                      <p:cNvPr id="0" name="Picture 4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19400" y="1685130"/>
                        <a:ext cx="1295400" cy="3825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97349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63080248"/>
              </p:ext>
            </p:extLst>
          </p:nvPr>
        </p:nvGraphicFramePr>
        <p:xfrm>
          <a:off x="2438400" y="2133600"/>
          <a:ext cx="1371600" cy="3952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67" name="Equation" r:id="rId5" imgW="1497950" imgH="431613" progId="">
                  <p:embed/>
                </p:oleObj>
              </mc:Choice>
              <mc:Fallback>
                <p:oleObj name="Equation" r:id="rId5" imgW="1497950" imgH="431613" progId="">
                  <p:embed/>
                  <p:pic>
                    <p:nvPicPr>
                      <p:cNvPr id="0" name="Picture 4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38400" y="2133600"/>
                        <a:ext cx="1371600" cy="3952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97350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94856316"/>
              </p:ext>
            </p:extLst>
          </p:nvPr>
        </p:nvGraphicFramePr>
        <p:xfrm>
          <a:off x="2438400" y="2662237"/>
          <a:ext cx="1371600" cy="3857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68" name="Equation" r:id="rId7" imgW="1536700" imgH="431800" progId="">
                  <p:embed/>
                </p:oleObj>
              </mc:Choice>
              <mc:Fallback>
                <p:oleObj name="Equation" r:id="rId7" imgW="1536700" imgH="431800" progId="">
                  <p:embed/>
                  <p:pic>
                    <p:nvPicPr>
                      <p:cNvPr id="0" name="Picture 4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38400" y="2662237"/>
                        <a:ext cx="1371600" cy="3857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97351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42884022"/>
              </p:ext>
            </p:extLst>
          </p:nvPr>
        </p:nvGraphicFramePr>
        <p:xfrm>
          <a:off x="1905000" y="4570412"/>
          <a:ext cx="1371600" cy="3857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69" name="Equation" r:id="rId9" imgW="1536700" imgH="431800" progId="">
                  <p:embed/>
                </p:oleObj>
              </mc:Choice>
              <mc:Fallback>
                <p:oleObj name="Equation" r:id="rId9" imgW="1536700" imgH="431800" progId="">
                  <p:embed/>
                  <p:pic>
                    <p:nvPicPr>
                      <p:cNvPr id="0" name="Picture 4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05000" y="4570412"/>
                        <a:ext cx="1371600" cy="3857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97352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57399111"/>
              </p:ext>
            </p:extLst>
          </p:nvPr>
        </p:nvGraphicFramePr>
        <p:xfrm>
          <a:off x="2438400" y="5029200"/>
          <a:ext cx="1371600" cy="3857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70" name="Equation" r:id="rId11" imgW="1536700" imgH="431800" progId="">
                  <p:embed/>
                </p:oleObj>
              </mc:Choice>
              <mc:Fallback>
                <p:oleObj name="Equation" r:id="rId11" imgW="1536700" imgH="431800" progId="">
                  <p:embed/>
                  <p:pic>
                    <p:nvPicPr>
                      <p:cNvPr id="0" name="Picture 4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38400" y="5029200"/>
                        <a:ext cx="1371600" cy="3857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97354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43714757"/>
              </p:ext>
            </p:extLst>
          </p:nvPr>
        </p:nvGraphicFramePr>
        <p:xfrm>
          <a:off x="6565900" y="1143000"/>
          <a:ext cx="5207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71" name="Equation" r:id="rId13" imgW="520474" imgH="393529" progId="">
                  <p:embed/>
                </p:oleObj>
              </mc:Choice>
              <mc:Fallback>
                <p:oleObj name="Equation" r:id="rId13" imgW="520474" imgH="393529" progId="">
                  <p:embed/>
                  <p:pic>
                    <p:nvPicPr>
                      <p:cNvPr id="0" name="Picture 4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65900" y="1143000"/>
                        <a:ext cx="520700" cy="3937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Footer Placeholder 4"/>
          <p:cNvSpPr>
            <a:spLocks noGrp="1"/>
          </p:cNvSpPr>
          <p:nvPr>
            <p:ph type="ftr" sz="quarter" idx="11"/>
          </p:nvPr>
        </p:nvSpPr>
        <p:spPr bwMode="auto">
          <a:xfrm>
            <a:off x="457200" y="6305550"/>
            <a:ext cx="6324600" cy="47625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algn="l"/>
            <a:r>
              <a:rPr lang="en-US" altLang="en-US" sz="1200" dirty="0">
                <a:latin typeface="Arial" panose="020B0604020202020204" pitchFamily="34" charset="0"/>
              </a:rPr>
              <a:t> © 2016 Pearson Education, Ltd.</a:t>
            </a:r>
          </a:p>
        </p:txBody>
      </p:sp>
    </p:spTree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algn="r"/>
            <a:r>
              <a:rPr lang="en-US" altLang="en-US" sz="1200">
                <a:latin typeface="Arial" panose="020B0604020202020204" pitchFamily="34" charset="0"/>
              </a:rPr>
              <a:t>Slide 2.3- </a:t>
            </a:r>
            <a:fld id="{9C47FF30-A1BC-4EF6-B041-C852F5595654}" type="slidenum">
              <a:rPr lang="en-US" altLang="en-US" sz="1200">
                <a:latin typeface="Arial" panose="020B0604020202020204" pitchFamily="34" charset="0"/>
              </a:rPr>
              <a:pPr algn="r"/>
              <a:t>6</a:t>
            </a:fld>
            <a:endParaRPr lang="en-CA" altLang="en-US" sz="1200">
              <a:latin typeface="Arial" panose="020B0604020202020204" pitchFamily="34" charset="0"/>
            </a:endParaRPr>
          </a:p>
        </p:txBody>
      </p:sp>
      <p:sp>
        <p:nvSpPr>
          <p:cNvPr id="1126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ĐỊNH LÍ MA TRẬN KHẢ NGHỊCH</a:t>
            </a:r>
          </a:p>
        </p:txBody>
      </p:sp>
      <p:sp>
        <p:nvSpPr>
          <p:cNvPr id="69837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371600"/>
            <a:ext cx="8229600" cy="51816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 sz="2800" dirty="0" err="1"/>
              <a:t>Điều</a:t>
            </a:r>
            <a:r>
              <a:rPr lang="en-US" altLang="en-US" sz="2800" dirty="0"/>
              <a:t> </a:t>
            </a:r>
            <a:r>
              <a:rPr lang="en-US" altLang="en-US" sz="2800" dirty="0" err="1"/>
              <a:t>này</a:t>
            </a:r>
            <a:r>
              <a:rPr lang="en-US" altLang="en-US" sz="2800" dirty="0"/>
              <a:t> </a:t>
            </a:r>
            <a:r>
              <a:rPr lang="en-US" altLang="en-US" sz="2800" dirty="0" err="1"/>
              <a:t>hoàn</a:t>
            </a:r>
            <a:r>
              <a:rPr lang="en-US" altLang="en-US" sz="2800" dirty="0"/>
              <a:t> </a:t>
            </a:r>
            <a:r>
              <a:rPr lang="en-US" altLang="en-US" sz="2800" dirty="0" err="1"/>
              <a:t>thành</a:t>
            </a:r>
            <a:r>
              <a:rPr lang="en-US" altLang="en-US" sz="2800" dirty="0"/>
              <a:t> </a:t>
            </a:r>
            <a:r>
              <a:rPr lang="en-US" altLang="en-US" sz="2800" dirty="0" err="1"/>
              <a:t>vòng</a:t>
            </a:r>
            <a:r>
              <a:rPr lang="en-US" altLang="en-US" sz="2800" dirty="0"/>
              <a:t> </a:t>
            </a:r>
            <a:r>
              <a:rPr lang="en-US" altLang="en-US" sz="2800" dirty="0" err="1"/>
              <a:t>tròn</a:t>
            </a:r>
            <a:r>
              <a:rPr lang="en-US" altLang="en-US" sz="2800" dirty="0"/>
              <a:t> </a:t>
            </a:r>
            <a:r>
              <a:rPr lang="en-US" altLang="en-US" sz="2800" dirty="0" err="1"/>
              <a:t>trong</a:t>
            </a:r>
            <a:r>
              <a:rPr lang="en-US" altLang="en-US" sz="2800" dirty="0"/>
              <a:t> </a:t>
            </a:r>
            <a:r>
              <a:rPr lang="en-US" altLang="en-US" sz="2800" dirty="0" err="1"/>
              <a:t>hình</a:t>
            </a:r>
            <a:r>
              <a:rPr lang="en-US" altLang="en-US" sz="2800" dirty="0"/>
              <a:t> </a:t>
            </a:r>
            <a:r>
              <a:rPr lang="en-US" altLang="en-US" sz="2800" dirty="0" err="1"/>
              <a:t>trước</a:t>
            </a:r>
            <a:r>
              <a:rPr lang="en-US" altLang="en-US" sz="2800" dirty="0"/>
              <a:t>.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800" dirty="0" err="1"/>
              <a:t>Tiếp</a:t>
            </a:r>
            <a:r>
              <a:rPr lang="en-US" altLang="en-US" sz="2800" dirty="0"/>
              <a:t> </a:t>
            </a:r>
            <a:r>
              <a:rPr lang="en-US" altLang="en-US" sz="2800" dirty="0" err="1"/>
              <a:t>theo</a:t>
            </a:r>
            <a:r>
              <a:rPr lang="en-US" altLang="en-US" sz="2800" dirty="0"/>
              <a:t>,                 </a:t>
            </a:r>
            <a:r>
              <a:rPr lang="en-US" altLang="en-US" sz="2800" dirty="0" err="1"/>
              <a:t>bởi</a:t>
            </a:r>
            <a:r>
              <a:rPr lang="en-US" altLang="en-US" sz="2800" dirty="0"/>
              <a:t> </a:t>
            </a:r>
            <a:r>
              <a:rPr lang="en-US" altLang="en-US" sz="2800" dirty="0" err="1"/>
              <a:t>vì</a:t>
            </a:r>
            <a:r>
              <a:rPr lang="en-US" altLang="en-US" sz="2800" dirty="0"/>
              <a:t>       </a:t>
            </a:r>
            <a:r>
              <a:rPr lang="en-US" altLang="en-US" sz="2800" dirty="0" err="1"/>
              <a:t>thay</a:t>
            </a:r>
            <a:r>
              <a:rPr lang="en-US" altLang="en-US" sz="2800" dirty="0"/>
              <a:t> </a:t>
            </a:r>
            <a:r>
              <a:rPr lang="en-US" altLang="en-US" sz="2800" dirty="0" err="1"/>
              <a:t>cho</a:t>
            </a:r>
            <a:r>
              <a:rPr lang="en-US" altLang="en-US" sz="2800" dirty="0"/>
              <a:t> </a:t>
            </a:r>
            <a:r>
              <a:rPr lang="en-US" altLang="en-US" sz="2800" i="1" dirty="0"/>
              <a:t>D</a:t>
            </a:r>
            <a:r>
              <a:rPr lang="en-US" altLang="en-US" sz="2800" dirty="0"/>
              <a:t>.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800" dirty="0" err="1"/>
              <a:t>Tương</a:t>
            </a:r>
            <a:r>
              <a:rPr lang="en-US" altLang="en-US" sz="2800" dirty="0"/>
              <a:t> </a:t>
            </a:r>
            <a:r>
              <a:rPr lang="en-US" altLang="en-US" sz="2800" dirty="0" err="1"/>
              <a:t>tự</a:t>
            </a:r>
            <a:r>
              <a:rPr lang="en-US" altLang="en-US" sz="2800" dirty="0"/>
              <a:t>,                  </a:t>
            </a:r>
            <a:r>
              <a:rPr lang="en-US" altLang="en-US" sz="2800" dirty="0" err="1"/>
              <a:t>và</a:t>
            </a:r>
            <a:r>
              <a:rPr lang="en-US" altLang="en-US" sz="2800" dirty="0"/>
              <a:t>                .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800" dirty="0"/>
              <a:t>Do </a:t>
            </a:r>
            <a:r>
              <a:rPr lang="en-US" altLang="en-US" sz="2800" dirty="0" err="1"/>
              <a:t>đó</a:t>
            </a:r>
            <a:r>
              <a:rPr lang="en-US" altLang="en-US" sz="2800" dirty="0"/>
              <a:t> (k) </a:t>
            </a:r>
            <a:r>
              <a:rPr lang="en-US" altLang="en-US" sz="2800" dirty="0" err="1"/>
              <a:t>và</a:t>
            </a:r>
            <a:r>
              <a:rPr lang="en-US" altLang="en-US" sz="2800" dirty="0"/>
              <a:t> (g) </a:t>
            </a:r>
            <a:r>
              <a:rPr lang="en-US" altLang="en-US" sz="2800" dirty="0" err="1"/>
              <a:t>được</a:t>
            </a:r>
            <a:r>
              <a:rPr lang="en-US" altLang="en-US" sz="2800" dirty="0"/>
              <a:t> </a:t>
            </a:r>
            <a:r>
              <a:rPr lang="en-US" altLang="en-US" sz="2800" dirty="0" err="1"/>
              <a:t>nối</a:t>
            </a:r>
            <a:r>
              <a:rPr lang="en-US" altLang="en-US" sz="2800" dirty="0"/>
              <a:t> </a:t>
            </a:r>
            <a:r>
              <a:rPr lang="en-US" altLang="en-US" sz="2800" dirty="0" err="1"/>
              <a:t>vào</a:t>
            </a:r>
            <a:r>
              <a:rPr lang="en-US" altLang="en-US" sz="2800" dirty="0"/>
              <a:t> </a:t>
            </a:r>
            <a:r>
              <a:rPr lang="en-US" altLang="en-US" sz="2800" dirty="0" err="1"/>
              <a:t>vòng</a:t>
            </a:r>
            <a:r>
              <a:rPr lang="en-US" altLang="en-US" sz="2800" dirty="0"/>
              <a:t> </a:t>
            </a:r>
            <a:r>
              <a:rPr lang="en-US" altLang="en-US" sz="2800" dirty="0" err="1"/>
              <a:t>tròn</a:t>
            </a:r>
            <a:r>
              <a:rPr lang="en-US" altLang="en-US" sz="2800" dirty="0"/>
              <a:t>.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800" dirty="0" err="1"/>
              <a:t>Ngoài</a:t>
            </a:r>
            <a:r>
              <a:rPr lang="en-US" altLang="en-US" sz="2800" dirty="0"/>
              <a:t> </a:t>
            </a:r>
            <a:r>
              <a:rPr lang="en-US" altLang="en-US" sz="2800" dirty="0" err="1"/>
              <a:t>ra</a:t>
            </a:r>
            <a:r>
              <a:rPr lang="en-US" altLang="en-US" sz="2800" dirty="0"/>
              <a:t>, (g), (h), (</a:t>
            </a:r>
            <a:r>
              <a:rPr lang="en-US" altLang="en-US" sz="2800" dirty="0" err="1"/>
              <a:t>i</a:t>
            </a:r>
            <a:r>
              <a:rPr lang="en-US" altLang="en-US" sz="2800" dirty="0"/>
              <a:t>) </a:t>
            </a:r>
            <a:r>
              <a:rPr lang="en-US" altLang="en-US" sz="2800" dirty="0" err="1"/>
              <a:t>tương</a:t>
            </a:r>
            <a:r>
              <a:rPr lang="en-US" altLang="en-US" sz="2800" dirty="0"/>
              <a:t> </a:t>
            </a:r>
            <a:r>
              <a:rPr lang="en-US" altLang="en-US" sz="2800" dirty="0" err="1"/>
              <a:t>đương</a:t>
            </a:r>
            <a:r>
              <a:rPr lang="en-US" altLang="en-US" sz="2800" dirty="0"/>
              <a:t> </a:t>
            </a:r>
            <a:r>
              <a:rPr lang="en-US" altLang="en-US" sz="2800" dirty="0" err="1"/>
              <a:t>với</a:t>
            </a:r>
            <a:r>
              <a:rPr lang="en-US" altLang="en-US" sz="2800" dirty="0"/>
              <a:t> </a:t>
            </a:r>
            <a:r>
              <a:rPr lang="en-US" altLang="en-US" sz="2800" dirty="0" err="1"/>
              <a:t>mọi</a:t>
            </a:r>
            <a:r>
              <a:rPr lang="en-US" altLang="en-US" sz="2800" dirty="0"/>
              <a:t> ma </a:t>
            </a:r>
            <a:r>
              <a:rPr lang="en-US" altLang="en-US" sz="2800" dirty="0" err="1"/>
              <a:t>trận</a:t>
            </a:r>
            <a:r>
              <a:rPr lang="en-US" altLang="en-US" sz="2800" dirty="0"/>
              <a:t>.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800" dirty="0" err="1"/>
              <a:t>Nên</a:t>
            </a:r>
            <a:r>
              <a:rPr lang="en-US" altLang="en-US" sz="2800" dirty="0"/>
              <a:t>, (h) </a:t>
            </a:r>
            <a:r>
              <a:rPr lang="en-US" altLang="en-US" sz="2800" dirty="0" err="1"/>
              <a:t>và</a:t>
            </a:r>
            <a:r>
              <a:rPr lang="en-US" altLang="en-US" sz="2800" dirty="0"/>
              <a:t> (</a:t>
            </a:r>
            <a:r>
              <a:rPr lang="en-US" altLang="en-US" sz="2800" dirty="0" err="1"/>
              <a:t>i</a:t>
            </a:r>
            <a:r>
              <a:rPr lang="en-US" altLang="en-US" sz="2800" dirty="0"/>
              <a:t>) </a:t>
            </a:r>
            <a:r>
              <a:rPr lang="en-US" altLang="en-US" sz="2800" dirty="0" err="1"/>
              <a:t>được</a:t>
            </a:r>
            <a:r>
              <a:rPr lang="en-US" altLang="en-US" sz="2800" dirty="0"/>
              <a:t> </a:t>
            </a:r>
            <a:r>
              <a:rPr lang="en-US" altLang="en-US" sz="2800" dirty="0" err="1"/>
              <a:t>nối</a:t>
            </a:r>
            <a:r>
              <a:rPr lang="en-US" altLang="en-US" sz="2800" dirty="0"/>
              <a:t> </a:t>
            </a:r>
            <a:r>
              <a:rPr lang="en-US" altLang="en-US" sz="2800" dirty="0" err="1"/>
              <a:t>thông</a:t>
            </a:r>
            <a:r>
              <a:rPr lang="en-US" altLang="en-US" sz="2800" dirty="0"/>
              <a:t> qua (g) </a:t>
            </a:r>
            <a:r>
              <a:rPr lang="en-US" altLang="en-US" sz="2800" dirty="0" err="1"/>
              <a:t>vào</a:t>
            </a:r>
            <a:r>
              <a:rPr lang="en-US" altLang="en-US" sz="2800" dirty="0"/>
              <a:t> </a:t>
            </a:r>
            <a:r>
              <a:rPr lang="en-US" altLang="en-US" sz="2800" dirty="0" err="1"/>
              <a:t>vòng</a:t>
            </a:r>
            <a:r>
              <a:rPr lang="en-US" altLang="en-US" sz="2800" dirty="0"/>
              <a:t> </a:t>
            </a:r>
            <a:r>
              <a:rPr lang="en-US" altLang="en-US" sz="2800" dirty="0" err="1"/>
              <a:t>tròn</a:t>
            </a:r>
            <a:r>
              <a:rPr lang="en-US" altLang="en-US" sz="2800" dirty="0"/>
              <a:t>.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800" dirty="0" err="1"/>
              <a:t>Vì</a:t>
            </a:r>
            <a:r>
              <a:rPr lang="en-US" altLang="en-US" sz="2800" dirty="0"/>
              <a:t> (d) </a:t>
            </a:r>
            <a:r>
              <a:rPr lang="en-US" altLang="en-US" sz="2800" dirty="0" err="1"/>
              <a:t>được</a:t>
            </a:r>
            <a:r>
              <a:rPr lang="en-US" altLang="en-US" sz="2800" dirty="0"/>
              <a:t> </a:t>
            </a:r>
            <a:r>
              <a:rPr lang="en-US" altLang="en-US" sz="2800" dirty="0" err="1"/>
              <a:t>nối</a:t>
            </a:r>
            <a:r>
              <a:rPr lang="en-US" altLang="en-US" sz="2800" dirty="0"/>
              <a:t> </a:t>
            </a:r>
            <a:r>
              <a:rPr lang="en-US" altLang="en-US" sz="2800" dirty="0" err="1"/>
              <a:t>vào</a:t>
            </a:r>
            <a:r>
              <a:rPr lang="en-US" altLang="en-US" sz="2800" dirty="0"/>
              <a:t> </a:t>
            </a:r>
            <a:r>
              <a:rPr lang="en-US" altLang="en-US" sz="2800" dirty="0" err="1"/>
              <a:t>vòng</a:t>
            </a:r>
            <a:r>
              <a:rPr lang="en-US" altLang="en-US" sz="2800" dirty="0"/>
              <a:t> </a:t>
            </a:r>
            <a:r>
              <a:rPr lang="en-US" altLang="en-US" sz="2800" dirty="0" err="1"/>
              <a:t>tròn</a:t>
            </a:r>
            <a:r>
              <a:rPr lang="en-US" altLang="en-US" sz="2800" dirty="0"/>
              <a:t>, </a:t>
            </a:r>
            <a:r>
              <a:rPr lang="en-US" altLang="en-US" sz="2800" dirty="0" err="1"/>
              <a:t>nên</a:t>
            </a:r>
            <a:r>
              <a:rPr lang="en-US" altLang="en-US" sz="2800" dirty="0"/>
              <a:t> (e) </a:t>
            </a:r>
            <a:r>
              <a:rPr lang="en-US" altLang="en-US" sz="2800" dirty="0" err="1"/>
              <a:t>và</a:t>
            </a:r>
            <a:r>
              <a:rPr lang="en-US" altLang="en-US" sz="2800" dirty="0"/>
              <a:t> (f) </a:t>
            </a:r>
            <a:r>
              <a:rPr lang="en-US" altLang="en-US" sz="2800" dirty="0" err="1"/>
              <a:t>cũng</a:t>
            </a:r>
            <a:r>
              <a:rPr lang="en-US" altLang="en-US" sz="2800" dirty="0"/>
              <a:t> </a:t>
            </a:r>
            <a:r>
              <a:rPr lang="en-US" altLang="en-US" sz="2800" dirty="0" err="1"/>
              <a:t>vậy</a:t>
            </a:r>
            <a:r>
              <a:rPr lang="en-US" altLang="en-US" sz="2800" dirty="0"/>
              <a:t>, </a:t>
            </a:r>
            <a:r>
              <a:rPr lang="en-US" altLang="en-US" sz="2800" dirty="0" err="1"/>
              <a:t>vì</a:t>
            </a:r>
            <a:r>
              <a:rPr lang="en-US" altLang="en-US" sz="2800" dirty="0"/>
              <a:t> (d), (e), </a:t>
            </a:r>
            <a:r>
              <a:rPr lang="en-US" altLang="en-US" sz="2800" dirty="0" err="1"/>
              <a:t>và</a:t>
            </a:r>
            <a:r>
              <a:rPr lang="en-US" altLang="en-US" sz="2800" dirty="0"/>
              <a:t> (f) </a:t>
            </a:r>
            <a:r>
              <a:rPr lang="en-US" altLang="en-US" sz="2800" dirty="0" err="1"/>
              <a:t>tương</a:t>
            </a:r>
            <a:r>
              <a:rPr lang="en-US" altLang="en-US" sz="2800" dirty="0"/>
              <a:t> </a:t>
            </a:r>
            <a:r>
              <a:rPr lang="en-US" altLang="en-US" sz="2800" dirty="0" err="1"/>
              <a:t>đương</a:t>
            </a:r>
            <a:r>
              <a:rPr lang="en-US" altLang="en-US" sz="2800" dirty="0"/>
              <a:t> </a:t>
            </a:r>
            <a:r>
              <a:rPr lang="en-US" altLang="en-US" sz="2800" dirty="0" err="1"/>
              <a:t>với</a:t>
            </a:r>
            <a:r>
              <a:rPr lang="en-US" altLang="en-US" sz="2800" dirty="0"/>
              <a:t> </a:t>
            </a:r>
            <a:r>
              <a:rPr lang="en-US" altLang="en-US" sz="2800" i="1" dirty="0" err="1"/>
              <a:t>mọi</a:t>
            </a:r>
            <a:r>
              <a:rPr lang="en-US" altLang="en-US" sz="2800" dirty="0"/>
              <a:t> ma </a:t>
            </a:r>
            <a:r>
              <a:rPr lang="en-US" altLang="en-US" sz="2800" dirty="0" err="1"/>
              <a:t>trận</a:t>
            </a:r>
            <a:r>
              <a:rPr lang="en-US" altLang="en-US" sz="2800" dirty="0"/>
              <a:t> </a:t>
            </a:r>
            <a:r>
              <a:rPr lang="en-US" altLang="en-US" sz="2800" i="1" dirty="0"/>
              <a:t>A</a:t>
            </a:r>
            <a:r>
              <a:rPr lang="en-US" altLang="en-US" sz="2800" dirty="0"/>
              <a:t>.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800" dirty="0" err="1"/>
              <a:t>Cuối</a:t>
            </a:r>
            <a:r>
              <a:rPr lang="en-US" altLang="en-US" sz="2800" dirty="0"/>
              <a:t> </a:t>
            </a:r>
            <a:r>
              <a:rPr lang="en-US" altLang="en-US" sz="2800" dirty="0" err="1"/>
              <a:t>cùng</a:t>
            </a:r>
            <a:r>
              <a:rPr lang="en-US" altLang="en-US" sz="2800" dirty="0"/>
              <a:t>,                </a:t>
            </a:r>
            <a:r>
              <a:rPr lang="en-US" altLang="en-US" sz="2800" dirty="0" err="1"/>
              <a:t>và</a:t>
            </a:r>
            <a:r>
              <a:rPr lang="en-US" altLang="en-US" sz="2800" dirty="0"/>
              <a:t>                .  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800" dirty="0" err="1"/>
              <a:t>Điều</a:t>
            </a:r>
            <a:r>
              <a:rPr lang="en-US" altLang="en-US" sz="2800" dirty="0"/>
              <a:t> </a:t>
            </a:r>
            <a:r>
              <a:rPr lang="en-US" altLang="en-US" sz="2800" dirty="0" err="1"/>
              <a:t>này</a:t>
            </a:r>
            <a:r>
              <a:rPr lang="en-US" altLang="en-US" sz="2800" dirty="0"/>
              <a:t> </a:t>
            </a:r>
            <a:r>
              <a:rPr lang="en-US" altLang="en-US" sz="2800" dirty="0" err="1"/>
              <a:t>hoàn</a:t>
            </a:r>
            <a:r>
              <a:rPr lang="en-US" altLang="en-US" sz="2800" dirty="0"/>
              <a:t> </a:t>
            </a:r>
            <a:r>
              <a:rPr lang="en-US" altLang="en-US" sz="2800" dirty="0" err="1"/>
              <a:t>thành</a:t>
            </a:r>
            <a:r>
              <a:rPr lang="en-US" altLang="en-US" sz="2800" dirty="0"/>
              <a:t> </a:t>
            </a:r>
            <a:r>
              <a:rPr lang="en-US" altLang="en-US" sz="2800" dirty="0" err="1"/>
              <a:t>chứng</a:t>
            </a:r>
            <a:r>
              <a:rPr lang="en-US" altLang="en-US" sz="2800" dirty="0"/>
              <a:t> minh.          </a:t>
            </a:r>
          </a:p>
        </p:txBody>
      </p:sp>
      <p:graphicFrame>
        <p:nvGraphicFramePr>
          <p:cNvPr id="698372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83972670"/>
              </p:ext>
            </p:extLst>
          </p:nvPr>
        </p:nvGraphicFramePr>
        <p:xfrm>
          <a:off x="2362200" y="1905000"/>
          <a:ext cx="1447800" cy="396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390" name="Equation" r:id="rId3" imgW="1574800" imgH="431800" progId="">
                  <p:embed/>
                </p:oleObj>
              </mc:Choice>
              <mc:Fallback>
                <p:oleObj name="Equation" r:id="rId3" imgW="1574800" imgH="431800" progId="">
                  <p:embed/>
                  <p:pic>
                    <p:nvPicPr>
                      <p:cNvPr id="0" name="Picture 4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62200" y="1905000"/>
                        <a:ext cx="1447800" cy="3968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98373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25663211"/>
              </p:ext>
            </p:extLst>
          </p:nvPr>
        </p:nvGraphicFramePr>
        <p:xfrm>
          <a:off x="2362200" y="2374900"/>
          <a:ext cx="14478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391" name="Equation" r:id="rId5" imgW="1587500" imgH="431800" progId="">
                  <p:embed/>
                </p:oleObj>
              </mc:Choice>
              <mc:Fallback>
                <p:oleObj name="Equation" r:id="rId5" imgW="1587500" imgH="431800" progId="">
                  <p:embed/>
                  <p:pic>
                    <p:nvPicPr>
                      <p:cNvPr id="0" name="Picture 4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62200" y="2374900"/>
                        <a:ext cx="1447800" cy="3937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98374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69029275"/>
              </p:ext>
            </p:extLst>
          </p:nvPr>
        </p:nvGraphicFramePr>
        <p:xfrm>
          <a:off x="4343400" y="2387600"/>
          <a:ext cx="1371600" cy="3794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392" name="Equation" r:id="rId7" imgW="1562100" imgH="431800" progId="">
                  <p:embed/>
                </p:oleObj>
              </mc:Choice>
              <mc:Fallback>
                <p:oleObj name="Equation" r:id="rId7" imgW="1562100" imgH="431800" progId="">
                  <p:embed/>
                  <p:pic>
                    <p:nvPicPr>
                      <p:cNvPr id="0" name="Picture 4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43400" y="2387600"/>
                        <a:ext cx="1371600" cy="3794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98375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11752558"/>
              </p:ext>
            </p:extLst>
          </p:nvPr>
        </p:nvGraphicFramePr>
        <p:xfrm>
          <a:off x="2539538" y="5070475"/>
          <a:ext cx="1295400" cy="384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393" name="Equation" r:id="rId9" imgW="1459866" imgH="431613" progId="">
                  <p:embed/>
                </p:oleObj>
              </mc:Choice>
              <mc:Fallback>
                <p:oleObj name="Equation" r:id="rId9" imgW="1459866" imgH="431613" progId="">
                  <p:embed/>
                  <p:pic>
                    <p:nvPicPr>
                      <p:cNvPr id="0" name="Picture 4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39538" y="5070475"/>
                        <a:ext cx="1295400" cy="3841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98376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45846928"/>
              </p:ext>
            </p:extLst>
          </p:nvPr>
        </p:nvGraphicFramePr>
        <p:xfrm>
          <a:off x="4349750" y="5072062"/>
          <a:ext cx="1295400" cy="382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394" name="Equation" r:id="rId11" imgW="1459866" imgH="431613" progId="">
                  <p:embed/>
                </p:oleObj>
              </mc:Choice>
              <mc:Fallback>
                <p:oleObj name="Equation" r:id="rId11" imgW="1459866" imgH="431613" progId="">
                  <p:embed/>
                  <p:pic>
                    <p:nvPicPr>
                      <p:cNvPr id="0" name="Picture 4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49750" y="5072062"/>
                        <a:ext cx="1295400" cy="3825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98378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56425470"/>
              </p:ext>
            </p:extLst>
          </p:nvPr>
        </p:nvGraphicFramePr>
        <p:xfrm>
          <a:off x="4737100" y="1828800"/>
          <a:ext cx="5207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395" name="Equation" r:id="rId13" imgW="520474" imgH="393529" progId="">
                  <p:embed/>
                </p:oleObj>
              </mc:Choice>
              <mc:Fallback>
                <p:oleObj name="Equation" r:id="rId13" imgW="520474" imgH="393529" progId="">
                  <p:embed/>
                  <p:pic>
                    <p:nvPicPr>
                      <p:cNvPr id="0" name="Picture 4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37100" y="1828800"/>
                        <a:ext cx="520700" cy="3937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Footer Placeholder 4"/>
          <p:cNvSpPr>
            <a:spLocks noGrp="1"/>
          </p:cNvSpPr>
          <p:nvPr>
            <p:ph type="ftr" sz="quarter" idx="11"/>
          </p:nvPr>
        </p:nvSpPr>
        <p:spPr bwMode="auto">
          <a:xfrm>
            <a:off x="457200" y="6305550"/>
            <a:ext cx="6324600" cy="47625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algn="l"/>
            <a:r>
              <a:rPr lang="en-US" altLang="en-US" sz="1200" dirty="0">
                <a:latin typeface="Arial" panose="020B0604020202020204" pitchFamily="34" charset="0"/>
              </a:rPr>
              <a:t> © 2016 Pearson Education, Ltd.</a:t>
            </a:r>
          </a:p>
        </p:txBody>
      </p:sp>
    </p:spTree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algn="r"/>
            <a:r>
              <a:rPr lang="en-US" altLang="en-US" sz="1200">
                <a:latin typeface="Arial" panose="020B0604020202020204" pitchFamily="34" charset="0"/>
              </a:rPr>
              <a:t>Slide 2.3- </a:t>
            </a:r>
            <a:fld id="{7490D003-C18C-4577-9603-7782D1564225}" type="slidenum">
              <a:rPr lang="en-US" altLang="en-US" sz="1200">
                <a:latin typeface="Arial" panose="020B0604020202020204" pitchFamily="34" charset="0"/>
              </a:rPr>
              <a:pPr algn="r"/>
              <a:t>7</a:t>
            </a:fld>
            <a:endParaRPr lang="en-CA" altLang="en-US" sz="1200">
              <a:latin typeface="Arial" panose="020B0604020202020204" pitchFamily="34" charset="0"/>
            </a:endParaRPr>
          </a:p>
        </p:txBody>
      </p:sp>
      <p:sp>
        <p:nvSpPr>
          <p:cNvPr id="1229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ĐỊNH LÍ MA TRẬN KHẢ NGHỊCH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99395" name="Rectangle 3"/>
              <p:cNvSpPr>
                <a:spLocks noGrp="1" noChangeArrowheads="1"/>
              </p:cNvSpPr>
              <p:nvPr>
                <p:ph type="body" idx="1"/>
              </p:nvPr>
            </p:nvSpPr>
            <p:spPr>
              <a:xfrm>
                <a:off x="457200" y="1143000"/>
                <a:ext cx="8305800" cy="5410200"/>
              </a:xfrm>
            </p:spPr>
            <p:txBody>
              <a:bodyPr/>
              <a:lstStyle/>
              <a:p>
                <a:pPr eaLnBrk="1" hangingPunct="1"/>
                <a:r>
                  <a:rPr lang="en-US" altLang="en-US" sz="2800" dirty="0" err="1"/>
                  <a:t>Định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lí</a:t>
                </a:r>
                <a:r>
                  <a:rPr lang="en-US" altLang="en-US" sz="2800" dirty="0"/>
                  <a:t> 8 </a:t>
                </a:r>
                <a:r>
                  <a:rPr lang="en-US" altLang="en-US" sz="2800" dirty="0" err="1"/>
                  <a:t>còn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có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thể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viết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dưới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dạng</a:t>
                </a:r>
                <a:r>
                  <a:rPr lang="en-US" altLang="en-US" sz="2800" dirty="0"/>
                  <a:t> “P</a:t>
                </a:r>
                <a:r>
                  <a:rPr lang="vi-VN" altLang="en-US" sz="2800" dirty="0"/>
                  <a:t>hương trình</a:t>
                </a:r>
                <a:r>
                  <a:rPr lang="en-US" altLang="en-US" sz="2800" dirty="0"/>
                  <a:t>   </a:t>
                </a:r>
              </a:p>
              <a:p>
                <a:pPr eaLnBrk="1" hangingPunct="1">
                  <a:buNone/>
                </a:pPr>
                <a:r>
                  <a:rPr lang="en-US" altLang="en-US" sz="2800" dirty="0"/>
                  <a:t>	              </a:t>
                </a:r>
                <a:r>
                  <a:rPr lang="en-US" altLang="en-US" sz="2800" dirty="0" err="1"/>
                  <a:t>có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một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nghiệm</a:t>
                </a:r>
                <a:r>
                  <a:rPr lang="en-US" altLang="en-US" sz="2800" dirty="0"/>
                  <a:t> </a:t>
                </a:r>
                <a:r>
                  <a:rPr lang="en-US" altLang="en-US" sz="2800" i="1" dirty="0" err="1"/>
                  <a:t>duy</a:t>
                </a:r>
                <a:r>
                  <a:rPr lang="en-US" altLang="en-US" sz="2800" i="1" dirty="0"/>
                  <a:t> </a:t>
                </a:r>
                <a:r>
                  <a:rPr lang="en-US" altLang="en-US" sz="2800" i="1" dirty="0" err="1"/>
                  <a:t>nhất</a:t>
                </a:r>
                <a:r>
                  <a:rPr lang="en-US" altLang="en-US" sz="2800" i="1" dirty="0"/>
                  <a:t> </a:t>
                </a:r>
                <a:r>
                  <a:rPr lang="en-US" altLang="en-US" sz="2800" dirty="0" err="1"/>
                  <a:t>với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mỗi</a:t>
                </a:r>
                <a:r>
                  <a:rPr lang="en-US" altLang="en-US" sz="2800" dirty="0"/>
                  <a:t> </a:t>
                </a:r>
                <a:r>
                  <a:rPr lang="en-US" altLang="en-US" sz="2800" b="1" dirty="0"/>
                  <a:t>b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trong</a:t>
                </a:r>
                <a:r>
                  <a:rPr lang="en-US" altLang="en-US" sz="2800" dirty="0"/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en-US" sz="28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en-US" sz="28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n-US" altLang="en-US" sz="28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en-US" altLang="en-US" sz="2800" dirty="0"/>
                  <a:t>”</a:t>
                </a:r>
              </a:p>
              <a:p>
                <a:pPr eaLnBrk="1" hangingPunct="1"/>
                <a:r>
                  <a:rPr lang="en-US" altLang="en-US" sz="2800" dirty="0" err="1"/>
                  <a:t>Phát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biểu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này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suy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ra</a:t>
                </a:r>
                <a:r>
                  <a:rPr lang="en-US" altLang="en-US" sz="2800" dirty="0"/>
                  <a:t> (b) </a:t>
                </a:r>
                <a:r>
                  <a:rPr lang="en-US" altLang="en-US" sz="2800" dirty="0" err="1"/>
                  <a:t>và</a:t>
                </a:r>
                <a:r>
                  <a:rPr lang="en-US" altLang="en-US" sz="2800" dirty="0"/>
                  <a:t> do </a:t>
                </a:r>
                <a:r>
                  <a:rPr lang="en-US" altLang="en-US" sz="2800" dirty="0" err="1"/>
                  <a:t>đó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suy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ra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rằng</a:t>
                </a:r>
                <a:r>
                  <a:rPr lang="en-US" altLang="en-US" sz="2800" dirty="0"/>
                  <a:t> </a:t>
                </a:r>
                <a:r>
                  <a:rPr lang="en-US" altLang="en-US" sz="2800" i="1" dirty="0"/>
                  <a:t>A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là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khả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nghịch</a:t>
                </a:r>
                <a:r>
                  <a:rPr lang="en-US" altLang="en-US" sz="2800" dirty="0"/>
                  <a:t>.</a:t>
                </a:r>
              </a:p>
              <a:p>
                <a:pPr eaLnBrk="1" hangingPunct="1"/>
                <a:r>
                  <a:rPr lang="en-US" altLang="en-US" sz="2800" dirty="0" err="1"/>
                  <a:t>Điều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sau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suy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ra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từ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Định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lí</a:t>
                </a:r>
                <a:r>
                  <a:rPr lang="en-US" altLang="en-US" sz="2800" dirty="0"/>
                  <a:t> 8:</a:t>
                </a:r>
              </a:p>
              <a:p>
                <a:pPr eaLnBrk="1" hangingPunct="1">
                  <a:buFont typeface="Wingdings" panose="05000000000000000000" pitchFamily="2" charset="2"/>
                  <a:buNone/>
                </a:pPr>
                <a:r>
                  <a:rPr lang="en-US" altLang="en-US" sz="2800" dirty="0"/>
                  <a:t>	Cho </a:t>
                </a:r>
                <a:r>
                  <a:rPr lang="en-US" altLang="en-US" sz="2800" i="1" dirty="0"/>
                  <a:t>A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và</a:t>
                </a:r>
                <a:r>
                  <a:rPr lang="en-US" altLang="en-US" sz="2800" dirty="0"/>
                  <a:t> </a:t>
                </a:r>
                <a:r>
                  <a:rPr lang="en-US" altLang="en-US" sz="2800" i="1" dirty="0"/>
                  <a:t>B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là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các</a:t>
                </a:r>
                <a:r>
                  <a:rPr lang="en-US" altLang="en-US" sz="2800" dirty="0"/>
                  <a:t> ma </a:t>
                </a:r>
                <a:r>
                  <a:rPr lang="en-US" altLang="en-US" sz="2800" dirty="0" err="1"/>
                  <a:t>trận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vuông</a:t>
                </a:r>
                <a:r>
                  <a:rPr lang="en-US" altLang="en-US" sz="2800" dirty="0"/>
                  <a:t>. </a:t>
                </a:r>
                <a:r>
                  <a:rPr lang="en-US" altLang="en-US" sz="2800" dirty="0" err="1"/>
                  <a:t>Nếu</a:t>
                </a:r>
                <a:r>
                  <a:rPr lang="en-US" altLang="en-US" sz="2800" dirty="0"/>
                  <a:t>             , </a:t>
                </a:r>
                <a:r>
                  <a:rPr lang="en-US" altLang="en-US" sz="2800" dirty="0" err="1"/>
                  <a:t>thì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cả</a:t>
                </a:r>
                <a:r>
                  <a:rPr lang="en-US" altLang="en-US" sz="2800" dirty="0"/>
                  <a:t> </a:t>
                </a:r>
                <a:r>
                  <a:rPr lang="en-US" altLang="en-US" sz="2800" i="1" dirty="0"/>
                  <a:t>A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và</a:t>
                </a:r>
                <a:r>
                  <a:rPr lang="en-US" altLang="en-US" sz="2800" dirty="0"/>
                  <a:t> </a:t>
                </a:r>
                <a:r>
                  <a:rPr lang="en-US" altLang="en-US" sz="2800" i="1" dirty="0"/>
                  <a:t>B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đều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khả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nghịch</a:t>
                </a:r>
                <a:r>
                  <a:rPr lang="en-US" altLang="en-US" sz="2800" dirty="0"/>
                  <a:t>, </a:t>
                </a:r>
                <a:r>
                  <a:rPr lang="en-US" altLang="en-US" sz="2800" dirty="0" err="1"/>
                  <a:t>với</a:t>
                </a:r>
                <a:r>
                  <a:rPr lang="en-US" altLang="en-US" sz="2800" dirty="0"/>
                  <a:t>               </a:t>
                </a:r>
                <a:r>
                  <a:rPr lang="en-US" altLang="en-US" sz="2800" dirty="0" err="1"/>
                  <a:t>và</a:t>
                </a:r>
                <a:r>
                  <a:rPr lang="en-US" altLang="en-US" sz="2800" dirty="0"/>
                  <a:t>              .</a:t>
                </a:r>
              </a:p>
              <a:p>
                <a:pPr eaLnBrk="1" hangingPunct="1"/>
                <a:r>
                  <a:rPr lang="en-US" altLang="en-US" sz="2800" dirty="0" err="1"/>
                  <a:t>Định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Lí</a:t>
                </a:r>
                <a:r>
                  <a:rPr lang="en-US" altLang="en-US" sz="2800" dirty="0"/>
                  <a:t> Ma </a:t>
                </a:r>
                <a:r>
                  <a:rPr lang="en-US" altLang="en-US" sz="2800" dirty="0" err="1"/>
                  <a:t>Trận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Khả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Nghịch</a:t>
                </a:r>
                <a:r>
                  <a:rPr lang="en-US" altLang="en-US" sz="2800" dirty="0"/>
                  <a:t> chia </a:t>
                </a:r>
                <a:r>
                  <a:rPr lang="en-US" altLang="en-US" sz="2800" dirty="0" err="1"/>
                  <a:t>tập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tất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cả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các</a:t>
                </a:r>
                <a:r>
                  <a:rPr lang="en-US" altLang="en-US" sz="2800" dirty="0"/>
                  <a:t> ma </a:t>
                </a:r>
                <a:r>
                  <a:rPr lang="en-US" altLang="en-US" sz="2800" dirty="0" err="1"/>
                  <a:t>trận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vuông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thành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hai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lớp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rời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nhau</a:t>
                </a:r>
                <a:r>
                  <a:rPr lang="en-US" altLang="en-US" sz="2800" dirty="0"/>
                  <a:t>: </a:t>
                </a:r>
                <a:r>
                  <a:rPr lang="en-US" altLang="en-US" sz="2800" dirty="0" err="1"/>
                  <a:t>các</a:t>
                </a:r>
                <a:r>
                  <a:rPr lang="en-US" altLang="en-US" sz="2800" dirty="0"/>
                  <a:t> ma </a:t>
                </a:r>
                <a:r>
                  <a:rPr lang="en-US" altLang="en-US" sz="2800" dirty="0" err="1"/>
                  <a:t>trận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>
                    <a:solidFill>
                      <a:srgbClr val="0000FF"/>
                    </a:solidFill>
                  </a:rPr>
                  <a:t>khả</a:t>
                </a:r>
                <a:r>
                  <a:rPr lang="en-US" altLang="en-US" sz="2800" dirty="0">
                    <a:solidFill>
                      <a:srgbClr val="0000FF"/>
                    </a:solidFill>
                  </a:rPr>
                  <a:t> </a:t>
                </a:r>
                <a:r>
                  <a:rPr lang="en-US" altLang="en-US" sz="2800" dirty="0" err="1">
                    <a:solidFill>
                      <a:srgbClr val="0000FF"/>
                    </a:solidFill>
                  </a:rPr>
                  <a:t>nghịch</a:t>
                </a:r>
                <a:r>
                  <a:rPr lang="en-US" altLang="en-US" sz="2800" dirty="0"/>
                  <a:t> (</a:t>
                </a:r>
                <a:r>
                  <a:rPr lang="en-US" altLang="en-US" sz="2800" dirty="0" err="1"/>
                  <a:t>không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suy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biến</a:t>
                </a:r>
                <a:r>
                  <a:rPr lang="en-US" altLang="en-US" sz="2800" dirty="0"/>
                  <a:t>), </a:t>
                </a:r>
                <a:r>
                  <a:rPr lang="en-US" altLang="en-US" sz="2800" dirty="0" err="1"/>
                  <a:t>và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các</a:t>
                </a:r>
                <a:r>
                  <a:rPr lang="en-US" altLang="en-US" sz="2800" dirty="0"/>
                  <a:t> ma </a:t>
                </a:r>
                <a:r>
                  <a:rPr lang="en-US" altLang="en-US" sz="2800" dirty="0" err="1"/>
                  <a:t>trận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không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khả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nghịch</a:t>
                </a:r>
                <a:r>
                  <a:rPr lang="en-US" altLang="en-US" sz="2800" dirty="0"/>
                  <a:t> (</a:t>
                </a:r>
                <a:r>
                  <a:rPr lang="en-US" altLang="en-US" sz="2800" dirty="0" err="1">
                    <a:solidFill>
                      <a:srgbClr val="0000FF"/>
                    </a:solidFill>
                  </a:rPr>
                  <a:t>suy</a:t>
                </a:r>
                <a:r>
                  <a:rPr lang="en-US" altLang="en-US" sz="2800" dirty="0">
                    <a:solidFill>
                      <a:srgbClr val="0000FF"/>
                    </a:solidFill>
                  </a:rPr>
                  <a:t> </a:t>
                </a:r>
                <a:r>
                  <a:rPr lang="en-US" altLang="en-US" sz="2800" dirty="0" err="1">
                    <a:solidFill>
                      <a:srgbClr val="0000FF"/>
                    </a:solidFill>
                  </a:rPr>
                  <a:t>biến</a:t>
                </a:r>
                <a:r>
                  <a:rPr lang="en-US" altLang="en-US" sz="2800" dirty="0"/>
                  <a:t>).</a:t>
                </a:r>
              </a:p>
            </p:txBody>
          </p:sp>
        </mc:Choice>
        <mc:Fallback>
          <p:sp>
            <p:nvSpPr>
              <p:cNvPr id="699395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457200" y="1143000"/>
                <a:ext cx="8305800" cy="5410200"/>
              </a:xfrm>
              <a:blipFill>
                <a:blip r:embed="rId3"/>
                <a:stretch>
                  <a:fillRect l="-1247" t="-1240" r="-66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699396" name="Object 4"/>
          <p:cNvGraphicFramePr>
            <a:graphicFrameLocks noChangeAspect="1"/>
          </p:cNvGraphicFramePr>
          <p:nvPr/>
        </p:nvGraphicFramePr>
        <p:xfrm>
          <a:off x="889000" y="1727200"/>
          <a:ext cx="1143000" cy="355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404" name="Equation" r:id="rId4" imgW="1143000" imgH="355600" progId="">
                  <p:embed/>
                </p:oleObj>
              </mc:Choice>
              <mc:Fallback>
                <p:oleObj name="Equation" r:id="rId4" imgW="1143000" imgH="355600" progId="">
                  <p:embed/>
                  <p:pic>
                    <p:nvPicPr>
                      <p:cNvPr id="0" name="Picture 3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89000" y="1727200"/>
                        <a:ext cx="1143000" cy="355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99398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55233685"/>
              </p:ext>
            </p:extLst>
          </p:nvPr>
        </p:nvGraphicFramePr>
        <p:xfrm>
          <a:off x="6400800" y="3695700"/>
          <a:ext cx="1168400" cy="330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405" name="Equation" r:id="rId6" imgW="1168400" imgH="330200" progId="">
                  <p:embed/>
                </p:oleObj>
              </mc:Choice>
              <mc:Fallback>
                <p:oleObj name="Equation" r:id="rId6" imgW="1168400" imgH="330200" progId="">
                  <p:embed/>
                  <p:pic>
                    <p:nvPicPr>
                      <p:cNvPr id="0" name="Picture 3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00800" y="3695700"/>
                        <a:ext cx="1168400" cy="3302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99399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38517773"/>
              </p:ext>
            </p:extLst>
          </p:nvPr>
        </p:nvGraphicFramePr>
        <p:xfrm>
          <a:off x="4800600" y="4064000"/>
          <a:ext cx="11938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406" name="Equation" r:id="rId8" imgW="1193800" imgH="393700" progId="">
                  <p:embed/>
                </p:oleObj>
              </mc:Choice>
              <mc:Fallback>
                <p:oleObj name="Equation" r:id="rId8" imgW="1193800" imgH="393700" progId="">
                  <p:embed/>
                  <p:pic>
                    <p:nvPicPr>
                      <p:cNvPr id="0" name="Picture 4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00600" y="4064000"/>
                        <a:ext cx="1193800" cy="3937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99400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11650228"/>
              </p:ext>
            </p:extLst>
          </p:nvPr>
        </p:nvGraphicFramePr>
        <p:xfrm>
          <a:off x="6731000" y="4064000"/>
          <a:ext cx="11938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407" name="Equation" r:id="rId10" imgW="1193800" imgH="393700" progId="">
                  <p:embed/>
                </p:oleObj>
              </mc:Choice>
              <mc:Fallback>
                <p:oleObj name="Equation" r:id="rId10" imgW="1193800" imgH="393700" progId="">
                  <p:embed/>
                  <p:pic>
                    <p:nvPicPr>
                      <p:cNvPr id="0" name="Picture 4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31000" y="4064000"/>
                        <a:ext cx="1193800" cy="3937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Footer Placeholder 4"/>
          <p:cNvSpPr>
            <a:spLocks noGrp="1"/>
          </p:cNvSpPr>
          <p:nvPr>
            <p:ph type="ftr" sz="quarter" idx="11"/>
          </p:nvPr>
        </p:nvSpPr>
        <p:spPr bwMode="auto">
          <a:xfrm>
            <a:off x="457200" y="6305550"/>
            <a:ext cx="6324600" cy="47625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algn="l"/>
            <a:r>
              <a:rPr lang="en-US" altLang="en-US" sz="1200" dirty="0">
                <a:latin typeface="Arial" panose="020B0604020202020204" pitchFamily="34" charset="0"/>
              </a:rPr>
              <a:t> © 2016 Pearson Education, Ltd.</a:t>
            </a:r>
          </a:p>
        </p:txBody>
      </p:sp>
    </p:spTree>
  </p:cSld>
  <p:clrMapOvr>
    <a:masterClrMapping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algn="r"/>
            <a:r>
              <a:rPr lang="en-US" altLang="en-US" sz="1200">
                <a:latin typeface="Arial" panose="020B0604020202020204" pitchFamily="34" charset="0"/>
              </a:rPr>
              <a:t>Slide 2.3- </a:t>
            </a:r>
            <a:fld id="{84E8BC02-8A3E-4E81-8A5A-D920CE970CAD}" type="slidenum">
              <a:rPr lang="en-US" altLang="en-US" sz="1200">
                <a:latin typeface="Arial" panose="020B0604020202020204" pitchFamily="34" charset="0"/>
              </a:rPr>
              <a:pPr algn="r"/>
              <a:t>8</a:t>
            </a:fld>
            <a:endParaRPr lang="en-CA" altLang="en-US" sz="1200">
              <a:latin typeface="Arial" panose="020B0604020202020204" pitchFamily="34" charset="0"/>
            </a:endParaRPr>
          </a:p>
        </p:txBody>
      </p:sp>
      <p:sp>
        <p:nvSpPr>
          <p:cNvPr id="1331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ĐỊNH LÍ MA TRẬN KHẢ NGHỊCH</a:t>
            </a:r>
          </a:p>
        </p:txBody>
      </p:sp>
      <p:sp>
        <p:nvSpPr>
          <p:cNvPr id="70041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371600"/>
            <a:ext cx="8229600" cy="4800600"/>
          </a:xfrm>
        </p:spPr>
        <p:txBody>
          <a:bodyPr/>
          <a:lstStyle/>
          <a:p>
            <a:pPr eaLnBrk="1" hangingPunct="1"/>
            <a:r>
              <a:rPr lang="en-US" altLang="en-US" sz="2800" dirty="0" err="1"/>
              <a:t>Mỗi</a:t>
            </a:r>
            <a:r>
              <a:rPr lang="en-US" altLang="en-US" sz="2800" dirty="0"/>
              <a:t> </a:t>
            </a:r>
            <a:r>
              <a:rPr lang="en-US" altLang="en-US" sz="2800" dirty="0" err="1"/>
              <a:t>phát</a:t>
            </a:r>
            <a:r>
              <a:rPr lang="en-US" altLang="en-US" sz="2800" dirty="0"/>
              <a:t> </a:t>
            </a:r>
            <a:r>
              <a:rPr lang="en-US" altLang="en-US" sz="2800" dirty="0" err="1"/>
              <a:t>biểu</a:t>
            </a:r>
            <a:r>
              <a:rPr lang="en-US" altLang="en-US" sz="2800" dirty="0"/>
              <a:t> </a:t>
            </a:r>
            <a:r>
              <a:rPr lang="en-US" altLang="en-US" sz="2800" dirty="0" err="1"/>
              <a:t>trong</a:t>
            </a:r>
            <a:r>
              <a:rPr lang="en-US" altLang="en-US" sz="2800" dirty="0"/>
              <a:t> </a:t>
            </a:r>
            <a:r>
              <a:rPr lang="en-US" altLang="en-US" sz="2800" dirty="0" err="1"/>
              <a:t>định</a:t>
            </a:r>
            <a:r>
              <a:rPr lang="en-US" altLang="en-US" sz="2800" dirty="0"/>
              <a:t> </a:t>
            </a:r>
            <a:r>
              <a:rPr lang="en-US" altLang="en-US" sz="2800" dirty="0" err="1"/>
              <a:t>lí</a:t>
            </a:r>
            <a:r>
              <a:rPr lang="en-US" altLang="en-US" sz="2800" dirty="0"/>
              <a:t> </a:t>
            </a:r>
            <a:r>
              <a:rPr lang="en-US" altLang="en-US" sz="2800" dirty="0" err="1"/>
              <a:t>mô</a:t>
            </a:r>
            <a:r>
              <a:rPr lang="en-US" altLang="en-US" sz="2800" dirty="0"/>
              <a:t> </a:t>
            </a:r>
            <a:r>
              <a:rPr lang="en-US" altLang="en-US" sz="2800" dirty="0" err="1"/>
              <a:t>tả</a:t>
            </a:r>
            <a:r>
              <a:rPr lang="en-US" altLang="en-US" sz="2800" dirty="0"/>
              <a:t> </a:t>
            </a:r>
            <a:r>
              <a:rPr lang="en-US" altLang="en-US" sz="2800" dirty="0" err="1"/>
              <a:t>một</a:t>
            </a:r>
            <a:r>
              <a:rPr lang="en-US" altLang="en-US" sz="2800" dirty="0"/>
              <a:t> </a:t>
            </a:r>
            <a:r>
              <a:rPr lang="en-US" altLang="en-US" sz="2800" dirty="0" err="1"/>
              <a:t>tính</a:t>
            </a:r>
            <a:r>
              <a:rPr lang="en-US" altLang="en-US" sz="2800" dirty="0"/>
              <a:t> </a:t>
            </a:r>
            <a:r>
              <a:rPr lang="en-US" altLang="en-US" sz="2800" dirty="0" err="1"/>
              <a:t>chất</a:t>
            </a:r>
            <a:r>
              <a:rPr lang="en-US" altLang="en-US" sz="2800" dirty="0"/>
              <a:t> </a:t>
            </a:r>
            <a:r>
              <a:rPr lang="en-US" altLang="en-US" sz="2800" dirty="0" err="1"/>
              <a:t>của</a:t>
            </a:r>
            <a:r>
              <a:rPr lang="en-US" altLang="en-US" sz="2800" dirty="0"/>
              <a:t> </a:t>
            </a:r>
            <a:r>
              <a:rPr lang="en-US" altLang="en-US" sz="2800" dirty="0" err="1"/>
              <a:t>mọi</a:t>
            </a:r>
            <a:r>
              <a:rPr lang="en-US" altLang="en-US" sz="2800" dirty="0"/>
              <a:t> ma </a:t>
            </a:r>
            <a:r>
              <a:rPr lang="en-US" altLang="en-US" sz="2800" dirty="0" err="1"/>
              <a:t>trận</a:t>
            </a:r>
            <a:r>
              <a:rPr lang="en-US" altLang="en-US" sz="2800" dirty="0"/>
              <a:t> </a:t>
            </a:r>
            <a:r>
              <a:rPr lang="en-US" altLang="en-US" sz="2800" dirty="0" err="1"/>
              <a:t>vuông</a:t>
            </a:r>
            <a:r>
              <a:rPr lang="en-US" altLang="en-US" sz="2800" dirty="0"/>
              <a:t> </a:t>
            </a:r>
            <a:r>
              <a:rPr lang="en-US" altLang="en-US" sz="2800" dirty="0" err="1"/>
              <a:t>khả</a:t>
            </a:r>
            <a:r>
              <a:rPr lang="en-US" altLang="en-US" sz="2800" dirty="0"/>
              <a:t> </a:t>
            </a:r>
            <a:r>
              <a:rPr lang="en-US" altLang="en-US" sz="2800" dirty="0" err="1"/>
              <a:t>nghịch</a:t>
            </a:r>
            <a:r>
              <a:rPr lang="en-US" altLang="en-US" sz="2800" dirty="0"/>
              <a:t>.</a:t>
            </a:r>
          </a:p>
          <a:p>
            <a:pPr eaLnBrk="1" hangingPunct="1"/>
            <a:endParaRPr lang="en-US" altLang="en-US" sz="2800" dirty="0"/>
          </a:p>
          <a:p>
            <a:pPr eaLnBrk="1" hangingPunct="1"/>
            <a:r>
              <a:rPr lang="en-US" altLang="en-US" sz="2800" i="1" dirty="0" err="1"/>
              <a:t>Phủ</a:t>
            </a:r>
            <a:r>
              <a:rPr lang="en-US" altLang="en-US" sz="2800" i="1" dirty="0"/>
              <a:t> </a:t>
            </a:r>
            <a:r>
              <a:rPr lang="en-US" altLang="en-US" sz="2800" i="1" dirty="0" err="1"/>
              <a:t>định</a:t>
            </a:r>
            <a:r>
              <a:rPr lang="en-US" altLang="en-US" sz="2800" dirty="0"/>
              <a:t> </a:t>
            </a:r>
            <a:r>
              <a:rPr lang="en-US" altLang="en-US" sz="2800" dirty="0" err="1"/>
              <a:t>của</a:t>
            </a:r>
            <a:r>
              <a:rPr lang="en-US" altLang="en-US" sz="2800" dirty="0"/>
              <a:t> </a:t>
            </a:r>
            <a:r>
              <a:rPr lang="en-US" altLang="en-US" sz="2800" dirty="0" err="1"/>
              <a:t>một</a:t>
            </a:r>
            <a:r>
              <a:rPr lang="en-US" altLang="en-US" sz="2800" dirty="0"/>
              <a:t> </a:t>
            </a:r>
            <a:r>
              <a:rPr lang="en-US" altLang="en-US" sz="2800" dirty="0" err="1"/>
              <a:t>phát</a:t>
            </a:r>
            <a:r>
              <a:rPr lang="en-US" altLang="en-US" sz="2800" dirty="0"/>
              <a:t> </a:t>
            </a:r>
            <a:r>
              <a:rPr lang="en-US" altLang="en-US" sz="2800" dirty="0" err="1"/>
              <a:t>biểu</a:t>
            </a:r>
            <a:r>
              <a:rPr lang="en-US" altLang="en-US" sz="2800" dirty="0"/>
              <a:t> </a:t>
            </a:r>
            <a:r>
              <a:rPr lang="en-US" altLang="en-US" sz="2800" dirty="0" err="1"/>
              <a:t>trong</a:t>
            </a:r>
            <a:r>
              <a:rPr lang="en-US" altLang="en-US" sz="2800" dirty="0"/>
              <a:t> </a:t>
            </a:r>
            <a:r>
              <a:rPr lang="en-US" altLang="en-US" sz="2800" dirty="0" err="1"/>
              <a:t>định</a:t>
            </a:r>
            <a:r>
              <a:rPr lang="en-US" altLang="en-US" sz="2800" dirty="0"/>
              <a:t> </a:t>
            </a:r>
            <a:r>
              <a:rPr lang="en-US" altLang="en-US" sz="2800" dirty="0" err="1"/>
              <a:t>lí</a:t>
            </a:r>
            <a:r>
              <a:rPr lang="en-US" altLang="en-US" sz="2800" dirty="0"/>
              <a:t> </a:t>
            </a:r>
            <a:r>
              <a:rPr lang="en-US" altLang="en-US" sz="2800" dirty="0" err="1"/>
              <a:t>mô</a:t>
            </a:r>
            <a:r>
              <a:rPr lang="en-US" altLang="en-US" sz="2800" dirty="0"/>
              <a:t> </a:t>
            </a:r>
            <a:r>
              <a:rPr lang="en-US" altLang="en-US" sz="2800" dirty="0" err="1"/>
              <a:t>tả</a:t>
            </a:r>
            <a:r>
              <a:rPr lang="en-US" altLang="en-US" sz="2800" dirty="0"/>
              <a:t> </a:t>
            </a:r>
            <a:r>
              <a:rPr lang="en-US" altLang="en-US" sz="2800" dirty="0" err="1"/>
              <a:t>một</a:t>
            </a:r>
            <a:r>
              <a:rPr lang="en-US" altLang="en-US" sz="2800" dirty="0"/>
              <a:t> </a:t>
            </a:r>
            <a:r>
              <a:rPr lang="en-US" altLang="en-US" sz="2800" dirty="0" err="1"/>
              <a:t>tính</a:t>
            </a:r>
            <a:r>
              <a:rPr lang="en-US" altLang="en-US" sz="2800" dirty="0"/>
              <a:t> </a:t>
            </a:r>
            <a:r>
              <a:rPr lang="en-US" altLang="en-US" sz="2800" dirty="0" err="1"/>
              <a:t>chất</a:t>
            </a:r>
            <a:r>
              <a:rPr lang="en-US" altLang="en-US" sz="2800" dirty="0"/>
              <a:t> </a:t>
            </a:r>
            <a:r>
              <a:rPr lang="en-US" altLang="en-US" sz="2800" dirty="0" err="1"/>
              <a:t>của</a:t>
            </a:r>
            <a:r>
              <a:rPr lang="en-US" altLang="en-US" sz="2800" dirty="0"/>
              <a:t> </a:t>
            </a:r>
            <a:r>
              <a:rPr lang="en-US" altLang="en-US" sz="2800" dirty="0" err="1"/>
              <a:t>mọi</a:t>
            </a:r>
            <a:r>
              <a:rPr lang="en-US" altLang="en-US" sz="2800" dirty="0"/>
              <a:t> ma </a:t>
            </a:r>
            <a:r>
              <a:rPr lang="en-US" altLang="en-US" sz="2800" dirty="0" err="1"/>
              <a:t>trận</a:t>
            </a:r>
            <a:r>
              <a:rPr lang="en-US" altLang="en-US" sz="2800" dirty="0"/>
              <a:t> </a:t>
            </a:r>
            <a:r>
              <a:rPr lang="en-US" altLang="en-US" sz="2800" dirty="0" err="1"/>
              <a:t>vuông</a:t>
            </a:r>
            <a:r>
              <a:rPr lang="en-US" altLang="en-US" sz="2800" dirty="0"/>
              <a:t> </a:t>
            </a:r>
            <a:r>
              <a:rPr lang="en-US" altLang="en-US" sz="2800" dirty="0" err="1"/>
              <a:t>suy</a:t>
            </a:r>
            <a:r>
              <a:rPr lang="en-US" altLang="en-US" sz="2800" dirty="0"/>
              <a:t> </a:t>
            </a:r>
            <a:r>
              <a:rPr lang="en-US" altLang="en-US" sz="2800" dirty="0" err="1"/>
              <a:t>biến</a:t>
            </a:r>
            <a:r>
              <a:rPr lang="en-US" altLang="en-US" sz="2800" dirty="0"/>
              <a:t>.</a:t>
            </a:r>
          </a:p>
          <a:p>
            <a:pPr eaLnBrk="1" hangingPunct="1"/>
            <a:endParaRPr lang="en-US" altLang="en-US" sz="2800" dirty="0"/>
          </a:p>
          <a:p>
            <a:pPr eaLnBrk="1" hangingPunct="1"/>
            <a:r>
              <a:rPr lang="en-US" altLang="en-US" sz="2800" dirty="0" err="1"/>
              <a:t>Chẳng</a:t>
            </a:r>
            <a:r>
              <a:rPr lang="en-US" altLang="en-US" sz="2800" dirty="0"/>
              <a:t> </a:t>
            </a:r>
            <a:r>
              <a:rPr lang="en-US" altLang="en-US" sz="2800" dirty="0" err="1"/>
              <a:t>hạn</a:t>
            </a:r>
            <a:r>
              <a:rPr lang="en-US" altLang="en-US" sz="2800" dirty="0"/>
              <a:t>, </a:t>
            </a:r>
            <a:r>
              <a:rPr lang="en-US" altLang="en-US" sz="2800" dirty="0" err="1"/>
              <a:t>một</a:t>
            </a:r>
            <a:r>
              <a:rPr lang="en-US" altLang="en-US" sz="2800" dirty="0"/>
              <a:t> ma </a:t>
            </a:r>
            <a:r>
              <a:rPr lang="en-US" altLang="en-US" sz="2800" dirty="0" err="1"/>
              <a:t>trận</a:t>
            </a:r>
            <a:r>
              <a:rPr lang="en-US" altLang="en-US" sz="2800" dirty="0"/>
              <a:t> </a:t>
            </a:r>
            <a:r>
              <a:rPr lang="en-US" altLang="en-US" sz="2800" dirty="0" err="1"/>
              <a:t>vuông</a:t>
            </a:r>
            <a:r>
              <a:rPr lang="en-US" altLang="en-US" sz="2800" dirty="0"/>
              <a:t> </a:t>
            </a:r>
            <a:r>
              <a:rPr lang="en-US" altLang="en-US" sz="2800" dirty="0" err="1"/>
              <a:t>cấp</a:t>
            </a:r>
            <a:r>
              <a:rPr lang="en-US" altLang="en-US" sz="2800" dirty="0"/>
              <a:t> n </a:t>
            </a:r>
            <a:r>
              <a:rPr lang="en-US" altLang="en-US" sz="2800" dirty="0" err="1"/>
              <a:t>suy</a:t>
            </a:r>
            <a:r>
              <a:rPr lang="en-US" altLang="en-US" sz="2800" dirty="0"/>
              <a:t> </a:t>
            </a:r>
            <a:r>
              <a:rPr lang="en-US" altLang="en-US" sz="2800" dirty="0" err="1"/>
              <a:t>biến</a:t>
            </a:r>
            <a:r>
              <a:rPr lang="en-US" altLang="en-US" sz="2800" dirty="0"/>
              <a:t> </a:t>
            </a:r>
            <a:r>
              <a:rPr lang="en-US" altLang="en-US" sz="2800" dirty="0" err="1"/>
              <a:t>là</a:t>
            </a:r>
            <a:r>
              <a:rPr lang="en-US" altLang="en-US" sz="2800" dirty="0"/>
              <a:t> </a:t>
            </a:r>
            <a:r>
              <a:rPr lang="en-US" altLang="en-US" sz="2800" i="1" dirty="0" err="1"/>
              <a:t>không</a:t>
            </a:r>
            <a:r>
              <a:rPr lang="en-US" altLang="en-US" sz="2800" dirty="0"/>
              <a:t> </a:t>
            </a:r>
            <a:r>
              <a:rPr lang="en-US" altLang="en-US" sz="2800" dirty="0" err="1"/>
              <a:t>tương</a:t>
            </a:r>
            <a:r>
              <a:rPr lang="en-US" altLang="en-US" sz="2800" dirty="0"/>
              <a:t> </a:t>
            </a:r>
            <a:r>
              <a:rPr lang="en-US" altLang="en-US" sz="2800" dirty="0" err="1"/>
              <a:t>đương</a:t>
            </a:r>
            <a:r>
              <a:rPr lang="en-US" altLang="en-US" sz="2800" dirty="0"/>
              <a:t> hang </a:t>
            </a:r>
            <a:r>
              <a:rPr lang="en-US" altLang="en-US" sz="2800" dirty="0" err="1"/>
              <a:t>với</a:t>
            </a:r>
            <a:r>
              <a:rPr lang="en-US" altLang="en-US" sz="2800" dirty="0"/>
              <a:t> </a:t>
            </a:r>
            <a:r>
              <a:rPr lang="en-US" altLang="en-US" sz="2800" i="1" dirty="0"/>
              <a:t>I</a:t>
            </a:r>
            <a:r>
              <a:rPr lang="en-US" altLang="en-US" sz="2800" i="1" baseline="-25000" dirty="0"/>
              <a:t>n</a:t>
            </a:r>
            <a:r>
              <a:rPr lang="en-US" altLang="en-US" sz="2800" dirty="0"/>
              <a:t>, </a:t>
            </a:r>
            <a:r>
              <a:rPr lang="en-US" altLang="en-US" sz="2800" dirty="0" err="1"/>
              <a:t>không</a:t>
            </a:r>
            <a:r>
              <a:rPr lang="en-US" altLang="en-US" sz="2800" dirty="0"/>
              <a:t> </a:t>
            </a:r>
            <a:r>
              <a:rPr lang="en-US" altLang="en-US" sz="2800" dirty="0" err="1"/>
              <a:t>có</a:t>
            </a:r>
            <a:r>
              <a:rPr lang="en-US" altLang="en-US" sz="2800" dirty="0"/>
              <a:t> </a:t>
            </a:r>
            <a:r>
              <a:rPr lang="en-US" altLang="en-US" sz="2800" i="1" dirty="0"/>
              <a:t>n</a:t>
            </a:r>
            <a:r>
              <a:rPr lang="en-US" altLang="en-US" sz="2800" dirty="0"/>
              <a:t> </a:t>
            </a:r>
            <a:r>
              <a:rPr lang="en-US" altLang="en-US" sz="2800" dirty="0" err="1"/>
              <a:t>vị</a:t>
            </a:r>
            <a:r>
              <a:rPr lang="en-US" altLang="en-US" sz="2800" dirty="0"/>
              <a:t> </a:t>
            </a:r>
            <a:r>
              <a:rPr lang="en-US" altLang="en-US" sz="2800" dirty="0" err="1"/>
              <a:t>trí</a:t>
            </a:r>
            <a:r>
              <a:rPr lang="en-US" altLang="en-US" sz="2800" dirty="0"/>
              <a:t> </a:t>
            </a:r>
            <a:r>
              <a:rPr lang="en-US" altLang="en-US" sz="2800" dirty="0" err="1"/>
              <a:t>chốt</a:t>
            </a:r>
            <a:r>
              <a:rPr lang="en-US" altLang="en-US" sz="2800" dirty="0"/>
              <a:t>, </a:t>
            </a:r>
            <a:r>
              <a:rPr lang="en-US" altLang="en-US" sz="2800" dirty="0" err="1"/>
              <a:t>và</a:t>
            </a:r>
            <a:r>
              <a:rPr lang="en-US" altLang="en-US" sz="2800" dirty="0"/>
              <a:t> </a:t>
            </a:r>
            <a:r>
              <a:rPr lang="en-US" altLang="en-US" sz="2800" dirty="0" err="1"/>
              <a:t>có</a:t>
            </a:r>
            <a:r>
              <a:rPr lang="en-US" altLang="en-US" sz="2800" dirty="0"/>
              <a:t> </a:t>
            </a:r>
            <a:r>
              <a:rPr lang="en-US" altLang="en-US" sz="2800" dirty="0" err="1"/>
              <a:t>các</a:t>
            </a:r>
            <a:r>
              <a:rPr lang="en-US" altLang="en-US" sz="2800" dirty="0"/>
              <a:t> </a:t>
            </a:r>
            <a:r>
              <a:rPr lang="en-US" altLang="en-US" sz="2800" dirty="0" err="1"/>
              <a:t>cột</a:t>
            </a:r>
            <a:r>
              <a:rPr lang="en-US" altLang="en-US" sz="2800" dirty="0"/>
              <a:t> </a:t>
            </a:r>
            <a:r>
              <a:rPr lang="en-US" altLang="en-US" sz="2800" dirty="0" err="1"/>
              <a:t>phụ</a:t>
            </a:r>
            <a:r>
              <a:rPr lang="en-US" altLang="en-US" sz="2800" dirty="0"/>
              <a:t> </a:t>
            </a:r>
            <a:r>
              <a:rPr lang="en-US" altLang="en-US" sz="2800" dirty="0" err="1"/>
              <a:t>thuộc</a:t>
            </a:r>
            <a:r>
              <a:rPr lang="en-US" altLang="en-US" sz="2800" dirty="0"/>
              <a:t> </a:t>
            </a:r>
            <a:r>
              <a:rPr lang="en-US" altLang="en-US" sz="2800" dirty="0" err="1"/>
              <a:t>tuyến</a:t>
            </a:r>
            <a:r>
              <a:rPr lang="en-US" altLang="en-US" sz="2800" dirty="0"/>
              <a:t> </a:t>
            </a:r>
            <a:r>
              <a:rPr lang="en-US" altLang="en-US" sz="2800" dirty="0" err="1"/>
              <a:t>tính</a:t>
            </a:r>
            <a:r>
              <a:rPr lang="en-US" altLang="en-US" sz="2800" dirty="0"/>
              <a:t>. </a:t>
            </a:r>
          </a:p>
        </p:txBody>
      </p:sp>
      <p:sp>
        <p:nvSpPr>
          <p:cNvPr id="9" name="Footer Placeholder 4"/>
          <p:cNvSpPr>
            <a:spLocks noGrp="1"/>
          </p:cNvSpPr>
          <p:nvPr>
            <p:ph type="ftr" sz="quarter" idx="11"/>
          </p:nvPr>
        </p:nvSpPr>
        <p:spPr bwMode="auto">
          <a:xfrm>
            <a:off x="457200" y="6305550"/>
            <a:ext cx="6324600" cy="47625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algn="l"/>
            <a:r>
              <a:rPr lang="en-US" altLang="en-US" sz="1200" dirty="0">
                <a:latin typeface="Arial" panose="020B0604020202020204" pitchFamily="34" charset="0"/>
              </a:rPr>
              <a:t> © 2016 Pearson Education, Ltd.</a:t>
            </a:r>
          </a:p>
        </p:txBody>
      </p:sp>
    </p:spTree>
  </p:cSld>
  <p:clrMapOvr>
    <a:masterClrMapping/>
  </p:clrMapOvr>
  <p:transition spd="med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algn="r"/>
            <a:r>
              <a:rPr lang="en-US" altLang="en-US" sz="1200">
                <a:latin typeface="Arial" panose="020B0604020202020204" pitchFamily="34" charset="0"/>
              </a:rPr>
              <a:t>Slide 2.3- </a:t>
            </a:r>
            <a:fld id="{59B8EF6E-7801-4946-904A-5B1AF4AF6C40}" type="slidenum">
              <a:rPr lang="en-US" altLang="en-US" sz="1200">
                <a:latin typeface="Arial" panose="020B0604020202020204" pitchFamily="34" charset="0"/>
              </a:rPr>
              <a:pPr algn="r"/>
              <a:t>9</a:t>
            </a:fld>
            <a:endParaRPr lang="en-CA" altLang="en-US" sz="1200">
              <a:latin typeface="Arial" panose="020B0604020202020204" pitchFamily="34" charset="0"/>
            </a:endParaRPr>
          </a:p>
        </p:txBody>
      </p:sp>
      <p:sp>
        <p:nvSpPr>
          <p:cNvPr id="1434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ĐỊNH LÍ MA TRẬN KHẢ NGHỊCH</a:t>
            </a:r>
          </a:p>
        </p:txBody>
      </p:sp>
      <p:sp>
        <p:nvSpPr>
          <p:cNvPr id="70144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295400"/>
            <a:ext cx="8229600" cy="5181600"/>
          </a:xfrm>
        </p:spPr>
        <p:txBody>
          <a:bodyPr/>
          <a:lstStyle/>
          <a:p>
            <a:pPr eaLnBrk="1" hangingPunct="1"/>
            <a:r>
              <a:rPr lang="en-US" altLang="en-US" sz="2800" b="1" dirty="0" err="1"/>
              <a:t>Ví</a:t>
            </a:r>
            <a:r>
              <a:rPr lang="en-US" altLang="en-US" sz="2800" b="1" dirty="0"/>
              <a:t> </a:t>
            </a:r>
            <a:r>
              <a:rPr lang="en-US" altLang="en-US" sz="2800" b="1" dirty="0" err="1"/>
              <a:t>dụ</a:t>
            </a:r>
            <a:r>
              <a:rPr lang="en-US" altLang="en-US" sz="2800" b="1" dirty="0"/>
              <a:t> 1:</a:t>
            </a:r>
            <a:r>
              <a:rPr lang="en-US" altLang="en-US" sz="2800" dirty="0"/>
              <a:t> </a:t>
            </a:r>
            <a:r>
              <a:rPr lang="en-US" altLang="en-US" sz="2800" dirty="0" err="1"/>
              <a:t>Sử</a:t>
            </a:r>
            <a:r>
              <a:rPr lang="en-US" altLang="en-US" sz="2800" dirty="0"/>
              <a:t> </a:t>
            </a:r>
            <a:r>
              <a:rPr lang="en-US" altLang="en-US" sz="2800" dirty="0" err="1"/>
              <a:t>dụng</a:t>
            </a:r>
            <a:r>
              <a:rPr lang="en-US" altLang="en-US" sz="2800" dirty="0"/>
              <a:t> </a:t>
            </a:r>
            <a:r>
              <a:rPr lang="en-US" altLang="en-US" sz="2800" dirty="0" err="1"/>
              <a:t>Định</a:t>
            </a:r>
            <a:r>
              <a:rPr lang="en-US" altLang="en-US" sz="2800" dirty="0"/>
              <a:t> </a:t>
            </a:r>
            <a:r>
              <a:rPr lang="en-US" altLang="en-US" sz="2800" dirty="0" err="1"/>
              <a:t>Lí</a:t>
            </a:r>
            <a:r>
              <a:rPr lang="en-US" altLang="en-US" sz="2800" dirty="0"/>
              <a:t> Ma </a:t>
            </a:r>
            <a:r>
              <a:rPr lang="en-US" altLang="en-US" sz="2800" dirty="0" err="1"/>
              <a:t>Trận</a:t>
            </a:r>
            <a:r>
              <a:rPr lang="en-US" altLang="en-US" sz="2800" dirty="0"/>
              <a:t> </a:t>
            </a:r>
            <a:r>
              <a:rPr lang="en-US" altLang="en-US" sz="2800" dirty="0" err="1"/>
              <a:t>Khả</a:t>
            </a:r>
            <a:r>
              <a:rPr lang="en-US" altLang="en-US" sz="2800" dirty="0"/>
              <a:t> </a:t>
            </a:r>
            <a:r>
              <a:rPr lang="en-US" altLang="en-US" sz="2800" dirty="0" err="1"/>
              <a:t>Nghịch</a:t>
            </a:r>
            <a:r>
              <a:rPr lang="en-US" altLang="en-US" sz="2800" dirty="0"/>
              <a:t> </a:t>
            </a:r>
            <a:r>
              <a:rPr lang="en-US" altLang="en-US" sz="2800" dirty="0" err="1"/>
              <a:t>để</a:t>
            </a:r>
            <a:r>
              <a:rPr lang="en-US" altLang="en-US" sz="2800" dirty="0"/>
              <a:t> </a:t>
            </a:r>
            <a:r>
              <a:rPr lang="en-US" altLang="en-US" sz="2800" dirty="0" err="1"/>
              <a:t>kiểm</a:t>
            </a:r>
            <a:r>
              <a:rPr lang="en-US" altLang="en-US" sz="2800" dirty="0"/>
              <a:t> </a:t>
            </a:r>
            <a:r>
              <a:rPr lang="en-US" altLang="en-US" sz="2800" dirty="0" err="1"/>
              <a:t>tra</a:t>
            </a:r>
            <a:r>
              <a:rPr lang="en-US" altLang="en-US" sz="2800" dirty="0"/>
              <a:t> </a:t>
            </a:r>
            <a:r>
              <a:rPr lang="en-US" altLang="en-US" sz="2800" dirty="0" err="1"/>
              <a:t>liệu</a:t>
            </a:r>
            <a:r>
              <a:rPr lang="en-US" altLang="en-US" sz="2800" dirty="0"/>
              <a:t> </a:t>
            </a:r>
            <a:r>
              <a:rPr lang="en-US" altLang="en-US" sz="2800" i="1" dirty="0"/>
              <a:t>A</a:t>
            </a:r>
            <a:r>
              <a:rPr lang="en-US" altLang="en-US" sz="2800" dirty="0"/>
              <a:t> </a:t>
            </a:r>
            <a:r>
              <a:rPr lang="en-US" altLang="en-US" sz="2800" dirty="0" err="1"/>
              <a:t>có</a:t>
            </a:r>
            <a:r>
              <a:rPr lang="en-US" altLang="en-US" sz="2800" dirty="0"/>
              <a:t> </a:t>
            </a:r>
            <a:r>
              <a:rPr lang="en-US" altLang="en-US" sz="2800" dirty="0" err="1"/>
              <a:t>khả</a:t>
            </a:r>
            <a:r>
              <a:rPr lang="en-US" altLang="en-US" sz="2800" dirty="0"/>
              <a:t> </a:t>
            </a:r>
            <a:r>
              <a:rPr lang="en-US" altLang="en-US" sz="2800" dirty="0" err="1"/>
              <a:t>nghịch</a:t>
            </a:r>
            <a:r>
              <a:rPr lang="en-US" altLang="en-US" sz="2800" dirty="0"/>
              <a:t> hay </a:t>
            </a:r>
            <a:r>
              <a:rPr lang="en-US" altLang="en-US" sz="2800" dirty="0" err="1"/>
              <a:t>không</a:t>
            </a:r>
            <a:r>
              <a:rPr lang="en-US" altLang="en-US" sz="2800" dirty="0"/>
              <a:t>:</a:t>
            </a:r>
          </a:p>
          <a:p>
            <a:pPr eaLnBrk="1" hangingPunct="1"/>
            <a:endParaRPr lang="en-US" altLang="en-US" sz="2800" dirty="0"/>
          </a:p>
          <a:p>
            <a:pPr eaLnBrk="1" hangingPunct="1"/>
            <a:endParaRPr lang="en-US" altLang="en-US" sz="2800" dirty="0"/>
          </a:p>
          <a:p>
            <a:pPr eaLnBrk="1" hangingPunct="1"/>
            <a:endParaRPr lang="en-US" altLang="en-US" sz="2800" dirty="0"/>
          </a:p>
          <a:p>
            <a:pPr eaLnBrk="1" hangingPunct="1"/>
            <a:r>
              <a:rPr lang="en-US" altLang="en-US" sz="2800" b="1" dirty="0" err="1"/>
              <a:t>Lời</a:t>
            </a:r>
            <a:r>
              <a:rPr lang="en-US" altLang="en-US" sz="2800" b="1" dirty="0"/>
              <a:t> </a:t>
            </a:r>
            <a:r>
              <a:rPr lang="en-US" altLang="en-US" sz="2800" b="1" dirty="0" err="1"/>
              <a:t>giải</a:t>
            </a:r>
            <a:r>
              <a:rPr lang="en-US" altLang="en-US" sz="2800" b="1" dirty="0"/>
              <a:t>:</a:t>
            </a:r>
            <a:r>
              <a:rPr lang="en-US" altLang="en-US" sz="2800" dirty="0"/>
              <a:t> </a:t>
            </a:r>
          </a:p>
        </p:txBody>
      </p:sp>
      <p:graphicFrame>
        <p:nvGraphicFramePr>
          <p:cNvPr id="701444" name="Object 4"/>
          <p:cNvGraphicFramePr>
            <a:graphicFrameLocks noChangeAspect="1"/>
          </p:cNvGraphicFramePr>
          <p:nvPr/>
        </p:nvGraphicFramePr>
        <p:xfrm>
          <a:off x="3124200" y="2209800"/>
          <a:ext cx="2895600" cy="1674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86" name="Equation" r:id="rId3" imgW="3073400" imgH="1778000" progId="">
                  <p:embed/>
                </p:oleObj>
              </mc:Choice>
              <mc:Fallback>
                <p:oleObj name="Equation" r:id="rId3" imgW="3073400" imgH="1778000" progId="">
                  <p:embed/>
                  <p:pic>
                    <p:nvPicPr>
                      <p:cNvPr id="0" name="Picture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24200" y="2209800"/>
                        <a:ext cx="2895600" cy="16748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01445" name="Object 5"/>
          <p:cNvGraphicFramePr>
            <a:graphicFrameLocks noChangeAspect="1"/>
          </p:cNvGraphicFramePr>
          <p:nvPr/>
        </p:nvGraphicFramePr>
        <p:xfrm>
          <a:off x="1905000" y="4419600"/>
          <a:ext cx="5105400" cy="17446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87" name="Equation" r:id="rId5" imgW="5207000" imgH="1778000" progId="">
                  <p:embed/>
                </p:oleObj>
              </mc:Choice>
              <mc:Fallback>
                <p:oleObj name="Equation" r:id="rId5" imgW="5207000" imgH="1778000" progId="">
                  <p:embed/>
                  <p:pic>
                    <p:nvPicPr>
                      <p:cNvPr id="0" name="Picture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05000" y="4419600"/>
                        <a:ext cx="5105400" cy="17446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 bwMode="auto">
          <a:xfrm>
            <a:off x="457200" y="6305550"/>
            <a:ext cx="6324600" cy="47625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algn="l"/>
            <a:r>
              <a:rPr lang="en-US" altLang="en-US" sz="1200" dirty="0">
                <a:latin typeface="Arial" panose="020B0604020202020204" pitchFamily="34" charset="0"/>
              </a:rPr>
              <a:t> © 2016 Pearson Education, Ltd.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2209800" y="5061098"/>
            <a:ext cx="304800" cy="46166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dirty="0">
                <a:latin typeface="+mn-lt"/>
              </a:rPr>
              <a:t>~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24400" y="5058589"/>
            <a:ext cx="304800" cy="46166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dirty="0">
                <a:latin typeface="+mn-lt"/>
              </a:rPr>
              <a:t>~</a:t>
            </a:r>
          </a:p>
        </p:txBody>
      </p:sp>
    </p:spTree>
  </p:cSld>
  <p:clrMapOvr>
    <a:masterClrMapping/>
  </p:clrMapOvr>
  <p:transition spd="med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algn="r"/>
            <a:r>
              <a:rPr lang="en-US" altLang="en-US" sz="1200">
                <a:latin typeface="Arial" panose="020B0604020202020204" pitchFamily="34" charset="0"/>
              </a:rPr>
              <a:t>Slide 2.3- </a:t>
            </a:r>
            <a:fld id="{B3D71C8E-7605-4C51-9635-219BCAA21900}" type="slidenum">
              <a:rPr lang="en-US" altLang="en-US" sz="1200">
                <a:latin typeface="Arial" panose="020B0604020202020204" pitchFamily="34" charset="0"/>
              </a:rPr>
              <a:pPr algn="r"/>
              <a:t>10</a:t>
            </a:fld>
            <a:endParaRPr lang="en-CA" altLang="en-US" sz="1200">
              <a:latin typeface="Arial" panose="020B0604020202020204" pitchFamily="34" charset="0"/>
            </a:endParaRPr>
          </a:p>
        </p:txBody>
      </p:sp>
      <p:sp>
        <p:nvSpPr>
          <p:cNvPr id="1536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ĐỊNH LÍ MA TRẬN KHẢ NGHỊCH</a:t>
            </a:r>
          </a:p>
        </p:txBody>
      </p:sp>
      <p:sp>
        <p:nvSpPr>
          <p:cNvPr id="70246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447800"/>
            <a:ext cx="8229600" cy="4800600"/>
          </a:xfrm>
        </p:spPr>
        <p:txBody>
          <a:bodyPr/>
          <a:lstStyle/>
          <a:p>
            <a:pPr algn="just" eaLnBrk="1" hangingPunct="1">
              <a:lnSpc>
                <a:spcPct val="90000"/>
              </a:lnSpc>
            </a:pPr>
            <a:r>
              <a:rPr lang="en-US" altLang="en-US" sz="2800" dirty="0"/>
              <a:t>Do </a:t>
            </a:r>
            <a:r>
              <a:rPr lang="en-US" altLang="en-US" sz="2800" dirty="0" err="1"/>
              <a:t>đó</a:t>
            </a:r>
            <a:r>
              <a:rPr lang="en-US" altLang="en-US" sz="2800" dirty="0"/>
              <a:t> </a:t>
            </a:r>
            <a:r>
              <a:rPr lang="en-US" altLang="en-US" sz="2800" i="1" dirty="0"/>
              <a:t>A</a:t>
            </a:r>
            <a:r>
              <a:rPr lang="en-US" altLang="en-US" sz="2800" dirty="0"/>
              <a:t> </a:t>
            </a:r>
            <a:r>
              <a:rPr lang="en-US" altLang="en-US" sz="2800" dirty="0" err="1"/>
              <a:t>có</a:t>
            </a:r>
            <a:r>
              <a:rPr lang="en-US" altLang="en-US" sz="2800" dirty="0"/>
              <a:t> </a:t>
            </a:r>
            <a:r>
              <a:rPr lang="en-US" altLang="en-US" sz="2800" dirty="0" err="1"/>
              <a:t>ba</a:t>
            </a:r>
            <a:r>
              <a:rPr lang="en-US" altLang="en-US" sz="2800" dirty="0"/>
              <a:t> </a:t>
            </a:r>
            <a:r>
              <a:rPr lang="en-US" altLang="en-US" sz="2800" dirty="0" err="1"/>
              <a:t>vị</a:t>
            </a:r>
            <a:r>
              <a:rPr lang="en-US" altLang="en-US" sz="2800" dirty="0"/>
              <a:t> </a:t>
            </a:r>
            <a:r>
              <a:rPr lang="en-US" altLang="en-US" sz="2800" dirty="0" err="1"/>
              <a:t>trí</a:t>
            </a:r>
            <a:r>
              <a:rPr lang="en-US" altLang="en-US" sz="2800" dirty="0"/>
              <a:t> </a:t>
            </a:r>
            <a:r>
              <a:rPr lang="en-US" altLang="en-US" sz="2800" dirty="0" err="1"/>
              <a:t>chốt</a:t>
            </a:r>
            <a:r>
              <a:rPr lang="en-US" altLang="en-US" sz="2800" dirty="0"/>
              <a:t> </a:t>
            </a:r>
            <a:r>
              <a:rPr lang="en-US" altLang="en-US" sz="2800" dirty="0" err="1"/>
              <a:t>và</a:t>
            </a:r>
            <a:r>
              <a:rPr lang="en-US" altLang="en-US" sz="2800" dirty="0"/>
              <a:t> do </a:t>
            </a:r>
            <a:r>
              <a:rPr lang="en-US" altLang="en-US" sz="2800" dirty="0" err="1"/>
              <a:t>đó</a:t>
            </a:r>
            <a:r>
              <a:rPr lang="en-US" altLang="en-US" sz="2800" dirty="0"/>
              <a:t> </a:t>
            </a:r>
            <a:r>
              <a:rPr lang="en-US" altLang="en-US" sz="2800" dirty="0" err="1"/>
              <a:t>khả</a:t>
            </a:r>
            <a:r>
              <a:rPr lang="en-US" altLang="en-US" sz="2800" dirty="0"/>
              <a:t> </a:t>
            </a:r>
            <a:r>
              <a:rPr lang="en-US" altLang="en-US" sz="2800" dirty="0" err="1"/>
              <a:t>nghịch</a:t>
            </a:r>
            <a:r>
              <a:rPr lang="en-US" altLang="en-US" sz="2800" dirty="0"/>
              <a:t>, </a:t>
            </a:r>
            <a:r>
              <a:rPr lang="en-US" altLang="en-US" sz="2800" dirty="0" err="1"/>
              <a:t>theo</a:t>
            </a:r>
            <a:r>
              <a:rPr lang="en-US" altLang="en-US" sz="2800" dirty="0"/>
              <a:t> </a:t>
            </a:r>
            <a:r>
              <a:rPr lang="en-US" altLang="en-US" sz="2800" dirty="0" err="1"/>
              <a:t>Định</a:t>
            </a:r>
            <a:r>
              <a:rPr lang="en-US" altLang="en-US" sz="2800" dirty="0"/>
              <a:t> </a:t>
            </a:r>
            <a:r>
              <a:rPr lang="en-US" altLang="en-US" sz="2800" dirty="0" err="1"/>
              <a:t>Lí</a:t>
            </a:r>
            <a:r>
              <a:rPr lang="en-US" altLang="en-US" sz="2800" dirty="0"/>
              <a:t> Ma </a:t>
            </a:r>
            <a:r>
              <a:rPr lang="en-US" altLang="en-US" sz="2800" dirty="0" err="1"/>
              <a:t>Trận</a:t>
            </a:r>
            <a:r>
              <a:rPr lang="en-US" altLang="en-US" sz="2800" dirty="0"/>
              <a:t> </a:t>
            </a:r>
            <a:r>
              <a:rPr lang="en-US" altLang="en-US" sz="2800" dirty="0" err="1"/>
              <a:t>Khả</a:t>
            </a:r>
            <a:r>
              <a:rPr lang="en-US" altLang="en-US" sz="2800" dirty="0"/>
              <a:t> </a:t>
            </a:r>
            <a:r>
              <a:rPr lang="en-US" altLang="en-US" sz="2800" dirty="0" err="1"/>
              <a:t>Nghịch</a:t>
            </a:r>
            <a:r>
              <a:rPr lang="en-US" altLang="en-US" sz="2800" dirty="0"/>
              <a:t>, </a:t>
            </a:r>
            <a:r>
              <a:rPr lang="en-US" altLang="en-US" sz="2800" dirty="0" err="1"/>
              <a:t>phát</a:t>
            </a:r>
            <a:r>
              <a:rPr lang="en-US" altLang="en-US" sz="2800" dirty="0"/>
              <a:t> </a:t>
            </a:r>
            <a:r>
              <a:rPr lang="en-US" altLang="en-US" sz="2800" dirty="0" err="1"/>
              <a:t>biểu</a:t>
            </a:r>
            <a:r>
              <a:rPr lang="en-US" altLang="en-US" sz="2800" dirty="0"/>
              <a:t> (c).</a:t>
            </a:r>
          </a:p>
          <a:p>
            <a:pPr eaLnBrk="1" hangingPunct="1">
              <a:lnSpc>
                <a:spcPct val="90000"/>
              </a:lnSpc>
            </a:pPr>
            <a:endParaRPr lang="en-US" altLang="en-US" sz="2800" dirty="0"/>
          </a:p>
          <a:p>
            <a:pPr algn="just" eaLnBrk="1" hangingPunct="1">
              <a:lnSpc>
                <a:spcPct val="90000"/>
              </a:lnSpc>
            </a:pPr>
            <a:r>
              <a:rPr lang="en-US" altLang="en-US" sz="2800" dirty="0" err="1"/>
              <a:t>Định</a:t>
            </a:r>
            <a:r>
              <a:rPr lang="en-US" altLang="en-US" sz="2800" dirty="0"/>
              <a:t> </a:t>
            </a:r>
            <a:r>
              <a:rPr lang="en-US" altLang="en-US" sz="2800" dirty="0" err="1"/>
              <a:t>Lí</a:t>
            </a:r>
            <a:r>
              <a:rPr lang="en-US" altLang="en-US" sz="2800" dirty="0"/>
              <a:t> Ma </a:t>
            </a:r>
            <a:r>
              <a:rPr lang="en-US" altLang="en-US" sz="2800" dirty="0" err="1"/>
              <a:t>Trận</a:t>
            </a:r>
            <a:r>
              <a:rPr lang="en-US" altLang="en-US" sz="2800" dirty="0"/>
              <a:t> </a:t>
            </a:r>
            <a:r>
              <a:rPr lang="en-US" altLang="en-US" sz="2800" dirty="0" err="1"/>
              <a:t>Khả</a:t>
            </a:r>
            <a:r>
              <a:rPr lang="en-US" altLang="en-US" sz="2800" dirty="0"/>
              <a:t> </a:t>
            </a:r>
            <a:r>
              <a:rPr lang="en-US" altLang="en-US" sz="2800" dirty="0" err="1"/>
              <a:t>Nghịch</a:t>
            </a:r>
            <a:r>
              <a:rPr lang="en-US" altLang="en-US" sz="2800" dirty="0"/>
              <a:t> </a:t>
            </a:r>
            <a:r>
              <a:rPr lang="en-US" altLang="en-US" sz="2800" i="1" dirty="0" err="1"/>
              <a:t>chỉ</a:t>
            </a:r>
            <a:r>
              <a:rPr lang="en-US" altLang="en-US" sz="2800" i="1" dirty="0"/>
              <a:t> </a:t>
            </a:r>
            <a:r>
              <a:rPr lang="en-US" altLang="en-US" sz="2800" i="1" dirty="0" err="1"/>
              <a:t>áp</a:t>
            </a:r>
            <a:r>
              <a:rPr lang="en-US" altLang="en-US" sz="2800" i="1" dirty="0"/>
              <a:t> </a:t>
            </a:r>
            <a:r>
              <a:rPr lang="en-US" altLang="en-US" sz="2800" i="1" dirty="0" err="1"/>
              <a:t>dụng</a:t>
            </a:r>
            <a:r>
              <a:rPr lang="en-US" altLang="en-US" sz="2800" i="1" dirty="0"/>
              <a:t> </a:t>
            </a:r>
            <a:r>
              <a:rPr lang="en-US" altLang="en-US" sz="2800" i="1" dirty="0" err="1"/>
              <a:t>được</a:t>
            </a:r>
            <a:r>
              <a:rPr lang="en-US" altLang="en-US" sz="2800" i="1" dirty="0"/>
              <a:t> </a:t>
            </a:r>
            <a:r>
              <a:rPr lang="en-US" altLang="en-US" sz="2800" i="1" dirty="0" err="1"/>
              <a:t>cho</a:t>
            </a:r>
            <a:r>
              <a:rPr lang="en-US" altLang="en-US" sz="2800" i="1" dirty="0"/>
              <a:t> </a:t>
            </a:r>
            <a:r>
              <a:rPr lang="en-US" altLang="en-US" sz="2800" i="1" dirty="0" err="1"/>
              <a:t>các</a:t>
            </a:r>
            <a:r>
              <a:rPr lang="en-US" altLang="en-US" sz="2800" i="1" dirty="0"/>
              <a:t> ma </a:t>
            </a:r>
            <a:r>
              <a:rPr lang="en-US" altLang="en-US" sz="2800" i="1" dirty="0" err="1"/>
              <a:t>trận</a:t>
            </a:r>
            <a:r>
              <a:rPr lang="en-US" altLang="en-US" sz="2800" i="1" dirty="0"/>
              <a:t> </a:t>
            </a:r>
            <a:r>
              <a:rPr lang="en-US" altLang="en-US" sz="2800" i="1" dirty="0" err="1"/>
              <a:t>vuông</a:t>
            </a:r>
            <a:r>
              <a:rPr lang="en-US" altLang="en-US" sz="2800" dirty="0"/>
              <a:t>.</a:t>
            </a:r>
          </a:p>
          <a:p>
            <a:pPr eaLnBrk="1" hangingPunct="1">
              <a:lnSpc>
                <a:spcPct val="90000"/>
              </a:lnSpc>
            </a:pPr>
            <a:endParaRPr lang="en-US" altLang="en-US" sz="2800" dirty="0"/>
          </a:p>
          <a:p>
            <a:pPr algn="just" eaLnBrk="1" hangingPunct="1">
              <a:lnSpc>
                <a:spcPct val="90000"/>
              </a:lnSpc>
            </a:pPr>
            <a:r>
              <a:rPr lang="en-US" altLang="en-US" sz="2800" dirty="0" err="1"/>
              <a:t>Ví</a:t>
            </a:r>
            <a:r>
              <a:rPr lang="en-US" altLang="en-US" sz="2800" dirty="0"/>
              <a:t> </a:t>
            </a:r>
            <a:r>
              <a:rPr lang="en-US" altLang="en-US" sz="2800" dirty="0" err="1"/>
              <a:t>dụ</a:t>
            </a:r>
            <a:r>
              <a:rPr lang="en-US" altLang="en-US" sz="2800" dirty="0"/>
              <a:t>, </a:t>
            </a:r>
            <a:r>
              <a:rPr lang="en-US" altLang="en-US" sz="2800" dirty="0" err="1"/>
              <a:t>nếu</a:t>
            </a:r>
            <a:r>
              <a:rPr lang="en-US" altLang="en-US" sz="2800" dirty="0"/>
              <a:t> </a:t>
            </a:r>
            <a:r>
              <a:rPr lang="en-US" altLang="en-US" sz="2800" dirty="0" err="1"/>
              <a:t>các</a:t>
            </a:r>
            <a:r>
              <a:rPr lang="en-US" altLang="en-US" sz="2800" dirty="0"/>
              <a:t> </a:t>
            </a:r>
            <a:r>
              <a:rPr lang="en-US" altLang="en-US" sz="2800" dirty="0" err="1"/>
              <a:t>cột</a:t>
            </a:r>
            <a:r>
              <a:rPr lang="en-US" altLang="en-US" sz="2800" dirty="0"/>
              <a:t> </a:t>
            </a:r>
            <a:r>
              <a:rPr lang="en-US" altLang="en-US" sz="2800" dirty="0" err="1"/>
              <a:t>của</a:t>
            </a:r>
            <a:r>
              <a:rPr lang="en-US" altLang="en-US" sz="2800" dirty="0"/>
              <a:t> </a:t>
            </a:r>
            <a:r>
              <a:rPr lang="en-US" altLang="en-US" sz="2800" dirty="0" err="1"/>
              <a:t>một</a:t>
            </a:r>
            <a:r>
              <a:rPr lang="en-US" altLang="en-US" sz="2800" dirty="0"/>
              <a:t>          ma </a:t>
            </a:r>
            <a:r>
              <a:rPr lang="en-US" altLang="en-US" sz="2800" dirty="0" err="1"/>
              <a:t>trận</a:t>
            </a:r>
            <a:r>
              <a:rPr lang="en-US" altLang="en-US" sz="2800" dirty="0"/>
              <a:t> </a:t>
            </a:r>
            <a:r>
              <a:rPr lang="en-US" altLang="en-US" sz="2800" dirty="0" err="1"/>
              <a:t>là</a:t>
            </a:r>
            <a:r>
              <a:rPr lang="en-US" altLang="en-US" sz="2800" dirty="0"/>
              <a:t> </a:t>
            </a:r>
            <a:r>
              <a:rPr lang="en-US" altLang="en-US" sz="2800" dirty="0" err="1"/>
              <a:t>độc</a:t>
            </a:r>
            <a:r>
              <a:rPr lang="en-US" altLang="en-US" sz="2800" dirty="0"/>
              <a:t> </a:t>
            </a:r>
            <a:r>
              <a:rPr lang="en-US" altLang="en-US" sz="2800" dirty="0" err="1"/>
              <a:t>lập</a:t>
            </a:r>
            <a:r>
              <a:rPr lang="en-US" altLang="en-US" sz="2800" dirty="0"/>
              <a:t> </a:t>
            </a:r>
            <a:r>
              <a:rPr lang="en-US" altLang="en-US" sz="2800" dirty="0" err="1"/>
              <a:t>tuyến</a:t>
            </a:r>
            <a:r>
              <a:rPr lang="en-US" altLang="en-US" sz="2800" dirty="0"/>
              <a:t> </a:t>
            </a:r>
            <a:r>
              <a:rPr lang="en-US" altLang="en-US" sz="2800" dirty="0" err="1"/>
              <a:t>tính</a:t>
            </a:r>
            <a:r>
              <a:rPr lang="en-US" altLang="en-US" sz="2800" dirty="0"/>
              <a:t>, ta </a:t>
            </a:r>
            <a:r>
              <a:rPr lang="en-US" altLang="en-US" sz="2800" dirty="0" err="1"/>
              <a:t>không</a:t>
            </a:r>
            <a:r>
              <a:rPr lang="en-US" altLang="en-US" sz="2800" dirty="0"/>
              <a:t> </a:t>
            </a:r>
            <a:r>
              <a:rPr lang="en-US" altLang="en-US" sz="2800" dirty="0" err="1"/>
              <a:t>thể</a:t>
            </a:r>
            <a:r>
              <a:rPr lang="en-US" altLang="en-US" sz="2800" dirty="0"/>
              <a:t> dung </a:t>
            </a:r>
            <a:r>
              <a:rPr lang="en-US" altLang="en-US" sz="2800" dirty="0" err="1"/>
              <a:t>Định</a:t>
            </a:r>
            <a:r>
              <a:rPr lang="en-US" altLang="en-US" sz="2800" dirty="0"/>
              <a:t> </a:t>
            </a:r>
            <a:r>
              <a:rPr lang="en-US" altLang="en-US" sz="2800" dirty="0" err="1"/>
              <a:t>Lí</a:t>
            </a:r>
            <a:r>
              <a:rPr lang="en-US" altLang="en-US" sz="2800" dirty="0"/>
              <a:t> Ma </a:t>
            </a:r>
            <a:r>
              <a:rPr lang="en-US" altLang="en-US" sz="2800" dirty="0" err="1"/>
              <a:t>Trận</a:t>
            </a:r>
            <a:r>
              <a:rPr lang="en-US" altLang="en-US" sz="2800" dirty="0"/>
              <a:t> </a:t>
            </a:r>
            <a:r>
              <a:rPr lang="en-US" altLang="en-US" sz="2800" dirty="0" err="1"/>
              <a:t>Khả</a:t>
            </a:r>
            <a:r>
              <a:rPr lang="en-US" altLang="en-US" sz="2800" dirty="0"/>
              <a:t> </a:t>
            </a:r>
            <a:r>
              <a:rPr lang="en-US" altLang="en-US" sz="2800" dirty="0" err="1"/>
              <a:t>Nghịch</a:t>
            </a:r>
            <a:r>
              <a:rPr lang="en-US" altLang="en-US" sz="2800" dirty="0"/>
              <a:t> </a:t>
            </a:r>
            <a:r>
              <a:rPr lang="en-US" altLang="en-US" sz="2800" dirty="0" err="1"/>
              <a:t>để</a:t>
            </a:r>
            <a:r>
              <a:rPr lang="en-US" altLang="en-US" sz="2800" dirty="0"/>
              <a:t> </a:t>
            </a:r>
            <a:r>
              <a:rPr lang="en-US" altLang="en-US" sz="2800" dirty="0" err="1"/>
              <a:t>suy</a:t>
            </a:r>
            <a:r>
              <a:rPr lang="en-US" altLang="en-US" sz="2800" dirty="0"/>
              <a:t> </a:t>
            </a:r>
            <a:r>
              <a:rPr lang="en-US" altLang="en-US" sz="2800" dirty="0" err="1"/>
              <a:t>ra</a:t>
            </a:r>
            <a:r>
              <a:rPr lang="en-US" altLang="en-US" sz="2800" dirty="0"/>
              <a:t> </a:t>
            </a:r>
            <a:r>
              <a:rPr lang="en-US" altLang="en-US" sz="2800" dirty="0" err="1"/>
              <a:t>điều</a:t>
            </a:r>
            <a:r>
              <a:rPr lang="en-US" altLang="en-US" sz="2800" dirty="0"/>
              <a:t> </a:t>
            </a:r>
            <a:r>
              <a:rPr lang="en-US" altLang="en-US" sz="2800" dirty="0" err="1"/>
              <a:t>gì</a:t>
            </a:r>
            <a:r>
              <a:rPr lang="en-US" altLang="en-US" sz="2800" dirty="0"/>
              <a:t> </a:t>
            </a:r>
            <a:r>
              <a:rPr lang="en-US" altLang="en-US" sz="2800" dirty="0" err="1"/>
              <a:t>về</a:t>
            </a:r>
            <a:r>
              <a:rPr lang="en-US" altLang="en-US" sz="2800" dirty="0"/>
              <a:t> </a:t>
            </a:r>
            <a:r>
              <a:rPr lang="en-US" altLang="en-US" sz="2800" dirty="0" err="1"/>
              <a:t>sự</a:t>
            </a:r>
            <a:r>
              <a:rPr lang="en-US" altLang="en-US" sz="2800" dirty="0"/>
              <a:t> </a:t>
            </a:r>
            <a:r>
              <a:rPr lang="en-US" altLang="en-US" sz="2800" dirty="0" err="1"/>
              <a:t>tồn</a:t>
            </a:r>
            <a:r>
              <a:rPr lang="en-US" altLang="en-US" sz="2800" dirty="0"/>
              <a:t> </a:t>
            </a:r>
            <a:r>
              <a:rPr lang="en-US" altLang="en-US" sz="2800" dirty="0" err="1"/>
              <a:t>tại</a:t>
            </a:r>
            <a:r>
              <a:rPr lang="en-US" altLang="en-US" sz="2800" dirty="0"/>
              <a:t> hay </a:t>
            </a:r>
            <a:r>
              <a:rPr lang="en-US" altLang="en-US" sz="2800" dirty="0" err="1"/>
              <a:t>không</a:t>
            </a:r>
            <a:r>
              <a:rPr lang="en-US" altLang="en-US" sz="2800" dirty="0"/>
              <a:t> </a:t>
            </a:r>
            <a:r>
              <a:rPr lang="en-US" altLang="en-US" sz="2800" dirty="0" err="1"/>
              <a:t>tồn</a:t>
            </a:r>
            <a:r>
              <a:rPr lang="en-US" altLang="en-US" sz="2800" dirty="0"/>
              <a:t> </a:t>
            </a:r>
            <a:r>
              <a:rPr lang="en-US" altLang="en-US" sz="2800" dirty="0" err="1"/>
              <a:t>tại</a:t>
            </a:r>
            <a:r>
              <a:rPr lang="en-US" altLang="en-US" sz="2800" dirty="0"/>
              <a:t> </a:t>
            </a:r>
            <a:r>
              <a:rPr lang="en-US" altLang="en-US" sz="2800" dirty="0" err="1"/>
              <a:t>nghiệm</a:t>
            </a:r>
            <a:r>
              <a:rPr lang="en-US" altLang="en-US" sz="2800" dirty="0"/>
              <a:t> </a:t>
            </a:r>
            <a:r>
              <a:rPr lang="en-US" altLang="en-US" sz="2800" dirty="0" err="1"/>
              <a:t>của</a:t>
            </a:r>
            <a:r>
              <a:rPr lang="en-US" altLang="en-US" sz="2800" dirty="0"/>
              <a:t> </a:t>
            </a:r>
            <a:r>
              <a:rPr lang="vi-VN" altLang="en-US" sz="2800" dirty="0"/>
              <a:t>phương trình</a:t>
            </a:r>
            <a:r>
              <a:rPr lang="en-US" altLang="en-US" sz="2800" dirty="0"/>
              <a:t>            .</a:t>
            </a:r>
          </a:p>
        </p:txBody>
      </p:sp>
      <p:graphicFrame>
        <p:nvGraphicFramePr>
          <p:cNvPr id="702468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92083670"/>
              </p:ext>
            </p:extLst>
          </p:nvPr>
        </p:nvGraphicFramePr>
        <p:xfrm>
          <a:off x="5105400" y="4191000"/>
          <a:ext cx="609600" cy="2841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410" name="Equation" r:id="rId3" imgW="736600" imgH="342900" progId="">
                  <p:embed/>
                </p:oleObj>
              </mc:Choice>
              <mc:Fallback>
                <p:oleObj name="Equation" r:id="rId3" imgW="736600" imgH="342900" progId="">
                  <p:embed/>
                  <p:pic>
                    <p:nvPicPr>
                      <p:cNvPr id="0" name="Picture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05400" y="4191000"/>
                        <a:ext cx="609600" cy="2841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02469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91604510"/>
              </p:ext>
            </p:extLst>
          </p:nvPr>
        </p:nvGraphicFramePr>
        <p:xfrm>
          <a:off x="4953000" y="5307012"/>
          <a:ext cx="1066800" cy="3317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411" name="Equation" r:id="rId5" imgW="1143000" imgH="355600" progId="">
                  <p:embed/>
                </p:oleObj>
              </mc:Choice>
              <mc:Fallback>
                <p:oleObj name="Equation" r:id="rId5" imgW="1143000" imgH="355600" progId="">
                  <p:embed/>
                  <p:pic>
                    <p:nvPicPr>
                      <p:cNvPr id="0" name="Picture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53000" y="5307012"/>
                        <a:ext cx="1066800" cy="3317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 bwMode="auto">
          <a:xfrm>
            <a:off x="457200" y="6305550"/>
            <a:ext cx="6324600" cy="47625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algn="l"/>
            <a:r>
              <a:rPr lang="en-US" altLang="en-US" sz="1200" dirty="0">
                <a:latin typeface="Arial" panose="020B0604020202020204" pitchFamily="34" charset="0"/>
              </a:rPr>
              <a:t> © 2016 Pearson Education, Ltd.</a:t>
            </a:r>
          </a:p>
        </p:txBody>
      </p:sp>
    </p:spTree>
  </p:cSld>
  <p:clrMapOvr>
    <a:masterClrMapping/>
  </p:clrMapOvr>
  <p:transition spd="med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Slide Number Placeholder 4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algn="r"/>
            <a:r>
              <a:rPr lang="en-US" altLang="en-US" sz="1200">
                <a:latin typeface="Arial" panose="020B0604020202020204" pitchFamily="34" charset="0"/>
              </a:rPr>
              <a:t>Slide 2.3- </a:t>
            </a:r>
            <a:fld id="{220777EB-C747-42CE-A38D-1B8F4CA2BE98}" type="slidenum">
              <a:rPr lang="en-US" altLang="en-US" sz="1200">
                <a:latin typeface="Arial" panose="020B0604020202020204" pitchFamily="34" charset="0"/>
              </a:rPr>
              <a:pPr algn="r"/>
              <a:t>11</a:t>
            </a:fld>
            <a:endParaRPr lang="en-CA" altLang="en-US" sz="1200">
              <a:latin typeface="Arial" panose="020B0604020202020204" pitchFamily="34" charset="0"/>
            </a:endParaRPr>
          </a:p>
        </p:txBody>
      </p:sp>
      <p:sp>
        <p:nvSpPr>
          <p:cNvPr id="16388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0"/>
            <a:ext cx="8382000" cy="1066800"/>
          </a:xfrm>
        </p:spPr>
        <p:txBody>
          <a:bodyPr/>
          <a:lstStyle/>
          <a:p>
            <a:pPr eaLnBrk="1" hangingPunct="1"/>
            <a:r>
              <a:rPr lang="en-US" altLang="en-US" dirty="0"/>
              <a:t>PHÉP BIẾN ĐỔI TUYẾN TÍNH KHẢ NGHỊCH</a:t>
            </a:r>
          </a:p>
        </p:txBody>
      </p:sp>
      <p:sp>
        <p:nvSpPr>
          <p:cNvPr id="703491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457200" y="1447800"/>
            <a:ext cx="8382000" cy="2362200"/>
          </a:xfrm>
        </p:spPr>
        <p:txBody>
          <a:bodyPr/>
          <a:lstStyle/>
          <a:p>
            <a:pPr eaLnBrk="1" hangingPunct="1"/>
            <a:r>
              <a:rPr lang="en-US" altLang="en-US" sz="2800" dirty="0" err="1"/>
              <a:t>Phép</a:t>
            </a:r>
            <a:r>
              <a:rPr lang="en-US" altLang="en-US" sz="2800" dirty="0"/>
              <a:t> </a:t>
            </a:r>
            <a:r>
              <a:rPr lang="en-US" altLang="en-US" sz="2800" dirty="0" err="1"/>
              <a:t>nhân</a:t>
            </a:r>
            <a:r>
              <a:rPr lang="en-US" altLang="en-US" sz="2800" dirty="0"/>
              <a:t> ma </a:t>
            </a:r>
            <a:r>
              <a:rPr lang="en-US" altLang="en-US" sz="2800" dirty="0" err="1"/>
              <a:t>trận</a:t>
            </a:r>
            <a:r>
              <a:rPr lang="en-US" altLang="en-US" sz="2800" dirty="0"/>
              <a:t> </a:t>
            </a:r>
            <a:r>
              <a:rPr lang="en-US" altLang="en-US" sz="2800" dirty="0" err="1"/>
              <a:t>tương</a:t>
            </a:r>
            <a:r>
              <a:rPr lang="en-US" altLang="en-US" sz="2800" dirty="0"/>
              <a:t> </a:t>
            </a:r>
            <a:r>
              <a:rPr lang="en-US" altLang="en-US" sz="2800" dirty="0" err="1"/>
              <a:t>ứng</a:t>
            </a:r>
            <a:r>
              <a:rPr lang="en-US" altLang="en-US" sz="2800" dirty="0"/>
              <a:t> </a:t>
            </a:r>
            <a:r>
              <a:rPr lang="en-US" altLang="en-US" sz="2800" dirty="0" err="1"/>
              <a:t>với</a:t>
            </a:r>
            <a:r>
              <a:rPr lang="en-US" altLang="en-US" sz="2800" dirty="0"/>
              <a:t> </a:t>
            </a:r>
            <a:r>
              <a:rPr lang="en-US" altLang="en-US" sz="2800" dirty="0" err="1"/>
              <a:t>hợp</a:t>
            </a:r>
            <a:r>
              <a:rPr lang="en-US" altLang="en-US" sz="2800" dirty="0"/>
              <a:t> </a:t>
            </a:r>
            <a:r>
              <a:rPr lang="en-US" altLang="en-US" sz="2800" dirty="0" err="1"/>
              <a:t>thành</a:t>
            </a:r>
            <a:r>
              <a:rPr lang="en-US" altLang="en-US" sz="2800" dirty="0"/>
              <a:t> </a:t>
            </a:r>
            <a:r>
              <a:rPr lang="en-US" altLang="en-US" sz="2800" dirty="0" err="1"/>
              <a:t>của</a:t>
            </a:r>
            <a:r>
              <a:rPr lang="en-US" altLang="en-US" sz="2800" dirty="0"/>
              <a:t> </a:t>
            </a:r>
            <a:r>
              <a:rPr lang="en-US" altLang="en-US" sz="2800" dirty="0" err="1"/>
              <a:t>các</a:t>
            </a:r>
            <a:r>
              <a:rPr lang="en-US" altLang="en-US" sz="2800" dirty="0"/>
              <a:t> </a:t>
            </a:r>
            <a:r>
              <a:rPr lang="en-US" altLang="en-US" sz="2800" dirty="0" err="1"/>
              <a:t>phép</a:t>
            </a:r>
            <a:r>
              <a:rPr lang="en-US" altLang="en-US" sz="2800" dirty="0"/>
              <a:t> </a:t>
            </a:r>
            <a:r>
              <a:rPr lang="en-US" altLang="en-US" sz="2800" dirty="0" err="1"/>
              <a:t>biến</a:t>
            </a:r>
            <a:r>
              <a:rPr lang="en-US" altLang="en-US" sz="2800" dirty="0"/>
              <a:t> </a:t>
            </a:r>
            <a:r>
              <a:rPr lang="en-US" altLang="en-US" sz="2800" dirty="0" err="1"/>
              <a:t>đổi</a:t>
            </a:r>
            <a:r>
              <a:rPr lang="en-US" altLang="en-US" sz="2800" dirty="0"/>
              <a:t> </a:t>
            </a:r>
            <a:r>
              <a:rPr lang="en-US" altLang="en-US" sz="2800" dirty="0" err="1"/>
              <a:t>tuyến</a:t>
            </a:r>
            <a:r>
              <a:rPr lang="en-US" altLang="en-US" sz="2800" dirty="0"/>
              <a:t> </a:t>
            </a:r>
            <a:r>
              <a:rPr lang="en-US" altLang="en-US" sz="2800" dirty="0" err="1"/>
              <a:t>tính</a:t>
            </a:r>
            <a:r>
              <a:rPr lang="en-US" altLang="en-US" sz="2800" dirty="0"/>
              <a:t>.</a:t>
            </a:r>
          </a:p>
          <a:p>
            <a:pPr eaLnBrk="1" hangingPunct="1"/>
            <a:r>
              <a:rPr lang="en-US" altLang="en-US" sz="2800" dirty="0" err="1"/>
              <a:t>Khi</a:t>
            </a:r>
            <a:r>
              <a:rPr lang="en-US" altLang="en-US" sz="2800" dirty="0"/>
              <a:t> </a:t>
            </a:r>
            <a:r>
              <a:rPr lang="en-US" altLang="en-US" sz="2800" dirty="0" err="1"/>
              <a:t>một</a:t>
            </a:r>
            <a:r>
              <a:rPr lang="en-US" altLang="en-US" sz="2800" dirty="0"/>
              <a:t> ma </a:t>
            </a:r>
            <a:r>
              <a:rPr lang="en-US" altLang="en-US" sz="2800" dirty="0" err="1"/>
              <a:t>trận</a:t>
            </a:r>
            <a:r>
              <a:rPr lang="en-US" altLang="en-US" sz="2800" dirty="0"/>
              <a:t> </a:t>
            </a:r>
            <a:r>
              <a:rPr lang="en-US" altLang="en-US" sz="2800" i="1" dirty="0"/>
              <a:t>A</a:t>
            </a:r>
            <a:r>
              <a:rPr lang="en-US" altLang="en-US" sz="2800" dirty="0"/>
              <a:t> </a:t>
            </a:r>
            <a:r>
              <a:rPr lang="en-US" altLang="en-US" sz="2800" dirty="0" err="1"/>
              <a:t>khả</a:t>
            </a:r>
            <a:r>
              <a:rPr lang="en-US" altLang="en-US" sz="2800" dirty="0"/>
              <a:t> </a:t>
            </a:r>
            <a:r>
              <a:rPr lang="en-US" altLang="en-US" sz="2800" dirty="0" err="1"/>
              <a:t>nghịch</a:t>
            </a:r>
            <a:r>
              <a:rPr lang="en-US" altLang="en-US" sz="2800" dirty="0"/>
              <a:t>, </a:t>
            </a:r>
            <a:r>
              <a:rPr lang="vi-VN" altLang="en-US" sz="2800" dirty="0"/>
              <a:t>ph</a:t>
            </a:r>
            <a:r>
              <a:rPr lang="en-US" altLang="en-US" sz="2800" dirty="0"/>
              <a:t>.</a:t>
            </a:r>
            <a:r>
              <a:rPr lang="vi-VN" altLang="en-US" sz="2800" dirty="0"/>
              <a:t> trình</a:t>
            </a:r>
            <a:r>
              <a:rPr lang="en-US" altLang="en-US" sz="2800" dirty="0"/>
              <a:t>                    </a:t>
            </a:r>
            <a:r>
              <a:rPr lang="en-US" altLang="en-US" sz="2800" dirty="0" err="1"/>
              <a:t>có</a:t>
            </a:r>
            <a:r>
              <a:rPr lang="en-US" altLang="en-US" sz="2800" dirty="0"/>
              <a:t> </a:t>
            </a:r>
            <a:r>
              <a:rPr lang="en-US" altLang="en-US" sz="2800" dirty="0" err="1"/>
              <a:t>thể</a:t>
            </a:r>
            <a:r>
              <a:rPr lang="en-US" altLang="en-US" sz="2800" dirty="0"/>
              <a:t> </a:t>
            </a:r>
            <a:r>
              <a:rPr lang="en-US" altLang="en-US" sz="2800" dirty="0" err="1"/>
              <a:t>xem</a:t>
            </a:r>
            <a:r>
              <a:rPr lang="en-US" altLang="en-US" sz="2800" dirty="0"/>
              <a:t> </a:t>
            </a:r>
            <a:r>
              <a:rPr lang="en-US" altLang="en-US" sz="2800" dirty="0" err="1"/>
              <a:t>như</a:t>
            </a:r>
            <a:r>
              <a:rPr lang="en-US" altLang="en-US" sz="2800" dirty="0"/>
              <a:t> </a:t>
            </a:r>
            <a:r>
              <a:rPr lang="en-US" altLang="en-US" sz="2800" dirty="0" err="1"/>
              <a:t>một</a:t>
            </a:r>
            <a:r>
              <a:rPr lang="en-US" altLang="en-US" sz="2800" dirty="0"/>
              <a:t> </a:t>
            </a:r>
            <a:r>
              <a:rPr lang="en-US" altLang="en-US" sz="2800" dirty="0" err="1"/>
              <a:t>phát</a:t>
            </a:r>
            <a:r>
              <a:rPr lang="en-US" altLang="en-US" sz="2800" dirty="0"/>
              <a:t> </a:t>
            </a:r>
            <a:r>
              <a:rPr lang="en-US" altLang="en-US" sz="2800" dirty="0" err="1"/>
              <a:t>biểu</a:t>
            </a:r>
            <a:r>
              <a:rPr lang="en-US" altLang="en-US" sz="2800" dirty="0"/>
              <a:t> </a:t>
            </a:r>
            <a:r>
              <a:rPr lang="en-US" altLang="en-US" sz="2800" dirty="0" err="1"/>
              <a:t>về</a:t>
            </a:r>
            <a:r>
              <a:rPr lang="en-US" altLang="en-US" sz="2800" dirty="0"/>
              <a:t> </a:t>
            </a:r>
            <a:r>
              <a:rPr lang="en-US" altLang="en-US" sz="2800" dirty="0" err="1"/>
              <a:t>các</a:t>
            </a:r>
            <a:r>
              <a:rPr lang="en-US" altLang="en-US" sz="2800" dirty="0"/>
              <a:t> </a:t>
            </a:r>
            <a:r>
              <a:rPr lang="en-US" altLang="en-US" sz="2800" dirty="0" err="1"/>
              <a:t>phép</a:t>
            </a:r>
            <a:r>
              <a:rPr lang="en-US" altLang="en-US" sz="2800" dirty="0"/>
              <a:t> </a:t>
            </a:r>
            <a:r>
              <a:rPr lang="en-US" altLang="en-US" sz="2800" dirty="0" err="1"/>
              <a:t>biến</a:t>
            </a:r>
            <a:r>
              <a:rPr lang="en-US" altLang="en-US" sz="2800" dirty="0"/>
              <a:t> </a:t>
            </a:r>
            <a:r>
              <a:rPr lang="en-US" altLang="en-US" sz="2800" dirty="0" err="1"/>
              <a:t>đổi</a:t>
            </a:r>
            <a:r>
              <a:rPr lang="en-US" altLang="en-US" sz="2800" dirty="0"/>
              <a:t> </a:t>
            </a:r>
            <a:r>
              <a:rPr lang="en-US" altLang="en-US" sz="2800" dirty="0" err="1"/>
              <a:t>tuyến</a:t>
            </a:r>
            <a:r>
              <a:rPr lang="en-US" altLang="en-US" sz="2800" dirty="0"/>
              <a:t> </a:t>
            </a:r>
            <a:r>
              <a:rPr lang="en-US" altLang="en-US" sz="2800" dirty="0" err="1"/>
              <a:t>tính</a:t>
            </a:r>
            <a:r>
              <a:rPr lang="en-US" altLang="en-US" sz="2800" dirty="0"/>
              <a:t>. </a:t>
            </a:r>
            <a:r>
              <a:rPr lang="en-US" altLang="en-US" sz="2800" dirty="0" err="1"/>
              <a:t>Xem</a:t>
            </a:r>
            <a:r>
              <a:rPr lang="en-US" altLang="en-US" sz="2800" dirty="0"/>
              <a:t> </a:t>
            </a:r>
            <a:r>
              <a:rPr lang="en-US" altLang="en-US" sz="2800" dirty="0" err="1"/>
              <a:t>hình</a:t>
            </a:r>
            <a:r>
              <a:rPr lang="en-US" altLang="en-US" sz="2800" dirty="0"/>
              <a:t> </a:t>
            </a:r>
            <a:r>
              <a:rPr lang="en-US" altLang="en-US" sz="2800" dirty="0" err="1"/>
              <a:t>sau</a:t>
            </a:r>
            <a:r>
              <a:rPr lang="en-US" altLang="en-US" sz="2800" dirty="0"/>
              <a:t>.        </a:t>
            </a:r>
          </a:p>
        </p:txBody>
      </p:sp>
      <p:graphicFrame>
        <p:nvGraphicFramePr>
          <p:cNvPr id="703492" name="Object 4"/>
          <p:cNvGraphicFramePr>
            <a:graphicFrameLocks noGrp="1" noChangeAspect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2645674968"/>
              </p:ext>
            </p:extLst>
          </p:nvPr>
        </p:nvGraphicFramePr>
        <p:xfrm>
          <a:off x="6629400" y="2423564"/>
          <a:ext cx="16510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411" name="Equation" r:id="rId3" imgW="1651000" imgH="393700" progId="">
                  <p:embed/>
                </p:oleObj>
              </mc:Choice>
              <mc:Fallback>
                <p:oleObj name="Equation" r:id="rId3" imgW="1651000" imgH="393700" progId="">
                  <p:embed/>
                  <p:pic>
                    <p:nvPicPr>
                      <p:cNvPr id="0" name="Picture 13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29400" y="2423564"/>
                        <a:ext cx="1651000" cy="3937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703495" name="Picture 7" descr="2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" y="3886200"/>
            <a:ext cx="6934200" cy="2419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 bwMode="auto">
          <a:xfrm>
            <a:off x="457200" y="6305550"/>
            <a:ext cx="6324600" cy="47625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algn="l"/>
            <a:r>
              <a:rPr lang="en-US" altLang="en-US" sz="1200" dirty="0">
                <a:latin typeface="Arial" panose="020B0604020202020204" pitchFamily="34" charset="0"/>
              </a:rPr>
              <a:t> © 2016 Pearson Education, Ltd.</a:t>
            </a:r>
          </a:p>
        </p:txBody>
      </p:sp>
    </p:spTree>
  </p:cSld>
  <p:clrMapOvr>
    <a:masterClrMapping/>
  </p:clrMapOvr>
  <p:transition spd="med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algn="r"/>
            <a:r>
              <a:rPr lang="en-US" altLang="en-US" sz="1200">
                <a:latin typeface="Arial" panose="020B0604020202020204" pitchFamily="34" charset="0"/>
              </a:rPr>
              <a:t>Slide 2.3- </a:t>
            </a:r>
            <a:fld id="{8E80730F-ACF3-44FD-BC50-B47C483E3CAF}" type="slidenum">
              <a:rPr lang="en-US" altLang="en-US" sz="1200">
                <a:latin typeface="Arial" panose="020B0604020202020204" pitchFamily="34" charset="0"/>
              </a:rPr>
              <a:pPr algn="r"/>
              <a:t>12</a:t>
            </a:fld>
            <a:endParaRPr lang="en-CA" altLang="en-US" sz="1200">
              <a:latin typeface="Arial" panose="020B0604020202020204" pitchFamily="34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04515" name="Rectangle 3"/>
              <p:cNvSpPr>
                <a:spLocks noGrp="1" noChangeArrowheads="1"/>
              </p:cNvSpPr>
              <p:nvPr>
                <p:ph type="body" idx="1"/>
              </p:nvPr>
            </p:nvSpPr>
            <p:spPr>
              <a:xfrm>
                <a:off x="457200" y="1219200"/>
                <a:ext cx="8229600" cy="5334000"/>
              </a:xfrm>
            </p:spPr>
            <p:txBody>
              <a:bodyPr/>
              <a:lstStyle/>
              <a:p>
                <a:pPr eaLnBrk="1" hangingPunct="1">
                  <a:lnSpc>
                    <a:spcPct val="90000"/>
                  </a:lnSpc>
                </a:pPr>
                <a:r>
                  <a:rPr lang="en-US" altLang="en-US" sz="2800" dirty="0" err="1"/>
                  <a:t>Một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phép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biến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đổi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tuyến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tính</a:t>
                </a:r>
                <a:r>
                  <a:rPr lang="en-US" altLang="en-US" sz="2800" dirty="0"/>
                  <a:t> </a:t>
                </a:r>
                <a14:m>
                  <m:oMath xmlns:m="http://schemas.openxmlformats.org/officeDocument/2006/math">
                    <m:r>
                      <a:rPr lang="en-US" altLang="en-US" sz="2800" b="0" i="1" smtClean="0"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altLang="en-US" sz="2800" b="0" i="1" smtClean="0">
                        <a:latin typeface="Cambria Math" panose="02040503050406030204" pitchFamily="18" charset="0"/>
                      </a:rPr>
                      <m:t>:</m:t>
                    </m:r>
                    <m:sSup>
                      <m:sSupPr>
                        <m:ctrlPr>
                          <a:rPr lang="en-US" altLang="en-US" sz="28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en-US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n-US" altLang="en-US" sz="28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a:rPr lang="en-US" altLang="en-US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sSup>
                      <m:sSupPr>
                        <m:ctrlPr>
                          <a:rPr lang="en-US" altLang="en-US" sz="28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en-US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n-US" altLang="en-US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được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gọi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là</a:t>
                </a:r>
                <a:r>
                  <a:rPr lang="en-US" altLang="en-US" sz="2800" dirty="0"/>
                  <a:t>  </a:t>
                </a:r>
                <a:r>
                  <a:rPr lang="en-US" altLang="en-US" sz="2800" b="1" dirty="0" err="1"/>
                  <a:t>khả</a:t>
                </a:r>
                <a:r>
                  <a:rPr lang="en-US" altLang="en-US" sz="2800" b="1" dirty="0"/>
                  <a:t> </a:t>
                </a:r>
                <a:r>
                  <a:rPr lang="en-US" altLang="en-US" sz="2800" b="1" dirty="0" err="1"/>
                  <a:t>nghịch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nếu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tồn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tại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một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ánh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xạ</a:t>
                </a:r>
                <a:r>
                  <a:rPr lang="en-US" altLang="en-US" sz="2800" dirty="0"/>
                  <a:t> S</a:t>
                </a:r>
                <a14:m>
                  <m:oMath xmlns:m="http://schemas.openxmlformats.org/officeDocument/2006/math">
                    <m:r>
                      <a:rPr lang="en-US" altLang="en-US" sz="2800" b="0" i="1" smtClean="0">
                        <a:latin typeface="Cambria Math" panose="02040503050406030204" pitchFamily="18" charset="0"/>
                      </a:rPr>
                      <m:t>:</m:t>
                    </m:r>
                    <m:sSup>
                      <m:sSupPr>
                        <m:ctrlPr>
                          <a:rPr lang="en-US" altLang="en-US" sz="28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en-US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n-US" altLang="en-US" sz="28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a:rPr lang="en-US" altLang="en-US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sSup>
                      <m:sSupPr>
                        <m:ctrlPr>
                          <a:rPr lang="en-US" altLang="en-US" sz="28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en-US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n-US" altLang="en-US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en-US" altLang="en-US" sz="2800" dirty="0"/>
                  <a:t> sao cho </a:t>
                </a:r>
              </a:p>
              <a:p>
                <a:pPr eaLnBrk="1" hangingPunct="1">
                  <a:lnSpc>
                    <a:spcPct val="90000"/>
                  </a:lnSpc>
                  <a:buNone/>
                </a:pPr>
                <a:r>
                  <a:rPr lang="en-US" altLang="en-US" sz="2800" dirty="0"/>
                  <a:t>                                       </a:t>
                </a:r>
                <a:r>
                  <a:rPr lang="en-US" altLang="en-US" sz="2800" dirty="0" err="1"/>
                  <a:t>với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mọi</a:t>
                </a:r>
                <a:r>
                  <a:rPr lang="en-US" altLang="en-US" sz="2800" dirty="0"/>
                  <a:t> </a:t>
                </a:r>
                <a:r>
                  <a:rPr lang="en-US" altLang="en-US" sz="2800" b="1" dirty="0"/>
                  <a:t>x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trong</a:t>
                </a:r>
                <a:r>
                  <a:rPr lang="en-US" altLang="en-US" sz="2800" dirty="0"/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en-US" sz="28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en-US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n-US" altLang="en-US" sz="28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en-US" altLang="en-US" sz="2800" dirty="0"/>
                  <a:t>           (1)</a:t>
                </a:r>
              </a:p>
              <a:p>
                <a:pPr eaLnBrk="1" hangingPunct="1">
                  <a:lnSpc>
                    <a:spcPct val="90000"/>
                  </a:lnSpc>
                  <a:buNone/>
                </a:pPr>
                <a:r>
                  <a:rPr lang="en-US" altLang="en-US" sz="2800" dirty="0"/>
                  <a:t>                                       </a:t>
                </a:r>
                <a:r>
                  <a:rPr lang="en-US" altLang="en-US" sz="2800" dirty="0" err="1"/>
                  <a:t>với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mọi</a:t>
                </a:r>
                <a:r>
                  <a:rPr lang="en-US" altLang="en-US" sz="2800" dirty="0"/>
                  <a:t> </a:t>
                </a:r>
                <a:r>
                  <a:rPr lang="en-US" altLang="en-US" sz="2800" b="1" dirty="0"/>
                  <a:t>x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trong</a:t>
                </a:r>
                <a:r>
                  <a:rPr lang="en-US" altLang="en-US" sz="2800" dirty="0"/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en-US" sz="28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en-US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n-US" altLang="en-US" sz="28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en-US" altLang="en-US" sz="2800" dirty="0"/>
                  <a:t>           (2)</a:t>
                </a:r>
              </a:p>
              <a:p>
                <a:pPr eaLnBrk="1" hangingPunct="1">
                  <a:lnSpc>
                    <a:spcPct val="90000"/>
                  </a:lnSpc>
                  <a:buFont typeface="Wingdings" panose="05000000000000000000" pitchFamily="2" charset="2"/>
                  <a:buNone/>
                </a:pPr>
                <a:endParaRPr lang="en-US" altLang="en-US" sz="2800" dirty="0"/>
              </a:p>
              <a:p>
                <a:pPr marL="0" indent="0" eaLnBrk="1" hangingPunct="1">
                  <a:lnSpc>
                    <a:spcPct val="90000"/>
                  </a:lnSpc>
                  <a:buNone/>
                </a:pPr>
                <a:r>
                  <a:rPr lang="en-US" altLang="en-US" sz="2800" b="1" dirty="0" err="1">
                    <a:solidFill>
                      <a:srgbClr val="077C97"/>
                    </a:solidFill>
                  </a:rPr>
                  <a:t>Định</a:t>
                </a:r>
                <a:r>
                  <a:rPr lang="en-US" altLang="en-US" sz="2800" b="1" dirty="0">
                    <a:solidFill>
                      <a:srgbClr val="077C97"/>
                    </a:solidFill>
                  </a:rPr>
                  <a:t> </a:t>
                </a:r>
                <a:r>
                  <a:rPr lang="en-US" altLang="en-US" sz="2800" b="1" dirty="0" err="1">
                    <a:solidFill>
                      <a:srgbClr val="077C97"/>
                    </a:solidFill>
                  </a:rPr>
                  <a:t>lí</a:t>
                </a:r>
                <a:r>
                  <a:rPr lang="en-US" altLang="en-US" sz="2800" b="1" dirty="0">
                    <a:solidFill>
                      <a:srgbClr val="077C97"/>
                    </a:solidFill>
                  </a:rPr>
                  <a:t> 9</a:t>
                </a:r>
                <a:r>
                  <a:rPr lang="en-US" altLang="en-US" sz="2800" b="1" dirty="0"/>
                  <a:t>:</a:t>
                </a:r>
                <a:r>
                  <a:rPr lang="en-US" altLang="en-US" sz="2800" dirty="0"/>
                  <a:t> Cho </a:t>
                </a:r>
                <a14:m>
                  <m:oMath xmlns:m="http://schemas.openxmlformats.org/officeDocument/2006/math">
                    <m:r>
                      <a:rPr lang="en-US" altLang="en-US" sz="2800" b="0" i="1" smtClean="0"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altLang="en-US" sz="2800" b="0" i="1" smtClean="0">
                        <a:latin typeface="Cambria Math" panose="02040503050406030204" pitchFamily="18" charset="0"/>
                      </a:rPr>
                      <m:t>:</m:t>
                    </m:r>
                    <m:sSup>
                      <m:sSupPr>
                        <m:ctrlPr>
                          <a:rPr lang="en-US" altLang="en-US" sz="28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en-US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n-US" altLang="en-US" sz="28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a:rPr lang="en-US" altLang="en-US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sSup>
                      <m:sSupPr>
                        <m:ctrlPr>
                          <a:rPr lang="en-US" altLang="en-US" sz="28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en-US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n-US" altLang="en-US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a:rPr lang="en-US" altLang="en-US" sz="28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en-US" sz="2800" dirty="0" err="1"/>
                  <a:t>là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một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phép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biến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đổi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tuyến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tính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và</a:t>
                </a:r>
                <a:r>
                  <a:rPr lang="en-US" altLang="en-US" sz="2800" dirty="0"/>
                  <a:t> </a:t>
                </a:r>
                <a:r>
                  <a:rPr lang="en-US" altLang="en-US" sz="2800" i="1" dirty="0"/>
                  <a:t>A</a:t>
                </a:r>
                <a:r>
                  <a:rPr lang="en-US" altLang="en-US" sz="2800" dirty="0"/>
                  <a:t> ma </a:t>
                </a:r>
                <a:r>
                  <a:rPr lang="en-US" altLang="en-US" sz="2800" dirty="0" err="1"/>
                  <a:t>trận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chính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tắc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của</a:t>
                </a:r>
                <a:r>
                  <a:rPr lang="en-US" altLang="en-US" sz="2800" dirty="0"/>
                  <a:t> </a:t>
                </a:r>
                <a:r>
                  <a:rPr lang="en-US" altLang="en-US" sz="2800" i="1" dirty="0"/>
                  <a:t>T</a:t>
                </a:r>
                <a:r>
                  <a:rPr lang="en-US" altLang="en-US" sz="2800" dirty="0"/>
                  <a:t>. </a:t>
                </a:r>
                <a:r>
                  <a:rPr lang="en-US" altLang="en-US" sz="2800" dirty="0" err="1"/>
                  <a:t>Khi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đó</a:t>
                </a:r>
                <a:r>
                  <a:rPr lang="en-US" altLang="en-US" sz="2800" dirty="0"/>
                  <a:t>, </a:t>
                </a:r>
                <a:r>
                  <a:rPr lang="en-US" altLang="en-US" sz="2800" i="1" dirty="0"/>
                  <a:t>T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khả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nghịch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nếu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và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chỉ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nếu</a:t>
                </a:r>
                <a:r>
                  <a:rPr lang="en-US" altLang="en-US" sz="2800" dirty="0"/>
                  <a:t> </a:t>
                </a:r>
                <a:r>
                  <a:rPr lang="en-US" altLang="en-US" sz="2800" i="1" dirty="0"/>
                  <a:t>A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là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một</a:t>
                </a:r>
                <a:r>
                  <a:rPr lang="en-US" altLang="en-US" sz="2800" dirty="0"/>
                  <a:t> ma </a:t>
                </a:r>
                <a:r>
                  <a:rPr lang="en-US" altLang="en-US" sz="2800" dirty="0" err="1"/>
                  <a:t>trận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khả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nghịch</a:t>
                </a:r>
                <a:r>
                  <a:rPr lang="en-US" altLang="en-US" sz="2800" dirty="0"/>
                  <a:t>. </a:t>
                </a:r>
                <a:r>
                  <a:rPr lang="en-US" altLang="en-US" sz="2800" dirty="0" err="1"/>
                  <a:t>Trong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trường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hợp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này</a:t>
                </a:r>
                <a:r>
                  <a:rPr lang="en-US" altLang="en-US" sz="2800" dirty="0"/>
                  <a:t>, </a:t>
                </a:r>
                <a:r>
                  <a:rPr lang="en-US" altLang="en-US" sz="2800" dirty="0" err="1"/>
                  <a:t>phép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biến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đổi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tuyến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tính</a:t>
                </a:r>
                <a:r>
                  <a:rPr lang="en-US" altLang="en-US" sz="2800" dirty="0"/>
                  <a:t> </a:t>
                </a:r>
                <a:r>
                  <a:rPr lang="en-US" altLang="en-US" sz="2800" i="1" dirty="0"/>
                  <a:t>S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cho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bởi</a:t>
                </a:r>
                <a:r>
                  <a:rPr lang="en-US" altLang="en-US" sz="2800" dirty="0"/>
                  <a:t>                        	   	  </a:t>
                </a:r>
                <a:r>
                  <a:rPr lang="en-US" altLang="en-US" sz="2800" dirty="0" err="1"/>
                  <a:t>là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ánh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xạ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duy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nhất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thỏa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mãn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phương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trình</a:t>
                </a:r>
                <a:r>
                  <a:rPr lang="en-US" altLang="en-US" sz="2800" dirty="0"/>
                  <a:t> (1) </a:t>
                </a:r>
                <a:r>
                  <a:rPr lang="en-US" altLang="en-US" sz="2800" dirty="0" err="1"/>
                  <a:t>và</a:t>
                </a:r>
                <a:r>
                  <a:rPr lang="en-US" altLang="en-US" sz="2800" dirty="0"/>
                  <a:t> (2).    </a:t>
                </a:r>
              </a:p>
            </p:txBody>
          </p:sp>
        </mc:Choice>
        <mc:Fallback>
          <p:sp>
            <p:nvSpPr>
              <p:cNvPr id="704515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457200" y="1219200"/>
                <a:ext cx="8229600" cy="5334000"/>
              </a:xfrm>
              <a:blipFill>
                <a:blip r:embed="rId3"/>
                <a:stretch>
                  <a:fillRect l="-1481" t="-1943" r="-118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704518" name="Object 6"/>
          <p:cNvGraphicFramePr>
            <a:graphicFrameLocks noChangeAspect="1"/>
          </p:cNvGraphicFramePr>
          <p:nvPr/>
        </p:nvGraphicFramePr>
        <p:xfrm>
          <a:off x="1854200" y="2489200"/>
          <a:ext cx="19558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94" name="Equation" r:id="rId4" imgW="1955800" imgH="431800" progId="">
                  <p:embed/>
                </p:oleObj>
              </mc:Choice>
              <mc:Fallback>
                <p:oleObj name="Equation" r:id="rId4" imgW="1955800" imgH="431800" progId="">
                  <p:embed/>
                  <p:pic>
                    <p:nvPicPr>
                      <p:cNvPr id="0" name="Picture 4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54200" y="2489200"/>
                        <a:ext cx="1955800" cy="4318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04521" name="Object 9"/>
          <p:cNvGraphicFramePr>
            <a:graphicFrameLocks noChangeAspect="1"/>
          </p:cNvGraphicFramePr>
          <p:nvPr/>
        </p:nvGraphicFramePr>
        <p:xfrm>
          <a:off x="1841500" y="2959100"/>
          <a:ext cx="19558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95" name="Equation" r:id="rId6" imgW="1955800" imgH="431800" progId="">
                  <p:embed/>
                </p:oleObj>
              </mc:Choice>
              <mc:Fallback>
                <p:oleObj name="Equation" r:id="rId6" imgW="1955800" imgH="431800" progId="">
                  <p:embed/>
                  <p:pic>
                    <p:nvPicPr>
                      <p:cNvPr id="0" name="Picture 4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41500" y="2959100"/>
                        <a:ext cx="1955800" cy="4318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04523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97125210"/>
              </p:ext>
            </p:extLst>
          </p:nvPr>
        </p:nvGraphicFramePr>
        <p:xfrm>
          <a:off x="533400" y="5410200"/>
          <a:ext cx="1917700" cy="48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96" name="Equation" r:id="rId8" imgW="1916868" imgH="482391" progId="">
                  <p:embed/>
                </p:oleObj>
              </mc:Choice>
              <mc:Fallback>
                <p:oleObj name="Equation" r:id="rId8" imgW="1916868" imgH="482391" progId="">
                  <p:embed/>
                  <p:pic>
                    <p:nvPicPr>
                      <p:cNvPr id="0" name="Picture 4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3400" y="5410200"/>
                        <a:ext cx="1917700" cy="482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Footer Placeholder 4"/>
          <p:cNvSpPr>
            <a:spLocks noGrp="1"/>
          </p:cNvSpPr>
          <p:nvPr>
            <p:ph type="ftr" sz="quarter" idx="11"/>
          </p:nvPr>
        </p:nvSpPr>
        <p:spPr bwMode="auto">
          <a:xfrm>
            <a:off x="457200" y="6305550"/>
            <a:ext cx="6324600" cy="47625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algn="l"/>
            <a:r>
              <a:rPr lang="en-US" altLang="en-US" sz="1200" dirty="0">
                <a:latin typeface="Arial" panose="020B0604020202020204" pitchFamily="34" charset="0"/>
              </a:rPr>
              <a:t> © 2016 Pearson Education, Ltd.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382000" cy="1066800"/>
          </a:xfrm>
        </p:spPr>
        <p:txBody>
          <a:bodyPr/>
          <a:lstStyle/>
          <a:p>
            <a:r>
              <a:rPr lang="en-US" altLang="en-US" dirty="0"/>
              <a:t>PHÉP BIẾN ĐỔI TUYẾN TÍNH KHẢ NGHỊCH</a:t>
            </a:r>
            <a:endParaRPr lang="en-US" dirty="0"/>
          </a:p>
        </p:txBody>
      </p:sp>
    </p:spTree>
  </p:cSld>
  <p:clrMapOvr>
    <a:masterClrMapping/>
  </p:clrMapOvr>
  <p:transition spd="med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algn="r"/>
            <a:r>
              <a:rPr lang="en-US" altLang="en-US" sz="1200">
                <a:latin typeface="Arial" panose="020B0604020202020204" pitchFamily="34" charset="0"/>
              </a:rPr>
              <a:t>Slide 2.3- </a:t>
            </a:r>
            <a:fld id="{7A540BE3-88F4-4B81-B93E-E9AA046B5362}" type="slidenum">
              <a:rPr lang="en-US" altLang="en-US" sz="1200">
                <a:latin typeface="Arial" panose="020B0604020202020204" pitchFamily="34" charset="0"/>
              </a:rPr>
              <a:pPr algn="r"/>
              <a:t>13</a:t>
            </a:fld>
            <a:endParaRPr lang="en-CA" altLang="en-US" sz="1200">
              <a:latin typeface="Arial" panose="020B0604020202020204" pitchFamily="34" charset="0"/>
            </a:endParaRPr>
          </a:p>
        </p:txBody>
      </p:sp>
      <p:sp>
        <p:nvSpPr>
          <p:cNvPr id="18436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0"/>
            <a:ext cx="8305800" cy="1066800"/>
          </a:xfrm>
        </p:spPr>
        <p:txBody>
          <a:bodyPr/>
          <a:lstStyle/>
          <a:p>
            <a:pPr eaLnBrk="1" hangingPunct="1"/>
            <a:r>
              <a:rPr lang="en-US" altLang="en-US" dirty="0"/>
              <a:t>PHÉP BIẾN ĐỔI TUYẾN TÍNH KHẢ NGHỊCH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06563" name="Rectangle 3"/>
              <p:cNvSpPr>
                <a:spLocks noGrp="1" noChangeArrowheads="1"/>
              </p:cNvSpPr>
              <p:nvPr>
                <p:ph type="body" idx="1"/>
              </p:nvPr>
            </p:nvSpPr>
            <p:spPr>
              <a:xfrm>
                <a:off x="457200" y="1219200"/>
                <a:ext cx="8229600" cy="5257800"/>
              </a:xfrm>
            </p:spPr>
            <p:txBody>
              <a:bodyPr/>
              <a:lstStyle/>
              <a:p>
                <a:pPr marL="0" indent="0" eaLnBrk="1" hangingPunct="1">
                  <a:buNone/>
                </a:pPr>
                <a:r>
                  <a:rPr lang="en-US" altLang="en-US" sz="2800" b="1" dirty="0" err="1"/>
                  <a:t>Chứng</a:t>
                </a:r>
                <a:r>
                  <a:rPr lang="en-US" altLang="en-US" sz="2800" b="1" dirty="0"/>
                  <a:t> minh: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Giả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sử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rằng</a:t>
                </a:r>
                <a:r>
                  <a:rPr lang="en-US" altLang="en-US" sz="2800" dirty="0"/>
                  <a:t> </a:t>
                </a:r>
                <a:r>
                  <a:rPr lang="en-US" altLang="en-US" sz="2800" i="1" dirty="0"/>
                  <a:t>T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khả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nghịch</a:t>
                </a:r>
                <a:r>
                  <a:rPr lang="en-US" altLang="en-US" sz="2800" dirty="0"/>
                  <a:t>.</a:t>
                </a:r>
              </a:p>
              <a:p>
                <a:pPr eaLnBrk="1" hangingPunct="1"/>
                <a:r>
                  <a:rPr lang="en-US" altLang="en-US" sz="2800" dirty="0" err="1"/>
                  <a:t>Khi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đó</a:t>
                </a:r>
                <a:r>
                  <a:rPr lang="en-US" altLang="en-US" sz="2800" dirty="0"/>
                  <a:t> (2) </a:t>
                </a:r>
                <a:r>
                  <a:rPr lang="en-US" altLang="en-US" sz="2800" dirty="0" err="1"/>
                  <a:t>chỉ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ra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rằng</a:t>
                </a:r>
                <a:r>
                  <a:rPr lang="en-US" altLang="en-US" sz="2800" dirty="0"/>
                  <a:t> </a:t>
                </a:r>
                <a:r>
                  <a:rPr lang="en-US" altLang="en-US" sz="2800" i="1" dirty="0"/>
                  <a:t>T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là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toàn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cấu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lên</a:t>
                </a:r>
                <a:r>
                  <a:rPr lang="en-US" altLang="en-US" sz="2800" dirty="0"/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en-US" sz="28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en-US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n-US" altLang="en-US" sz="28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en-US" altLang="en-US" sz="2800" dirty="0"/>
                  <a:t>, </a:t>
                </a:r>
                <a:r>
                  <a:rPr lang="en-US" altLang="en-US" sz="2800" dirty="0" err="1"/>
                  <a:t>vì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nếu</a:t>
                </a:r>
                <a:r>
                  <a:rPr lang="en-US" altLang="en-US" sz="2800" dirty="0"/>
                  <a:t> </a:t>
                </a:r>
                <a:r>
                  <a:rPr lang="en-US" altLang="en-US" sz="2800" b="1" dirty="0"/>
                  <a:t>b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thuộc</a:t>
                </a:r>
                <a14:m>
                  <m:oMath xmlns:m="http://schemas.openxmlformats.org/officeDocument/2006/math">
                    <m:r>
                      <a:rPr lang="en-US" altLang="en-US" sz="2800" b="0" i="0" smtClean="0">
                        <a:latin typeface="Cambria Math" panose="02040503050406030204" pitchFamily="18" charset="0"/>
                      </a:rPr>
                      <m:t> </m:t>
                    </m:r>
                    <m:sSup>
                      <m:sSupPr>
                        <m:ctrlPr>
                          <a:rPr lang="en-US" altLang="en-US" sz="28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en-US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n-US" altLang="en-US" sz="28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en-US" altLang="en-US" sz="2800" dirty="0"/>
                  <a:t> và                , </a:t>
                </a:r>
                <a:r>
                  <a:rPr lang="en-US" altLang="en-US" sz="2800" dirty="0" err="1"/>
                  <a:t>thì</a:t>
                </a:r>
                <a:r>
                  <a:rPr lang="en-US" altLang="en-US" sz="2800" dirty="0"/>
                  <a:t>                                   , do </a:t>
                </a:r>
                <a:r>
                  <a:rPr lang="en-US" altLang="en-US" sz="2800" dirty="0" err="1"/>
                  <a:t>đó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mỗi</a:t>
                </a:r>
                <a:r>
                  <a:rPr lang="en-US" altLang="en-US" sz="2800" dirty="0"/>
                  <a:t> </a:t>
                </a:r>
                <a:r>
                  <a:rPr lang="en-US" altLang="en-US" sz="2800" b="1" dirty="0"/>
                  <a:t>b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đều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thuộc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miền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giá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trị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của</a:t>
                </a:r>
                <a:r>
                  <a:rPr lang="en-US" altLang="en-US" sz="2800" dirty="0"/>
                  <a:t> </a:t>
                </a:r>
                <a:r>
                  <a:rPr lang="en-US" altLang="en-US" sz="2800" i="1" dirty="0"/>
                  <a:t>T</a:t>
                </a:r>
                <a:r>
                  <a:rPr lang="en-US" altLang="en-US" sz="2800" dirty="0"/>
                  <a:t>.</a:t>
                </a:r>
              </a:p>
              <a:p>
                <a:pPr eaLnBrk="1" hangingPunct="1"/>
                <a:r>
                  <a:rPr lang="en-US" altLang="en-US" sz="2800" dirty="0"/>
                  <a:t>Do </a:t>
                </a:r>
                <a:r>
                  <a:rPr lang="en-US" altLang="en-US" sz="2800" dirty="0" err="1"/>
                  <a:t>đó</a:t>
                </a:r>
                <a:r>
                  <a:rPr lang="en-US" altLang="en-US" sz="2800" dirty="0"/>
                  <a:t> </a:t>
                </a:r>
                <a:r>
                  <a:rPr lang="en-US" altLang="en-US" sz="2800" i="1" dirty="0"/>
                  <a:t>A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khả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nghịch</a:t>
                </a:r>
                <a:r>
                  <a:rPr lang="en-US" altLang="en-US" sz="2800" dirty="0"/>
                  <a:t>, </a:t>
                </a:r>
                <a:r>
                  <a:rPr lang="en-US" altLang="en-US" sz="2800" dirty="0" err="1"/>
                  <a:t>theo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Định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Lí</a:t>
                </a:r>
                <a:r>
                  <a:rPr lang="en-US" altLang="en-US" sz="2800" dirty="0"/>
                  <a:t> Ma </a:t>
                </a:r>
                <a:r>
                  <a:rPr lang="en-US" altLang="en-US" sz="2800" dirty="0" err="1"/>
                  <a:t>Trận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Khả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Nghịch</a:t>
                </a:r>
                <a:r>
                  <a:rPr lang="en-US" altLang="en-US" sz="2800" dirty="0"/>
                  <a:t>, </a:t>
                </a:r>
                <a:r>
                  <a:rPr lang="en-US" altLang="en-US" sz="2800" dirty="0" err="1"/>
                  <a:t>phát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biểu</a:t>
                </a:r>
                <a:r>
                  <a:rPr lang="en-US" altLang="en-US" sz="2800" dirty="0"/>
                  <a:t> (</a:t>
                </a:r>
                <a:r>
                  <a:rPr lang="en-US" altLang="en-US" sz="2800" dirty="0" err="1"/>
                  <a:t>i</a:t>
                </a:r>
                <a:r>
                  <a:rPr lang="en-US" altLang="en-US" sz="2800" dirty="0"/>
                  <a:t>).</a:t>
                </a:r>
              </a:p>
              <a:p>
                <a:pPr eaLnBrk="1" hangingPunct="1"/>
                <a:r>
                  <a:rPr lang="en-US" altLang="en-US" sz="2800" dirty="0" err="1"/>
                  <a:t>Ngược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lại</a:t>
                </a:r>
                <a:r>
                  <a:rPr lang="en-US" altLang="en-US" sz="2800" dirty="0"/>
                  <a:t>, </a:t>
                </a:r>
                <a:r>
                  <a:rPr lang="en-US" altLang="en-US" sz="2800" dirty="0" err="1"/>
                  <a:t>giả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sử</a:t>
                </a:r>
                <a:r>
                  <a:rPr lang="en-US" altLang="en-US" sz="2800" dirty="0"/>
                  <a:t> </a:t>
                </a:r>
                <a:r>
                  <a:rPr lang="en-US" altLang="en-US" sz="2800" i="1" dirty="0"/>
                  <a:t>A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khả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nghịch</a:t>
                </a:r>
                <a:r>
                  <a:rPr lang="en-US" altLang="en-US" sz="2800" dirty="0"/>
                  <a:t>, </a:t>
                </a:r>
                <a:r>
                  <a:rPr lang="en-US" altLang="en-US" sz="2800" dirty="0" err="1"/>
                  <a:t>và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đặt</a:t>
                </a:r>
                <a:endParaRPr lang="en-US" altLang="en-US" sz="2800" dirty="0"/>
              </a:p>
              <a:p>
                <a:pPr eaLnBrk="1" hangingPunct="1">
                  <a:buFont typeface="Wingdings" panose="05000000000000000000" pitchFamily="2" charset="2"/>
                  <a:buNone/>
                </a:pPr>
                <a:r>
                  <a:rPr lang="en-US" altLang="en-US" sz="2800" dirty="0"/>
                  <a:t>	</a:t>
                </a:r>
                <a:r>
                  <a:rPr lang="en-US" altLang="en-US" sz="2800" dirty="0" err="1"/>
                  <a:t>Khi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đó</a:t>
                </a:r>
                <a:r>
                  <a:rPr lang="en-US" altLang="en-US" sz="2800" dirty="0"/>
                  <a:t>, </a:t>
                </a:r>
                <a:r>
                  <a:rPr lang="en-US" altLang="en-US" sz="2800" i="1" dirty="0"/>
                  <a:t>S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là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phép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biến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đổi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tuyến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tính</a:t>
                </a:r>
                <a:r>
                  <a:rPr lang="en-US" altLang="en-US" sz="2800" dirty="0"/>
                  <a:t>, </a:t>
                </a:r>
                <a:r>
                  <a:rPr lang="en-US" altLang="en-US" sz="2800" dirty="0" err="1"/>
                  <a:t>và</a:t>
                </a:r>
                <a:r>
                  <a:rPr lang="en-US" altLang="en-US" sz="2800" dirty="0"/>
                  <a:t> </a:t>
                </a:r>
                <a:r>
                  <a:rPr lang="en-US" altLang="en-US" sz="2800" i="1" dirty="0"/>
                  <a:t>S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thỏa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mãn</a:t>
                </a:r>
                <a:r>
                  <a:rPr lang="en-US" altLang="en-US" sz="2800" dirty="0"/>
                  <a:t> (1) </a:t>
                </a:r>
                <a:r>
                  <a:rPr lang="en-US" altLang="en-US" sz="2800" dirty="0" err="1"/>
                  <a:t>và</a:t>
                </a:r>
                <a:r>
                  <a:rPr lang="en-US" altLang="en-US" sz="2800" dirty="0"/>
                  <a:t> (2).</a:t>
                </a:r>
              </a:p>
              <a:p>
                <a:pPr eaLnBrk="1" hangingPunct="1"/>
                <a:r>
                  <a:rPr lang="en-US" altLang="en-US" sz="2800" dirty="0" err="1"/>
                  <a:t>Chẳng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hạn</a:t>
                </a:r>
                <a:r>
                  <a:rPr lang="en-US" altLang="en-US" sz="2800" dirty="0"/>
                  <a:t>,                                                         .</a:t>
                </a:r>
              </a:p>
              <a:p>
                <a:pPr eaLnBrk="1" hangingPunct="1"/>
                <a:r>
                  <a:rPr lang="en-US" altLang="en-US" sz="2800" dirty="0"/>
                  <a:t>Do </a:t>
                </a:r>
                <a:r>
                  <a:rPr lang="en-US" altLang="en-US" sz="2800" dirty="0" err="1"/>
                  <a:t>đó</a:t>
                </a:r>
                <a:r>
                  <a:rPr lang="en-US" altLang="en-US" sz="2800" dirty="0"/>
                  <a:t>, </a:t>
                </a:r>
                <a:r>
                  <a:rPr lang="en-US" altLang="en-US" sz="2800" i="1"/>
                  <a:t>T</a:t>
                </a:r>
                <a:r>
                  <a:rPr lang="en-US" altLang="en-US" sz="2800"/>
                  <a:t>  </a:t>
                </a:r>
                <a:r>
                  <a:rPr lang="en-US" altLang="en-US" sz="2800" dirty="0" err="1"/>
                  <a:t>khả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nghịch</a:t>
                </a:r>
                <a:r>
                  <a:rPr lang="en-US" altLang="en-US" sz="2800" dirty="0"/>
                  <a:t>. </a:t>
                </a:r>
              </a:p>
            </p:txBody>
          </p:sp>
        </mc:Choice>
        <mc:Fallback>
          <p:sp>
            <p:nvSpPr>
              <p:cNvPr id="706563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457200" y="1219200"/>
                <a:ext cx="8229600" cy="5257800"/>
              </a:xfrm>
              <a:blipFill>
                <a:blip r:embed="rId3"/>
                <a:stretch>
                  <a:fillRect l="-1481" t="-1159" b="-394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706566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90787196"/>
              </p:ext>
            </p:extLst>
          </p:nvPr>
        </p:nvGraphicFramePr>
        <p:xfrm>
          <a:off x="2718262" y="2218344"/>
          <a:ext cx="13970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530" name="Equation" r:id="rId4" imgW="1397000" imgH="431800" progId="">
                  <p:embed/>
                </p:oleObj>
              </mc:Choice>
              <mc:Fallback>
                <p:oleObj name="Equation" r:id="rId4" imgW="1397000" imgH="431800" progId="">
                  <p:embed/>
                  <p:pic>
                    <p:nvPicPr>
                      <p:cNvPr id="0" name="Picture 3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18262" y="2218344"/>
                        <a:ext cx="1397000" cy="4318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06567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55880402"/>
              </p:ext>
            </p:extLst>
          </p:nvPr>
        </p:nvGraphicFramePr>
        <p:xfrm>
          <a:off x="4686300" y="2235200"/>
          <a:ext cx="30861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531" name="Equation" r:id="rId6" imgW="3086100" imgH="431800" progId="">
                  <p:embed/>
                </p:oleObj>
              </mc:Choice>
              <mc:Fallback>
                <p:oleObj name="Equation" r:id="rId6" imgW="3086100" imgH="431800" progId="">
                  <p:embed/>
                  <p:pic>
                    <p:nvPicPr>
                      <p:cNvPr id="0" name="Picture 3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86300" y="2235200"/>
                        <a:ext cx="3086100" cy="4318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06568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68317165"/>
              </p:ext>
            </p:extLst>
          </p:nvPr>
        </p:nvGraphicFramePr>
        <p:xfrm>
          <a:off x="6400800" y="4038600"/>
          <a:ext cx="1917700" cy="48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532" name="Equation" r:id="rId8" imgW="1916868" imgH="482391" progId="">
                  <p:embed/>
                </p:oleObj>
              </mc:Choice>
              <mc:Fallback>
                <p:oleObj name="Equation" r:id="rId8" imgW="1916868" imgH="482391" progId="">
                  <p:embed/>
                  <p:pic>
                    <p:nvPicPr>
                      <p:cNvPr id="0" name="Picture 4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00800" y="4038600"/>
                        <a:ext cx="1917700" cy="482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06569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37740476"/>
              </p:ext>
            </p:extLst>
          </p:nvPr>
        </p:nvGraphicFramePr>
        <p:xfrm>
          <a:off x="2743200" y="5486400"/>
          <a:ext cx="5092700" cy="48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533" name="Equation" r:id="rId10" imgW="5092700" imgH="482600" progId="">
                  <p:embed/>
                </p:oleObj>
              </mc:Choice>
              <mc:Fallback>
                <p:oleObj name="Equation" r:id="rId10" imgW="5092700" imgH="482600" progId="">
                  <p:embed/>
                  <p:pic>
                    <p:nvPicPr>
                      <p:cNvPr id="0" name="Picture 4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43200" y="5486400"/>
                        <a:ext cx="5092700" cy="482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Footer Placeholder 4"/>
          <p:cNvSpPr>
            <a:spLocks noGrp="1"/>
          </p:cNvSpPr>
          <p:nvPr>
            <p:ph type="ftr" sz="quarter" idx="11"/>
          </p:nvPr>
        </p:nvSpPr>
        <p:spPr bwMode="auto">
          <a:xfrm>
            <a:off x="457200" y="6305550"/>
            <a:ext cx="6324600" cy="47625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algn="l"/>
            <a:r>
              <a:rPr lang="en-US" altLang="en-US" sz="1200" dirty="0">
                <a:latin typeface="Arial" panose="020B0604020202020204" pitchFamily="34" charset="0"/>
              </a:rPr>
              <a:t> © 2016 Pearson Education, Ltd.</a:t>
            </a:r>
          </a:p>
        </p:txBody>
      </p:sp>
    </p:spTree>
  </p:cSld>
  <p:clrMapOvr>
    <a:masterClrMapping/>
  </p:clrMapOvr>
  <p:transition spd="med"/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Blends">
  <a:themeElements>
    <a:clrScheme name="Blends 2">
      <a:dk1>
        <a:srgbClr val="000000"/>
      </a:dk1>
      <a:lt1>
        <a:srgbClr val="FFFFFF"/>
      </a:lt1>
      <a:dk2>
        <a:srgbClr val="333399"/>
      </a:dk2>
      <a:lt2>
        <a:srgbClr val="1C1C1C"/>
      </a:lt2>
      <a:accent1>
        <a:srgbClr val="00E4A8"/>
      </a:accent1>
      <a:accent2>
        <a:srgbClr val="FFCF01"/>
      </a:accent2>
      <a:accent3>
        <a:srgbClr val="FFFFFF"/>
      </a:accent3>
      <a:accent4>
        <a:srgbClr val="000000"/>
      </a:accent4>
      <a:accent5>
        <a:srgbClr val="AAEFD1"/>
      </a:accent5>
      <a:accent6>
        <a:srgbClr val="E7BB01"/>
      </a:accent6>
      <a:hlink>
        <a:srgbClr val="FF0000"/>
      </a:hlink>
      <a:folHlink>
        <a:srgbClr val="3333CC"/>
      </a:folHlink>
    </a:clrScheme>
    <a:fontScheme name="Slides V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blipFill dpi="0" rotWithShape="0">
          <a:blip xmlns:r="http://schemas.openxmlformats.org/officeDocument/2006/relationships" r:embed="rId1"/>
          <a:srcRect/>
          <a:tile tx="0" ty="0" sx="100000" sy="100000" flip="none" algn="tl"/>
        </a:blip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Bookshelf Symbol 2" pitchFamily="2" charset="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blipFill dpi="0" rotWithShape="0">
          <a:blip xmlns:r="http://schemas.openxmlformats.org/officeDocument/2006/relationships" r:embed="rId1"/>
          <a:srcRect/>
          <a:tile tx="0" ty="0" sx="100000" sy="100000" flip="none" algn="tl"/>
        </a:blip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Bookshelf Symbol 2" pitchFamily="2" charset="2"/>
          </a:defRPr>
        </a:defPPr>
      </a:lstStyle>
    </a:lnDef>
  </a:objectDefaults>
  <a:extraClrSchemeLst>
    <a:extraClrScheme>
      <a:clrScheme name="Blends 1">
        <a:dk1>
          <a:srgbClr val="969696"/>
        </a:dk1>
        <a:lt1>
          <a:srgbClr val="FFFFFF"/>
        </a:lt1>
        <a:dk2>
          <a:srgbClr val="000000"/>
        </a:dk2>
        <a:lt2>
          <a:srgbClr val="DDDDDD"/>
        </a:lt2>
        <a:accent1>
          <a:srgbClr val="00E4A8"/>
        </a:accent1>
        <a:accent2>
          <a:srgbClr val="3333CC"/>
        </a:accent2>
        <a:accent3>
          <a:srgbClr val="AAAAAA"/>
        </a:accent3>
        <a:accent4>
          <a:srgbClr val="DADADA"/>
        </a:accent4>
        <a:accent5>
          <a:srgbClr val="AAEFD1"/>
        </a:accent5>
        <a:accent6>
          <a:srgbClr val="2D2DB9"/>
        </a:accent6>
        <a:hlink>
          <a:srgbClr val="FF5050"/>
        </a:hlink>
        <a:folHlink>
          <a:srgbClr val="FFCF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2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3">
        <a:dk1>
          <a:srgbClr val="000000"/>
        </a:dk1>
        <a:lt1>
          <a:srgbClr val="FFFFFF"/>
        </a:lt1>
        <a:dk2>
          <a:srgbClr val="000000"/>
        </a:dk2>
        <a:lt2>
          <a:srgbClr val="5F5F5F"/>
        </a:lt2>
        <a:accent1>
          <a:srgbClr val="EAEAEA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F3F3F3"/>
        </a:accent5>
        <a:accent6>
          <a:srgbClr val="737373"/>
        </a:accent6>
        <a:hlink>
          <a:srgbClr val="4D4D4D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4">
        <a:dk1>
          <a:srgbClr val="000094"/>
        </a:dk1>
        <a:lt1>
          <a:srgbClr val="FFFFFF"/>
        </a:lt1>
        <a:dk2>
          <a:srgbClr val="0000CC"/>
        </a:dk2>
        <a:lt2>
          <a:srgbClr val="FFFFCC"/>
        </a:lt2>
        <a:accent1>
          <a:srgbClr val="3193FF"/>
        </a:accent1>
        <a:accent2>
          <a:srgbClr val="9900FF"/>
        </a:accent2>
        <a:accent3>
          <a:srgbClr val="AAAAE2"/>
        </a:accent3>
        <a:accent4>
          <a:srgbClr val="DADADA"/>
        </a:accent4>
        <a:accent5>
          <a:srgbClr val="ADC8FF"/>
        </a:accent5>
        <a:accent6>
          <a:srgbClr val="8A00E7"/>
        </a:accent6>
        <a:hlink>
          <a:srgbClr val="FF33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5">
        <a:dk1>
          <a:srgbClr val="000000"/>
        </a:dk1>
        <a:lt1>
          <a:srgbClr val="FFFFFF"/>
        </a:lt1>
        <a:dk2>
          <a:srgbClr val="000066"/>
        </a:dk2>
        <a:lt2>
          <a:srgbClr val="333333"/>
        </a:lt2>
        <a:accent1>
          <a:srgbClr val="C4709A"/>
        </a:accent1>
        <a:accent2>
          <a:srgbClr val="4B4EB5"/>
        </a:accent2>
        <a:accent3>
          <a:srgbClr val="FFFFFF"/>
        </a:accent3>
        <a:accent4>
          <a:srgbClr val="000000"/>
        </a:accent4>
        <a:accent5>
          <a:srgbClr val="DEBBCA"/>
        </a:accent5>
        <a:accent6>
          <a:srgbClr val="4346A4"/>
        </a:accent6>
        <a:hlink>
          <a:srgbClr val="C481CF"/>
        </a:hlink>
        <a:folHlink>
          <a:srgbClr val="76B74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6">
        <a:dk1>
          <a:srgbClr val="000000"/>
        </a:dk1>
        <a:lt1>
          <a:srgbClr val="FFFFFF"/>
        </a:lt1>
        <a:dk2>
          <a:srgbClr val="6A4076"/>
        </a:dk2>
        <a:lt2>
          <a:srgbClr val="969696"/>
        </a:lt2>
        <a:accent1>
          <a:srgbClr val="DBA9C2"/>
        </a:accent1>
        <a:accent2>
          <a:srgbClr val="E1BF91"/>
        </a:accent2>
        <a:accent3>
          <a:srgbClr val="FFFFFF"/>
        </a:accent3>
        <a:accent4>
          <a:srgbClr val="000000"/>
        </a:accent4>
        <a:accent5>
          <a:srgbClr val="EAD1DD"/>
        </a:accent5>
        <a:accent6>
          <a:srgbClr val="CCAD83"/>
        </a:accent6>
        <a:hlink>
          <a:srgbClr val="B3CE82"/>
        </a:hlink>
        <a:folHlink>
          <a:srgbClr val="B8AD4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7">
        <a:dk1>
          <a:srgbClr val="000000"/>
        </a:dk1>
        <a:lt1>
          <a:srgbClr val="FFFFFF"/>
        </a:lt1>
        <a:dk2>
          <a:srgbClr val="515F7B"/>
        </a:dk2>
        <a:lt2>
          <a:srgbClr val="808080"/>
        </a:lt2>
        <a:accent1>
          <a:srgbClr val="9FCAD3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CDE1E6"/>
        </a:accent5>
        <a:accent6>
          <a:srgbClr val="AEAEAE"/>
        </a:accent6>
        <a:hlink>
          <a:srgbClr val="91AFBF"/>
        </a:hlink>
        <a:folHlink>
          <a:srgbClr val="ECEAAC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14697</TotalTime>
  <Words>933</Words>
  <Application>Microsoft Office PowerPoint</Application>
  <PresentationFormat>On-screen Show (4:3)</PresentationFormat>
  <Paragraphs>113</Paragraphs>
  <Slides>13</Slides>
  <Notes>2</Notes>
  <HiddenSlides>0</HiddenSlides>
  <MMClips>0</MMClips>
  <ScaleCrop>false</ScaleCrop>
  <HeadingPairs>
    <vt:vector size="8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2" baseType="lpstr">
      <vt:lpstr>Arial</vt:lpstr>
      <vt:lpstr>Arial Narrow</vt:lpstr>
      <vt:lpstr>Bookshelf Symbol 2</vt:lpstr>
      <vt:lpstr>Cambria Math</vt:lpstr>
      <vt:lpstr>Symbol</vt:lpstr>
      <vt:lpstr>Times New Roman</vt:lpstr>
      <vt:lpstr>Wingdings</vt:lpstr>
      <vt:lpstr>Blends</vt:lpstr>
      <vt:lpstr>Equation</vt:lpstr>
      <vt:lpstr>Đại Số Ma Trận</vt:lpstr>
      <vt:lpstr>ĐỊNH LÍ MA TRẬN KHẢ NGHỊCH</vt:lpstr>
      <vt:lpstr>ĐỊNH LÍ MA TRẬN KHẢ NGHỊCH</vt:lpstr>
      <vt:lpstr>ĐỊNH LÍ MA TRẬN KHẢ NGHỊCH</vt:lpstr>
      <vt:lpstr>ĐỊNH LÍ MA TRẬN KHẢ NGHỊCH</vt:lpstr>
      <vt:lpstr>ĐỊNH LÍ MA TRẬN KHẢ NGHỊCH</vt:lpstr>
      <vt:lpstr>ĐỊNH LÍ MA TRẬN KHẢ NGHỊCH</vt:lpstr>
      <vt:lpstr>ĐỊNH LÍ MA TRẬN KHẢ NGHỊCH</vt:lpstr>
      <vt:lpstr>ĐỊNH LÍ MA TRẬN KHẢ NGHỊCH</vt:lpstr>
      <vt:lpstr>ĐỊNH LÍ MA TRẬN KHẢ NGHỊCH</vt:lpstr>
      <vt:lpstr>PHÉP BIẾN ĐỔI TUYẾN TÍNH KHẢ NGHỊCH</vt:lpstr>
      <vt:lpstr>PHÉP BIẾN ĐỔI TUYẾN TÍNH KHẢ NGHỊCH</vt:lpstr>
      <vt:lpstr>PHÉP BIẾN ĐỔI TUYẾN TÍNH KHẢ NGHỊCH</vt:lpstr>
    </vt:vector>
  </TitlesOfParts>
  <Company>© 2012 Pearson Education, Inc. All rights reserved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subject>Linear Algebra and Its Applications</dc:subject>
  <dc:creator>David C. Lay</dc:creator>
  <cp:lastModifiedBy>Võ Thanh Tùng</cp:lastModifiedBy>
  <cp:revision>1074</cp:revision>
  <dcterms:created xsi:type="dcterms:W3CDTF">2005-10-22T18:34:54Z</dcterms:created>
  <dcterms:modified xsi:type="dcterms:W3CDTF">2016-07-28T10:25:44Z</dcterms:modified>
</cp:coreProperties>
</file>