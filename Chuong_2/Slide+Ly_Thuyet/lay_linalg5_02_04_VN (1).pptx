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6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86413" autoAdjust="0"/>
  </p:normalViewPr>
  <p:slideViewPr>
    <p:cSldViewPr>
      <p:cViewPr>
        <p:scale>
          <a:sx n="100" d="100"/>
          <a:sy n="100" d="100"/>
        </p:scale>
        <p:origin x="-2190" y="-426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-9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204926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54988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45659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36335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50053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233286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68390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253163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51143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7399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138166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20961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 smtClean="0">
                <a:solidFill>
                  <a:srgbClr val="CD8019"/>
                </a:solidFill>
                <a:latin typeface="Arial" panose="020B0604020202020204" pitchFamily="34" charset="0"/>
              </a:rPr>
              <a:t>2.4</a:t>
            </a:r>
            <a:endParaRPr lang="en-US" altLang="en-US" sz="3200" b="1" dirty="0">
              <a:solidFill>
                <a:srgbClr val="CD8019"/>
              </a:solidFill>
              <a:latin typeface="Arial" panose="020B0604020202020204" pitchFamily="34" charset="0"/>
            </a:endParaRP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png"/><Relationship Id="rId9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2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Matrix Algebra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PARTITIONED MATRICES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PARTITIONED MATRICES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cs typeface="Times New Roman" panose="02020603050405020304" pitchFamily="18" charset="0"/>
              </a:rPr>
              <a:t>A key feature of our work with matrices has been the ability to regard matrix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as a list of column vectors rather than just a rectangular array of numbers.</a:t>
            </a:r>
          </a:p>
          <a:p>
            <a:pPr eaLnBrk="1" hangingPunct="1"/>
            <a:r>
              <a:rPr lang="en-US" altLang="en-US" sz="2800" dirty="0" smtClean="0">
                <a:cs typeface="Times New Roman" panose="02020603050405020304" pitchFamily="18" charset="0"/>
              </a:rPr>
              <a:t>This point of view has been so useful that we wish to consider other </a:t>
            </a:r>
            <a:r>
              <a:rPr lang="en-US" altLang="en-US" sz="2800" b="1" dirty="0" smtClean="0">
                <a:cs typeface="Times New Roman" panose="02020603050405020304" pitchFamily="18" charset="0"/>
              </a:rPr>
              <a:t>partitions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of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, indicated by horizontal and vertical dividing rules, as in Example 1 on the next slide.</a:t>
            </a: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PARTITIONED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b="1" dirty="0" smtClean="0">
                    <a:cs typeface="Times New Roman" panose="02020603050405020304" pitchFamily="18" charset="0"/>
                  </a:rPr>
                  <a:t>Example 1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  The matrix</a:t>
                </a: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800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Can also be written as the </a:t>
                </a:r>
                <a14:m>
                  <m:oMath xmlns:m="http://schemas.openxmlformats.org/officeDocument/2006/math">
                    <m:r>
                      <a:rPr lang="en-US" altLang="en-US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 </m:t>
                    </m:r>
                  </m:oMath>
                </a14:m>
                <a:r>
                  <a:rPr lang="en-US" altLang="en-US" sz="2800" b="1" dirty="0" smtClean="0">
                    <a:cs typeface="Times New Roman" panose="02020603050405020304" pitchFamily="18" charset="0"/>
                  </a:rPr>
                  <a:t>partitioned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(or </a:t>
                </a:r>
                <a:r>
                  <a:rPr lang="en-US" altLang="en-US" sz="2800" b="1" dirty="0" smtClean="0">
                    <a:cs typeface="Times New Roman" panose="02020603050405020304" pitchFamily="18" charset="0"/>
                  </a:rPr>
                  <a:t>block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) </a:t>
                </a:r>
                <a:r>
                  <a:rPr lang="en-US" altLang="en-US" sz="2800" b="1" dirty="0" smtClean="0">
                    <a:cs typeface="Times New Roman" panose="02020603050405020304" pitchFamily="18" charset="0"/>
                  </a:rPr>
                  <a:t>matrix</a:t>
                </a: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Whose entries are the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blocks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(or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submatrices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 rotWithShape="0">
                <a:blip r:embed="rId4"/>
                <a:stretch>
                  <a:fillRect l="-1259" t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00" y="1807704"/>
            <a:ext cx="4801553" cy="11640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3429000"/>
            <a:ext cx="3299000" cy="9212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9548" y="4807495"/>
            <a:ext cx="7244852" cy="151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195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ADDITION AND SCALAR MULTIPLICATION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cs typeface="Times New Roman" panose="02020603050405020304" pitchFamily="18" charset="0"/>
              </a:rPr>
              <a:t>If matrices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and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B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are the same size and are partitioned in exactly the same way, then it is natural to make the same partition of the ordinary matrix sum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+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B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en-US" sz="2800" dirty="0" smtClean="0">
                <a:cs typeface="Times New Roman" panose="02020603050405020304" pitchFamily="18" charset="0"/>
              </a:rPr>
              <a:t>In this case, each block of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+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B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is the (matrix) sum of the corresponding blocks of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and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B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en-US" sz="2800" dirty="0" smtClean="0">
                <a:cs typeface="Times New Roman" panose="02020603050405020304" pitchFamily="18" charset="0"/>
              </a:rPr>
              <a:t>Multiplication of a partitioned matrix by a scalar is also computed block by block.</a:t>
            </a: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96031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MULTIPLICATION OF PARTITIONED MATRICES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181600"/>
          </a:xfrm>
        </p:spPr>
        <p:txBody>
          <a:bodyPr/>
          <a:lstStyle/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Partitioned matrices can be multiplied by the usual row—column rule as if the block entries were scalars, provided that for a product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AB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, the column partition of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matches the row partition of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B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2750" b="1" dirty="0" smtClean="0">
                <a:cs typeface="Times New Roman" panose="02020603050405020304" pitchFamily="18" charset="0"/>
              </a:rPr>
              <a:t>Example 3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   Let </a:t>
            </a: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The 5 columns of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are partitioned into a set of 3 columns and then a set of 2 columns. The 5 rows of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B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are partitioned in the same way—into a set of 3 rows and then a set of 2 rows.</a:t>
            </a: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95" y="3326271"/>
            <a:ext cx="7857705" cy="155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9273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MULTIPLICATION OF PARTITIONED MATRICES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686800" cy="5181600"/>
          </a:xfrm>
        </p:spPr>
        <p:txBody>
          <a:bodyPr/>
          <a:lstStyle/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We say that the partitions of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and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B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are </a:t>
            </a:r>
            <a:r>
              <a:rPr lang="en-US" altLang="en-US" sz="2750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conformable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for block multiplication. It can be shown that the ordinary product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AB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can be written as</a:t>
            </a: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It is important for each smaller product in the expression for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AB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to be written with the submatrix from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on the left, since matrix multiplication is not commutative. </a:t>
            </a: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376" y="2762436"/>
            <a:ext cx="7382658" cy="127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4743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MULTIPLICATION OF PARTITIONED MATRICES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686800" cy="5181600"/>
          </a:xfrm>
        </p:spPr>
        <p:txBody>
          <a:bodyPr/>
          <a:lstStyle/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For instance,</a:t>
            </a: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 smtClean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Hence the top block in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AB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is </a:t>
            </a: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320" y="1676400"/>
            <a:ext cx="6238198" cy="20732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60" y="4419600"/>
            <a:ext cx="7582240" cy="85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505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MULTIPLICATION OF PARTITIONED MATRICES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686800" cy="5181600"/>
          </a:xfrm>
        </p:spPr>
        <p:txBody>
          <a:bodyPr/>
          <a:lstStyle/>
          <a:p>
            <a:pPr eaLnBrk="1" hangingPunct="1"/>
            <a:r>
              <a:rPr lang="en-US" altLang="en-US" sz="2800" b="1" dirty="0" smtClean="0">
                <a:solidFill>
                  <a:srgbClr val="077C97"/>
                </a:solidFill>
                <a:cs typeface="Times New Roman" panose="02020603050405020304" pitchFamily="18" charset="0"/>
              </a:rPr>
              <a:t>Theorem 10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: </a:t>
            </a:r>
            <a:r>
              <a:rPr lang="en-US" altLang="en-US" sz="2800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Column—Row Expan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sion of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AB</a:t>
            </a:r>
          </a:p>
          <a:p>
            <a:pPr eaLnBrk="1" hangingPunct="1"/>
            <a:endParaRPr lang="en-US" altLang="en-US" sz="2800" i="1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i="1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i="1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i="1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i="1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b="1" dirty="0" smtClean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b="1" dirty="0" smtClean="0">
                <a:cs typeface="Times New Roman" panose="02020603050405020304" pitchFamily="18" charset="0"/>
              </a:rPr>
              <a:t>Proof 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For each row index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i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and column index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j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, the (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i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,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j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)-entry in col</a:t>
            </a:r>
            <a:r>
              <a:rPr lang="en-US" altLang="en-US" sz="2800" i="1" baseline="-25000" dirty="0" smtClean="0">
                <a:cs typeface="Times New Roman" panose="02020603050405020304" pitchFamily="18" charset="0"/>
              </a:rPr>
              <a:t>k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(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)and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b</a:t>
            </a:r>
            <a:r>
              <a:rPr lang="en-US" altLang="en-US" sz="2800" i="1" baseline="-25000" dirty="0" smtClean="0">
                <a:cs typeface="Times New Roman" panose="02020603050405020304" pitchFamily="18" charset="0"/>
              </a:rPr>
              <a:t>kj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 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from row</a:t>
            </a:r>
            <a:r>
              <a:rPr lang="en-US" altLang="en-US" sz="2800" i="1" baseline="-25000" dirty="0" smtClean="0">
                <a:cs typeface="Times New Roman" panose="02020603050405020304" pitchFamily="18" charset="0"/>
              </a:rPr>
              <a:t>k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(</a:t>
            </a:r>
            <a:r>
              <a:rPr lang="en-US" altLang="en-US" sz="2800" i="1" dirty="0">
                <a:cs typeface="Times New Roman" panose="02020603050405020304" pitchFamily="18" charset="0"/>
              </a:rPr>
              <a:t>B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) is the product of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800" i="1" baseline="-25000" dirty="0" smtClean="0">
                <a:cs typeface="Times New Roman" panose="02020603050405020304" pitchFamily="18" charset="0"/>
              </a:rPr>
              <a:t>ik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cs typeface="Times New Roman" panose="02020603050405020304" pitchFamily="18" charset="0"/>
              </a:rPr>
              <a:t>from col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k</a:t>
            </a:r>
            <a:r>
              <a:rPr lang="en-US" altLang="en-US" sz="2800" dirty="0">
                <a:cs typeface="Times New Roman" panose="02020603050405020304" pitchFamily="18" charset="0"/>
              </a:rPr>
              <a:t>(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) 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and </a:t>
            </a:r>
            <a:r>
              <a:rPr lang="en-US" altLang="en-US" sz="2800" i="1" dirty="0">
                <a:cs typeface="Times New Roman" panose="02020603050405020304" pitchFamily="18" charset="0"/>
              </a:rPr>
              <a:t>b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kj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cs typeface="Times New Roman" panose="02020603050405020304" pitchFamily="18" charset="0"/>
              </a:rPr>
              <a:t>from 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row</a:t>
            </a:r>
            <a:r>
              <a:rPr lang="en-US" altLang="en-US" sz="2800" i="1" baseline="-25000" dirty="0" smtClean="0">
                <a:cs typeface="Times New Roman" panose="02020603050405020304" pitchFamily="18" charset="0"/>
              </a:rPr>
              <a:t>k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(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B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). </a:t>
            </a:r>
            <a:endParaRPr lang="en-US" altLang="en-US" sz="28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43400" y="457200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450298" y="306222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(1)</a:t>
            </a:r>
            <a:endParaRPr lang="en-US" dirty="0">
              <a:latin typeface="+mn-lt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059" y="1981200"/>
            <a:ext cx="7725481" cy="270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793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MULTIPLICATION OF PARTITIONED MATRICES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686800" cy="50292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cs typeface="Times New Roman" panose="02020603050405020304" pitchFamily="18" charset="0"/>
              </a:rPr>
              <a:t>Hence</a:t>
            </a:r>
            <a:r>
              <a:rPr lang="en-US" altLang="en-US" sz="2800" b="1" dirty="0" smtClean="0">
                <a:solidFill>
                  <a:srgbClr val="077C97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cs typeface="Times New Roman" panose="02020603050405020304" pitchFamily="18" charset="0"/>
              </a:rPr>
              <a:t>the (</a:t>
            </a:r>
            <a:r>
              <a:rPr lang="en-US" altLang="en-US" sz="2800" i="1" dirty="0"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i="1" dirty="0">
                <a:cs typeface="Times New Roman" panose="02020603050405020304" pitchFamily="18" charset="0"/>
              </a:rPr>
              <a:t>j</a:t>
            </a:r>
            <a:r>
              <a:rPr lang="en-US" altLang="en-US" sz="2800" dirty="0">
                <a:cs typeface="Times New Roman" panose="02020603050405020304" pitchFamily="18" charset="0"/>
              </a:rPr>
              <a:t>)-entry in 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the sum shown in equation (1) is </a:t>
            </a:r>
          </a:p>
          <a:p>
            <a:pPr eaLnBrk="1" hangingPunct="1"/>
            <a:endParaRPr lang="en-US" altLang="en-US" sz="2800" b="1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b="1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 smtClean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smtClean="0">
                <a:cs typeface="Times New Roman" panose="02020603050405020304" pitchFamily="18" charset="0"/>
              </a:rPr>
              <a:t>This sum is also the </a:t>
            </a:r>
            <a:r>
              <a:rPr lang="en-US" altLang="en-US" sz="2800" dirty="0">
                <a:cs typeface="Times New Roman" panose="02020603050405020304" pitchFamily="18" charset="0"/>
              </a:rPr>
              <a:t>(</a:t>
            </a:r>
            <a:r>
              <a:rPr lang="en-US" altLang="en-US" sz="2800" i="1" dirty="0"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i="1" dirty="0">
                <a:cs typeface="Times New Roman" panose="02020603050405020304" pitchFamily="18" charset="0"/>
              </a:rPr>
              <a:t>j</a:t>
            </a:r>
            <a:r>
              <a:rPr lang="en-US" altLang="en-US" sz="2800" dirty="0">
                <a:cs typeface="Times New Roman" panose="02020603050405020304" pitchFamily="18" charset="0"/>
              </a:rPr>
              <a:t>)-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entry in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AB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, by the row—column rule.  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43400" y="457200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50" y="2287510"/>
            <a:ext cx="6438900" cy="91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6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INVERSES OF PARTIONED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371600"/>
                <a:ext cx="8686800" cy="5029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The next example illustrates calculations involving inverses and partitioned matrices. </a:t>
                </a:r>
              </a:p>
              <a:p>
                <a:pPr eaLnBrk="1" hangingPunct="1"/>
                <a:r>
                  <a:rPr lang="en-US" altLang="en-US" sz="2800" b="1" dirty="0" smtClean="0">
                    <a:cs typeface="Times New Roman" panose="02020603050405020304" pitchFamily="18" charset="0"/>
                  </a:rPr>
                  <a:t>Example 5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  A matrix of the form</a:t>
                </a:r>
              </a:p>
              <a:p>
                <a:pPr marL="0" indent="0" eaLnBrk="1" hangingPunct="1">
                  <a:buNone/>
                </a:pPr>
                <a:endParaRPr lang="en-US" altLang="en-US" sz="2800" dirty="0" smtClean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800" i="1" smtClean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80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  <m:r>
                                  <a:rPr lang="en-US" altLang="en-US" sz="2800" b="0" i="1" baseline="-25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  <m:r>
                                  <a:rPr lang="en-US" altLang="en-US" sz="2800" b="0" i="1" baseline="-25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  <m:r>
                                  <a:rPr lang="en-US" altLang="en-US" sz="2800" b="0" i="1" baseline="-25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800" dirty="0" smtClean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Is said to be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block upper triangular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. Assume that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baseline="-25000" dirty="0" smtClean="0">
                    <a:cs typeface="Times New Roman" panose="02020603050405020304" pitchFamily="18" charset="0"/>
                  </a:rPr>
                  <a:t>11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baseline="-25000" dirty="0" smtClean="0">
                    <a:cs typeface="Times New Roman" panose="02020603050405020304" pitchFamily="18" charset="0"/>
                  </a:rPr>
                  <a:t>22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, and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is invertible. Find a formula for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baseline="30000" dirty="0" smtClean="0">
                    <a:cs typeface="Times New Roman" panose="02020603050405020304" pitchFamily="18" charset="0"/>
                  </a:rPr>
                  <a:t>-1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.</a:t>
                </a:r>
                <a:endParaRPr lang="en-US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371600"/>
                <a:ext cx="8686800" cy="5029200"/>
              </a:xfrm>
              <a:blipFill rotWithShape="0">
                <a:blip r:embed="rId4"/>
                <a:stretch>
                  <a:fillRect l="-1193" t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43400" y="457200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4198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INVERSES OF PARTIONED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371600"/>
                <a:ext cx="8686800" cy="5029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b="1" dirty="0" smtClean="0">
                    <a:cs typeface="Times New Roman" panose="02020603050405020304" pitchFamily="18" charset="0"/>
                  </a:rPr>
                  <a:t>Solution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 Denote A</a:t>
                </a:r>
                <a:r>
                  <a:rPr lang="en-US" altLang="en-US" sz="2800" baseline="30000" dirty="0" smtClean="0">
                    <a:cs typeface="Times New Roman" panose="02020603050405020304" pitchFamily="18" charset="0"/>
                  </a:rPr>
                  <a:t>-1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by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and partition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so that</a:t>
                </a:r>
              </a:p>
              <a:p>
                <a:pPr marL="0" indent="0" eaLnBrk="1" hangingPunct="1">
                  <a:buNone/>
                </a:pPr>
                <a:endParaRPr lang="en-US" altLang="en-US" sz="2800" dirty="0" smtClean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8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8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en-US" sz="28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en-US" sz="28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en-US" sz="28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en-US" sz="28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8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altLang="en-US" sz="28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altLang="en-US" sz="28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altLang="en-US" sz="28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altLang="en-US" sz="28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8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8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  <m:r>
                                <a:rPr lang="en-US" altLang="en-US" sz="28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  <m:r>
                                <a:rPr lang="en-US" altLang="en-US" sz="28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           (2)</a:t>
                </a:r>
              </a:p>
              <a:p>
                <a:pPr marL="0" indent="0" eaLnBrk="1" hangingPunct="1">
                  <a:buNone/>
                </a:pP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This matrix equation provides four equations that will lead to the unknown blocks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800" baseline="-25000" dirty="0" smtClean="0">
                    <a:cs typeface="Times New Roman" panose="02020603050405020304" pitchFamily="18" charset="0"/>
                  </a:rPr>
                  <a:t>11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…,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800" baseline="-25000" dirty="0" smtClean="0">
                    <a:cs typeface="Times New Roman" panose="02020603050405020304" pitchFamily="18" charset="0"/>
                  </a:rPr>
                  <a:t>22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. Compute the product on the left side of equation (2), and equate each entry with the corresponding block in the identity matrix on the right.</a:t>
                </a:r>
                <a:endParaRPr lang="en-US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371600"/>
                <a:ext cx="8686800" cy="5029200"/>
              </a:xfrm>
              <a:blipFill rotWithShape="0">
                <a:blip r:embed="rId4"/>
                <a:stretch>
                  <a:fillRect l="-1193" t="-1212" r="-1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43400" y="457200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0997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INVERSES OF PARTIONED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371600"/>
                <a:ext cx="8686800" cy="5029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That is, set</a:t>
                </a: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11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11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21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𝐼𝑝</m:t>
                    </m:r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      (3)</a:t>
                </a:r>
                <a:endParaRPr lang="en-US" altLang="en-US" sz="2800" baseline="-25000" dirty="0" smtClean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11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11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  (4)</a:t>
                </a:r>
                <a:endParaRPr lang="en-US" altLang="en-US" sz="2800" baseline="-250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22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21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     (5)</a:t>
                </a:r>
                <a:endParaRPr lang="en-US" altLang="en-US" sz="2800" baseline="-25000" dirty="0" smtClean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22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𝐼𝑞</m:t>
                    </m:r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   (6)  </a:t>
                </a:r>
              </a:p>
              <a:p>
                <a:pPr marL="0" indent="0" algn="ctr" eaLnBrk="1" hangingPunct="1">
                  <a:buNone/>
                </a:pPr>
                <a:endParaRPr lang="en-US" altLang="en-US" sz="2800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By itself, equation (6) does not show that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baseline="-25000" dirty="0" smtClean="0">
                    <a:cs typeface="Times New Roman" panose="02020603050405020304" pitchFamily="18" charset="0"/>
                  </a:rPr>
                  <a:t>22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is invertible. However, since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baseline="-25000" dirty="0" smtClean="0">
                    <a:cs typeface="Times New Roman" panose="02020603050405020304" pitchFamily="18" charset="0"/>
                  </a:rPr>
                  <a:t>22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is square, the Invertible Matrix Theorem and (6) together show that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baseline="-25000" dirty="0" smtClean="0">
                    <a:cs typeface="Times New Roman" panose="02020603050405020304" pitchFamily="18" charset="0"/>
                  </a:rPr>
                  <a:t>22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is invertible and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22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en-US" sz="28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. </a:t>
                </a:r>
                <a:endParaRPr lang="en-US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371600"/>
                <a:ext cx="8686800" cy="5029200"/>
              </a:xfrm>
              <a:blipFill rotWithShape="0">
                <a:blip r:embed="rId4"/>
                <a:stretch>
                  <a:fillRect l="-1193" t="-1212" b="-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43400" y="457200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0449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INVERSES OF PARTIONED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371600"/>
                <a:ext cx="8686800" cy="5029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Next, left-multiply both sides of (5)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8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 and obtain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en-US" sz="28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21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en-US" sz="2800" i="1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alt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0=0</m:t>
                      </m:r>
                    </m:oMath>
                  </m:oMathPara>
                </a14:m>
                <a:endParaRPr lang="en-US" altLang="en-US" sz="2800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So that (3) simplifies to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11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0=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Since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baseline="-25000" dirty="0" smtClean="0">
                    <a:cs typeface="Times New Roman" panose="02020603050405020304" pitchFamily="18" charset="0"/>
                  </a:rPr>
                  <a:t>11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is square, this shows that </a:t>
                </a:r>
                <a:r>
                  <a:rPr lang="en-US" altLang="en-US" sz="280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baseline="-25000" dirty="0" smtClean="0">
                    <a:cs typeface="Times New Roman" panose="02020603050405020304" pitchFamily="18" charset="0"/>
                  </a:rPr>
                  <a:t>11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is invertible and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22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en-US" sz="28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. Finally, use these results with (4) to find that</a:t>
                </a: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11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22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sSubSup>
                      <m:sSubSupPr>
                        <m:ctrlPr>
                          <a:rPr lang="en-US" altLang="en-US" sz="28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altLang="en-US" sz="2800" dirty="0" smtClean="0">
                    <a:cs typeface="Times New Roman" panose="02020603050405020304" pitchFamily="18" charset="0"/>
                  </a:rPr>
                  <a:t>    and </a:t>
                </a:r>
                <a14:m>
                  <m:oMath xmlns:m="http://schemas.openxmlformats.org/officeDocument/2006/math">
                    <m:r>
                      <a:rPr lang="en-US" alt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8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en-US" sz="28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sub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sSubSup>
                      <m:sSubSupPr>
                        <m:ctrlPr>
                          <a:rPr lang="en-US" altLang="en-US" sz="28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371600"/>
                <a:ext cx="8686800" cy="5029200"/>
              </a:xfrm>
              <a:blipFill rotWithShape="0">
                <a:blip r:embed="rId3"/>
                <a:stretch>
                  <a:fillRect l="-1193" t="-1091" r="-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343400" y="457200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275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INVERSES OF PARTIONED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371600"/>
                <a:ext cx="8686800" cy="5029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Thus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altLang="en-US" sz="2800" baseline="46000" dirty="0"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8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8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en-US" sz="28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en-US" sz="28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en-US" sz="28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800" baseline="46000" dirty="0" smtClean="0">
                    <a:cs typeface="Times New Roman" panose="02020603050405020304" pitchFamily="18" charset="0"/>
                  </a:rPr>
                  <a:t>-1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8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8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altLang="en-US" sz="2800" i="1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en-US" sz="2800" i="1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en-US" sz="28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  <m:sSubSup>
                                <m:sSubSupPr>
                                  <m:ctrlPr>
                                    <a:rPr lang="en-US" altLang="en-US" sz="2800" i="1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en-US" sz="2800" i="1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800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800" dirty="0" smtClean="0">
                    <a:cs typeface="Times New Roman" panose="02020603050405020304" pitchFamily="18" charset="0"/>
                  </a:rPr>
                  <a:t>A </a:t>
                </a:r>
                <a:r>
                  <a:rPr lang="en-US" altLang="en-US" sz="2800" b="1" dirty="0" smtClean="0">
                    <a:cs typeface="Times New Roman" panose="02020603050405020304" pitchFamily="18" charset="0"/>
                  </a:rPr>
                  <a:t>block diagonal matrix </a:t>
                </a:r>
                <a:r>
                  <a:rPr lang="en-US" altLang="en-US" sz="2800" dirty="0" smtClean="0">
                    <a:cs typeface="Times New Roman" panose="02020603050405020304" pitchFamily="18" charset="0"/>
                  </a:rPr>
                  <a:t>is a partitioned matrix with zero blocks off the main diagonal (of blocks). Such a matrix is invertible if and only if each block on the diagonal is invertible.</a:t>
                </a:r>
                <a:endParaRPr lang="en-US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371600"/>
                <a:ext cx="8686800" cy="5029200"/>
              </a:xfrm>
              <a:blipFill rotWithShape="0">
                <a:blip r:embed="rId3"/>
                <a:stretch>
                  <a:fillRect l="-1193" t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343400" y="457200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1725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 Narrow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13261</TotalTime>
  <Words>1084</Words>
  <Application>Microsoft Office PowerPoint</Application>
  <PresentationFormat>如螢幕大小 (4:3)</PresentationFormat>
  <Paragraphs>130</Paragraphs>
  <Slides>14</Slides>
  <Notes>14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6" baseType="lpstr">
      <vt:lpstr>Blends</vt:lpstr>
      <vt:lpstr>Equation</vt:lpstr>
      <vt:lpstr>Matrix Algebra</vt:lpstr>
      <vt:lpstr>PARTITIONED MATRICES</vt:lpstr>
      <vt:lpstr>PARTITIONED MATRICES</vt:lpstr>
      <vt:lpstr>ADDITION AND SCALAR MULTIPLICATION</vt:lpstr>
      <vt:lpstr>MULTIPLICATION OF PARTITIONED MATRICES</vt:lpstr>
      <vt:lpstr>MULTIPLICATION OF PARTITIONED MATRICES</vt:lpstr>
      <vt:lpstr>MULTIPLICATION OF PARTITIONED MATRICES</vt:lpstr>
      <vt:lpstr>MULTIPLICATION OF PARTITIONED MATRICES</vt:lpstr>
      <vt:lpstr>MULTIPLICATION OF PARTITIONED MATRICES</vt:lpstr>
      <vt:lpstr>INVERSES OF PARTIONED MATRICES</vt:lpstr>
      <vt:lpstr>INVERSES OF PARTIONED MATRICES</vt:lpstr>
      <vt:lpstr>INVERSES OF PARTIONED MATRICES</vt:lpstr>
      <vt:lpstr>INVERSES OF PARTIONED MATRICES</vt:lpstr>
      <vt:lpstr>INVERSES OF PARTIONED MATRICES</vt:lpstr>
    </vt:vector>
  </TitlesOfParts>
  <Company>© 2012 Pearson Education, Inc. All rights reserved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jhwang</cp:lastModifiedBy>
  <cp:revision>991</cp:revision>
  <dcterms:created xsi:type="dcterms:W3CDTF">2005-10-22T18:34:54Z</dcterms:created>
  <dcterms:modified xsi:type="dcterms:W3CDTF">2016-03-15T07:58:14Z</dcterms:modified>
</cp:coreProperties>
</file>