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23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39" r:id="rId18"/>
    <p:sldId id="440" r:id="rId19"/>
    <p:sldId id="441" r:id="rId20"/>
    <p:sldId id="442" r:id="rId21"/>
    <p:sldId id="443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81" autoAdjust="0"/>
    <p:restoredTop sz="98725" autoAdjust="0"/>
  </p:normalViewPr>
  <p:slideViewPr>
    <p:cSldViewPr>
      <p:cViewPr varScale="1">
        <p:scale>
          <a:sx n="92" d="100"/>
          <a:sy n="92" d="100"/>
        </p:scale>
        <p:origin x="1339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9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4" Type="http://schemas.openxmlformats.org/officeDocument/2006/relationships/image" Target="../media/image49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27573CF-2657-4170-AC64-37DB4CC8B7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90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361B2B68-9807-4C25-B1CE-19C2246374E3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9000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223F545D-7B74-4E03-94D8-BD985B5C348A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4137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2.1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38800" y="2443148"/>
            <a:ext cx="3028949" cy="378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4149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2.1- </a:t>
            </a:r>
            <a:fld id="{6DC116F3-5915-4C69-AB82-BEB5E0EFC5F4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63403828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2.1- </a:t>
            </a:r>
            <a:fld id="{01668082-59E3-48EA-83EE-014DC305798E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425629766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2.1- </a:t>
            </a:r>
            <a:fld id="{E91EEBAE-3BA2-43F1-93F8-966AC6D87B9A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77158953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2.1- </a:t>
            </a:r>
            <a:fld id="{DAB4625D-6DC5-4C8F-8178-F3B2526B406B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98180458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2.1- </a:t>
            </a:r>
            <a:fld id="{F19FF661-EFAE-4F62-ABAD-301D9873E2F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509190782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2.1- </a:t>
            </a:r>
            <a:fld id="{AE897305-FFD4-478F-8070-5C5388E8EB3D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739678436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2.1- </a:t>
            </a:r>
            <a:fld id="{4D3C1424-C597-4795-931D-7B0056FF528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494525735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2.1- </a:t>
            </a:r>
            <a:fld id="{61D762DE-423D-4ACC-A900-30F7FFE15953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998091938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2.1- </a:t>
            </a:r>
            <a:fld id="{46FCC728-D532-4B2E-B964-A34C4D58F84D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50487997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2.1- </a:t>
            </a:r>
            <a:fld id="{EBF808E2-0A38-4470-8CEB-5750F7C84D74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31937692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2.1- </a:t>
            </a:r>
            <a:fld id="{EBEF97FD-839A-45DD-8812-EC1265CD9CA8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0.png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2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33.png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0.w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23.bin"/><Relationship Id="rId9" Type="http://schemas.openxmlformats.org/officeDocument/2006/relationships/image" Target="../media/image3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4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3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7.wmf"/><Relationship Id="rId11" Type="http://schemas.openxmlformats.org/officeDocument/2006/relationships/image" Target="../media/image1.jpeg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3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4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5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58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6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57.bin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6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6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59.bin"/><Relationship Id="rId5" Type="http://schemas.openxmlformats.org/officeDocument/2006/relationships/image" Target="../media/image69.wmf"/><Relationship Id="rId4" Type="http://schemas.openxmlformats.org/officeDocument/2006/relationships/oleObject" Target="../embeddings/oleObject5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65.bin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7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75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77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Đại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Ma </a:t>
            </a:r>
            <a:r>
              <a:rPr lang="en-US" altLang="en-US" dirty="0" err="1"/>
              <a:t>Trận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57200" y="2819400"/>
            <a:ext cx="4648200" cy="33528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+mj-lt"/>
              </a:rPr>
              <a:t>CÁC PHÉP TOÁN MA TRẬN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6B7E01C8-BDF2-4C8F-BEB8-6A045ED1E758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PHÉP TOÁN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864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          ma </a:t>
                </a:r>
                <a:r>
                  <a:rPr lang="en-US" altLang="en-US" sz="2800" dirty="0" err="1"/>
                  <a:t>trận-nghĩa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m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—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vô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hướng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hang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thứ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 err="1">
                    <a:cs typeface="Times New Roman" panose="02020603050405020304" pitchFamily="18" charset="0"/>
                  </a:rPr>
                  <a:t>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thứ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j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kí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hiệu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 err="1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i="1" baseline="-25000" dirty="0" err="1">
                    <a:cs typeface="Times New Roman" panose="02020603050405020304" pitchFamily="18" charset="0"/>
                  </a:rPr>
                  <a:t>ij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được gọi 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(</a:t>
                </a:r>
                <a:r>
                  <a:rPr lang="en-US" altLang="en-US" sz="2800" i="1" dirty="0" err="1">
                    <a:cs typeface="Times New Roman" panose="02020603050405020304" pitchFamily="18" charset="0"/>
                  </a:rPr>
                  <a:t>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j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)-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Xem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1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dưới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đây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800" dirty="0" err="1"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danh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sách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gồm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m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thực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đồng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nhất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. 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86400"/>
              </a:xfrm>
              <a:blipFill>
                <a:blip r:embed="rId4"/>
                <a:stretch>
                  <a:fillRect l="-1259" t="-1222" r="-2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64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562657"/>
              </p:ext>
            </p:extLst>
          </p:nvPr>
        </p:nvGraphicFramePr>
        <p:xfrm>
          <a:off x="2870200" y="13081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1" name="Equation" r:id="rId5" imgW="863225" imgH="253890" progId="">
                  <p:embed/>
                </p:oleObj>
              </mc:Choice>
              <mc:Fallback>
                <p:oleObj name="Equation" r:id="rId5" imgW="863225" imgH="25389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200" y="13081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6435" name="Picture 19" descr="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886200"/>
            <a:ext cx="3810000" cy="267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97470BFD-58F7-49CB-A6C7-AA2CD3FE9903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PHÉP TOÁN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331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458200" cy="5029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được kí hiệu bởi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a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 …, </a:t>
                </a:r>
                <a:r>
                  <a:rPr lang="en-US" altLang="en-US" sz="2800" b="1" dirty="0"/>
                  <a:t>a</a:t>
                </a:r>
                <a:r>
                  <a:rPr lang="en-US" altLang="en-US" sz="2800" i="1" baseline="-25000" dirty="0"/>
                  <a:t>n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viết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dưới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dạng</a:t>
                </a:r>
                <a:endParaRPr lang="en-US" altLang="en-US" sz="2800" dirty="0"/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800" dirty="0"/>
                  <a:t>   …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en-US" sz="2800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Giá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trị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a</a:t>
                </a:r>
                <a:r>
                  <a:rPr lang="en-US" altLang="en-US" sz="2800" i="1" baseline="-25000" dirty="0" err="1"/>
                  <a:t>ij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thứ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i</a:t>
                </a:r>
                <a:r>
                  <a:rPr lang="en-US" altLang="en-US" sz="2800" dirty="0"/>
                  <a:t> (</a:t>
                </a:r>
                <a:r>
                  <a:rPr lang="en-US" altLang="en-US" sz="2800" dirty="0" err="1"/>
                  <a:t>kể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xuống</a:t>
                </a:r>
                <a:r>
                  <a:rPr lang="en-US" altLang="en-US" sz="2800" dirty="0"/>
                  <a:t>)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 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thứ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j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a</a:t>
                </a:r>
                <a:r>
                  <a:rPr lang="en-US" altLang="en-US" sz="2800" i="1" baseline="-25000" dirty="0" err="1"/>
                  <a:t>j</a:t>
                </a:r>
                <a:r>
                  <a:rPr lang="en-US" altLang="en-US" sz="2800" dirty="0"/>
                  <a:t>. </a:t>
                </a:r>
              </a:p>
              <a:p>
                <a:pPr eaLnBrk="1" hangingPunct="1"/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thành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phần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đường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chéo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          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                </a:t>
                </a:r>
              </a:p>
              <a:p>
                <a:pPr marL="1828800" lvl="4" indent="0" eaLnBrk="1" hangingPunct="1">
                  <a:buNone/>
                </a:pP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a</a:t>
                </a:r>
                <a:r>
                  <a:rPr lang="en-US" altLang="en-US" sz="2800" baseline="-25000" dirty="0"/>
                  <a:t>11</a:t>
                </a:r>
                <a:r>
                  <a:rPr lang="en-US" altLang="en-US" sz="2800" dirty="0"/>
                  <a:t>, a</a:t>
                </a:r>
                <a:r>
                  <a:rPr lang="en-US" altLang="en-US" sz="2800" baseline="-25000" dirty="0"/>
                  <a:t>22</a:t>
                </a:r>
                <a:r>
                  <a:rPr lang="en-US" altLang="en-US" sz="2800" dirty="0"/>
                  <a:t>, a</a:t>
                </a:r>
                <a:r>
                  <a:rPr lang="en-US" altLang="en-US" sz="2800" baseline="-25000" dirty="0"/>
                  <a:t>33</a:t>
                </a:r>
                <a:r>
                  <a:rPr lang="en-US" altLang="en-US" sz="2800" dirty="0"/>
                  <a:t>, …,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chúng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nên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đường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chéo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chính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. </a:t>
                </a:r>
              </a:p>
              <a:p>
                <a:pPr eaLnBrk="1" hangingPunct="1"/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ma </a:t>
                </a:r>
                <a:r>
                  <a:rPr lang="en-US" altLang="en-US" sz="2800" b="1" dirty="0" err="1"/>
                  <a:t>trận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đường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chéo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vuông</a:t>
                </a:r>
                <a:r>
                  <a:rPr lang="en-US" altLang="en-US" sz="2800" dirty="0"/>
                  <a:t> 		 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ngoài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đường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chéo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bằng</a:t>
                </a:r>
                <a:r>
                  <a:rPr lang="en-US" altLang="en-US" sz="2800" dirty="0"/>
                  <a:t> 0.</a:t>
                </a:r>
              </a:p>
              <a:p>
                <a:pPr eaLnBrk="1" hangingPunct="1"/>
                <a:r>
                  <a:rPr lang="en-US" altLang="en-US" sz="2800" dirty="0" err="1"/>
                  <a:t>Ví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dụ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như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vị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I</a:t>
                </a:r>
                <a:r>
                  <a:rPr lang="en-US" altLang="en-US" sz="2800" i="1" baseline="-25000" dirty="0"/>
                  <a:t>n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>
          <p:sp>
            <p:nvSpPr>
              <p:cNvPr id="6533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458200" cy="5029200"/>
              </a:xfrm>
              <a:blipFill>
                <a:blip r:embed="rId3"/>
                <a:stretch>
                  <a:fillRect l="-1225" t="-1333" r="-504" b="-8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533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143985"/>
              </p:ext>
            </p:extLst>
          </p:nvPr>
        </p:nvGraphicFramePr>
        <p:xfrm>
          <a:off x="6705600" y="3862719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" name="Equation" r:id="rId4" imgW="863225" imgH="253890" progId="">
                  <p:embed/>
                </p:oleObj>
              </mc:Choice>
              <mc:Fallback>
                <p:oleObj name="Equation" r:id="rId4" imgW="863225" imgH="25389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862719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189254"/>
              </p:ext>
            </p:extLst>
          </p:nvPr>
        </p:nvGraphicFramePr>
        <p:xfrm>
          <a:off x="914400" y="4191000"/>
          <a:ext cx="13716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9" name="Equation" r:id="rId6" imgW="1434477" imgH="634725" progId="">
                  <p:embed/>
                </p:oleObj>
              </mc:Choice>
              <mc:Fallback>
                <p:oleObj name="Equation" r:id="rId6" imgW="1434477" imgH="634725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191000"/>
                        <a:ext cx="1371600" cy="606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518698"/>
              </p:ext>
            </p:extLst>
          </p:nvPr>
        </p:nvGraphicFramePr>
        <p:xfrm>
          <a:off x="7893050" y="5308600"/>
          <a:ext cx="7874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" name="Equation" r:id="rId8" imgW="787320" imgH="253800" progId="Equation.DSMT4">
                  <p:embed/>
                </p:oleObj>
              </mc:Choice>
              <mc:Fallback>
                <p:oleObj name="Equation" r:id="rId8" imgW="787320" imgH="253800" progId="Equation.DSMT4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3050" y="5308600"/>
                        <a:ext cx="7874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49E4CEF1-6B50-4160-A46B-41A289918996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TỔNG VÀ TÍCH VỚI VÔ HƯỚNG</a:t>
            </a:r>
            <a:endParaRPr lang="en-US" altLang="en-US" dirty="0"/>
          </a:p>
        </p:txBody>
      </p:sp>
      <p:sp>
        <p:nvSpPr>
          <p:cNvPr id="65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Một</a:t>
            </a:r>
            <a:r>
              <a:rPr lang="en-US" altLang="en-US" sz="2800" dirty="0"/>
              <a:t> 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mọi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b="1" dirty="0"/>
              <a:t>ma </a:t>
            </a:r>
            <a:r>
              <a:rPr lang="en-US" altLang="en-US" sz="2800" b="1" dirty="0" err="1"/>
              <a:t>trận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0.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Hai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bằng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nhau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chúng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cỡ</a:t>
            </a:r>
            <a:r>
              <a:rPr lang="en-US" altLang="en-US" sz="2800" dirty="0"/>
              <a:t> (</a:t>
            </a:r>
            <a:r>
              <a:rPr lang="en-US" altLang="en-US" sz="2800" i="1" dirty="0"/>
              <a:t>i.e.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nhau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điều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 </a:t>
            </a:r>
            <a:r>
              <a:rPr lang="vi-VN" altLang="en-US" sz="2800" dirty="0"/>
              <a:t>tương 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nhau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tổng</a:t>
            </a:r>
            <a:r>
              <a:rPr lang="en-US" altLang="en-US" sz="2800" dirty="0"/>
              <a:t>           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 </a:t>
            </a:r>
            <a:r>
              <a:rPr lang="vi-VN" altLang="en-US" sz="2800" dirty="0"/>
              <a:t>tương 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654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608903"/>
              </p:ext>
            </p:extLst>
          </p:nvPr>
        </p:nvGraphicFramePr>
        <p:xfrm>
          <a:off x="1574800" y="12827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4" name="Equation" r:id="rId3" imgW="863225" imgH="253890" progId="">
                  <p:embed/>
                </p:oleObj>
              </mc:Choice>
              <mc:Fallback>
                <p:oleObj name="Equation" r:id="rId3" imgW="863225" imgH="25389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800" y="12827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43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283864"/>
              </p:ext>
            </p:extLst>
          </p:nvPr>
        </p:nvGraphicFramePr>
        <p:xfrm>
          <a:off x="3505200" y="46990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5" name="Equation" r:id="rId5" imgW="863225" imgH="253890" progId="">
                  <p:embed/>
                </p:oleObj>
              </mc:Choice>
              <mc:Fallback>
                <p:oleObj name="Equation" r:id="rId5" imgW="863225" imgH="25389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6990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43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940738"/>
              </p:ext>
            </p:extLst>
          </p:nvPr>
        </p:nvGraphicFramePr>
        <p:xfrm>
          <a:off x="6946900" y="4622800"/>
          <a:ext cx="939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6" name="Equation" r:id="rId7" imgW="939392" imgH="330057" progId="">
                  <p:embed/>
                </p:oleObj>
              </mc:Choice>
              <mc:Fallback>
                <p:oleObj name="Equation" r:id="rId7" imgW="939392" imgH="330057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4622800"/>
                        <a:ext cx="9398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43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798783"/>
              </p:ext>
            </p:extLst>
          </p:nvPr>
        </p:nvGraphicFramePr>
        <p:xfrm>
          <a:off x="1498600" y="50800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7" name="Equation" r:id="rId9" imgW="863225" imgH="253890" progId="">
                  <p:embed/>
                </p:oleObj>
              </mc:Choice>
              <mc:Fallback>
                <p:oleObj name="Equation" r:id="rId9" imgW="863225" imgH="253890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50800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FF74C643-8D33-4795-937F-8F248BC9A69D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TỔNG VÀ TÍCH VỚI VÔ HƯỚNG</a:t>
            </a:r>
            <a:endParaRPr lang="en-US" altLang="en-US" dirty="0"/>
          </a:p>
        </p:txBody>
      </p:sp>
      <p:sp>
        <p:nvSpPr>
          <p:cNvPr id="65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cộng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           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Tổng</a:t>
            </a:r>
            <a:r>
              <a:rPr lang="en-US" altLang="en-US" sz="2800" dirty="0"/>
              <a:t>            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cỡ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b="1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1:</a:t>
            </a:r>
            <a:r>
              <a:rPr lang="en-US" altLang="en-US" sz="2800" dirty="0"/>
              <a:t> Cho                                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            .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        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.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 </a:t>
            </a:r>
          </a:p>
        </p:txBody>
      </p:sp>
      <p:graphicFrame>
        <p:nvGraphicFramePr>
          <p:cNvPr id="6553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830664"/>
              </p:ext>
            </p:extLst>
          </p:nvPr>
        </p:nvGraphicFramePr>
        <p:xfrm>
          <a:off x="1752600" y="2698750"/>
          <a:ext cx="939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4" name="Equation" r:id="rId3" imgW="939392" imgH="330057" progId="">
                  <p:embed/>
                </p:oleObj>
              </mc:Choice>
              <mc:Fallback>
                <p:oleObj name="Equation" r:id="rId3" imgW="939392" imgH="330057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698750"/>
                        <a:ext cx="9398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395856"/>
              </p:ext>
            </p:extLst>
          </p:nvPr>
        </p:nvGraphicFramePr>
        <p:xfrm>
          <a:off x="6527800" y="1491326"/>
          <a:ext cx="939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5" name="Equation" r:id="rId5" imgW="939392" imgH="330057" progId="">
                  <p:embed/>
                </p:oleObj>
              </mc:Choice>
              <mc:Fallback>
                <p:oleObj name="Equation" r:id="rId5" imgW="939392" imgH="330057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1491326"/>
                        <a:ext cx="9398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622669"/>
              </p:ext>
            </p:extLst>
          </p:nvPr>
        </p:nvGraphicFramePr>
        <p:xfrm>
          <a:off x="3048000" y="3505200"/>
          <a:ext cx="5283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6" name="Equation" r:id="rId7" imgW="5283200" imgH="1143000" progId="">
                  <p:embed/>
                </p:oleObj>
              </mc:Choice>
              <mc:Fallback>
                <p:oleObj name="Equation" r:id="rId7" imgW="5283200" imgH="1143000" progId="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505200"/>
                        <a:ext cx="52832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191083"/>
              </p:ext>
            </p:extLst>
          </p:nvPr>
        </p:nvGraphicFramePr>
        <p:xfrm>
          <a:off x="1346200" y="4813300"/>
          <a:ext cx="2082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7" name="Equation" r:id="rId9" imgW="2082800" imgH="1143000" progId="">
                  <p:embed/>
                </p:oleObj>
              </mc:Choice>
              <mc:Fallback>
                <p:oleObj name="Equation" r:id="rId9" imgW="2082800" imgH="1143000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4813300"/>
                        <a:ext cx="20828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370040"/>
              </p:ext>
            </p:extLst>
          </p:nvPr>
        </p:nvGraphicFramePr>
        <p:xfrm>
          <a:off x="4191000" y="5156200"/>
          <a:ext cx="939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8" name="Equation" r:id="rId11" imgW="939392" imgH="330057" progId="">
                  <p:embed/>
                </p:oleObj>
              </mc:Choice>
              <mc:Fallback>
                <p:oleObj name="Equation" r:id="rId11" imgW="939392" imgH="330057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156200"/>
                        <a:ext cx="9398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83277"/>
              </p:ext>
            </p:extLst>
          </p:nvPr>
        </p:nvGraphicFramePr>
        <p:xfrm>
          <a:off x="5715000" y="5143500"/>
          <a:ext cx="952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9" name="Equation" r:id="rId13" imgW="952087" imgH="342751" progId="">
                  <p:embed/>
                </p:oleObj>
              </mc:Choice>
              <mc:Fallback>
                <p:oleObj name="Equation" r:id="rId13" imgW="952087" imgH="342751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143500"/>
                        <a:ext cx="952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5349AD6C-46DC-45F2-A93F-544EDA099A3C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TỔNG VÀ TÍCH VỚI VÔ HƯỚNG</a:t>
            </a:r>
            <a:endParaRPr lang="en-US" altLang="en-US" dirty="0"/>
          </a:p>
        </p:txBody>
      </p:sp>
      <p:sp>
        <p:nvSpPr>
          <p:cNvPr id="65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0292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endParaRPr lang="en-US" altLang="en-US" sz="2400" b="1" dirty="0"/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                                     </a:t>
            </a:r>
            <a:r>
              <a:rPr lang="en-US" altLang="en-US" sz="2800" dirty="0" err="1"/>
              <a:t>nhưng</a:t>
            </a:r>
            <a:r>
              <a:rPr lang="en-US" altLang="en-US" sz="2800" dirty="0"/>
              <a:t>										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C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cỡ</a:t>
            </a:r>
            <a:r>
              <a:rPr lang="en-US" altLang="en-US" sz="2800" dirty="0"/>
              <a:t>.</a:t>
            </a:r>
          </a:p>
          <a:p>
            <a:pPr marL="609600" indent="-609600" eaLnBrk="1" hangingPunct="1">
              <a:lnSpc>
                <a:spcPct val="80000"/>
              </a:lnSpc>
            </a:pPr>
            <a:endParaRPr lang="en-US" altLang="en-US" sz="2800" dirty="0"/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 and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vi-VN" altLang="en-US" sz="2800" b="1" dirty="0"/>
              <a:t>bội vô hướng</a:t>
            </a:r>
            <a:r>
              <a:rPr lang="en-US" altLang="en-US" sz="2800" b="1" dirty="0"/>
              <a:t> </a:t>
            </a:r>
            <a:r>
              <a:rPr lang="en-US" altLang="en-US" sz="2800" i="1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i="1" dirty="0"/>
              <a:t>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lần</a:t>
            </a:r>
            <a:r>
              <a:rPr lang="en-US" altLang="en-US" sz="2800" dirty="0"/>
              <a:t> </a:t>
            </a:r>
            <a:r>
              <a:rPr lang="vi-VN" altLang="en-US" sz="2800" dirty="0"/>
              <a:t>các cột tương 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1</a:t>
            </a:r>
            <a:r>
              <a:rPr lang="en-US" altLang="en-US" sz="2800" b="1" dirty="0"/>
              <a:t>:</a:t>
            </a:r>
            <a:r>
              <a:rPr lang="en-US" altLang="en-US" sz="2800" dirty="0"/>
              <a:t> Cho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i="1" dirty="0"/>
              <a:t>B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cỡ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i="1" dirty="0"/>
              <a:t>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vô</a:t>
            </a:r>
            <a:r>
              <a:rPr lang="vi-VN" altLang="en-US" sz="2800" dirty="0"/>
              <a:t> hướng</a:t>
            </a:r>
            <a:r>
              <a:rPr lang="en-US" altLang="en-US" sz="2800" dirty="0"/>
              <a:t>.</a:t>
            </a:r>
          </a:p>
          <a:p>
            <a:pPr marL="1371600" lvl="2" indent="-457200" eaLnBrk="1" hangingPunct="1">
              <a:lnSpc>
                <a:spcPct val="80000"/>
              </a:lnSpc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                      </a:t>
            </a:r>
          </a:p>
        </p:txBody>
      </p:sp>
      <p:graphicFrame>
        <p:nvGraphicFramePr>
          <p:cNvPr id="656388" name="Object 4"/>
          <p:cNvGraphicFramePr>
            <a:graphicFrameLocks noChangeAspect="1"/>
          </p:cNvGraphicFramePr>
          <p:nvPr/>
        </p:nvGraphicFramePr>
        <p:xfrm>
          <a:off x="2590800" y="1244600"/>
          <a:ext cx="3048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3" name="Equation" r:id="rId3" imgW="3048000" imgH="1143000" progId="">
                  <p:embed/>
                </p:oleObj>
              </mc:Choice>
              <mc:Fallback>
                <p:oleObj name="Equation" r:id="rId3" imgW="3048000" imgH="11430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244600"/>
                        <a:ext cx="30480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6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864236"/>
              </p:ext>
            </p:extLst>
          </p:nvPr>
        </p:nvGraphicFramePr>
        <p:xfrm>
          <a:off x="6705600" y="1612900"/>
          <a:ext cx="952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4" name="Equation" r:id="rId5" imgW="952087" imgH="342751" progId="">
                  <p:embed/>
                </p:oleObj>
              </mc:Choice>
              <mc:Fallback>
                <p:oleObj name="Equation" r:id="rId5" imgW="952087" imgH="342751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612900"/>
                        <a:ext cx="952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885264"/>
              </p:ext>
            </p:extLst>
          </p:nvPr>
        </p:nvGraphicFramePr>
        <p:xfrm>
          <a:off x="1866900" y="5461000"/>
          <a:ext cx="2247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5" name="Equation" r:id="rId7" imgW="2247900" imgH="330200" progId="">
                  <p:embed/>
                </p:oleObj>
              </mc:Choice>
              <mc:Fallback>
                <p:oleObj name="Equation" r:id="rId7" imgW="2247900" imgH="3302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5461000"/>
                        <a:ext cx="22479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C3EC60D0-AF85-4700-8697-CFF089C83956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TỔNG VÀ TÍCH VỚI VÔ HƯỚNG</a:t>
            </a:r>
            <a:endParaRPr lang="en-US" altLang="en-US" dirty="0"/>
          </a:p>
        </p:txBody>
      </p:sp>
      <p:sp>
        <p:nvSpPr>
          <p:cNvPr id="65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 marL="1371600" lvl="2" indent="-457200" eaLnBrk="1" hangingPunct="1">
              <a:lnSpc>
                <a:spcPct val="80000"/>
              </a:lnSpc>
              <a:buFont typeface="Wingdings" panose="05000000000000000000" pitchFamily="2" charset="2"/>
              <a:buAutoNum type="alphaLcPeriod" startAt="2"/>
            </a:pPr>
            <a:r>
              <a:rPr lang="en-US" altLang="en-US" sz="2800" dirty="0"/>
              <a:t>                                                                 </a:t>
            </a:r>
          </a:p>
          <a:p>
            <a:pPr marL="1371600" lvl="2" indent="-457200" eaLnBrk="1" hangingPunct="1">
              <a:lnSpc>
                <a:spcPct val="80000"/>
              </a:lnSpc>
              <a:buFont typeface="Wingdings" panose="05000000000000000000" pitchFamily="2" charset="2"/>
              <a:buAutoNum type="alphaLcPeriod" startAt="2"/>
            </a:pPr>
            <a:r>
              <a:rPr lang="en-US" altLang="en-US" sz="2800" dirty="0"/>
              <a:t>                                              </a:t>
            </a:r>
            <a:r>
              <a:rPr lang="en-US" altLang="en-US" dirty="0"/>
              <a:t>                                              </a:t>
            </a:r>
          </a:p>
          <a:p>
            <a:pPr marL="1371600" lvl="2" indent="-457200" eaLnBrk="1" hangingPunct="1">
              <a:lnSpc>
                <a:spcPct val="80000"/>
              </a:lnSpc>
              <a:buFont typeface="Wingdings" panose="05000000000000000000" pitchFamily="2" charset="2"/>
              <a:buAutoNum type="alphaLcPeriod" startAt="2"/>
            </a:pPr>
            <a:r>
              <a:rPr lang="en-US" altLang="en-US" sz="2800" dirty="0"/>
              <a:t>                                              </a:t>
            </a:r>
            <a:r>
              <a:rPr lang="en-US" altLang="en-US" dirty="0"/>
              <a:t>                                       </a:t>
            </a:r>
          </a:p>
          <a:p>
            <a:pPr marL="1371600" lvl="2" indent="-457200" eaLnBrk="1" hangingPunct="1">
              <a:lnSpc>
                <a:spcPct val="80000"/>
              </a:lnSpc>
              <a:buFont typeface="Wingdings" panose="05000000000000000000" pitchFamily="2" charset="2"/>
              <a:buAutoNum type="alphaLcPeriod" startAt="2"/>
            </a:pPr>
            <a:r>
              <a:rPr lang="en-US" altLang="en-US" sz="2800" dirty="0"/>
              <a:t>                                              </a:t>
            </a:r>
            <a:r>
              <a:rPr lang="en-US" altLang="en-US" dirty="0"/>
              <a:t>                                        </a:t>
            </a:r>
          </a:p>
          <a:p>
            <a:pPr marL="1371600" lvl="2" indent="-457200" eaLnBrk="1" hangingPunct="1">
              <a:lnSpc>
                <a:spcPct val="80000"/>
              </a:lnSpc>
              <a:buFont typeface="Wingdings" panose="05000000000000000000" pitchFamily="2" charset="2"/>
              <a:buAutoNum type="alphaLcPeriod" startAt="2"/>
            </a:pPr>
            <a:r>
              <a:rPr lang="en-US" altLang="en-US" sz="2800" dirty="0"/>
              <a:t>                                                                                       </a:t>
            </a:r>
          </a:p>
          <a:p>
            <a:pPr marL="609600" indent="-609600" eaLnBrk="1" hangingPunct="1">
              <a:lnSpc>
                <a:spcPct val="80000"/>
              </a:lnSpc>
            </a:pPr>
            <a:endParaRPr lang="en-US" altLang="en-US" sz="2800" dirty="0"/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đẳng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1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minh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ở </a:t>
            </a:r>
            <a:r>
              <a:rPr lang="en-US" altLang="en-US" sz="2800" dirty="0" err="1"/>
              <a:t>vế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trái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ở </a:t>
            </a:r>
            <a:r>
              <a:rPr lang="en-US" altLang="en-US" sz="2800" dirty="0" err="1"/>
              <a:t>vế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vi-VN" altLang="en-US" sz="2800" dirty="0"/>
              <a:t>các cột tương 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nhau</a:t>
            </a:r>
            <a:r>
              <a:rPr lang="en-US" altLang="en-US" sz="2800" dirty="0"/>
              <a:t>.</a:t>
            </a:r>
          </a:p>
          <a:p>
            <a:pPr marL="609600" indent="-6096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 </a:t>
            </a:r>
          </a:p>
          <a:p>
            <a:pPr marL="1371600" lvl="2" indent="-457200" eaLnBrk="1" hangingPunct="1">
              <a:lnSpc>
                <a:spcPct val="80000"/>
              </a:lnSpc>
              <a:buFont typeface="Wingdings" panose="05000000000000000000" pitchFamily="2" charset="2"/>
              <a:buAutoNum type="alphaLcPeriod" startAt="2"/>
            </a:pPr>
            <a:endParaRPr lang="en-US" altLang="en-US" dirty="0"/>
          </a:p>
        </p:txBody>
      </p:sp>
      <p:graphicFrame>
        <p:nvGraphicFramePr>
          <p:cNvPr id="657412" name="Object 4"/>
          <p:cNvGraphicFramePr>
            <a:graphicFrameLocks noChangeAspect="1"/>
          </p:cNvGraphicFramePr>
          <p:nvPr/>
        </p:nvGraphicFramePr>
        <p:xfrm>
          <a:off x="1828800" y="1460500"/>
          <a:ext cx="411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4" name="Equation" r:id="rId3" imgW="4114800" imgH="431800" progId="">
                  <p:embed/>
                </p:oleObj>
              </mc:Choice>
              <mc:Fallback>
                <p:oleObj name="Equation" r:id="rId3" imgW="4114800" imgH="431800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460500"/>
                        <a:ext cx="4114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7413" name="Object 5"/>
          <p:cNvGraphicFramePr>
            <a:graphicFrameLocks noChangeAspect="1"/>
          </p:cNvGraphicFramePr>
          <p:nvPr/>
        </p:nvGraphicFramePr>
        <p:xfrm>
          <a:off x="1905000" y="1892300"/>
          <a:ext cx="1536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5" name="Equation" r:id="rId5" imgW="1536700" imgH="342900" progId="">
                  <p:embed/>
                </p:oleObj>
              </mc:Choice>
              <mc:Fallback>
                <p:oleObj name="Equation" r:id="rId5" imgW="1536700" imgH="342900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892300"/>
                        <a:ext cx="1536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7414" name="Object 6"/>
          <p:cNvGraphicFramePr>
            <a:graphicFrameLocks noChangeAspect="1"/>
          </p:cNvGraphicFramePr>
          <p:nvPr/>
        </p:nvGraphicFramePr>
        <p:xfrm>
          <a:off x="1828800" y="2311400"/>
          <a:ext cx="299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6" name="Equation" r:id="rId7" imgW="2997200" imgH="431800" progId="">
                  <p:embed/>
                </p:oleObj>
              </mc:Choice>
              <mc:Fallback>
                <p:oleObj name="Equation" r:id="rId7" imgW="2997200" imgH="431800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311400"/>
                        <a:ext cx="29972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7415" name="Object 7"/>
          <p:cNvGraphicFramePr>
            <a:graphicFrameLocks noChangeAspect="1"/>
          </p:cNvGraphicFramePr>
          <p:nvPr/>
        </p:nvGraphicFramePr>
        <p:xfrm>
          <a:off x="1828800" y="2730500"/>
          <a:ext cx="288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7" name="Equation" r:id="rId9" imgW="2882900" imgH="431800" progId="">
                  <p:embed/>
                </p:oleObj>
              </mc:Choice>
              <mc:Fallback>
                <p:oleObj name="Equation" r:id="rId9" imgW="2882900" imgH="43180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730500"/>
                        <a:ext cx="2882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7416" name="Object 8"/>
          <p:cNvGraphicFramePr>
            <a:graphicFrameLocks noChangeAspect="1"/>
          </p:cNvGraphicFramePr>
          <p:nvPr/>
        </p:nvGraphicFramePr>
        <p:xfrm>
          <a:off x="1816100" y="3162300"/>
          <a:ext cx="2197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8" name="Equation" r:id="rId11" imgW="2197100" imgH="431800" progId="">
                  <p:embed/>
                </p:oleObj>
              </mc:Choice>
              <mc:Fallback>
                <p:oleObj name="Equation" r:id="rId11" imgW="2197100" imgH="43180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3162300"/>
                        <a:ext cx="2197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F4C20522-8BB5-42BD-B678-EDC519044FED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NHÂN MA TRẬN</a:t>
            </a:r>
          </a:p>
        </p:txBody>
      </p:sp>
      <p:sp>
        <p:nvSpPr>
          <p:cNvPr id="65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b="1" dirty="0"/>
              <a:t>x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lượt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ta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(</a:t>
            </a:r>
            <a:r>
              <a:rPr lang="en-US" altLang="en-US" sz="2800" i="1" dirty="0" err="1"/>
              <a:t>B</a:t>
            </a:r>
            <a:r>
              <a:rPr lang="en-US" altLang="en-US" sz="2800" b="1" dirty="0" err="1"/>
              <a:t>x</a:t>
            </a:r>
            <a:r>
              <a:rPr lang="en-US" altLang="en-US" sz="2800" dirty="0"/>
              <a:t>). </a:t>
            </a:r>
            <a:r>
              <a:rPr lang="en-US" altLang="en-US" sz="2800" dirty="0" err="1"/>
              <a:t>Xem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dưới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(</a:t>
            </a:r>
            <a:r>
              <a:rPr lang="en-US" altLang="en-US" sz="2800" i="1" dirty="0" err="1"/>
              <a:t>B</a:t>
            </a:r>
            <a:r>
              <a:rPr lang="en-US" altLang="en-US" sz="2800" b="1" dirty="0" err="1"/>
              <a:t>x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x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hợp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thành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của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các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ánh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xạ</a:t>
            </a:r>
            <a:r>
              <a:rPr lang="en-US" altLang="en-US" sz="2800" i="1" dirty="0"/>
              <a:t> </a:t>
            </a:r>
            <a:r>
              <a:rPr lang="en-US" altLang="en-US" sz="2800" dirty="0">
                <a:cs typeface="Times New Roman" panose="02020603050405020304" pitchFamily="18" charset="0"/>
              </a:rPr>
              <a:t>—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phép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biến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đổi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58436" name="Picture 4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76600"/>
            <a:ext cx="84582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 Education, Ltd.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73842543-3CAB-4FEA-9F5B-F9745CD0A06B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NHÂN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945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066800"/>
                <a:ext cx="8229600" cy="54864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Mục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tiêu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chúng</a:t>
                </a:r>
                <a:r>
                  <a:rPr lang="en-US" altLang="en-US" sz="2800" dirty="0"/>
                  <a:t> ta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biểu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diễn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ánh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hợp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nhất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kí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hiệu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AB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sao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                          . </a:t>
                </a:r>
                <a:r>
                  <a:rPr lang="en-US" altLang="en-US" sz="2800" dirty="0" err="1"/>
                  <a:t>Xem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Hình</a:t>
                </a:r>
                <a:r>
                  <a:rPr lang="en-US" altLang="en-US" sz="2800" dirty="0"/>
                  <a:t> 3 </a:t>
                </a:r>
                <a:r>
                  <a:rPr lang="en-US" altLang="en-US" sz="2800" dirty="0" err="1"/>
                  <a:t>bên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dưới</a:t>
                </a:r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         , </a:t>
                </a:r>
                <a:r>
                  <a:rPr lang="en-US" altLang="en-US" sz="2800" i="1" dirty="0"/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        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kí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hiệu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b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 …, </a:t>
                </a:r>
                <a:r>
                  <a:rPr lang="en-US" altLang="en-US" sz="2800" b="1" dirty="0" err="1"/>
                  <a:t>b</a:t>
                </a:r>
                <a:r>
                  <a:rPr lang="en-US" altLang="en-US" sz="2800" i="1" baseline="-25000" dirty="0" err="1"/>
                  <a:t>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 …, </a:t>
                </a:r>
                <a:r>
                  <a:rPr lang="en-US" altLang="en-US" sz="2800" b="1" dirty="0" err="1"/>
                  <a:t>x</a:t>
                </a:r>
                <a:r>
                  <a:rPr lang="en-US" altLang="en-US" sz="2800" i="1" baseline="-25000" dirty="0" err="1"/>
                  <a:t>p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>
          <p:sp>
            <p:nvSpPr>
              <p:cNvPr id="65945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066800"/>
                <a:ext cx="8229600" cy="5486400"/>
              </a:xfrm>
              <a:blipFill>
                <a:blip r:embed="rId3"/>
                <a:stretch>
                  <a:fillRect l="-1259" t="-1111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594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592014"/>
              </p:ext>
            </p:extLst>
          </p:nvPr>
        </p:nvGraphicFramePr>
        <p:xfrm>
          <a:off x="2705100" y="1993900"/>
          <a:ext cx="2324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4" name="Equation" r:id="rId4" imgW="2324100" imgH="431800" progId="">
                  <p:embed/>
                </p:oleObj>
              </mc:Choice>
              <mc:Fallback>
                <p:oleObj name="Equation" r:id="rId4" imgW="2324100" imgH="4318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1993900"/>
                        <a:ext cx="2324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4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508035"/>
              </p:ext>
            </p:extLst>
          </p:nvPr>
        </p:nvGraphicFramePr>
        <p:xfrm>
          <a:off x="2209800" y="51689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5" name="Equation" r:id="rId6" imgW="863225" imgH="253890" progId="">
                  <p:embed/>
                </p:oleObj>
              </mc:Choice>
              <mc:Fallback>
                <p:oleObj name="Equation" r:id="rId6" imgW="863225" imgH="25389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1689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4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099126"/>
              </p:ext>
            </p:extLst>
          </p:nvPr>
        </p:nvGraphicFramePr>
        <p:xfrm>
          <a:off x="3810000" y="5168900"/>
          <a:ext cx="825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6" name="Equation" r:id="rId8" imgW="825500" imgH="330200" progId="">
                  <p:embed/>
                </p:oleObj>
              </mc:Choice>
              <mc:Fallback>
                <p:oleObj name="Equation" r:id="rId8" imgW="825500" imgH="330200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168900"/>
                        <a:ext cx="8255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59465" name="Picture 9" descr="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67001"/>
            <a:ext cx="7848600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D463C461-6810-4110-AE76-2406B826E2C1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NHÂN MA TRẬN</a:t>
            </a:r>
          </a:p>
        </p:txBody>
      </p:sp>
      <p:sp>
        <p:nvSpPr>
          <p:cNvPr id="66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chất</a:t>
            </a:r>
            <a:r>
              <a:rPr lang="en-US" altLang="en-US" sz="2800" dirty="0"/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tuyến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V</a:t>
            </a:r>
            <a:r>
              <a:rPr lang="vi-VN" altLang="en-US" sz="2800" dirty="0"/>
              <a:t>ectơ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(</a:t>
            </a:r>
            <a:r>
              <a:rPr lang="en-US" altLang="en-US" sz="2800" i="1" dirty="0" err="1"/>
              <a:t>B</a:t>
            </a:r>
            <a:r>
              <a:rPr lang="en-US" altLang="en-US" sz="2800" b="1" dirty="0" err="1"/>
              <a:t>x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s </a:t>
            </a:r>
            <a:r>
              <a:rPr lang="en-US" altLang="en-US" sz="2800" i="1" dirty="0"/>
              <a:t>A</a:t>
            </a:r>
            <a:r>
              <a:rPr lang="en-US" altLang="en-US" sz="2800" b="1" dirty="0"/>
              <a:t>b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i="1" dirty="0" err="1"/>
              <a:t>A</a:t>
            </a:r>
            <a:r>
              <a:rPr lang="en-US" altLang="en-US" sz="2800" b="1" dirty="0" err="1"/>
              <a:t>b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trọng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Theo </a:t>
            </a:r>
            <a:r>
              <a:rPr lang="en-US" altLang="en-US" sz="2800" dirty="0" err="1"/>
              <a:t>kí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hiệu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viết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                     </a:t>
            </a:r>
          </a:p>
        </p:txBody>
      </p:sp>
      <p:graphicFrame>
        <p:nvGraphicFramePr>
          <p:cNvPr id="660484" name="Object 4"/>
          <p:cNvGraphicFramePr>
            <a:graphicFrameLocks noChangeAspect="1"/>
          </p:cNvGraphicFramePr>
          <p:nvPr/>
        </p:nvGraphicFramePr>
        <p:xfrm>
          <a:off x="2971800" y="1447800"/>
          <a:ext cx="3213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6" name="Equation" r:id="rId3" imgW="3213100" imgH="520700" progId="">
                  <p:embed/>
                </p:oleObj>
              </mc:Choice>
              <mc:Fallback>
                <p:oleObj name="Equation" r:id="rId3" imgW="3213100" imgH="5207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447800"/>
                        <a:ext cx="32131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0485" name="Object 5"/>
          <p:cNvGraphicFramePr>
            <a:graphicFrameLocks noChangeAspect="1"/>
          </p:cNvGraphicFramePr>
          <p:nvPr/>
        </p:nvGraphicFramePr>
        <p:xfrm>
          <a:off x="2362200" y="2743200"/>
          <a:ext cx="49022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7" name="Equation" r:id="rId5" imgW="4902200" imgH="1193800" progId="">
                  <p:embed/>
                </p:oleObj>
              </mc:Choice>
              <mc:Fallback>
                <p:oleObj name="Equation" r:id="rId5" imgW="4902200" imgH="11938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743200"/>
                        <a:ext cx="4902200" cy="1193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04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444688"/>
              </p:ext>
            </p:extLst>
          </p:nvPr>
        </p:nvGraphicFramePr>
        <p:xfrm>
          <a:off x="1828800" y="5600700"/>
          <a:ext cx="5511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8" name="Equation" r:id="rId7" imgW="5511800" imgH="635000" progId="">
                  <p:embed/>
                </p:oleObj>
              </mc:Choice>
              <mc:Fallback>
                <p:oleObj name="Equation" r:id="rId7" imgW="5511800" imgH="6350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600700"/>
                        <a:ext cx="55118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E217C8A5-60A3-455C-9138-77074DEA1463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NHÂN MA TRẬN</a:t>
            </a:r>
          </a:p>
        </p:txBody>
      </p:sp>
      <p:sp>
        <p:nvSpPr>
          <p:cNvPr id="66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5344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                        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(</a:t>
            </a:r>
            <a:r>
              <a:rPr lang="en-US" altLang="en-US" sz="2800" i="1" dirty="0" err="1"/>
              <a:t>B</a:t>
            </a:r>
            <a:r>
              <a:rPr lang="en-US" altLang="en-US" sz="2800" b="1" dirty="0" err="1"/>
              <a:t>x</a:t>
            </a:r>
            <a:r>
              <a:rPr lang="en-US" altLang="en-US" sz="2800" dirty="0"/>
              <a:t>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b="1" dirty="0" err="1"/>
              <a:t>Định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nghĩa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b="1" dirty="0"/>
              <a:t>b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b="1" dirty="0" err="1"/>
              <a:t>b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i="1" dirty="0"/>
              <a:t>AB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b="1" dirty="0"/>
              <a:t>b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i="1" dirty="0"/>
              <a:t>A</a:t>
            </a:r>
            <a:r>
              <a:rPr lang="en-US" altLang="en-US" sz="2800" b="1" dirty="0"/>
              <a:t>b</a:t>
            </a:r>
            <a:r>
              <a:rPr lang="en-US" altLang="en-US" sz="2800" i="1" baseline="-25000" dirty="0"/>
              <a:t>p</a:t>
            </a:r>
            <a:r>
              <a:rPr lang="en-US" altLang="en-US" sz="2800" dirty="0"/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i="1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i="1" dirty="0" err="1"/>
              <a:t>Phép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nhân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các</a:t>
            </a:r>
            <a:r>
              <a:rPr lang="en-US" altLang="en-US" sz="2800" i="1" dirty="0"/>
              <a:t> ma </a:t>
            </a:r>
            <a:r>
              <a:rPr lang="en-US" altLang="en-US" sz="2800" i="1" dirty="0" err="1"/>
              <a:t>trận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tương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ứng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với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với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hợp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thành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các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phép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biến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đổi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tuyến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tính</a:t>
            </a:r>
            <a:r>
              <a:rPr lang="en-US" altLang="en-US" sz="2800" i="1" dirty="0"/>
              <a:t>. </a:t>
            </a:r>
          </a:p>
        </p:txBody>
      </p:sp>
      <p:graphicFrame>
        <p:nvGraphicFramePr>
          <p:cNvPr id="661508" name="Object 4"/>
          <p:cNvGraphicFramePr>
            <a:graphicFrameLocks noChangeAspect="1"/>
          </p:cNvGraphicFramePr>
          <p:nvPr/>
        </p:nvGraphicFramePr>
        <p:xfrm>
          <a:off x="4191000" y="1079500"/>
          <a:ext cx="3810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0" name="Equation" r:id="rId3" imgW="3810000" imgH="635000" progId="">
                  <p:embed/>
                </p:oleObj>
              </mc:Choice>
              <mc:Fallback>
                <p:oleObj name="Equation" r:id="rId3" imgW="3810000" imgH="635000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079500"/>
                        <a:ext cx="38100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771152"/>
              </p:ext>
            </p:extLst>
          </p:nvPr>
        </p:nvGraphicFramePr>
        <p:xfrm>
          <a:off x="4114800" y="26924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1" name="Equation" r:id="rId5" imgW="863225" imgH="253890" progId="">
                  <p:embed/>
                </p:oleObj>
              </mc:Choice>
              <mc:Fallback>
                <p:oleObj name="Equation" r:id="rId5" imgW="863225" imgH="253890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6924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341174"/>
              </p:ext>
            </p:extLst>
          </p:nvPr>
        </p:nvGraphicFramePr>
        <p:xfrm>
          <a:off x="7327900" y="2667000"/>
          <a:ext cx="825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2" name="Equation" r:id="rId7" imgW="825500" imgH="330200" progId="">
                  <p:embed/>
                </p:oleObj>
              </mc:Choice>
              <mc:Fallback>
                <p:oleObj name="Equation" r:id="rId7" imgW="825500" imgH="330200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900" y="2667000"/>
                        <a:ext cx="8255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68010"/>
              </p:ext>
            </p:extLst>
          </p:nvPr>
        </p:nvGraphicFramePr>
        <p:xfrm>
          <a:off x="7239000" y="3055938"/>
          <a:ext cx="914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3" name="Equation" r:id="rId9" imgW="914400" imgH="330200" progId="">
                  <p:embed/>
                </p:oleObj>
              </mc:Choice>
              <mc:Fallback>
                <p:oleObj name="Equation" r:id="rId9" imgW="914400" imgH="33020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3055938"/>
                        <a:ext cx="9144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276858"/>
              </p:ext>
            </p:extLst>
          </p:nvPr>
        </p:nvGraphicFramePr>
        <p:xfrm>
          <a:off x="533400" y="4419600"/>
          <a:ext cx="83947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4" name="Equation" r:id="rId11" imgW="8394700" imgH="660400" progId="">
                  <p:embed/>
                </p:oleObj>
              </mc:Choice>
              <mc:Fallback>
                <p:oleObj name="Equation" r:id="rId11" imgW="8394700" imgH="66040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419600"/>
                        <a:ext cx="839470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C1119129-0994-4684-BD37-BC6976795B98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NHÂN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25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</p:spPr>
            <p:txBody>
              <a:bodyPr/>
              <a:lstStyle/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b="1" dirty="0" err="1"/>
                  <a:t>Ví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dụ</a:t>
                </a:r>
                <a:r>
                  <a:rPr lang="en-US" altLang="en-US" sz="2800" b="1" dirty="0"/>
                  <a:t> 3: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AB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                        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		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</a:rPr>
                                <m:t>3        6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800" b="0" i="1" smtClean="0">
                                  <a:latin typeface="Cambria Math" panose="02040503050406030204" pitchFamily="18" charset="0"/>
                                </a:rPr>
                                <m:t>−2      3</m:t>
                              </m:r>
                            </m:e>
                          </m:mr>
                        </m:m>
                      </m:e>
                    </m:d>
                    <m:r>
                      <a:rPr lang="en-US" altLang="en-US" sz="28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2800" dirty="0"/>
              </a:p>
              <a:p>
                <a:pPr eaLnBrk="1" hangingPunct="1"/>
                <a:endParaRPr lang="en-US" altLang="en-US" sz="2800" b="1" dirty="0"/>
              </a:p>
              <a:p>
                <a:pPr eaLnBrk="1" hangingPunct="1"/>
                <a:r>
                  <a:rPr lang="en-US" altLang="en-US" sz="2800" b="1" dirty="0" err="1"/>
                  <a:t>Lời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giải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Viết</a:t>
                </a:r>
                <a:r>
                  <a:rPr lang="en-US" altLang="en-US" sz="2800" dirty="0"/>
                  <a:t>                                , 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: 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</p:txBody>
          </p:sp>
        </mc:Choice>
        <mc:Fallback>
          <p:sp>
            <p:nvSpPr>
              <p:cNvPr id="6625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  <a:blipFill>
                <a:blip r:embed="rId3"/>
                <a:stretch>
                  <a:fillRect l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625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771621"/>
              </p:ext>
            </p:extLst>
          </p:nvPr>
        </p:nvGraphicFramePr>
        <p:xfrm>
          <a:off x="4864100" y="1371600"/>
          <a:ext cx="20701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2" name="Equation" r:id="rId4" imgW="2070100" imgH="1143000" progId="">
                  <p:embed/>
                </p:oleObj>
              </mc:Choice>
              <mc:Fallback>
                <p:oleObj name="Equation" r:id="rId4" imgW="2070100" imgH="11430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4100" y="1371600"/>
                        <a:ext cx="20701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5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644280"/>
              </p:ext>
            </p:extLst>
          </p:nvPr>
        </p:nvGraphicFramePr>
        <p:xfrm>
          <a:off x="3048000" y="3444875"/>
          <a:ext cx="2768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3" name="Equation" r:id="rId6" imgW="2768600" imgH="558800" progId="">
                  <p:embed/>
                </p:oleObj>
              </mc:Choice>
              <mc:Fallback>
                <p:oleObj name="Equation" r:id="rId6" imgW="2768600" imgH="5588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444875"/>
                        <a:ext cx="27686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D9B5F60E-3787-48C7-A641-80D45CFA2D34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8436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NHÂN MA TRẬN</a:t>
            </a:r>
          </a:p>
        </p:txBody>
      </p:sp>
      <p:sp>
        <p:nvSpPr>
          <p:cNvPr id="663564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296400" cy="5486400"/>
          </a:xfrm>
        </p:spPr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,                                   ,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 </a:t>
            </a:r>
          </a:p>
        </p:txBody>
      </p:sp>
      <p:graphicFrame>
        <p:nvGraphicFramePr>
          <p:cNvPr id="663556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0" y="1219200"/>
          <a:ext cx="2819400" cy="228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1" name="Equation" r:id="rId3" imgW="3009900" imgH="2438400" progId="">
                  <p:embed/>
                </p:oleObj>
              </mc:Choice>
              <mc:Fallback>
                <p:oleObj name="Equation" r:id="rId3" imgW="3009900" imgH="2438400" progId="">
                  <p:embed/>
                  <p:pic>
                    <p:nvPicPr>
                      <p:cNvPr id="0" name="Picture 4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2819400" cy="2281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559" name="Object 7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971800" y="1371600"/>
          <a:ext cx="3048000" cy="226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2" name="Equation" r:id="rId5" imgW="3276600" imgH="2438400" progId="">
                  <p:embed/>
                </p:oleObj>
              </mc:Choice>
              <mc:Fallback>
                <p:oleObj name="Equation" r:id="rId5" imgW="3276600" imgH="2438400" progId="">
                  <p:embed/>
                  <p:pic>
                    <p:nvPicPr>
                      <p:cNvPr id="0" name="Picture 4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371600"/>
                        <a:ext cx="3048000" cy="226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562" name="Object 10"/>
          <p:cNvGraphicFramePr>
            <a:graphicFrameLocks noChangeAspect="1"/>
          </p:cNvGraphicFramePr>
          <p:nvPr/>
        </p:nvGraphicFramePr>
        <p:xfrm>
          <a:off x="6172200" y="1295400"/>
          <a:ext cx="2971800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3" name="Equation" r:id="rId7" imgW="3035300" imgH="2438400" progId="">
                  <p:embed/>
                </p:oleObj>
              </mc:Choice>
              <mc:Fallback>
                <p:oleObj name="Equation" r:id="rId7" imgW="3035300" imgH="2438400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295400"/>
                        <a:ext cx="2971800" cy="238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3565" name="Line 13"/>
          <p:cNvSpPr>
            <a:spLocks noChangeShapeType="1"/>
          </p:cNvSpPr>
          <p:nvPr/>
        </p:nvSpPr>
        <p:spPr bwMode="auto">
          <a:xfrm>
            <a:off x="5257800" y="3733800"/>
            <a:ext cx="0" cy="68580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3566" name="Line 14"/>
          <p:cNvSpPr>
            <a:spLocks noChangeShapeType="1"/>
          </p:cNvSpPr>
          <p:nvPr/>
        </p:nvSpPr>
        <p:spPr bwMode="auto">
          <a:xfrm>
            <a:off x="4419600" y="3886200"/>
            <a:ext cx="0" cy="53340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3567" name="Line 15"/>
          <p:cNvSpPr>
            <a:spLocks noChangeShapeType="1"/>
          </p:cNvSpPr>
          <p:nvPr/>
        </p:nvSpPr>
        <p:spPr bwMode="auto">
          <a:xfrm>
            <a:off x="5943600" y="3886200"/>
            <a:ext cx="0" cy="53340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3570" name="Line 18"/>
          <p:cNvSpPr>
            <a:spLocks noChangeShapeType="1"/>
          </p:cNvSpPr>
          <p:nvPr/>
        </p:nvSpPr>
        <p:spPr bwMode="auto">
          <a:xfrm flipH="1">
            <a:off x="1371600" y="3886200"/>
            <a:ext cx="3048000" cy="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3571" name="Line 19"/>
          <p:cNvSpPr>
            <a:spLocks noChangeShapeType="1"/>
          </p:cNvSpPr>
          <p:nvPr/>
        </p:nvSpPr>
        <p:spPr bwMode="auto">
          <a:xfrm flipV="1">
            <a:off x="1371600" y="3505200"/>
            <a:ext cx="0" cy="38100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3572" name="Line 20"/>
          <p:cNvSpPr>
            <a:spLocks noChangeShapeType="1"/>
          </p:cNvSpPr>
          <p:nvPr/>
        </p:nvSpPr>
        <p:spPr bwMode="auto">
          <a:xfrm>
            <a:off x="5943600" y="3886200"/>
            <a:ext cx="1676400" cy="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3573" name="Line 21"/>
          <p:cNvSpPr>
            <a:spLocks noChangeShapeType="1"/>
          </p:cNvSpPr>
          <p:nvPr/>
        </p:nvSpPr>
        <p:spPr bwMode="auto">
          <a:xfrm flipV="1">
            <a:off x="7620000" y="3581400"/>
            <a:ext cx="0" cy="30480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63574" name="Object 22"/>
          <p:cNvGraphicFramePr>
            <a:graphicFrameLocks noChangeAspect="1"/>
          </p:cNvGraphicFramePr>
          <p:nvPr/>
        </p:nvGraphicFramePr>
        <p:xfrm>
          <a:off x="304800" y="4495800"/>
          <a:ext cx="60325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4" name="Equation" r:id="rId9" imgW="6032500" imgH="1143000" progId="">
                  <p:embed/>
                </p:oleObj>
              </mc:Choice>
              <mc:Fallback>
                <p:oleObj name="Equation" r:id="rId9" imgW="6032500" imgH="1143000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495800"/>
                        <a:ext cx="60325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3575" name="Line 23"/>
          <p:cNvSpPr>
            <a:spLocks noChangeShapeType="1"/>
          </p:cNvSpPr>
          <p:nvPr/>
        </p:nvSpPr>
        <p:spPr bwMode="auto">
          <a:xfrm>
            <a:off x="4267200" y="3581400"/>
            <a:ext cx="0" cy="15240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3576" name="Line 24"/>
          <p:cNvSpPr>
            <a:spLocks noChangeShapeType="1"/>
          </p:cNvSpPr>
          <p:nvPr/>
        </p:nvSpPr>
        <p:spPr bwMode="auto">
          <a:xfrm>
            <a:off x="4267200" y="3733800"/>
            <a:ext cx="990600" cy="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3577" name="Line 25"/>
          <p:cNvSpPr>
            <a:spLocks noChangeShapeType="1"/>
          </p:cNvSpPr>
          <p:nvPr/>
        </p:nvSpPr>
        <p:spPr bwMode="auto">
          <a:xfrm flipV="1">
            <a:off x="5181600" y="5638800"/>
            <a:ext cx="0" cy="45720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3578" name="Line 26"/>
          <p:cNvSpPr>
            <a:spLocks noChangeShapeType="1"/>
          </p:cNvSpPr>
          <p:nvPr/>
        </p:nvSpPr>
        <p:spPr bwMode="auto">
          <a:xfrm flipV="1">
            <a:off x="5943600" y="5638800"/>
            <a:ext cx="0" cy="45720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3579" name="Line 27"/>
          <p:cNvSpPr>
            <a:spLocks noChangeShapeType="1"/>
          </p:cNvSpPr>
          <p:nvPr/>
        </p:nvSpPr>
        <p:spPr bwMode="auto">
          <a:xfrm flipV="1">
            <a:off x="4572000" y="5638800"/>
            <a:ext cx="0" cy="457200"/>
          </a:xfrm>
          <a:prstGeom prst="line">
            <a:avLst/>
          </a:prstGeom>
          <a:noFill/>
          <a:ln w="9525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3583" name="Text Box 31" descr="Pink tissue paper"/>
          <p:cNvSpPr txBox="1">
            <a:spLocks noChangeArrowheads="1"/>
          </p:cNvSpPr>
          <p:nvPr/>
        </p:nvSpPr>
        <p:spPr bwMode="auto">
          <a:xfrm>
            <a:off x="4114800" y="60960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solidFill>
                  <a:srgbClr val="0099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>
                <a:solidFill>
                  <a:srgbClr val="0099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baseline="-25000">
                <a:solidFill>
                  <a:srgbClr val="0099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63585" name="Text Box 33" descr="Pink tissue paper"/>
          <p:cNvSpPr txBox="1">
            <a:spLocks noChangeArrowheads="1"/>
          </p:cNvSpPr>
          <p:nvPr/>
        </p:nvSpPr>
        <p:spPr bwMode="auto">
          <a:xfrm>
            <a:off x="4800600" y="60960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solidFill>
                  <a:srgbClr val="0099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>
                <a:solidFill>
                  <a:srgbClr val="0099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baseline="-25000">
                <a:solidFill>
                  <a:srgbClr val="0099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63586" name="Text Box 34" descr="Pink tissue paper"/>
          <p:cNvSpPr txBox="1">
            <a:spLocks noChangeArrowheads="1"/>
          </p:cNvSpPr>
          <p:nvPr/>
        </p:nvSpPr>
        <p:spPr bwMode="auto">
          <a:xfrm>
            <a:off x="5562600" y="60960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>
                <a:solidFill>
                  <a:srgbClr val="0099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>
                <a:solidFill>
                  <a:srgbClr val="0099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baseline="-25000">
                <a:solidFill>
                  <a:srgbClr val="0099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A01D863C-05F0-46CF-9CC8-6990F8AD7C0F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PHÉP NHÂN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765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295400"/>
                <a:ext cx="8686800" cy="5105400"/>
              </a:xfrm>
            </p:spPr>
            <p:txBody>
              <a:bodyPr/>
              <a:lstStyle/>
              <a:p>
                <a:pPr eaLnBrk="1" hangingPunct="1">
                  <a:lnSpc>
                    <a:spcPct val="80000"/>
                  </a:lnSpc>
                </a:pP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tổ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hợp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trọng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số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lấy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tương 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B</a:t>
                </a:r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80000"/>
                  </a:lnSpc>
                </a:pPr>
                <a:endParaRPr lang="en-US" altLang="en-US" sz="2800" dirty="0"/>
              </a:p>
              <a:p>
                <a:pPr marL="0" indent="0" eaLnBrk="1" hangingPunct="1">
                  <a:lnSpc>
                    <a:spcPct val="80000"/>
                  </a:lnSpc>
                  <a:buNone/>
                </a:pPr>
                <a:r>
                  <a:rPr lang="en-US" altLang="en-US" sz="2800" dirty="0" err="1">
                    <a:solidFill>
                      <a:srgbClr val="0099FF"/>
                    </a:solidFill>
                  </a:rPr>
                  <a:t>Quy</a:t>
                </a:r>
                <a:r>
                  <a:rPr lang="en-US" altLang="en-US" sz="2800" dirty="0">
                    <a:solidFill>
                      <a:srgbClr val="0099FF"/>
                    </a:solidFill>
                  </a:rPr>
                  <a:t> </a:t>
                </a:r>
                <a:r>
                  <a:rPr lang="en-US" altLang="en-US" sz="2800" dirty="0" err="1">
                    <a:solidFill>
                      <a:srgbClr val="0099FF"/>
                    </a:solidFill>
                  </a:rPr>
                  <a:t>tắc</a:t>
                </a:r>
                <a:r>
                  <a:rPr lang="en-US" altLang="en-US" sz="2800" dirty="0">
                    <a:solidFill>
                      <a:srgbClr val="0099FF"/>
                    </a:solidFill>
                  </a:rPr>
                  <a:t> </a:t>
                </a:r>
                <a:r>
                  <a:rPr lang="en-US" altLang="en-US" sz="2800" dirty="0" err="1">
                    <a:solidFill>
                      <a:srgbClr val="0099FF"/>
                    </a:solidFill>
                  </a:rPr>
                  <a:t>hàng</a:t>
                </a:r>
                <a:r>
                  <a:rPr lang="en-US" altLang="en-US" sz="2800" dirty="0">
                    <a:solidFill>
                      <a:srgbClr val="0099FF"/>
                    </a:solidFill>
                  </a:rPr>
                  <a:t> - </a:t>
                </a:r>
                <a:r>
                  <a:rPr lang="en-US" altLang="en-US" sz="2800" dirty="0" err="1">
                    <a:solidFill>
                      <a:srgbClr val="0099FF"/>
                    </a:solidFill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800" dirty="0">
                    <a:solidFill>
                      <a:srgbClr val="0099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solidFill>
                      <a:srgbClr val="0099FF"/>
                    </a:solidFill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800" dirty="0">
                    <a:solidFill>
                      <a:srgbClr val="0099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solidFill>
                      <a:srgbClr val="0099FF"/>
                    </a:solidFill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800" dirty="0">
                    <a:solidFill>
                      <a:srgbClr val="0099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solidFill>
                      <a:srgbClr val="0099FF"/>
                    </a:solidFill>
                    <a:cs typeface="Times New Roman" panose="02020603050405020304" pitchFamily="18" charset="0"/>
                  </a:rPr>
                  <a:t>AB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en-US" sz="28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AB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xác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ở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 err="1">
                    <a:cs typeface="Times New Roman" panose="02020603050405020304" pitchFamily="18" charset="0"/>
                  </a:rPr>
                  <a:t>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j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AB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tổng</a:t>
                </a:r>
                <a:r>
                  <a:rPr lang="en-US" altLang="en-US" sz="280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thành phần tương ứng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từ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 err="1">
                    <a:cs typeface="Times New Roman" panose="02020603050405020304" pitchFamily="18" charset="0"/>
                  </a:rPr>
                  <a:t>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j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(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AB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)</a:t>
                </a:r>
                <a:r>
                  <a:rPr lang="en-US" altLang="en-US" sz="2800" i="1" baseline="-25000" dirty="0" err="1">
                    <a:cs typeface="Times New Roman" panose="02020603050405020304" pitchFamily="18" charset="0"/>
                  </a:rPr>
                  <a:t>ij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kí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hiệu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(</a:t>
                </a:r>
                <a:r>
                  <a:rPr lang="en-US" altLang="en-US" sz="2800" i="1" dirty="0" err="1">
                    <a:cs typeface="Times New Roman" panose="02020603050405020304" pitchFamily="18" charset="0"/>
                  </a:rPr>
                  <a:t>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j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)-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AB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</a:p>
              <a:p>
                <a:pPr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en-US" sz="2800" dirty="0">
                    <a:cs typeface="Times New Roman" panose="02020603050405020304" pitchFamily="18" charset="0"/>
                  </a:rPr>
                  <a:t>	ma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                                                              </a:t>
                </a:r>
              </a:p>
              <a:p>
                <a:pPr algn="ctr" eaLnBrk="1" hangingPunct="1">
                  <a:lnSpc>
                    <a:spcPct val="80000"/>
                  </a:lnSpc>
                  <a:buNone/>
                </a:pPr>
                <a:endParaRPr lang="en-US" altLang="en-US" sz="28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 eaLnBrk="1" hangingPunct="1">
                  <a:lnSpc>
                    <a:spcPct val="8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𝐴𝐵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 …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𝑛𝑗</m:t>
                        </m:r>
                      </m:sub>
                    </m:sSub>
                  </m:oMath>
                </a14:m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80000"/>
                  </a:lnSpc>
                  <a:buNone/>
                </a:pPr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80000"/>
                  </a:lnSpc>
                </a:pPr>
                <a:endParaRPr lang="en-US" altLang="en-US" sz="2800" i="1" dirty="0">
                  <a:solidFill>
                    <a:srgbClr val="0099FF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676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295400"/>
                <a:ext cx="8686800" cy="5105400"/>
              </a:xfrm>
              <a:blipFill>
                <a:blip r:embed="rId3"/>
                <a:stretch>
                  <a:fillRect l="-1474" t="-2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67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609971"/>
              </p:ext>
            </p:extLst>
          </p:nvPr>
        </p:nvGraphicFramePr>
        <p:xfrm>
          <a:off x="7442200" y="40132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8" name="Equation" r:id="rId4" imgW="863225" imgH="253890" progId="">
                  <p:embed/>
                </p:oleObj>
              </mc:Choice>
              <mc:Fallback>
                <p:oleObj name="Equation" r:id="rId4" imgW="863225" imgH="25389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40132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0A550FAE-AADB-4863-A6DC-0B22D6031264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TÍNH CHẤT CỦA PHÉP NHÂN MA TRẬN</a:t>
            </a:r>
          </a:p>
        </p:txBody>
      </p:sp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2</a:t>
            </a:r>
            <a:r>
              <a:rPr lang="en-US" altLang="en-US" sz="2800" b="1" dirty="0"/>
              <a:t>:</a:t>
            </a:r>
            <a:r>
              <a:rPr lang="en-US" altLang="en-US" sz="2800" dirty="0"/>
              <a:t> Cho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                             (t/c </a:t>
            </a:r>
            <a:r>
              <a:rPr lang="en-US" altLang="en-US" sz="2800" dirty="0" err="1"/>
              <a:t>kết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)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                                     (t/c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trái</a:t>
            </a:r>
            <a:r>
              <a:rPr lang="en-US" altLang="en-US" sz="2800" dirty="0"/>
              <a:t>)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                                   (t/c </a:t>
            </a:r>
            <a:r>
              <a:rPr lang="en-US" altLang="en-US" sz="2800" dirty="0" err="1"/>
              <a:t>phân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)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                                        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 </a:t>
            </a:r>
            <a:r>
              <a:rPr lang="en-US" altLang="en-US" sz="2800" i="1" dirty="0"/>
              <a:t>r 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                        (</a:t>
            </a:r>
            <a:r>
              <a:rPr lang="en-US" altLang="en-US" sz="2800" dirty="0" err="1"/>
              <a:t>đơn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)</a:t>
            </a:r>
          </a:p>
          <a:p>
            <a:pPr marL="1371600" lvl="2" indent="-457200"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marL="1371600" lvl="2" indent="-457200" eaLnBrk="1" hangingPunct="1">
              <a:buFont typeface="Wingdings" panose="05000000000000000000" pitchFamily="2" charset="2"/>
              <a:buNone/>
            </a:pPr>
            <a:endParaRPr lang="en-US" altLang="en-US" sz="2800" i="1" dirty="0"/>
          </a:p>
        </p:txBody>
      </p:sp>
      <p:graphicFrame>
        <p:nvGraphicFramePr>
          <p:cNvPr id="6686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065635"/>
              </p:ext>
            </p:extLst>
          </p:nvPr>
        </p:nvGraphicFramePr>
        <p:xfrm>
          <a:off x="4038600" y="13081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6" name="Equation" r:id="rId3" imgW="863225" imgH="253890" progId="">
                  <p:embed/>
                </p:oleObj>
              </mc:Choice>
              <mc:Fallback>
                <p:oleObj name="Equation" r:id="rId3" imgW="863225" imgH="253890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3081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77" name="Object 5"/>
          <p:cNvGraphicFramePr>
            <a:graphicFrameLocks noChangeAspect="1"/>
          </p:cNvGraphicFramePr>
          <p:nvPr/>
        </p:nvGraphicFramePr>
        <p:xfrm>
          <a:off x="1828800" y="2578100"/>
          <a:ext cx="2654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7" name="Equation" r:id="rId5" imgW="2654300" imgH="431800" progId="">
                  <p:embed/>
                </p:oleObj>
              </mc:Choice>
              <mc:Fallback>
                <p:oleObj name="Equation" r:id="rId5" imgW="2654300" imgH="431800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578100"/>
                        <a:ext cx="26543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580478"/>
              </p:ext>
            </p:extLst>
          </p:nvPr>
        </p:nvGraphicFramePr>
        <p:xfrm>
          <a:off x="1803400" y="3124200"/>
          <a:ext cx="339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8" name="Equation" r:id="rId7" imgW="3390900" imgH="431800" progId="">
                  <p:embed/>
                </p:oleObj>
              </mc:Choice>
              <mc:Fallback>
                <p:oleObj name="Equation" r:id="rId7" imgW="3390900" imgH="431800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3124200"/>
                        <a:ext cx="3390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699682"/>
              </p:ext>
            </p:extLst>
          </p:nvPr>
        </p:nvGraphicFramePr>
        <p:xfrm>
          <a:off x="1752600" y="3581400"/>
          <a:ext cx="3276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9" name="Equation" r:id="rId9" imgW="3276600" imgH="431800" progId="">
                  <p:embed/>
                </p:oleObj>
              </mc:Choice>
              <mc:Fallback>
                <p:oleObj name="Equation" r:id="rId9" imgW="3276600" imgH="431800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581400"/>
                        <a:ext cx="32766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723026"/>
              </p:ext>
            </p:extLst>
          </p:nvPr>
        </p:nvGraphicFramePr>
        <p:xfrm>
          <a:off x="1790700" y="4114800"/>
          <a:ext cx="3771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0" name="Equation" r:id="rId11" imgW="3771900" imgH="431800" progId="">
                  <p:embed/>
                </p:oleObj>
              </mc:Choice>
              <mc:Fallback>
                <p:oleObj name="Equation" r:id="rId11" imgW="3771900" imgH="431800" progId="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4114800"/>
                        <a:ext cx="3771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454374"/>
              </p:ext>
            </p:extLst>
          </p:nvPr>
        </p:nvGraphicFramePr>
        <p:xfrm>
          <a:off x="1828800" y="4622800"/>
          <a:ext cx="2260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1" name="Equation" r:id="rId13" imgW="2260600" imgH="482600" progId="">
                  <p:embed/>
                </p:oleObj>
              </mc:Choice>
              <mc:Fallback>
                <p:oleObj name="Equation" r:id="rId13" imgW="2260600" imgH="482600" progId="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622800"/>
                        <a:ext cx="22606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EE53413E-B6D4-490E-A074-8BC46988CE8B}" type="slidenum">
              <a:rPr lang="en-US" altLang="en-US" sz="1200">
                <a:latin typeface="Arial" panose="020B0604020202020204" pitchFamily="34" charset="0"/>
              </a:rPr>
              <a:pPr algn="r"/>
              <a:t>16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TÍNH CHẤT CỦA PHÉP NHÂN MA TRẬN</a:t>
            </a:r>
          </a:p>
        </p:txBody>
      </p:sp>
      <p:sp>
        <p:nvSpPr>
          <p:cNvPr id="66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eaLnBrk="1" hangingPunct="1"/>
            <a:r>
              <a:rPr lang="en-US" altLang="en-US" sz="2800" b="1" dirty="0"/>
              <a:t>Proof:</a:t>
            </a:r>
            <a:r>
              <a:rPr lang="en-US" altLang="en-US" sz="2800" dirty="0"/>
              <a:t> Property (a) follows from the fact that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multiplication corresponds to composition of linear transformations (which are functions), and it is known that the composition of functions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mộtssociative</a:t>
            </a:r>
            <a:r>
              <a:rPr lang="en-US" altLang="en-US" sz="2800" dirty="0"/>
              <a:t>. Let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By the definition of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multiplication,  </a:t>
            </a:r>
          </a:p>
        </p:txBody>
      </p:sp>
      <p:graphicFrame>
        <p:nvGraphicFramePr>
          <p:cNvPr id="669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753483"/>
              </p:ext>
            </p:extLst>
          </p:nvPr>
        </p:nvGraphicFramePr>
        <p:xfrm>
          <a:off x="3327400" y="3200400"/>
          <a:ext cx="2844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4" name="Equation" r:id="rId3" imgW="2844800" imgH="660400" progId="">
                  <p:embed/>
                </p:oleObj>
              </mc:Choice>
              <mc:Fallback>
                <p:oleObj name="Equation" r:id="rId3" imgW="2844800" imgH="6604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3200400"/>
                        <a:ext cx="284480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66330"/>
              </p:ext>
            </p:extLst>
          </p:nvPr>
        </p:nvGraphicFramePr>
        <p:xfrm>
          <a:off x="2400300" y="4721225"/>
          <a:ext cx="53340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5" name="Equation" r:id="rId5" imgW="5334000" imgH="1397000" progId="">
                  <p:embed/>
                </p:oleObj>
              </mc:Choice>
              <mc:Fallback>
                <p:oleObj name="Equation" r:id="rId5" imgW="5334000" imgH="139700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4721225"/>
                        <a:ext cx="5334000" cy="1397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6"/>
          <p:cNvGraphicFramePr>
            <a:graphicFrameLocks noChangeAspect="1"/>
          </p:cNvGraphicFramePr>
          <p:nvPr/>
        </p:nvGraphicFramePr>
        <p:xfrm>
          <a:off x="2514600" y="19685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6" name="Equation" r:id="rId7" imgW="475104" imgH="810471" progId="">
                  <p:embed/>
                </p:oleObj>
              </mc:Choice>
              <mc:Fallback>
                <p:oleObj name="Equation" r:id="rId7" imgW="475104" imgH="810471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9685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446439DE-9985-4409-8F23-C3D9273C3EAB}" type="slidenum">
              <a:rPr lang="en-US" altLang="en-US" sz="1200">
                <a:latin typeface="Arial" panose="020B0604020202020204" pitchFamily="34" charset="0"/>
              </a:rPr>
              <a:pPr algn="r"/>
              <a:t>17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TÍNH CHẤT CỦA PHÉP NHÂN MA TRẬN</a:t>
            </a:r>
          </a:p>
        </p:txBody>
      </p:sp>
      <p:sp>
        <p:nvSpPr>
          <p:cNvPr id="67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The definition of </a:t>
            </a:r>
            <a:r>
              <a:rPr lang="en-US" altLang="en-US" sz="2800" i="1" dirty="0"/>
              <a:t>AB</a:t>
            </a:r>
            <a:r>
              <a:rPr lang="en-US" altLang="en-US" sz="2800" dirty="0"/>
              <a:t> makes                              for all </a:t>
            </a:r>
            <a:r>
              <a:rPr lang="en-US" altLang="en-US" sz="2800" b="1" dirty="0"/>
              <a:t>x</a:t>
            </a:r>
            <a:r>
              <a:rPr lang="en-US" altLang="en-US" sz="2800" dirty="0"/>
              <a:t>, so  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The left-to-right </a:t>
            </a:r>
            <a:r>
              <a:rPr lang="en-US" altLang="en-US" sz="2800" dirty="0">
                <a:solidFill>
                  <a:srgbClr val="0000FF"/>
                </a:solidFill>
              </a:rPr>
              <a:t>order</a:t>
            </a:r>
            <a:r>
              <a:rPr lang="en-US" altLang="en-US" sz="2800" dirty="0"/>
              <a:t> in products is critical because </a:t>
            </a:r>
            <a:r>
              <a:rPr lang="en-US" altLang="en-US" sz="2800" i="1" dirty="0"/>
              <a:t>AB</a:t>
            </a:r>
            <a:r>
              <a:rPr lang="en-US" altLang="en-US" sz="2800" dirty="0"/>
              <a:t> and </a:t>
            </a:r>
            <a:r>
              <a:rPr lang="en-US" altLang="en-US" sz="2800" i="1" dirty="0"/>
              <a:t>BA</a:t>
            </a:r>
            <a:r>
              <a:rPr lang="en-US" altLang="en-US" sz="2800" dirty="0"/>
              <a:t> are usually not the same. </a:t>
            </a:r>
          </a:p>
          <a:p>
            <a:pPr lvl="1" eaLnBrk="1" hangingPunct="1"/>
            <a:r>
              <a:rPr lang="en-US" altLang="en-US" sz="2400" dirty="0"/>
              <a:t>Because the </a:t>
            </a:r>
            <a:r>
              <a:rPr lang="en-US" altLang="en-US" sz="2400" dirty="0" err="1"/>
              <a:t>các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cột</a:t>
            </a:r>
            <a:r>
              <a:rPr lang="en-US" altLang="en-US" sz="2400" dirty="0"/>
              <a:t> of </a:t>
            </a:r>
            <a:r>
              <a:rPr lang="en-US" altLang="en-US" sz="2400" i="1" dirty="0"/>
              <a:t>AB</a:t>
            </a:r>
            <a:r>
              <a:rPr lang="en-US" altLang="en-US" sz="2400" dirty="0"/>
              <a:t> are </a:t>
            </a:r>
            <a:r>
              <a:rPr lang="en-US" altLang="en-US" sz="2400" dirty="0" err="1"/>
              <a:t>tổ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hợp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tuyến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tínhs</a:t>
            </a:r>
            <a:r>
              <a:rPr lang="en-US" altLang="en-US" sz="2400" dirty="0"/>
              <a:t> of the </a:t>
            </a:r>
            <a:r>
              <a:rPr lang="en-US" altLang="en-US" sz="2400" dirty="0" err="1"/>
              <a:t>các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cột</a:t>
            </a:r>
            <a:r>
              <a:rPr lang="en-US" altLang="en-US" sz="2400" dirty="0"/>
              <a:t> of </a:t>
            </a:r>
            <a:r>
              <a:rPr lang="en-US" altLang="en-US" sz="2400" i="1" dirty="0"/>
              <a:t>A</a:t>
            </a:r>
            <a:r>
              <a:rPr lang="en-US" altLang="en-US" sz="2400" dirty="0"/>
              <a:t>, whereas the </a:t>
            </a:r>
            <a:r>
              <a:rPr lang="en-US" altLang="en-US" sz="2400" dirty="0" err="1"/>
              <a:t>các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cột</a:t>
            </a:r>
            <a:r>
              <a:rPr lang="en-US" altLang="en-US" sz="2400" dirty="0"/>
              <a:t> of </a:t>
            </a:r>
            <a:r>
              <a:rPr lang="en-US" altLang="en-US" sz="2400" i="1" dirty="0"/>
              <a:t>BA</a:t>
            </a:r>
            <a:r>
              <a:rPr lang="en-US" altLang="en-US" sz="2400" dirty="0"/>
              <a:t> are constructed from the </a:t>
            </a:r>
            <a:r>
              <a:rPr lang="en-US" altLang="en-US" sz="2400" dirty="0" err="1"/>
              <a:t>các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cột</a:t>
            </a:r>
            <a:r>
              <a:rPr lang="en-US" altLang="en-US" sz="2400" dirty="0"/>
              <a:t> of </a:t>
            </a:r>
            <a:r>
              <a:rPr lang="en-US" altLang="en-US" sz="2400" i="1" dirty="0"/>
              <a:t>B</a:t>
            </a:r>
            <a:r>
              <a:rPr lang="en-US" altLang="en-US" sz="2400" dirty="0"/>
              <a:t>.</a:t>
            </a:r>
          </a:p>
          <a:p>
            <a:pPr eaLnBrk="1" hangingPunct="1"/>
            <a:r>
              <a:rPr lang="en-US" altLang="en-US" sz="2800" dirty="0"/>
              <a:t>The position of the factors in the product </a:t>
            </a:r>
            <a:r>
              <a:rPr lang="en-US" altLang="en-US" sz="2800" i="1" dirty="0"/>
              <a:t>AB</a:t>
            </a:r>
            <a:r>
              <a:rPr lang="en-US" altLang="en-US" sz="2800" dirty="0"/>
              <a:t> is emphasized by saying that </a:t>
            </a:r>
            <a:r>
              <a:rPr lang="en-US" altLang="en-US" sz="2800" i="1" dirty="0"/>
              <a:t>A</a:t>
            </a:r>
            <a:r>
              <a:rPr lang="en-US" altLang="en-US" sz="2800" dirty="0"/>
              <a:t> is </a:t>
            </a:r>
            <a:r>
              <a:rPr lang="en-US" altLang="en-US" sz="2800" i="1" dirty="0"/>
              <a:t>right-multiplied</a:t>
            </a:r>
            <a:r>
              <a:rPr lang="en-US" altLang="en-US" sz="2800" dirty="0"/>
              <a:t> by </a:t>
            </a:r>
            <a:r>
              <a:rPr lang="en-US" altLang="en-US" sz="2800" i="1" dirty="0"/>
              <a:t>B</a:t>
            </a:r>
            <a:r>
              <a:rPr lang="en-US" altLang="en-US" sz="2800" dirty="0"/>
              <a:t> or that </a:t>
            </a:r>
            <a:r>
              <a:rPr lang="en-US" altLang="en-US" sz="2800" i="1" dirty="0"/>
              <a:t>B</a:t>
            </a:r>
            <a:r>
              <a:rPr lang="en-US" altLang="en-US" sz="2800" dirty="0"/>
              <a:t> is </a:t>
            </a:r>
            <a:r>
              <a:rPr lang="en-US" altLang="en-US" sz="2800" i="1" dirty="0"/>
              <a:t>left-multiplied</a:t>
            </a:r>
            <a:r>
              <a:rPr lang="en-US" altLang="en-US" sz="2800" dirty="0"/>
              <a:t> by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670724" name="Object 4"/>
          <p:cNvGraphicFramePr>
            <a:graphicFrameLocks noChangeAspect="1"/>
          </p:cNvGraphicFramePr>
          <p:nvPr/>
        </p:nvGraphicFramePr>
        <p:xfrm>
          <a:off x="4889500" y="1206500"/>
          <a:ext cx="2527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0" name="Equation" r:id="rId3" imgW="2527300" imgH="431800" progId="">
                  <p:embed/>
                </p:oleObj>
              </mc:Choice>
              <mc:Fallback>
                <p:oleObj name="Equation" r:id="rId3" imgW="2527300" imgH="4318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0" y="1206500"/>
                        <a:ext cx="25273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25" name="Object 5"/>
          <p:cNvGraphicFramePr>
            <a:graphicFrameLocks noChangeAspect="1"/>
          </p:cNvGraphicFramePr>
          <p:nvPr/>
        </p:nvGraphicFramePr>
        <p:xfrm>
          <a:off x="1295400" y="2057400"/>
          <a:ext cx="6845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1" name="Equation" r:id="rId5" imgW="6845300" imgH="635000" progId="">
                  <p:embed/>
                </p:oleObj>
              </mc:Choice>
              <mc:Fallback>
                <p:oleObj name="Equation" r:id="rId5" imgW="6845300" imgH="6350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057400"/>
                        <a:ext cx="68453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B407877F-57D0-4293-8999-87923C000272}" type="slidenum">
              <a:rPr lang="en-US" altLang="en-US" sz="1200">
                <a:latin typeface="Arial" panose="020B0604020202020204" pitchFamily="34" charset="0"/>
              </a:rPr>
              <a:pPr algn="r"/>
              <a:t>18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TÍNH CHẤT CỦA PHÉP NHÂN MA TRẬN</a:t>
            </a:r>
          </a:p>
        </p:txBody>
      </p:sp>
      <p:sp>
        <p:nvSpPr>
          <p:cNvPr id="67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pPr marL="609600" indent="-609600"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                 , ta </a:t>
            </a:r>
            <a:r>
              <a:rPr lang="en-US" altLang="en-US" sz="2800" dirty="0" err="1"/>
              <a:t>nói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giao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hoán</a:t>
            </a:r>
            <a:r>
              <a:rPr lang="en-US" altLang="en-US" sz="2800" b="1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nhau</a:t>
            </a:r>
            <a:r>
              <a:rPr lang="en-US" altLang="en-US" sz="2800" dirty="0"/>
              <a:t>.</a:t>
            </a:r>
          </a:p>
          <a:p>
            <a:pPr marL="609600" indent="-609600" eaLnBrk="1" hangingPunct="1"/>
            <a:endParaRPr lang="en-US" altLang="en-US" sz="2800" dirty="0"/>
          </a:p>
          <a:p>
            <a:pPr marL="609600" indent="-609600" eaLnBrk="1" hangingPunct="1"/>
            <a:r>
              <a:rPr lang="en-US" altLang="en-US" sz="2800" b="1" dirty="0" err="1"/>
              <a:t>Chú</a:t>
            </a:r>
            <a:r>
              <a:rPr lang="en-US" altLang="en-US" sz="2800" b="1" dirty="0"/>
              <a:t> ý: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800" dirty="0" err="1"/>
              <a:t>Nói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chung</a:t>
            </a:r>
            <a:r>
              <a:rPr lang="en-US" altLang="en-US" sz="2800" dirty="0"/>
              <a:t>,                  . 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800" dirty="0" err="1"/>
              <a:t>Quy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tắc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áp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                 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chung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           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i="1" dirty="0"/>
              <a:t>AB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0, </a:t>
            </a:r>
            <a:r>
              <a:rPr lang="en-US" altLang="en-US" sz="2800" dirty="0" err="1"/>
              <a:t>bạn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luận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           or           .</a:t>
            </a:r>
          </a:p>
        </p:txBody>
      </p:sp>
      <p:graphicFrame>
        <p:nvGraphicFramePr>
          <p:cNvPr id="6717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553762"/>
              </p:ext>
            </p:extLst>
          </p:nvPr>
        </p:nvGraphicFramePr>
        <p:xfrm>
          <a:off x="1879600" y="1447800"/>
          <a:ext cx="1473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6" name="Equation" r:id="rId3" imgW="1473200" imgH="330200" progId="">
                  <p:embed/>
                </p:oleObj>
              </mc:Choice>
              <mc:Fallback>
                <p:oleObj name="Equation" r:id="rId3" imgW="1473200" imgH="330200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1447800"/>
                        <a:ext cx="14732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590322"/>
              </p:ext>
            </p:extLst>
          </p:nvPr>
        </p:nvGraphicFramePr>
        <p:xfrm>
          <a:off x="3632200" y="3416300"/>
          <a:ext cx="1473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7" name="Equation" r:id="rId5" imgW="1473200" imgH="330200" progId="">
                  <p:embed/>
                </p:oleObj>
              </mc:Choice>
              <mc:Fallback>
                <p:oleObj name="Equation" r:id="rId5" imgW="1473200" imgH="330200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0" y="3416300"/>
                        <a:ext cx="14732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447282"/>
              </p:ext>
            </p:extLst>
          </p:nvPr>
        </p:nvGraphicFramePr>
        <p:xfrm>
          <a:off x="5943600" y="4356100"/>
          <a:ext cx="154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8" name="Equation" r:id="rId7" imgW="1548728" imgH="342751" progId="">
                  <p:embed/>
                </p:oleObj>
              </mc:Choice>
              <mc:Fallback>
                <p:oleObj name="Equation" r:id="rId7" imgW="1548728" imgH="342751" progId="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356100"/>
                        <a:ext cx="1549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51" name="Object 7"/>
          <p:cNvGraphicFramePr>
            <a:graphicFrameLocks noChangeAspect="1"/>
          </p:cNvGraphicFramePr>
          <p:nvPr/>
        </p:nvGraphicFramePr>
        <p:xfrm>
          <a:off x="5207000" y="4787900"/>
          <a:ext cx="990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9" name="Equation" r:id="rId9" imgW="990170" imgH="342751" progId="">
                  <p:embed/>
                </p:oleObj>
              </mc:Choice>
              <mc:Fallback>
                <p:oleObj name="Equation" r:id="rId9" imgW="990170" imgH="342751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0" y="4787900"/>
                        <a:ext cx="990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470485"/>
              </p:ext>
            </p:extLst>
          </p:nvPr>
        </p:nvGraphicFramePr>
        <p:xfrm>
          <a:off x="2598189" y="5753100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0" name="Equation" r:id="rId11" imgW="901309" imgH="342751" progId="">
                  <p:embed/>
                </p:oleObj>
              </mc:Choice>
              <mc:Fallback>
                <p:oleObj name="Equation" r:id="rId11" imgW="901309" imgH="342751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189" y="5753100"/>
                        <a:ext cx="901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565823"/>
              </p:ext>
            </p:extLst>
          </p:nvPr>
        </p:nvGraphicFramePr>
        <p:xfrm>
          <a:off x="4038600" y="5753100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1" name="Equation" r:id="rId13" imgW="901309" imgH="342751" progId="">
                  <p:embed/>
                </p:oleObj>
              </mc:Choice>
              <mc:Fallback>
                <p:oleObj name="Equation" r:id="rId13" imgW="901309" imgH="342751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753100"/>
                        <a:ext cx="901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D3C9A09A-E41D-4777-B39A-210FB68AA275}" type="slidenum">
              <a:rPr lang="en-US" altLang="en-US" sz="1200">
                <a:latin typeface="Arial" panose="020B0604020202020204" pitchFamily="34" charset="0"/>
              </a:rPr>
              <a:pPr algn="r"/>
              <a:t>19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LŨY THỪA CỦA MA TRẬN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27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524000"/>
                <a:ext cx="8229600" cy="4572000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         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k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số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nguyên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dương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A</a:t>
                </a:r>
                <a:r>
                  <a:rPr lang="en-US" altLang="en-US" sz="2800" i="1" baseline="30000" dirty="0" err="1"/>
                  <a:t>k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hiệu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tích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k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lần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: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thuộc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A</a:t>
                </a:r>
                <a:r>
                  <a:rPr lang="en-US" altLang="en-US" sz="2800" i="1" baseline="30000" dirty="0" err="1"/>
                  <a:t>k</a:t>
                </a:r>
                <a:r>
                  <a:rPr lang="en-US" altLang="en-US" sz="2800" b="1" dirty="0" err="1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kết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quả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phép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nhân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trái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lặp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lại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k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lần</a:t>
                </a:r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k</a:t>
                </a:r>
                <a:r>
                  <a:rPr lang="en-US" altLang="en-US" sz="2800" dirty="0"/>
                  <a:t>=0,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baseline="30000" dirty="0"/>
                  <a:t>0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dirty="0"/>
                  <a:t>Do </a:t>
                </a:r>
                <a:r>
                  <a:rPr lang="en-US" altLang="en-US" dirty="0" err="1"/>
                  <a:t>đó</a:t>
                </a:r>
                <a:r>
                  <a:rPr lang="en-US" altLang="en-US" dirty="0"/>
                  <a:t>, </a:t>
                </a:r>
                <a:r>
                  <a:rPr lang="en-US" altLang="en-US" i="1" dirty="0"/>
                  <a:t>A</a:t>
                </a:r>
                <a:r>
                  <a:rPr lang="en-US" altLang="en-US" baseline="30000" dirty="0"/>
                  <a:t>0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là</a:t>
                </a:r>
                <a:r>
                  <a:rPr lang="en-US" altLang="en-US" dirty="0"/>
                  <a:t> ma </a:t>
                </a:r>
                <a:r>
                  <a:rPr lang="en-US" altLang="en-US" dirty="0" err="1"/>
                  <a:t>trận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đơn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vị</a:t>
                </a:r>
                <a:r>
                  <a:rPr lang="en-US" altLang="en-US" dirty="0"/>
                  <a:t>.</a:t>
                </a: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</p:txBody>
          </p:sp>
        </mc:Choice>
        <mc:Fallback>
          <p:sp>
            <p:nvSpPr>
              <p:cNvPr id="6727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524000"/>
                <a:ext cx="8229600" cy="4572000"/>
              </a:xfrm>
              <a:blipFill>
                <a:blip r:embed="rId3"/>
                <a:stretch>
                  <a:fillRect l="-1630" t="-2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727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669733"/>
              </p:ext>
            </p:extLst>
          </p:nvPr>
        </p:nvGraphicFramePr>
        <p:xfrm>
          <a:off x="2895600" y="16637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8" name="Equation" r:id="rId4" imgW="774364" imgH="253890" progId="">
                  <p:embed/>
                </p:oleObj>
              </mc:Choice>
              <mc:Fallback>
                <p:oleObj name="Equation" r:id="rId4" imgW="774364" imgH="25389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6637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773" name="Object 5"/>
          <p:cNvGraphicFramePr>
            <a:graphicFrameLocks noChangeAspect="1"/>
          </p:cNvGraphicFramePr>
          <p:nvPr/>
        </p:nvGraphicFramePr>
        <p:xfrm>
          <a:off x="3657600" y="2590800"/>
          <a:ext cx="1841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9" name="Equation" r:id="rId6" imgW="1841500" imgH="762000" progId="">
                  <p:embed/>
                </p:oleObj>
              </mc:Choice>
              <mc:Fallback>
                <p:oleObj name="Equation" r:id="rId6" imgW="1841500" imgH="7620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590800"/>
                        <a:ext cx="18415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2C98646A-E27E-4554-84C8-F9340E2D3D00}" type="slidenum">
              <a:rPr lang="en-US" altLang="en-US" sz="1200">
                <a:latin typeface="Arial" panose="020B0604020202020204" pitchFamily="34" charset="0"/>
              </a:rPr>
              <a:pPr algn="r"/>
              <a:t>20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CHUYỂN VỊ CỦA MA TRẬN</a:t>
            </a:r>
            <a:endParaRPr lang="en-US" altLang="en-US" dirty="0"/>
          </a:p>
        </p:txBody>
      </p:sp>
      <p:sp>
        <p:nvSpPr>
          <p:cNvPr id="67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marL="609600" indent="-609600" eaLnBrk="1" hangingPunct="1"/>
            <a:r>
              <a:rPr lang="en-US" altLang="en-US" sz="2800" dirty="0"/>
              <a:t>Cho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b="1" dirty="0" err="1"/>
              <a:t>chuyển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kí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i="1" dirty="0">
                <a:solidFill>
                  <a:srgbClr val="0000FF"/>
                </a:solidFill>
              </a:rPr>
              <a:t>A</a:t>
            </a:r>
            <a:r>
              <a:rPr lang="en-US" altLang="en-US" sz="2800" i="1" baseline="30000" dirty="0">
                <a:solidFill>
                  <a:srgbClr val="0000FF"/>
                </a:solidFill>
              </a:rPr>
              <a:t>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tạo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vi-VN" altLang="en-US" sz="2800" dirty="0"/>
              <a:t>tương 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3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phù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                     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                                       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mọi</a:t>
            </a:r>
            <a:r>
              <a:rPr lang="en-US" altLang="en-US" sz="2800" dirty="0"/>
              <a:t> </a:t>
            </a:r>
            <a:r>
              <a:rPr lang="vi-VN" altLang="en-US" sz="2800" dirty="0"/>
              <a:t>vô hướng</a:t>
            </a:r>
            <a:r>
              <a:rPr lang="en-US" altLang="en-US" sz="2800" dirty="0"/>
              <a:t> </a:t>
            </a:r>
            <a:r>
              <a:rPr lang="en-US" altLang="en-US" sz="2800" i="1" dirty="0"/>
              <a:t>r</a:t>
            </a:r>
            <a:r>
              <a:rPr lang="en-US" altLang="en-US" sz="2800" dirty="0"/>
              <a:t>,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 </a:t>
            </a:r>
          </a:p>
        </p:txBody>
      </p:sp>
      <p:graphicFrame>
        <p:nvGraphicFramePr>
          <p:cNvPr id="6737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949426"/>
              </p:ext>
            </p:extLst>
          </p:nvPr>
        </p:nvGraphicFramePr>
        <p:xfrm>
          <a:off x="2514600" y="13081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80" name="Equation" r:id="rId3" imgW="863225" imgH="253890" progId="">
                  <p:embed/>
                </p:oleObj>
              </mc:Choice>
              <mc:Fallback>
                <p:oleObj name="Equation" r:id="rId3" imgW="863225" imgH="253890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3081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797" name="Object 5"/>
          <p:cNvGraphicFramePr>
            <a:graphicFrameLocks noChangeAspect="1"/>
          </p:cNvGraphicFramePr>
          <p:nvPr/>
        </p:nvGraphicFramePr>
        <p:xfrm>
          <a:off x="1193800" y="18288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81" name="Equation" r:id="rId5" imgW="863225" imgH="253890" progId="">
                  <p:embed/>
                </p:oleObj>
              </mc:Choice>
              <mc:Fallback>
                <p:oleObj name="Equation" r:id="rId5" imgW="863225" imgH="253890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18288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436465"/>
              </p:ext>
            </p:extLst>
          </p:nvPr>
        </p:nvGraphicFramePr>
        <p:xfrm>
          <a:off x="1930400" y="4038600"/>
          <a:ext cx="1612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82" name="Equation" r:id="rId7" imgW="1612900" imgH="482600" progId="">
                  <p:embed/>
                </p:oleObj>
              </mc:Choice>
              <mc:Fallback>
                <p:oleObj name="Equation" r:id="rId7" imgW="1612900" imgH="482600" progId="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4038600"/>
                        <a:ext cx="1612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7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413795"/>
              </p:ext>
            </p:extLst>
          </p:nvPr>
        </p:nvGraphicFramePr>
        <p:xfrm>
          <a:off x="1917700" y="4572000"/>
          <a:ext cx="3035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83" name="Equation" r:id="rId9" imgW="3035300" imgH="482600" progId="">
                  <p:embed/>
                </p:oleObj>
              </mc:Choice>
              <mc:Fallback>
                <p:oleObj name="Equation" r:id="rId9" imgW="3035300" imgH="482600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4572000"/>
                        <a:ext cx="3035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4458850"/>
              </p:ext>
            </p:extLst>
          </p:nvPr>
        </p:nvGraphicFramePr>
        <p:xfrm>
          <a:off x="5105400" y="5105400"/>
          <a:ext cx="1828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84" name="Equation" r:id="rId11" imgW="1828800" imgH="482600" progId="">
                  <p:embed/>
                </p:oleObj>
              </mc:Choice>
              <mc:Fallback>
                <p:oleObj name="Equation" r:id="rId11" imgW="1828800" imgH="482600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105400"/>
                        <a:ext cx="1828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379719"/>
              </p:ext>
            </p:extLst>
          </p:nvPr>
        </p:nvGraphicFramePr>
        <p:xfrm>
          <a:off x="1944255" y="5588000"/>
          <a:ext cx="2273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85" name="Equation" r:id="rId13" imgW="2273300" imgH="482600" progId="">
                  <p:embed/>
                </p:oleObj>
              </mc:Choice>
              <mc:Fallback>
                <p:oleObj name="Equation" r:id="rId13" imgW="2273300" imgH="482600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255" y="5588000"/>
                        <a:ext cx="2273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2.1- </a:t>
            </a:r>
            <a:fld id="{112DCC16-F04C-41C1-AECD-00F2BAB89A98}" type="slidenum">
              <a:rPr lang="en-US" altLang="en-US" sz="1200">
                <a:latin typeface="Arial" panose="020B0604020202020204" pitchFamily="34" charset="0"/>
              </a:rPr>
              <a:pPr algn="r"/>
              <a:t>21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CHUYỂN VỊ CỦA MA TRẬN</a:t>
            </a:r>
            <a:endParaRPr lang="en-US" altLang="en-US" dirty="0"/>
          </a:p>
        </p:txBody>
      </p:sp>
      <p:sp>
        <p:nvSpPr>
          <p:cNvPr id="67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 err="1"/>
              <a:t>Chuyển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chuyển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lại</a:t>
            </a:r>
            <a:r>
              <a:rPr lang="en-US" altLang="en-US" sz="2800" dirty="0"/>
              <a:t>.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14217</TotalTime>
  <Words>1259</Words>
  <Application>Microsoft Office PowerPoint</Application>
  <PresentationFormat>On-screen Show (4:3)</PresentationFormat>
  <Paragraphs>197</Paragraphs>
  <Slides>21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Equation</vt:lpstr>
      <vt:lpstr>MathType 6.0 Equation</vt:lpstr>
      <vt:lpstr>Đại Số Ma Trận</vt:lpstr>
      <vt:lpstr>CÁC PHÉP TOÁN MA TRẬN</vt:lpstr>
      <vt:lpstr>CÁC PHÉP TOÁN MA TRẬN</vt:lpstr>
      <vt:lpstr>TỔNG VÀ TÍCH VỚI VÔ HƯỚNG</vt:lpstr>
      <vt:lpstr>TỔNG VÀ TÍCH VỚI VÔ HƯỚNG</vt:lpstr>
      <vt:lpstr>TỔNG VÀ TÍCH VỚI VÔ HƯỚNG</vt:lpstr>
      <vt:lpstr>TỔNG VÀ TÍCH VỚI VÔ HƯỚNG</vt:lpstr>
      <vt:lpstr>PHÉP NHÂN MA TRẬN</vt:lpstr>
      <vt:lpstr>PHÉP NHÂN MA TRẬN</vt:lpstr>
      <vt:lpstr>PHÉP NHÂN MA TRẬN</vt:lpstr>
      <vt:lpstr>PHÉP NHÂN MA TRẬN</vt:lpstr>
      <vt:lpstr>PHÉP NHÂN MA TRẬN</vt:lpstr>
      <vt:lpstr>PHÉP NHÂN MA TRẬN</vt:lpstr>
      <vt:lpstr>PHÉP NHÂN MA TRẬN</vt:lpstr>
      <vt:lpstr>CÁC TÍNH CHẤT CỦA PHÉP NHÂN MA TRẬN</vt:lpstr>
      <vt:lpstr>CÁC TÍNH CHẤT CỦA PHÉP NHÂN MA TRẬN</vt:lpstr>
      <vt:lpstr>CÁC TÍNH CHẤT CỦA PHÉP NHÂN MA TRẬN</vt:lpstr>
      <vt:lpstr>CÁC TÍNH CHẤT CỦA PHÉP NHÂN MA TRẬN</vt:lpstr>
      <vt:lpstr>LŨY THỪA CỦA MA TRẬN</vt:lpstr>
      <vt:lpstr>CHUYỂN VỊ CỦA MA TRẬN</vt:lpstr>
      <vt:lpstr>CHUYỂN VỊ CỦA MA TRẬN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841</cp:revision>
  <dcterms:created xsi:type="dcterms:W3CDTF">2005-10-22T18:34:54Z</dcterms:created>
  <dcterms:modified xsi:type="dcterms:W3CDTF">2016-07-28T09:02:47Z</dcterms:modified>
</cp:coreProperties>
</file>