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1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6" autoAdjust="0"/>
    <p:restoredTop sz="95512" autoAdjust="0"/>
  </p:normalViewPr>
  <p:slideViewPr>
    <p:cSldViewPr>
      <p:cViewPr varScale="1">
        <p:scale>
          <a:sx n="92" d="100"/>
          <a:sy n="92" d="100"/>
        </p:scale>
        <p:origin x="1128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FB5E07C-2BAF-4379-B285-FB7CFF13FB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099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C299EF10-6E89-4484-A2B4-385A27A82BB7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640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7CD569D-A745-42E6-97D6-692A05649F8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34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7.2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43339" y="2305877"/>
            <a:ext cx="2943461" cy="367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1074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3A616FF8-4824-47BF-9ECA-3DA754F2EBB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22292212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7F4C07A8-0E20-4DE4-B8D7-11BD392AE0D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093209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E7A3028C-F452-416A-9823-07A88C6D674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85153747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1FE03FA3-5DCC-4136-B3D9-3C82696E01E1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0280344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C6E7730E-322C-439D-BC60-7B96061016F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57275321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4D484FD9-3FCB-4B1B-A1D7-F91A615B5FB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452811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94F29B5F-A933-4003-9D0C-617F6191B02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05717772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DE77DAB6-86EA-4D63-A991-A1F351CC540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6462676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5B90D82C-6186-4EFB-B1E5-9C3F4108D5F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7736198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B36EF3A3-7274-446D-A322-4478C14E535E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512988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7.2- </a:t>
            </a:r>
            <a:fld id="{BA487EA8-18CA-4F83-B0EF-F5C8727160B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8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4.png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5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5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</a:t>
            </a:r>
            <a:r>
              <a:rPr lang="en-US" altLang="en-US" dirty="0" err="1"/>
              <a:t>Trận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Xứng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 err="1"/>
              <a:t>Dạng</a:t>
            </a:r>
            <a:r>
              <a:rPr lang="en-US" altLang="en-US" dirty="0"/>
              <a:t> </a:t>
            </a:r>
            <a:r>
              <a:rPr lang="en-US" altLang="en-US" dirty="0" err="1"/>
              <a:t>Toàn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DẠNG TOÀN PHƯƠNG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1B635528-F903-433F-A8BD-F0E05F64618E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DẠNG TOÀN PHƯƠNG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59" name="Rectangle 4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382000" cy="4572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>
                    <a:cs typeface="Times New Roman" panose="02020603050405020304" pitchFamily="18" charset="0"/>
                  </a:rPr>
                  <a:t>Một </a:t>
                </a:r>
                <a:r>
                  <a:rPr lang="vi-VN" altLang="en-US" sz="2800" b="1" dirty="0">
                    <a:cs typeface="Times New Roman" panose="02020603050405020304" pitchFamily="18" charset="0"/>
                  </a:rPr>
                  <a:t>dạng toàn phương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 là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trên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tại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x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            		      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</a:t>
                </a:r>
                <a:r>
                  <a:rPr lang="en-US" altLang="en-US" sz="28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s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đối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xứng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8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được gọi 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b="1" dirty="0">
                    <a:cs typeface="Times New Roman" panose="02020603050405020304" pitchFamily="18" charset="0"/>
                  </a:rPr>
                  <a:t>dạng toàn phương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59" name="Rectangle 4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382000" cy="4572000"/>
              </a:xfrm>
              <a:blipFill>
                <a:blip r:embed="rId4"/>
                <a:stretch>
                  <a:fillRect l="-1236" t="-1467" r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646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78216"/>
              </p:ext>
            </p:extLst>
          </p:nvPr>
        </p:nvGraphicFramePr>
        <p:xfrm>
          <a:off x="850900" y="2889367"/>
          <a:ext cx="2120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5" imgW="2120900" imgH="482600" progId="">
                  <p:embed/>
                </p:oleObj>
              </mc:Choice>
              <mc:Fallback>
                <p:oleObj name="Equation" r:id="rId5" imgW="2120900" imgH="4826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2889367"/>
                        <a:ext cx="2120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6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646211"/>
              </p:ext>
            </p:extLst>
          </p:nvPr>
        </p:nvGraphicFramePr>
        <p:xfrm>
          <a:off x="5638800" y="30226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7" imgW="774364" imgH="253890" progId="">
                  <p:embed/>
                </p:oleObj>
              </mc:Choice>
              <mc:Fallback>
                <p:oleObj name="Equation" r:id="rId7" imgW="774364" imgH="25389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0226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88012F69-94DC-454D-84CB-D08AD5EC0E69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DẠNG TOÀN PHƯƠNG</a:t>
            </a:r>
            <a:endParaRPr lang="en-US" altLang="en-US" dirty="0"/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609600" indent="-609600" eaLnBrk="1" hangingPunct="1"/>
            <a:endParaRPr lang="en-US" altLang="en-US" sz="2800" dirty="0"/>
          </a:p>
          <a:p>
            <a:pPr marL="609600" indent="-609600"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1:</a:t>
            </a:r>
            <a:r>
              <a:rPr lang="en-US" altLang="en-US" sz="2800" dirty="0"/>
              <a:t> Cho                . </a:t>
            </a:r>
            <a:r>
              <a:rPr lang="en-US" altLang="en-US" sz="2800" dirty="0" err="1"/>
              <a:t>Hãy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x</a:t>
            </a:r>
            <a:r>
              <a:rPr lang="en-US" altLang="en-US" sz="2800" i="1" baseline="30000" dirty="0" err="1"/>
              <a:t>T</a:t>
            </a:r>
            <a:r>
              <a:rPr lang="en-US" altLang="en-US" sz="2800" i="1" dirty="0" err="1"/>
              <a:t>A</a:t>
            </a:r>
            <a:r>
              <a:rPr lang="en-US" altLang="en-US" sz="2800" b="1" dirty="0" err="1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endParaRPr lang="en-US" altLang="en-US" sz="28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      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</a:t>
            </a:r>
          </a:p>
        </p:txBody>
      </p:sp>
      <p:graphicFrame>
        <p:nvGraphicFramePr>
          <p:cNvPr id="73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735819"/>
              </p:ext>
            </p:extLst>
          </p:nvPr>
        </p:nvGraphicFramePr>
        <p:xfrm>
          <a:off x="3124200" y="1371600"/>
          <a:ext cx="1358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3" imgW="1358900" imgH="1143000" progId="">
                  <p:embed/>
                </p:oleObj>
              </mc:Choice>
              <mc:Fallback>
                <p:oleObj name="Equation" r:id="rId3" imgW="1358900" imgH="11430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371600"/>
                        <a:ext cx="13589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5" name="Object 5"/>
          <p:cNvGraphicFramePr>
            <a:graphicFrameLocks noChangeAspect="1"/>
          </p:cNvGraphicFramePr>
          <p:nvPr/>
        </p:nvGraphicFramePr>
        <p:xfrm>
          <a:off x="1905000" y="3416300"/>
          <a:ext cx="1854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5" imgW="1854200" imgH="1143000" progId="">
                  <p:embed/>
                </p:oleObj>
              </mc:Choice>
              <mc:Fallback>
                <p:oleObj name="Equation" r:id="rId5" imgW="1854200" imgH="11430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416300"/>
                        <a:ext cx="18542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6" name="Object 6"/>
          <p:cNvGraphicFramePr>
            <a:graphicFrameLocks noChangeAspect="1"/>
          </p:cNvGraphicFramePr>
          <p:nvPr/>
        </p:nvGraphicFramePr>
        <p:xfrm>
          <a:off x="1828800" y="4953000"/>
          <a:ext cx="2298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7" imgW="2298700" imgH="1143000" progId="">
                  <p:embed/>
                </p:oleObj>
              </mc:Choice>
              <mc:Fallback>
                <p:oleObj name="Equation" r:id="rId7" imgW="2298700" imgH="11430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953000"/>
                        <a:ext cx="2298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93074042-03B9-46D7-8043-DCCCD9F1662D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DẠNG TOÀN PHƯƠNG</a:t>
            </a:r>
            <a:endParaRPr lang="en-US" altLang="en-US" dirty="0"/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4864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                                                                             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     -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752600" lvl="3" indent="-381000" eaLnBrk="1" hangingPunct="1"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endParaRPr lang="en-US" altLang="en-US" sz="2800" dirty="0"/>
          </a:p>
        </p:txBody>
      </p:sp>
      <p:graphicFrame>
        <p:nvGraphicFramePr>
          <p:cNvPr id="739332" name="Object 4"/>
          <p:cNvGraphicFramePr>
            <a:graphicFrameLocks noChangeAspect="1"/>
          </p:cNvGraphicFramePr>
          <p:nvPr/>
        </p:nvGraphicFramePr>
        <p:xfrm>
          <a:off x="1806575" y="1549400"/>
          <a:ext cx="68040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3" imgW="8991600" imgH="1143000" progId="">
                  <p:embed/>
                </p:oleObj>
              </mc:Choice>
              <mc:Fallback>
                <p:oleObj name="Equation" r:id="rId3" imgW="8991600" imgH="11430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1549400"/>
                        <a:ext cx="6804025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33" name="Object 5"/>
          <p:cNvGraphicFramePr>
            <a:graphicFrameLocks noChangeAspect="1"/>
          </p:cNvGraphicFramePr>
          <p:nvPr/>
        </p:nvGraphicFramePr>
        <p:xfrm>
          <a:off x="457200" y="3352800"/>
          <a:ext cx="8331200" cy="293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5" imgW="8724900" imgH="3073400" progId="">
                  <p:embed/>
                </p:oleObj>
              </mc:Choice>
              <mc:Fallback>
                <p:oleObj name="Equation" r:id="rId5" imgW="8724900" imgH="30734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352800"/>
                        <a:ext cx="8331200" cy="293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321147"/>
              </p:ext>
            </p:extLst>
          </p:nvPr>
        </p:nvGraphicFramePr>
        <p:xfrm>
          <a:off x="2819400" y="2800668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Equation" r:id="rId7" imgW="457200" imgH="330200" progId="">
                  <p:embed/>
                </p:oleObj>
              </mc:Choice>
              <mc:Fallback>
                <p:oleObj name="Equation" r:id="rId7" imgW="457200" imgH="3302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00668"/>
                        <a:ext cx="457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96D74C9E-56B6-4136-BCAD-D2CFD4AB2C2D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DẠNG TOÀN PHƯƠNG</a:t>
            </a:r>
            <a:endParaRPr lang="en-US" altLang="en-US" dirty="0"/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mặt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     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ở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1(b)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2-thành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       </a:t>
            </a:r>
            <a:r>
              <a:rPr lang="en-US" altLang="en-US" sz="2800" dirty="0" err="1"/>
              <a:t>ngoài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1(a)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1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4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286378"/>
              </p:ext>
            </p:extLst>
          </p:nvPr>
        </p:nvGraphicFramePr>
        <p:xfrm>
          <a:off x="2971800" y="1638300"/>
          <a:ext cx="1054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3" imgW="1054100" imgH="482600" progId="">
                  <p:embed/>
                </p:oleObj>
              </mc:Choice>
              <mc:Fallback>
                <p:oleObj name="Equation" r:id="rId3" imgW="1054100" imgH="4826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638300"/>
                        <a:ext cx="1054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060380"/>
              </p:ext>
            </p:extLst>
          </p:nvPr>
        </p:nvGraphicFramePr>
        <p:xfrm>
          <a:off x="5334000" y="2120900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Equation" r:id="rId5" imgW="457200" imgH="330200" progId="">
                  <p:embed/>
                </p:oleObj>
              </mc:Choice>
              <mc:Fallback>
                <p:oleObj name="Equation" r:id="rId5" imgW="457200" imgH="3302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120900"/>
                        <a:ext cx="457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868DCE95-6132-4B30-82A0-EBCC4586D4E8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BIẾN TRONG DẠNG TOÀN PHƯƠNG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13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Nếu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diện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phép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đổi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trình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dạng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, hay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đương</a:t>
                </a:r>
                <a:r>
                  <a:rPr lang="en-US" altLang="en-US" sz="2800" dirty="0"/>
                  <a:t>,                         (1)</a:t>
                </a:r>
              </a:p>
              <a:p>
                <a:pPr eaLnBrk="1" hangingPunct="1"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/>
                  <a:t>Ở </a:t>
                </a:r>
                <a:r>
                  <a:rPr lang="en-US" altLang="en-US" sz="2800" dirty="0" err="1"/>
                  <a:t>đây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P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(1) </a:t>
                </a:r>
                <a:r>
                  <a:rPr lang="en-US" altLang="en-US" sz="2800" dirty="0" err="1"/>
                  <a:t>thực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hiện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dạng toàn phương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x</a:t>
                </a:r>
                <a:r>
                  <a:rPr lang="en-US" altLang="en-US" sz="2800" i="1" baseline="30000" dirty="0" err="1"/>
                  <a:t>T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b="1" dirty="0" err="1"/>
                  <a:t>x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(2)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dạng toàn 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P</a:t>
                </a:r>
                <a:r>
                  <a:rPr lang="en-US" altLang="en-US" sz="2800" i="1" baseline="30000" dirty="0"/>
                  <a:t>T</a:t>
                </a:r>
                <a:r>
                  <a:rPr lang="en-US" altLang="en-US" sz="2800" i="1" dirty="0"/>
                  <a:t>AP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7413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3"/>
                <a:stretch>
                  <a:fillRect l="-1481" t="-1240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1381" name="Object 5"/>
          <p:cNvGraphicFramePr>
            <a:graphicFrameLocks noChangeAspect="1"/>
          </p:cNvGraphicFramePr>
          <p:nvPr/>
        </p:nvGraphicFramePr>
        <p:xfrm>
          <a:off x="1955800" y="2159000"/>
          <a:ext cx="113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Equation" r:id="rId4" imgW="1130300" imgH="419100" progId="">
                  <p:embed/>
                </p:oleObj>
              </mc:Choice>
              <mc:Fallback>
                <p:oleObj name="Equation" r:id="rId4" imgW="1130300" imgH="4191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2159000"/>
                        <a:ext cx="1130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338206"/>
              </p:ext>
            </p:extLst>
          </p:nvPr>
        </p:nvGraphicFramePr>
        <p:xfrm>
          <a:off x="5867400" y="2095500"/>
          <a:ext cx="1371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Equation" r:id="rId6" imgW="1371600" imgH="482600" progId="">
                  <p:embed/>
                </p:oleObj>
              </mc:Choice>
              <mc:Fallback>
                <p:oleObj name="Equation" r:id="rId6" imgW="1371600" imgH="482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095500"/>
                        <a:ext cx="1371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5" name="Object 9"/>
          <p:cNvGraphicFramePr>
            <a:graphicFrameLocks noChangeAspect="1"/>
          </p:cNvGraphicFramePr>
          <p:nvPr/>
        </p:nvGraphicFramePr>
        <p:xfrm>
          <a:off x="584200" y="5435600"/>
          <a:ext cx="6934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Equation" r:id="rId8" imgW="7493000" imgH="482600" progId="">
                  <p:embed/>
                </p:oleObj>
              </mc:Choice>
              <mc:Fallback>
                <p:oleObj name="Equation" r:id="rId8" imgW="7493000" imgH="4826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5435600"/>
                        <a:ext cx="69342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9305EE95-17F0-4C36-B469-C8CDA113F8C1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BIẾN TRONG DẠNG TOÀN PHƯƠNG</a:t>
            </a:r>
            <a:endParaRPr lang="en-US" altLang="en-US" dirty="0"/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334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bảo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i="1" baseline="30000" dirty="0"/>
              <a:t>T</a:t>
            </a:r>
            <a:r>
              <a:rPr lang="en-US" altLang="en-US" sz="2800" i="1" dirty="0"/>
              <a:t>AP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i="1" dirty="0"/>
              <a:t>D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(2) </a:t>
            </a:r>
            <a:r>
              <a:rPr lang="en-US" altLang="en-US" sz="2800" dirty="0" err="1"/>
              <a:t>trở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y</a:t>
            </a:r>
            <a:r>
              <a:rPr lang="en-US" altLang="en-US" sz="2800" i="1" baseline="30000" dirty="0" err="1"/>
              <a:t>T</a:t>
            </a:r>
            <a:r>
              <a:rPr lang="en-US" altLang="en-US" sz="2800" i="1" dirty="0" err="1"/>
              <a:t>D</a:t>
            </a:r>
            <a:r>
              <a:rPr lang="en-US" altLang="en-US" sz="2800" b="1" dirty="0" err="1"/>
              <a:t>y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4: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đưa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                                         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</p:txBody>
      </p:sp>
      <p:graphicFrame>
        <p:nvGraphicFramePr>
          <p:cNvPr id="742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854749"/>
              </p:ext>
            </p:extLst>
          </p:nvPr>
        </p:nvGraphicFramePr>
        <p:xfrm>
          <a:off x="1752600" y="3886200"/>
          <a:ext cx="3644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6" name="Equation" r:id="rId3" imgW="3644900" imgH="508000" progId="">
                  <p:embed/>
                </p:oleObj>
              </mc:Choice>
              <mc:Fallback>
                <p:oleObj name="Equation" r:id="rId3" imgW="3644900" imgH="5080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86200"/>
                        <a:ext cx="36449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05" name="Object 5"/>
          <p:cNvGraphicFramePr>
            <a:graphicFrameLocks noChangeAspect="1"/>
          </p:cNvGraphicFramePr>
          <p:nvPr/>
        </p:nvGraphicFramePr>
        <p:xfrm>
          <a:off x="3352800" y="5334000"/>
          <a:ext cx="2298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Equation" r:id="rId5" imgW="2298700" imgH="1143000" progId="">
                  <p:embed/>
                </p:oleObj>
              </mc:Choice>
              <mc:Fallback>
                <p:oleObj name="Equation" r:id="rId5" imgW="2298700" imgH="11430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334000"/>
                        <a:ext cx="2298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BA92C5A7-BB11-48DB-A713-1073E80AB528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BIẾN TRONG DẠNG TOÀN PHƯƠNG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342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4876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Bước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đầu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tiên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chéo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hóa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  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     .</a:t>
                </a:r>
              </a:p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chúng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riêng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biệt</a:t>
                </a:r>
                <a:r>
                  <a:rPr lang="en-US" altLang="en-US" sz="2800" dirty="0"/>
                  <a:t>)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ta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chuẩn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/>
                <a:endParaRPr lang="en-US" altLang="en-US" sz="2800" dirty="0"/>
              </a:p>
            </p:txBody>
          </p:sp>
        </mc:Choice>
        <mc:Fallback>
          <p:sp>
            <p:nvSpPr>
              <p:cNvPr id="7434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4876800"/>
              </a:xfrm>
              <a:blipFill>
                <a:blip r:embed="rId3"/>
                <a:stretch>
                  <a:fillRect l="-1259" t="-1375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789465"/>
              </p:ext>
            </p:extLst>
          </p:nvPr>
        </p:nvGraphicFramePr>
        <p:xfrm>
          <a:off x="5638800" y="2032000"/>
          <a:ext cx="812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name="Equation" r:id="rId4" imgW="812447" imgH="355446" progId="">
                  <p:embed/>
                </p:oleObj>
              </mc:Choice>
              <mc:Fallback>
                <p:oleObj name="Equation" r:id="rId4" imgW="812447" imgH="355446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032000"/>
                        <a:ext cx="812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723367"/>
              </p:ext>
            </p:extLst>
          </p:nvPr>
        </p:nvGraphicFramePr>
        <p:xfrm>
          <a:off x="6934200" y="2032000"/>
          <a:ext cx="1066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Equation" r:id="rId6" imgW="1066337" imgH="355446" progId="">
                  <p:embed/>
                </p:oleObj>
              </mc:Choice>
              <mc:Fallback>
                <p:oleObj name="Equation" r:id="rId6" imgW="1066337" imgH="355446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032000"/>
                        <a:ext cx="1066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0" name="Object 6"/>
          <p:cNvGraphicFramePr>
            <a:graphicFrameLocks noChangeAspect="1"/>
          </p:cNvGraphicFramePr>
          <p:nvPr/>
        </p:nvGraphicFramePr>
        <p:xfrm>
          <a:off x="1600200" y="3073400"/>
          <a:ext cx="52578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name="Equation" r:id="rId8" imgW="5334000" imgH="1320800" progId="">
                  <p:embed/>
                </p:oleObj>
              </mc:Choice>
              <mc:Fallback>
                <p:oleObj name="Equation" r:id="rId8" imgW="5334000" imgH="13208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073400"/>
                        <a:ext cx="5257800" cy="130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154F1C11-64E6-4296-B73D-873C769BED06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BIẾN TRONG DẠNG TOÀN PHƯƠNG</a:t>
            </a:r>
            <a:endParaRPr lang="en-US" altLang="en-US" dirty="0"/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Cho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,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. </a:t>
            </a:r>
          </a:p>
        </p:txBody>
      </p:sp>
      <p:graphicFrame>
        <p:nvGraphicFramePr>
          <p:cNvPr id="744452" name="Object 4"/>
          <p:cNvGraphicFramePr>
            <a:graphicFrameLocks noChangeAspect="1"/>
          </p:cNvGraphicFramePr>
          <p:nvPr/>
        </p:nvGraphicFramePr>
        <p:xfrm>
          <a:off x="1447800" y="1600200"/>
          <a:ext cx="5715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Equation" r:id="rId3" imgW="5829300" imgH="1320800" progId="">
                  <p:embed/>
                </p:oleObj>
              </mc:Choice>
              <mc:Fallback>
                <p:oleObj name="Equation" r:id="rId3" imgW="5829300" imgH="13208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600200"/>
                        <a:ext cx="57150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492412"/>
              </p:ext>
            </p:extLst>
          </p:nvPr>
        </p:nvGraphicFramePr>
        <p:xfrm>
          <a:off x="1854200" y="3721100"/>
          <a:ext cx="172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Equation" r:id="rId5" imgW="1726451" imgH="393529" progId="">
                  <p:embed/>
                </p:oleObj>
              </mc:Choice>
              <mc:Fallback>
                <p:oleObj name="Equation" r:id="rId5" imgW="1726451" imgH="393529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3721100"/>
                        <a:ext cx="17272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4" name="Object 6"/>
          <p:cNvGraphicFramePr>
            <a:graphicFrameLocks noChangeAspect="1"/>
          </p:cNvGraphicFramePr>
          <p:nvPr/>
        </p:nvGraphicFramePr>
        <p:xfrm>
          <a:off x="4127500" y="3721100"/>
          <a:ext cx="314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Equation" r:id="rId7" imgW="3149600" imgH="393700" progId="">
                  <p:embed/>
                </p:oleObj>
              </mc:Choice>
              <mc:Fallback>
                <p:oleObj name="Equation" r:id="rId7" imgW="3149600" imgH="3937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721100"/>
                        <a:ext cx="3149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5" name="Object 7"/>
          <p:cNvGraphicFramePr>
            <a:graphicFrameLocks noChangeAspect="1"/>
          </p:cNvGraphicFramePr>
          <p:nvPr/>
        </p:nvGraphicFramePr>
        <p:xfrm>
          <a:off x="1447800" y="5842000"/>
          <a:ext cx="113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name="Equation" r:id="rId9" imgW="1130300" imgH="419100" progId="">
                  <p:embed/>
                </p:oleObj>
              </mc:Choice>
              <mc:Fallback>
                <p:oleObj name="Equation" r:id="rId9" imgW="1130300" imgH="4191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842000"/>
                        <a:ext cx="1130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967"/>
              </p:ext>
            </p:extLst>
          </p:nvPr>
        </p:nvGraphicFramePr>
        <p:xfrm>
          <a:off x="4127500" y="5473700"/>
          <a:ext cx="1358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name="Equation" r:id="rId11" imgW="1358900" imgH="1143000" progId="">
                  <p:embed/>
                </p:oleObj>
              </mc:Choice>
              <mc:Fallback>
                <p:oleObj name="Equation" r:id="rId11" imgW="1358900" imgH="1143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5473700"/>
                        <a:ext cx="13589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44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406883"/>
              </p:ext>
            </p:extLst>
          </p:nvPr>
        </p:nvGraphicFramePr>
        <p:xfrm>
          <a:off x="6019800" y="5486400"/>
          <a:ext cx="1384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name="Equation" r:id="rId13" imgW="1384300" imgH="1143000" progId="">
                  <p:embed/>
                </p:oleObj>
              </mc:Choice>
              <mc:Fallback>
                <p:oleObj name="Equation" r:id="rId13" imgW="1384300" imgH="11430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486400"/>
                        <a:ext cx="13843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78BF7433-3CE0-48DE-9BC5-27D627B167BF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BIẾN TRONG DẠNG TOÀN PHƯƠNG</a:t>
            </a:r>
            <a:endParaRPr lang="en-US" altLang="en-US" dirty="0"/>
          </a:p>
        </p:txBody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763000" cy="5029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họa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4,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i="1" dirty="0"/>
              <a:t>Q </a:t>
            </a:r>
            <a:r>
              <a:rPr lang="en-US" altLang="en-US" sz="2800" dirty="0"/>
              <a:t>(</a:t>
            </a:r>
            <a:r>
              <a:rPr lang="en-US" altLang="en-US" sz="2800" b="1" dirty="0"/>
              <a:t>x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   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mới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</a:t>
            </a:r>
          </a:p>
        </p:txBody>
      </p:sp>
      <p:graphicFrame>
        <p:nvGraphicFramePr>
          <p:cNvPr id="745476" name="Object 4"/>
          <p:cNvGraphicFramePr>
            <a:graphicFrameLocks noChangeAspect="1"/>
          </p:cNvGraphicFramePr>
          <p:nvPr/>
        </p:nvGraphicFramePr>
        <p:xfrm>
          <a:off x="1295400" y="1905000"/>
          <a:ext cx="61087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Equation" r:id="rId3" imgW="6108700" imgH="1790700" progId="">
                  <p:embed/>
                </p:oleObj>
              </mc:Choice>
              <mc:Fallback>
                <p:oleObj name="Equation" r:id="rId3" imgW="6108700" imgH="17907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05000"/>
                        <a:ext cx="6108700" cy="179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716623"/>
              </p:ext>
            </p:extLst>
          </p:nvPr>
        </p:nvGraphicFramePr>
        <p:xfrm>
          <a:off x="7239000" y="4902200"/>
          <a:ext cx="1524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5" imgW="1701800" imgH="431800" progId="">
                  <p:embed/>
                </p:oleObj>
              </mc:Choice>
              <mc:Fallback>
                <p:oleObj name="Equation" r:id="rId5" imgW="1701800" imgH="431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902200"/>
                        <a:ext cx="152400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4D527F6E-C59E-4701-9079-45951689C2AC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ĐỔI BIẾN TRONG DẠNG TOÀN PHƯƠNG</a:t>
            </a:r>
            <a:endParaRPr lang="en-US" altLang="en-US" dirty="0"/>
          </a:p>
        </p:txBody>
      </p:sp>
      <p:sp>
        <p:nvSpPr>
          <p:cNvPr id="74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6868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        ,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nên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,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Q</a:t>
            </a:r>
            <a:r>
              <a:rPr lang="en-US" altLang="en-US" sz="2800" dirty="0"/>
              <a:t> (</a:t>
            </a:r>
            <a:r>
              <a:rPr lang="en-US" altLang="en-US" sz="2800" b="1" dirty="0"/>
              <a:t>x</a:t>
            </a:r>
            <a:r>
              <a:rPr lang="en-US" altLang="en-US" sz="2800" dirty="0"/>
              <a:t>) 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                    .</a:t>
            </a:r>
          </a:p>
        </p:txBody>
      </p:sp>
      <p:graphicFrame>
        <p:nvGraphicFramePr>
          <p:cNvPr id="746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801242"/>
              </p:ext>
            </p:extLst>
          </p:nvPr>
        </p:nvGraphicFramePr>
        <p:xfrm>
          <a:off x="2527300" y="1193800"/>
          <a:ext cx="113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0" name="Equation" r:id="rId3" imgW="1130300" imgH="419100" progId="">
                  <p:embed/>
                </p:oleObj>
              </mc:Choice>
              <mc:Fallback>
                <p:oleObj name="Equation" r:id="rId3" imgW="1130300" imgH="4191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1193800"/>
                        <a:ext cx="1130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1" name="Object 5"/>
          <p:cNvGraphicFramePr>
            <a:graphicFrameLocks noChangeAspect="1"/>
          </p:cNvGraphicFramePr>
          <p:nvPr/>
        </p:nvGraphicFramePr>
        <p:xfrm>
          <a:off x="3124200" y="1752600"/>
          <a:ext cx="2425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1" name="Equation" r:id="rId5" imgW="2425700" imgH="482600" progId="">
                  <p:embed/>
                </p:oleObj>
              </mc:Choice>
              <mc:Fallback>
                <p:oleObj name="Equation" r:id="rId5" imgW="2425700" imgH="4826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752600"/>
                        <a:ext cx="2425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2" name="Object 6"/>
          <p:cNvGraphicFramePr>
            <a:graphicFrameLocks noChangeAspect="1"/>
          </p:cNvGraphicFramePr>
          <p:nvPr/>
        </p:nvGraphicFramePr>
        <p:xfrm>
          <a:off x="1447800" y="2514600"/>
          <a:ext cx="63119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2" name="Equation" r:id="rId7" imgW="6311900" imgH="1320800" progId="">
                  <p:embed/>
                </p:oleObj>
              </mc:Choice>
              <mc:Fallback>
                <p:oleObj name="Equation" r:id="rId7" imgW="6311900" imgH="13208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14600"/>
                        <a:ext cx="6311900" cy="132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3" name="Object 7"/>
          <p:cNvGraphicFramePr>
            <a:graphicFrameLocks noChangeAspect="1"/>
          </p:cNvGraphicFramePr>
          <p:nvPr/>
        </p:nvGraphicFramePr>
        <p:xfrm>
          <a:off x="381000" y="4572000"/>
          <a:ext cx="85344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3" name="Equation" r:id="rId9" imgW="8915400" imgH="1092200" progId="">
                  <p:embed/>
                </p:oleObj>
              </mc:Choice>
              <mc:Fallback>
                <p:oleObj name="Equation" r:id="rId9" imgW="8915400" imgH="10922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72000"/>
                        <a:ext cx="8534400" cy="1046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109180"/>
              </p:ext>
            </p:extLst>
          </p:nvPr>
        </p:nvGraphicFramePr>
        <p:xfrm>
          <a:off x="4876800" y="5880100"/>
          <a:ext cx="170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Equation" r:id="rId11" imgW="1701800" imgH="431800" progId="">
                  <p:embed/>
                </p:oleObj>
              </mc:Choice>
              <mc:Fallback>
                <p:oleObj name="Equation" r:id="rId11" imgW="1701800" imgH="4318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880100"/>
                        <a:ext cx="1701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02928716-689B-4D05-B863-2FE5548C6940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TRỤC CHÍNH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2578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đây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4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,             ,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x</a:t>
            </a:r>
            <a:r>
              <a:rPr lang="en-US" altLang="en-US" sz="2800" i="1" baseline="30000" dirty="0" err="1"/>
              <a:t>T</a:t>
            </a:r>
            <a:r>
              <a:rPr lang="en-US" altLang="en-US" sz="2800" i="1" dirty="0" err="1"/>
              <a:t>A</a:t>
            </a:r>
            <a:r>
              <a:rPr lang="en-US" altLang="en-US" sz="2800" b="1" dirty="0" err="1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y</a:t>
            </a:r>
            <a:r>
              <a:rPr lang="en-US" altLang="en-US" sz="2800" i="1" baseline="30000" dirty="0" err="1"/>
              <a:t>T</a:t>
            </a:r>
            <a:r>
              <a:rPr lang="en-US" altLang="en-US" sz="2800" i="1" dirty="0" err="1"/>
              <a:t>D</a:t>
            </a:r>
            <a:r>
              <a:rPr lang="en-US" altLang="en-US" sz="2800" b="1" dirty="0" err="1"/>
              <a:t>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47524" name="Object 4"/>
          <p:cNvGraphicFramePr>
            <a:graphicFrameLocks noChangeAspect="1"/>
          </p:cNvGraphicFramePr>
          <p:nvPr/>
        </p:nvGraphicFramePr>
        <p:xfrm>
          <a:off x="4406900" y="44704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44704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014272"/>
              </p:ext>
            </p:extLst>
          </p:nvPr>
        </p:nvGraphicFramePr>
        <p:xfrm>
          <a:off x="5867400" y="4775200"/>
          <a:ext cx="113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Equation" r:id="rId5" imgW="1130300" imgH="419100" progId="">
                  <p:embed/>
                </p:oleObj>
              </mc:Choice>
              <mc:Fallback>
                <p:oleObj name="Equation" r:id="rId5" imgW="1130300" imgH="4191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775200"/>
                        <a:ext cx="1130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7527" name="Picture 7" descr="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752600"/>
            <a:ext cx="42672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0208C621-A9C9-4E9D-907C-08BC20DFF50F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TRỤC CHÍNH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854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Các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4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các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trục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chính</a:t>
                </a:r>
                <a:r>
                  <a:rPr lang="en-US" altLang="en-US" sz="2800" dirty="0"/>
                  <a:t> 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dạng toàn phương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 err="1"/>
                  <a:t>x</a:t>
                </a:r>
                <a:r>
                  <a:rPr lang="en-US" altLang="en-US" sz="2800" i="1" baseline="30000" dirty="0" err="1"/>
                  <a:t>T</a:t>
                </a:r>
                <a:r>
                  <a:rPr lang="en-US" altLang="en-US" sz="2800" i="1" dirty="0" err="1"/>
                  <a:t>A</a:t>
                </a:r>
                <a:r>
                  <a:rPr lang="en-US" altLang="en-US" sz="2800" b="1" dirty="0" err="1"/>
                  <a:t>x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/>
                  <a:t>V</a:t>
                </a:r>
                <a:r>
                  <a:rPr lang="vi-VN" altLang="en-US" sz="2800" dirty="0"/>
                  <a:t>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tọa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độ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sở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trực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chuẩn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trục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/>
                  <a:t>Hình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Học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Của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Các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Trục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Chính</a:t>
                </a:r>
                <a:endParaRPr lang="en-US" altLang="en-US" sz="28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                        ,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đối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800" dirty="0"/>
              </a:p>
            </p:txBody>
          </p:sp>
        </mc:Choice>
        <mc:Fallback>
          <p:sp>
            <p:nvSpPr>
              <p:cNvPr id="7485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3"/>
                <a:stretch>
                  <a:fillRect l="-1481" t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8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781691"/>
              </p:ext>
            </p:extLst>
          </p:nvPr>
        </p:nvGraphicFramePr>
        <p:xfrm>
          <a:off x="1981200" y="4419600"/>
          <a:ext cx="2120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Equation" r:id="rId4" imgW="2120900" imgH="482600" progId="">
                  <p:embed/>
                </p:oleObj>
              </mc:Choice>
              <mc:Fallback>
                <p:oleObj name="Equation" r:id="rId4" imgW="2120900" imgH="4826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419600"/>
                        <a:ext cx="2120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5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606456"/>
              </p:ext>
            </p:extLst>
          </p:nvPr>
        </p:nvGraphicFramePr>
        <p:xfrm>
          <a:off x="6806738" y="4495800"/>
          <a:ext cx="762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Equation" r:id="rId6" imgW="761669" imgH="330057" progId="">
                  <p:embed/>
                </p:oleObj>
              </mc:Choice>
              <mc:Fallback>
                <p:oleObj name="Equation" r:id="rId6" imgW="761669" imgH="330057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738" y="4495800"/>
                        <a:ext cx="7620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576" name="Picture 8" descr="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572000"/>
            <a:ext cx="6019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151757D1-214B-48BA-AEAB-AA9717F8E717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HÌNH HỌC CỦA CÁC TRỤC CHÍNH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95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vectơ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trpmg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thỏa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mãn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(3)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ellip</a:t>
                </a:r>
                <a:r>
                  <a:rPr lang="en-US" altLang="en-US" sz="2800" dirty="0"/>
                  <a:t> (hay </a:t>
                </a:r>
                <a:r>
                  <a:rPr lang="en-US" altLang="en-US" sz="2800" dirty="0" err="1"/>
                  <a:t>đường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tròn</a:t>
                </a:r>
                <a:r>
                  <a:rPr lang="en-US" altLang="en-US" sz="2800" dirty="0"/>
                  <a:t>), hay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hyperbol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, hay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hoặc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điểm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nào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chéo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đồ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tắc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749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  <a:blipFill>
                <a:blip r:embed="rId4"/>
                <a:stretch>
                  <a:fillRect l="-1481" t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9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498876"/>
              </p:ext>
            </p:extLst>
          </p:nvPr>
        </p:nvGraphicFramePr>
        <p:xfrm>
          <a:off x="3733800" y="2057400"/>
          <a:ext cx="149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Equation" r:id="rId5" imgW="1497950" imgH="406224" progId="">
                  <p:embed/>
                </p:oleObj>
              </mc:Choice>
              <mc:Fallback>
                <p:oleObj name="Equation" r:id="rId5" imgW="1497950" imgH="406224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057400"/>
                        <a:ext cx="1498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596" name="Picture 4" descr="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33600"/>
            <a:ext cx="5257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3FA29B60-5445-485B-9831-F9FBE09B70AA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HÌNH HỌC CỦA CÁC TRỤC CHÍNH</a:t>
            </a:r>
          </a:p>
        </p:txBody>
      </p:sp>
      <p:sp>
        <p:nvSpPr>
          <p:cNvPr id="75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(3)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quay </a:t>
            </a:r>
            <a:r>
              <a:rPr lang="en-US" altLang="en-US" sz="2800" dirty="0" err="1"/>
              <a:t>quanh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tắc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các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trục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chính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vectơ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dẫn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trục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ở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tắc</a:t>
            </a:r>
            <a:r>
              <a:rPr lang="en-US" altLang="en-US" sz="2800" dirty="0"/>
              <a:t>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B9223538-5825-4C24-885D-604DF2B34B2C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PHÂN LOẠI CÁC DẠNG TOÀN PHƯƠNG</a:t>
            </a:r>
            <a:endParaRPr lang="en-US" altLang="en-US" dirty="0"/>
          </a:p>
        </p:txBody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4953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nghĩa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i="1" dirty="0"/>
              <a:t>Q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: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b="1" dirty="0" err="1"/>
              <a:t>Xác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dương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</a:t>
            </a:r>
            <a:r>
              <a:rPr lang="en-US" altLang="en-US" sz="2800" dirty="0" err="1"/>
              <a:t>ếu</a:t>
            </a:r>
            <a:r>
              <a:rPr lang="en-US" altLang="en-US" sz="2800" dirty="0"/>
              <a:t>    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          ,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b="1" dirty="0" err="1"/>
              <a:t>Xác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âm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          ,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b="1" dirty="0" err="1"/>
              <a:t>Không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xác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Q</a:t>
            </a:r>
            <a:r>
              <a:rPr lang="en-US" altLang="en-US" sz="2800" dirty="0"/>
              <a:t> (</a:t>
            </a:r>
            <a:r>
              <a:rPr lang="en-US" altLang="en-US" sz="2800" b="1" dirty="0"/>
              <a:t>x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đều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âm</a:t>
            </a:r>
            <a:r>
              <a:rPr lang="en-US" altLang="en-US" sz="2800" dirty="0"/>
              <a:t>.</a:t>
            </a:r>
          </a:p>
          <a:p>
            <a:pPr marL="609600" indent="-609600" eaLnBrk="1" hangingPunct="1"/>
            <a:endParaRPr lang="en-US" altLang="en-US" sz="2800" dirty="0"/>
          </a:p>
          <a:p>
            <a:pPr marL="609600" indent="-609600"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</a:t>
            </a:r>
            <a:r>
              <a:rPr lang="en-US" altLang="en-US" sz="2800" i="1" dirty="0"/>
              <a:t>Q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nửa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xác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dương</a:t>
            </a:r>
            <a:r>
              <a:rPr lang="en-US" altLang="en-US" sz="2800" b="1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		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nửa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xác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âm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</a:t>
            </a:r>
            <a:r>
              <a:rPr lang="en-US" altLang="en-US" sz="2800" dirty="0" err="1"/>
              <a:t>ếu</a:t>
            </a:r>
            <a:r>
              <a:rPr lang="en-US" altLang="en-US" sz="2800" dirty="0"/>
              <a:t>   		             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en-US" altLang="en-US" sz="2800" b="1" dirty="0"/>
              <a:t>x</a:t>
            </a:r>
            <a:r>
              <a:rPr lang="en-US" altLang="en-US" sz="2800" dirty="0"/>
              <a:t>.</a:t>
            </a:r>
          </a:p>
          <a:p>
            <a:pPr marL="609600" indent="-609600" eaLnBrk="1" hangingPunct="1"/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51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549474"/>
              </p:ext>
            </p:extLst>
          </p:nvPr>
        </p:nvGraphicFramePr>
        <p:xfrm>
          <a:off x="5029200" y="2032000"/>
          <a:ext cx="143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0" name="Equation" r:id="rId3" imgW="1435100" imgH="431800" progId="">
                  <p:embed/>
                </p:oleObj>
              </mc:Choice>
              <mc:Fallback>
                <p:oleObj name="Equation" r:id="rId3" imgW="1435100" imgH="4318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032000"/>
                        <a:ext cx="1435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951620"/>
              </p:ext>
            </p:extLst>
          </p:nvPr>
        </p:nvGraphicFramePr>
        <p:xfrm>
          <a:off x="7747000" y="2044700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1" name="Equation" r:id="rId5" imgW="863225" imgH="342751" progId="">
                  <p:embed/>
                </p:oleObj>
              </mc:Choice>
              <mc:Fallback>
                <p:oleObj name="Equation" r:id="rId5" imgW="863225" imgH="342751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0" y="2044700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584070"/>
              </p:ext>
            </p:extLst>
          </p:nvPr>
        </p:nvGraphicFramePr>
        <p:xfrm>
          <a:off x="4419600" y="2540000"/>
          <a:ext cx="142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name="Equation" r:id="rId7" imgW="1422400" imgH="431800" progId="">
                  <p:embed/>
                </p:oleObj>
              </mc:Choice>
              <mc:Fallback>
                <p:oleObj name="Equation" r:id="rId7" imgW="1422400" imgH="43180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540000"/>
                        <a:ext cx="1422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3" name="Object 7"/>
          <p:cNvGraphicFramePr>
            <a:graphicFrameLocks noChangeAspect="1"/>
          </p:cNvGraphicFramePr>
          <p:nvPr/>
        </p:nvGraphicFramePr>
        <p:xfrm>
          <a:off x="7137400" y="2552700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3" name="Equation" r:id="rId9" imgW="863225" imgH="342751" progId="">
                  <p:embed/>
                </p:oleObj>
              </mc:Choice>
              <mc:Fallback>
                <p:oleObj name="Equation" r:id="rId9" imgW="863225" imgH="342751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0" y="2552700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749682"/>
              </p:ext>
            </p:extLst>
          </p:nvPr>
        </p:nvGraphicFramePr>
        <p:xfrm>
          <a:off x="1143000" y="4953000"/>
          <a:ext cx="142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4" name="Equation" r:id="rId11" imgW="1422400" imgH="431800" progId="">
                  <p:embed/>
                </p:oleObj>
              </mc:Choice>
              <mc:Fallback>
                <p:oleObj name="Equation" r:id="rId11" imgW="1422400" imgH="4318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953000"/>
                        <a:ext cx="1422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854640"/>
              </p:ext>
            </p:extLst>
          </p:nvPr>
        </p:nvGraphicFramePr>
        <p:xfrm>
          <a:off x="1066800" y="5359400"/>
          <a:ext cx="142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5" name="Equation" r:id="rId13" imgW="1422400" imgH="431800" progId="">
                  <p:embed/>
                </p:oleObj>
              </mc:Choice>
              <mc:Fallback>
                <p:oleObj name="Equation" r:id="rId13" imgW="1422400" imgH="4318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59400"/>
                        <a:ext cx="1422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6ABD7EE9-2892-4C51-AC5B-F2607D6ADB24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DẠNG TOÀN PHƯƠNG</a:t>
            </a:r>
            <a:r>
              <a:rPr lang="en-US" altLang="en-US" dirty="0"/>
              <a:t> VÀ CÁC GIÁ TRỊ RIÊNG</a:t>
            </a:r>
          </a:p>
        </p:txBody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5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xứng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dạng toàn phương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x</a:t>
            </a:r>
            <a:r>
              <a:rPr lang="en-US" altLang="en-US" sz="2800" i="1" baseline="30000" dirty="0" err="1"/>
              <a:t>T</a:t>
            </a:r>
            <a:r>
              <a:rPr lang="en-US" altLang="en-US" sz="2800" i="1" dirty="0" err="1"/>
              <a:t>A</a:t>
            </a:r>
            <a:r>
              <a:rPr lang="en-US" altLang="en-US" sz="2800" b="1" dirty="0" err="1"/>
              <a:t>x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: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dương</a:t>
            </a:r>
            <a:r>
              <a:rPr lang="en-US" altLang="en-US" sz="2800" dirty="0"/>
              <a:t>,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âm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âm</a:t>
            </a:r>
            <a:r>
              <a:rPr lang="en-US" altLang="en-US" sz="2800" dirty="0"/>
              <a:t>, hay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âm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52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952961"/>
              </p:ext>
            </p:extLst>
          </p:nvPr>
        </p:nvGraphicFramePr>
        <p:xfrm>
          <a:off x="4038600" y="17526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6" name="Equation" r:id="rId3" imgW="774364" imgH="253890" progId="">
                  <p:embed/>
                </p:oleObj>
              </mc:Choice>
              <mc:Fallback>
                <p:oleObj name="Equation" r:id="rId3" imgW="774364" imgH="25389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7526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F2295E86-3D05-4EC6-86A6-3F7AB4E2328E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DẠNG TOÀN PHƯƠNG</a:t>
            </a:r>
            <a:r>
              <a:rPr lang="en-US" altLang="en-US" dirty="0"/>
              <a:t> VÀ CÁC GIÁ TRỊ RIÊNG</a:t>
            </a:r>
          </a:p>
        </p:txBody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572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</a:t>
            </a:r>
            <a:r>
              <a:rPr lang="en-US" altLang="en-US" sz="2800" dirty="0"/>
              <a:t> 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Trục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giao</a:t>
            </a:r>
            <a:r>
              <a:rPr lang="en-US" altLang="en-US" sz="2800" dirty="0"/>
              <a:t>             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									       (4)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,…,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tồn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song </a:t>
            </a:r>
            <a:r>
              <a:rPr lang="en-US" altLang="en-US" sz="2800" dirty="0" err="1">
                <a:cs typeface="Times New Roman" panose="02020603050405020304" pitchFamily="18" charset="0"/>
              </a:rPr>
              <a:t>ánh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giữa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vec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y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</a:t>
            </a:r>
          </a:p>
        </p:txBody>
      </p:sp>
      <p:graphicFrame>
        <p:nvGraphicFramePr>
          <p:cNvPr id="7536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192629"/>
              </p:ext>
            </p:extLst>
          </p:nvPr>
        </p:nvGraphicFramePr>
        <p:xfrm>
          <a:off x="3136900" y="2120785"/>
          <a:ext cx="1130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2" name="Equation" r:id="rId3" imgW="1130300" imgH="419100" progId="">
                  <p:embed/>
                </p:oleObj>
              </mc:Choice>
              <mc:Fallback>
                <p:oleObj name="Equation" r:id="rId3" imgW="1130300" imgH="4191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2120785"/>
                        <a:ext cx="1130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69" name="Object 5"/>
          <p:cNvGraphicFramePr>
            <a:graphicFrameLocks noChangeAspect="1"/>
          </p:cNvGraphicFramePr>
          <p:nvPr/>
        </p:nvGraphicFramePr>
        <p:xfrm>
          <a:off x="838200" y="2628900"/>
          <a:ext cx="7353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3" name="Equation" r:id="rId5" imgW="7353300" imgH="508000" progId="">
                  <p:embed/>
                </p:oleObj>
              </mc:Choice>
              <mc:Fallback>
                <p:oleObj name="Equation" r:id="rId5" imgW="7353300" imgH="5080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628900"/>
                        <a:ext cx="7353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7.2- </a:t>
            </a:r>
            <a:fld id="{7F7E9097-CEF1-4B5C-B5D3-AE6703201330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DẠNG TOÀN PHƯƠNG</a:t>
            </a:r>
            <a:r>
              <a:rPr lang="en-US" altLang="en-US" dirty="0"/>
              <a:t> VÀ CÁC GIÁ TRỊ RIÊNG</a:t>
            </a:r>
          </a:p>
        </p:txBody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Q</a:t>
            </a:r>
            <a:r>
              <a:rPr lang="en-US" altLang="en-US" sz="2800" dirty="0"/>
              <a:t>(</a:t>
            </a:r>
            <a:r>
              <a:rPr lang="en-US" altLang="en-US" sz="2800" b="1" dirty="0"/>
              <a:t>x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trùng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(4),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dấu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riêng</a:t>
            </a:r>
            <a:r>
              <a:rPr lang="en-US" altLang="en-US" sz="2800" dirty="0"/>
              <a:t> 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dirty="0">
                <a:cs typeface="Times New Roman" panose="02020603050405020304" pitchFamily="18" charset="0"/>
              </a:rPr>
              <a:t>,…,</a:t>
            </a:r>
            <a:r>
              <a:rPr lang="el-GR" altLang="en-US" sz="2800" dirty="0">
                <a:cs typeface="Times New Roman" panose="02020603050405020304" pitchFamily="18" charset="0"/>
              </a:rPr>
              <a:t>λ</a:t>
            </a:r>
            <a:r>
              <a:rPr lang="en-US" altLang="en-US" sz="2800" i="1" baseline="-25000" dirty="0"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theo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mô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lí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  <a:endParaRPr lang="el-GR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546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680768"/>
              </p:ext>
            </p:extLst>
          </p:nvPr>
        </p:nvGraphicFramePr>
        <p:xfrm>
          <a:off x="5334000" y="1676400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Equation" r:id="rId3" imgW="863225" imgH="342751" progId="">
                  <p:embed/>
                </p:oleObj>
              </mc:Choice>
              <mc:Fallback>
                <p:oleObj name="Equation" r:id="rId3" imgW="863225" imgH="342751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76400"/>
                        <a:ext cx="863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16437</TotalTime>
  <Words>974</Words>
  <Application>Microsoft Office PowerPoint</Application>
  <PresentationFormat>On-screen Show (4:3)</PresentationFormat>
  <Paragraphs>166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Ma Trận Đối Xứng và  Dạng Toàn Phương</vt:lpstr>
      <vt:lpstr>DẠNG TOÀN PHƯƠNG</vt:lpstr>
      <vt:lpstr>DẠNG TOÀN PHƯƠNG</vt:lpstr>
      <vt:lpstr>DẠNG TOÀN PHƯƠNG</vt:lpstr>
      <vt:lpstr>DẠNG TOÀN PHƯƠNG</vt:lpstr>
      <vt:lpstr>ĐỔI BIẾN TRONG DẠNG TOÀN PHƯƠNG</vt:lpstr>
      <vt:lpstr>ĐỔI BIẾN TRONG DẠNG TOÀN PHƯƠNG</vt:lpstr>
      <vt:lpstr>ĐỔI BIẾN TRONG DẠNG TOÀN PHƯƠNG</vt:lpstr>
      <vt:lpstr>ĐỔI BIẾN TRONG DẠNG TOÀN PHƯƠNG</vt:lpstr>
      <vt:lpstr>ĐỔI BIẾN TRONG DẠNG TOÀN PHƯƠNG</vt:lpstr>
      <vt:lpstr>ĐỔI BIẾN TRONG DẠNG TOÀN PHƯƠNG</vt:lpstr>
      <vt:lpstr>ĐỊNH LÍ TRỤC CHÍNH</vt:lpstr>
      <vt:lpstr>ĐỊNH LÍ TRỤC CHÍNH</vt:lpstr>
      <vt:lpstr>HÌNH HỌC CỦA CÁC TRỤC CHÍNH</vt:lpstr>
      <vt:lpstr>HÌNH HỌC CỦA CÁC TRỤC CHÍNH</vt:lpstr>
      <vt:lpstr>PHÂN LOẠI CÁC DẠNG TOÀN PHƯƠNG</vt:lpstr>
      <vt:lpstr>DẠNG TOÀN PHƯƠNG VÀ CÁC GIÁ TRỊ RIÊNG</vt:lpstr>
      <vt:lpstr>DẠNG TOÀN PHƯƠNG VÀ CÁC GIÁ TRỊ RIÊNG</vt:lpstr>
      <vt:lpstr>DẠNG TOÀN PHƯƠNG VÀ CÁC GIÁ TRỊ RIÊNG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1368</cp:revision>
  <dcterms:created xsi:type="dcterms:W3CDTF">2005-10-22T18:34:54Z</dcterms:created>
  <dcterms:modified xsi:type="dcterms:W3CDTF">2016-08-07T16:38:44Z</dcterms:modified>
</cp:coreProperties>
</file>