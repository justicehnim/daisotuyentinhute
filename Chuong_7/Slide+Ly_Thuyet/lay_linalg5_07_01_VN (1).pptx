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8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7488" autoAdjust="0"/>
    <p:restoredTop sz="98725" autoAdjust="0"/>
  </p:normalViewPr>
  <p:slideViewPr>
    <p:cSldViewPr>
      <p:cViewPr varScale="1">
        <p:scale>
          <a:sx n="92" d="100"/>
          <a:sy n="92" d="100"/>
        </p:scale>
        <p:origin x="1723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B13D6B-BB6F-4A1A-8B8F-76F6C4CA16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28863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720C2F3-F72E-41E3-988A-BDCE1D4F2C43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3089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F0E70B4F-D4FC-40C8-88F2-4C6D6DEE320C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8046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7.1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62600" y="2154699"/>
            <a:ext cx="3124200" cy="390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3475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7.1- </a:t>
            </a:r>
            <a:fld id="{AB006366-66C7-4D42-8DBD-808BE87FC64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06154608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7.1- </a:t>
            </a:r>
            <a:fld id="{791D1288-FBFB-4B70-8182-BE2777200A0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50986194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7.1- </a:t>
            </a:r>
            <a:fld id="{D3B0875F-EA86-4FF1-8966-CED08AD4DD51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2735352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7.1- </a:t>
            </a:r>
            <a:fld id="{09337432-2BE5-4791-A114-EC8ACBE2C6F0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15166261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7.1- </a:t>
            </a:r>
            <a:fld id="{EE7B050C-5640-4AB9-AD9F-6996637FAAF4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20258802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7.1- </a:t>
            </a:r>
            <a:fld id="{366E57A4-53B9-4C2F-A6AD-E68F7FBC4D9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12375102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7.1- </a:t>
            </a:r>
            <a:fld id="{B1453C83-1671-4795-8CCF-3979D5313538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17113884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7.1- </a:t>
            </a:r>
            <a:fld id="{2FA37600-C137-4176-8DEE-77770B3B05C5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108987861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7.1- </a:t>
            </a:r>
            <a:fld id="{B18BF267-2F40-40DA-841F-359789E9B68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5949504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7.1- </a:t>
            </a:r>
            <a:fld id="{2C99C8A1-7660-4FFF-801E-B58B61B10BC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83055150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7.1- </a:t>
            </a:r>
            <a:fld id="{4836C859-D8AB-4177-9D9C-04F788EB2A8F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1.wmf"/><Relationship Id="rId3" Type="http://schemas.openxmlformats.org/officeDocument/2006/relationships/image" Target="../media/image13.png"/><Relationship Id="rId7" Type="http://schemas.openxmlformats.org/officeDocument/2006/relationships/image" Target="../media/image8.w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.png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7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5.wmf"/><Relationship Id="rId3" Type="http://schemas.openxmlformats.org/officeDocument/2006/relationships/image" Target="../media/image36.png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</a:t>
            </a:r>
            <a:r>
              <a:rPr lang="en-US" altLang="en-US" dirty="0" err="1"/>
              <a:t>Trận</a:t>
            </a:r>
            <a:r>
              <a:rPr lang="en-US" altLang="en-US" dirty="0"/>
              <a:t> </a:t>
            </a:r>
            <a:r>
              <a:rPr lang="en-US" altLang="en-US" dirty="0" err="1"/>
              <a:t>Đối</a:t>
            </a:r>
            <a:r>
              <a:rPr lang="en-US" altLang="en-US" dirty="0"/>
              <a:t> </a:t>
            </a:r>
            <a:r>
              <a:rPr lang="en-US" altLang="en-US" dirty="0" err="1"/>
              <a:t>Xứng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 err="1"/>
              <a:t>Dạng</a:t>
            </a:r>
            <a:r>
              <a:rPr lang="en-US" altLang="en-US" dirty="0"/>
              <a:t> </a:t>
            </a:r>
            <a:r>
              <a:rPr lang="en-US" altLang="en-US" dirty="0" err="1"/>
              <a:t>Toàn</a:t>
            </a:r>
            <a:r>
              <a:rPr lang="en-US" altLang="en-US" dirty="0"/>
              <a:t> </a:t>
            </a:r>
            <a:r>
              <a:rPr lang="en-US" altLang="en-US" dirty="0" err="1"/>
              <a:t>Phương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CHÉO HÓA MA TRẬN ĐỐI XỨNG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482C0ADF-20B7-4F9E-9583-415A5AEE823F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ĐỐI XỨNG</a:t>
            </a:r>
          </a:p>
        </p:txBody>
      </p:sp>
      <p:sp>
        <p:nvSpPr>
          <p:cNvPr id="316459" name="Rectangle 4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b="1" dirty="0"/>
              <a:t>ma </a:t>
            </a:r>
            <a:r>
              <a:rPr lang="en-US" altLang="en-US" sz="2800" b="1" dirty="0" err="1"/>
              <a:t>trận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đối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xứng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             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vậy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vuông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tùy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ysm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xuất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cặp-đối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nhau</a:t>
            </a:r>
            <a:r>
              <a:rPr lang="en-US" altLang="en-US" sz="2800" dirty="0"/>
              <a:t> qua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31646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516561"/>
              </p:ext>
            </p:extLst>
          </p:nvPr>
        </p:nvGraphicFramePr>
        <p:xfrm>
          <a:off x="3633355" y="2133600"/>
          <a:ext cx="115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Equation" r:id="rId4" imgW="1155700" imgH="393700" progId="">
                  <p:embed/>
                </p:oleObj>
              </mc:Choice>
              <mc:Fallback>
                <p:oleObj name="Equation" r:id="rId4" imgW="1155700" imgH="3937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355" y="2133600"/>
                        <a:ext cx="1155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A6E845A6-EF15-4779-A217-A98A7262460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ĐỐI XỨNG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294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382000" cy="53340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b="1" dirty="0">
                    <a:solidFill>
                      <a:srgbClr val="077C97"/>
                    </a:solidFill>
                  </a:rPr>
                  <a:t>Định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1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đối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xứng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 riêng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tùy</a:t>
                </a:r>
                <a:r>
                  <a:rPr lang="en-US" altLang="en-US" sz="2800" dirty="0"/>
                  <a:t> ý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riêng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nhau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.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Chứng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minh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Cho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2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vectơ riêng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trị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riêng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biệt</a:t>
                </a:r>
                <a:r>
                  <a:rPr lang="en-US" altLang="en-US" sz="2800" dirty="0"/>
                  <a:t>, say, </a:t>
                </a:r>
                <a:r>
                  <a:rPr lang="el-GR" altLang="en-US" sz="2800" dirty="0">
                    <a:cs typeface="Times New Roman" panose="02020603050405020304" pitchFamily="18" charset="0"/>
                  </a:rPr>
                  <a:t>λ</a:t>
                </a:r>
                <a:r>
                  <a:rPr lang="en-US" altLang="en-US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l-GR" altLang="en-US" sz="2800" dirty="0">
                    <a:cs typeface="Times New Roman" panose="02020603050405020304" pitchFamily="18" charset="0"/>
                  </a:rPr>
                  <a:t>λ</a:t>
                </a:r>
                <a:r>
                  <a:rPr lang="en-US" altLang="en-US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/>
                <a:r>
                  <a:rPr lang="en-US" altLang="en-US" sz="28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minh</a:t>
                </a:r>
                <a14:m>
                  <m:oMath xmlns:m="http://schemas.openxmlformats.org/officeDocument/2006/math">
                    <m:r>
                      <a:rPr lang="en-US" altLang="en-US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hãy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tính</a:t>
                </a: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en-US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alt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</m:sub>
                      </m:sSub>
                      <m:sSub>
                        <m:sSubPr>
                          <m:ctrlP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l-GR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en-US" sz="2800" b="0" i="1" baseline="30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en-US" sz="2800" i="1" baseline="300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en-US" sz="28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=(</m:t>
                    </m:r>
                    <m:sSubSup>
                      <m:sSub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800" dirty="0">
                    <a:cs typeface="Times New Roman" panose="02020603050405020304" pitchFamily="18" charset="0"/>
                  </a:rPr>
                  <a:t>             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bSup>
                    <m:d>
                      <m:d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alt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800" dirty="0">
                    <a:cs typeface="Times New Roman" panose="02020603050405020304" pitchFamily="18" charset="0"/>
                  </a:rPr>
                  <a:t>         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229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382000" cy="5334000"/>
              </a:xfrm>
              <a:blipFill>
                <a:blip r:embed="rId3"/>
                <a:stretch>
                  <a:fillRect l="-1455" t="-1257" r="-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2950" name="Text Box 6" descr="Pink tissue paper"/>
          <p:cNvSpPr txBox="1">
            <a:spLocks noChangeArrowheads="1"/>
          </p:cNvSpPr>
          <p:nvPr/>
        </p:nvSpPr>
        <p:spPr bwMode="auto">
          <a:xfrm>
            <a:off x="5600700" y="4393407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Vì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99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aseline="-25000" dirty="0">
                <a:solidFill>
                  <a:srgbClr val="0099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một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vectơ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riêng</a:t>
            </a:r>
            <a:endParaRPr lang="en-US" altLang="en-US" dirty="0">
              <a:solidFill>
                <a:srgbClr val="0099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2951" name="Text Box 7" descr="Pink tissue paper"/>
          <p:cNvSpPr txBox="1">
            <a:spLocks noChangeArrowheads="1"/>
          </p:cNvSpPr>
          <p:nvPr/>
        </p:nvSpPr>
        <p:spPr bwMode="auto">
          <a:xfrm>
            <a:off x="5638800" y="4953000"/>
            <a:ext cx="327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Vì</a:t>
            </a:r>
            <a:endParaRPr lang="en-US" altLang="en-US" dirty="0">
              <a:solidFill>
                <a:srgbClr val="0099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229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810943"/>
              </p:ext>
            </p:extLst>
          </p:nvPr>
        </p:nvGraphicFramePr>
        <p:xfrm>
          <a:off x="6477000" y="4991894"/>
          <a:ext cx="9271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Equation" r:id="rId5" imgW="1155700" imgH="393700" progId="">
                  <p:embed/>
                </p:oleObj>
              </mc:Choice>
              <mc:Fallback>
                <p:oleObj name="Equation" r:id="rId5" imgW="1155700" imgH="3937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991894"/>
                        <a:ext cx="927100" cy="31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2953" name="Text Box 9" descr="Pink tissue paper"/>
          <p:cNvSpPr txBox="1">
            <a:spLocks noChangeArrowheads="1"/>
          </p:cNvSpPr>
          <p:nvPr/>
        </p:nvSpPr>
        <p:spPr bwMode="auto">
          <a:xfrm>
            <a:off x="5638800" y="549254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Vì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99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aseline="-25000" dirty="0">
                <a:solidFill>
                  <a:srgbClr val="0099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99FF"/>
                </a:solidFill>
                <a:latin typeface="Times New Roman" panose="02020603050405020304" pitchFamily="18" charset="0"/>
              </a:rPr>
              <a:t>một</a:t>
            </a:r>
            <a:r>
              <a:rPr lang="en-US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 </a:t>
            </a:r>
            <a:r>
              <a:rPr lang="vi-VN" altLang="en-US" dirty="0">
                <a:solidFill>
                  <a:srgbClr val="0099FF"/>
                </a:solidFill>
                <a:latin typeface="Times New Roman" panose="02020603050405020304" pitchFamily="18" charset="0"/>
              </a:rPr>
              <a:t>vectơ riêng</a:t>
            </a:r>
            <a:endParaRPr lang="en-US" altLang="en-US" dirty="0">
              <a:solidFill>
                <a:srgbClr val="0099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20514242-0BAF-4102-B172-5B5A04B669AD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ĐỐI XỨNG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39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257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vậy</a:t>
                </a:r>
                <a:r>
                  <a:rPr lang="en-US" altLang="en-US" sz="2800" dirty="0"/>
                  <a:t>,                                 .</a:t>
                </a:r>
              </a:p>
              <a:p>
                <a:pPr eaLnBrk="1" hangingPunct="1"/>
                <a:r>
                  <a:rPr lang="en-US" altLang="en-US" sz="2800" dirty="0" err="1"/>
                  <a:t>Nhưng</a:t>
                </a:r>
                <a:r>
                  <a:rPr lang="en-US" altLang="en-US" sz="2800" dirty="0"/>
                  <a:t>                    , 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en-US" sz="2800" dirty="0"/>
                  <a:t>              .</a:t>
                </a:r>
              </a:p>
              <a:p>
                <a:pPr eaLnBrk="1" hangingPunct="1"/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được gọi là</a:t>
                </a:r>
                <a:r>
                  <a:rPr lang="en-US" altLang="en-US" sz="2800" dirty="0"/>
                  <a:t> </a:t>
                </a:r>
                <a:r>
                  <a:rPr lang="vi-VN" altLang="en-US" sz="2800" b="1" dirty="0"/>
                  <a:t>chéo hóa trực giao 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tồn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tại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P</a:t>
                </a:r>
                <a:r>
                  <a:rPr lang="en-US" altLang="en-US" sz="2800" dirty="0"/>
                  <a:t> (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               )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chéo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D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(1)</a:t>
                </a:r>
              </a:p>
              <a:p>
                <a:pPr eaLnBrk="1" hangingPunct="1"/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chéo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hóa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như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vậy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cần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n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 riêng 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vectơ riêng trực chuẩn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xảy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?</a:t>
                </a:r>
              </a:p>
              <a:p>
                <a:pPr eaLnBrk="1" hangingPunct="1"/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chéo hóa trực giao 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như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(1), </a:t>
                </a:r>
                <a:r>
                  <a:rPr lang="en-US" altLang="en-US" sz="2800" dirty="0" err="1"/>
                  <a:t>thì</a:t>
                </a:r>
                <a:endParaRPr lang="en-US" altLang="en-US" sz="2800" dirty="0"/>
              </a:p>
            </p:txBody>
          </p:sp>
        </mc:Choice>
        <mc:Fallback>
          <p:sp>
            <p:nvSpPr>
              <p:cNvPr id="7239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257800"/>
              </a:xfrm>
              <a:blipFill>
                <a:blip r:embed="rId3"/>
                <a:stretch>
                  <a:fillRect l="-1481" t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889456"/>
              </p:ext>
            </p:extLst>
          </p:nvPr>
        </p:nvGraphicFramePr>
        <p:xfrm>
          <a:off x="1930400" y="1257300"/>
          <a:ext cx="2794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5" name="Equation" r:id="rId4" imgW="2794000" imgH="482600" progId="">
                  <p:embed/>
                </p:oleObj>
              </mc:Choice>
              <mc:Fallback>
                <p:oleObj name="Equation" r:id="rId4" imgW="2794000" imgH="482600" progId="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1257300"/>
                        <a:ext cx="27940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114565"/>
              </p:ext>
            </p:extLst>
          </p:nvPr>
        </p:nvGraphicFramePr>
        <p:xfrm>
          <a:off x="1981200" y="1778000"/>
          <a:ext cx="1676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6" name="Equation" r:id="rId6" imgW="1676400" imgH="482600" progId="">
                  <p:embed/>
                </p:oleObj>
              </mc:Choice>
              <mc:Fallback>
                <p:oleObj name="Equation" r:id="rId6" imgW="1676400" imgH="482600" progId="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78000"/>
                        <a:ext cx="1676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290605"/>
              </p:ext>
            </p:extLst>
          </p:nvPr>
        </p:nvGraphicFramePr>
        <p:xfrm>
          <a:off x="1511300" y="24130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7" name="Equation" r:id="rId8" imgW="774364" imgH="253890" progId="">
                  <p:embed/>
                </p:oleObj>
              </mc:Choice>
              <mc:Fallback>
                <p:oleObj name="Equation" r:id="rId8" imgW="774364" imgH="253890" progId="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24130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978111"/>
              </p:ext>
            </p:extLst>
          </p:nvPr>
        </p:nvGraphicFramePr>
        <p:xfrm>
          <a:off x="7391400" y="2743200"/>
          <a:ext cx="1371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" name="Equation" r:id="rId10" imgW="1371600" imgH="393700" progId="">
                  <p:embed/>
                </p:oleObj>
              </mc:Choice>
              <mc:Fallback>
                <p:oleObj name="Equation" r:id="rId10" imgW="1371600" imgH="393700" progId="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743200"/>
                        <a:ext cx="13716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7" name="Object 9"/>
          <p:cNvGraphicFramePr>
            <a:graphicFrameLocks noChangeAspect="1"/>
          </p:cNvGraphicFramePr>
          <p:nvPr/>
        </p:nvGraphicFramePr>
        <p:xfrm>
          <a:off x="2895600" y="3632200"/>
          <a:ext cx="312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9" name="Equation" r:id="rId12" imgW="3124200" imgH="393700" progId="">
                  <p:embed/>
                </p:oleObj>
              </mc:Choice>
              <mc:Fallback>
                <p:oleObj name="Equation" r:id="rId12" imgW="3124200" imgH="393700" progId="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632200"/>
                        <a:ext cx="3124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8" name="Object 10"/>
          <p:cNvGraphicFramePr>
            <a:graphicFrameLocks noChangeAspect="1"/>
          </p:cNvGraphicFramePr>
          <p:nvPr/>
        </p:nvGraphicFramePr>
        <p:xfrm>
          <a:off x="1600200" y="6096000"/>
          <a:ext cx="6286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" name="Equation" r:id="rId14" imgW="6286500" imgH="482600" progId="">
                  <p:embed/>
                </p:oleObj>
              </mc:Choice>
              <mc:Fallback>
                <p:oleObj name="Equation" r:id="rId14" imgW="6286500" imgH="482600" progId="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6096000"/>
                        <a:ext cx="6286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200400" y="1199508"/>
                <a:ext cx="16256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</m:sub>
                      </m:sSub>
                      <m:sSub>
                        <m:sSubPr>
                          <m:ctrlPr>
                            <a:rPr lang="en-US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1199508"/>
                <a:ext cx="1625600" cy="52322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09B546C8-7726-432D-8249-EB523CBFEEC7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ĐỐI XỨNG</a:t>
            </a:r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876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xứng</a:t>
            </a:r>
            <a:r>
              <a:rPr lang="en-US" altLang="en-US" sz="2800" dirty="0"/>
              <a:t>!</a:t>
            </a:r>
          </a:p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2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vi-VN" altLang="en-US" sz="2800" dirty="0"/>
              <a:t>chéo hóa trực giao 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xứng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3: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hóa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,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 đặc trưng</a:t>
            </a:r>
            <a:r>
              <a:rPr lang="en-US" altLang="en-US" sz="2800" dirty="0"/>
              <a:t> </a:t>
            </a:r>
          </a:p>
        </p:txBody>
      </p:sp>
      <p:graphicFrame>
        <p:nvGraphicFramePr>
          <p:cNvPr id="7249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257975"/>
              </p:ext>
            </p:extLst>
          </p:nvPr>
        </p:nvGraphicFramePr>
        <p:xfrm>
          <a:off x="2730500" y="22860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2" name="Equation" r:id="rId3" imgW="774364" imgH="253890" progId="">
                  <p:embed/>
                </p:oleObj>
              </mc:Choice>
              <mc:Fallback>
                <p:oleObj name="Equation" r:id="rId3" imgW="774364" imgH="25389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22860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7" name="Object 5"/>
          <p:cNvGraphicFramePr>
            <a:graphicFrameLocks noChangeAspect="1"/>
          </p:cNvGraphicFramePr>
          <p:nvPr/>
        </p:nvGraphicFramePr>
        <p:xfrm>
          <a:off x="876300" y="4025900"/>
          <a:ext cx="28829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3" name="Equation" r:id="rId5" imgW="2882900" imgH="1778000" progId="">
                  <p:embed/>
                </p:oleObj>
              </mc:Choice>
              <mc:Fallback>
                <p:oleObj name="Equation" r:id="rId5" imgW="2882900" imgH="17780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4025900"/>
                        <a:ext cx="28829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8" name="Object 6"/>
          <p:cNvGraphicFramePr>
            <a:graphicFrameLocks noChangeAspect="1"/>
          </p:cNvGraphicFramePr>
          <p:nvPr/>
        </p:nvGraphicFramePr>
        <p:xfrm>
          <a:off x="1371600" y="6019800"/>
          <a:ext cx="6908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4" name="Equation" r:id="rId7" imgW="6908800" imgH="482600" progId="">
                  <p:embed/>
                </p:oleObj>
              </mc:Choice>
              <mc:Fallback>
                <p:oleObj name="Equation" r:id="rId7" imgW="6908800" imgH="4826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6019800"/>
                        <a:ext cx="6908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D78587D4-A0C9-4E28-B635-718A007D8730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ĐỐI XỨNG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601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524000"/>
                <a:ext cx="8229600" cy="4800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b="1" dirty="0" err="1"/>
                  <a:t>Lời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giải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toán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thường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sở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riêng</a:t>
                </a:r>
                <a:r>
                  <a:rPr lang="en-US" altLang="en-US" sz="2800" dirty="0"/>
                  <a:t>: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Mặc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dù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2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nhưng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Hình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chiếu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2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lên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800" dirty="0"/>
                  <a:t>. 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</p:txBody>
          </p:sp>
        </mc:Choice>
        <mc:Fallback>
          <p:sp>
            <p:nvSpPr>
              <p:cNvPr id="7260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524000"/>
                <a:ext cx="8229600" cy="4800600"/>
              </a:xfrm>
              <a:blipFill>
                <a:blip r:embed="rId3"/>
                <a:stretch>
                  <a:fillRect l="-1259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6020" name="Object 4"/>
          <p:cNvGraphicFramePr>
            <a:graphicFrameLocks noChangeAspect="1"/>
          </p:cNvGraphicFramePr>
          <p:nvPr/>
        </p:nvGraphicFramePr>
        <p:xfrm>
          <a:off x="685800" y="2514600"/>
          <a:ext cx="79502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name="Equation" r:id="rId4" imgW="7950200" imgH="1778000" progId="">
                  <p:embed/>
                </p:oleObj>
              </mc:Choice>
              <mc:Fallback>
                <p:oleObj name="Equation" r:id="rId4" imgW="7950200" imgH="17780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514600"/>
                        <a:ext cx="79502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5F93D8B6-583C-479E-B5DF-5BEB8C94B49B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ĐỐI XỨNG</a:t>
            </a:r>
          </a:p>
        </p:txBody>
      </p:sp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b="1" dirty="0"/>
              <a:t>z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(</a:t>
            </a:r>
            <a:r>
              <a:rPr lang="en-US" altLang="en-US" sz="2800" dirty="0" err="1"/>
              <a:t>Chú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b="1" dirty="0"/>
              <a:t>z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 riêng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b="1" dirty="0"/>
              <a:t>z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).</a:t>
            </a:r>
          </a:p>
        </p:txBody>
      </p:sp>
      <p:graphicFrame>
        <p:nvGraphicFramePr>
          <p:cNvPr id="727044" name="Object 4"/>
          <p:cNvGraphicFramePr>
            <a:graphicFrameLocks noChangeAspect="1"/>
          </p:cNvGraphicFramePr>
          <p:nvPr/>
        </p:nvGraphicFramePr>
        <p:xfrm>
          <a:off x="533400" y="1828800"/>
          <a:ext cx="79375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2" name="Equation" r:id="rId3" imgW="7937500" imgH="1778000" progId="">
                  <p:embed/>
                </p:oleObj>
              </mc:Choice>
              <mc:Fallback>
                <p:oleObj name="Equation" r:id="rId3" imgW="7937500" imgH="17780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828800"/>
                        <a:ext cx="79375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688915"/>
              </p:ext>
            </p:extLst>
          </p:nvPr>
        </p:nvGraphicFramePr>
        <p:xfrm>
          <a:off x="2971800" y="4521200"/>
          <a:ext cx="838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Equation" r:id="rId5" imgW="837836" imgH="355446" progId="">
                  <p:embed/>
                </p:oleObj>
              </mc:Choice>
              <mc:Fallback>
                <p:oleObj name="Equation" r:id="rId5" imgW="837836" imgH="355446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521200"/>
                        <a:ext cx="8382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905000" y="2286000"/>
                <a:ext cx="1395032" cy="13322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86000"/>
                <a:ext cx="1395032" cy="1332288"/>
              </a:xfrm>
              <a:prstGeom prst="rect">
                <a:avLst/>
              </a:prstGeom>
              <a:blipFill rotWithShape="0">
                <a:blip r:embed="rId7"/>
                <a:stretch>
                  <a:fillRect r="-2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B92091C4-FD26-41BB-AE70-958B2B7F11B2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ĐỐI XỨNG</a:t>
            </a:r>
          </a:p>
        </p:txBody>
      </p:sp>
      <p:sp>
        <p:nvSpPr>
          <p:cNvPr id="72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),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b="1" dirty="0"/>
              <a:t>z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i="1" dirty="0"/>
              <a:t>cơ sở trực giao 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Chuẩn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hóa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z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trực chuẩn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 </a:t>
            </a:r>
            <a:r>
              <a:rPr lang="vi-VN" altLang="en-US" sz="2800" dirty="0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:</a:t>
            </a:r>
          </a:p>
        </p:txBody>
      </p:sp>
      <p:graphicFrame>
        <p:nvGraphicFramePr>
          <p:cNvPr id="728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590744"/>
              </p:ext>
            </p:extLst>
          </p:nvPr>
        </p:nvGraphicFramePr>
        <p:xfrm>
          <a:off x="5105400" y="3810000"/>
          <a:ext cx="838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6" name="Equation" r:id="rId3" imgW="837836" imgH="355446" progId="">
                  <p:embed/>
                </p:oleObj>
              </mc:Choice>
              <mc:Fallback>
                <p:oleObj name="Equation" r:id="rId3" imgW="837836" imgH="355446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810000"/>
                        <a:ext cx="8382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69" name="Object 5"/>
          <p:cNvGraphicFramePr>
            <a:graphicFrameLocks noChangeAspect="1"/>
          </p:cNvGraphicFramePr>
          <p:nvPr/>
        </p:nvGraphicFramePr>
        <p:xfrm>
          <a:off x="2286000" y="4419600"/>
          <a:ext cx="46863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7" name="Equation" r:id="rId5" imgW="4686300" imgH="2133600" progId="">
                  <p:embed/>
                </p:oleObj>
              </mc:Choice>
              <mc:Fallback>
                <p:oleObj name="Equation" r:id="rId5" imgW="4686300" imgH="21336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19600"/>
                        <a:ext cx="4686300" cy="213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F1C6D9D1-54D9-45D9-8C60-7A89CE201ADA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3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ĐỐI XỨNG</a:t>
            </a:r>
          </a:p>
        </p:txBody>
      </p:sp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458200" cy="52578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trực chuẩn 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    </a:t>
            </a:r>
            <a:r>
              <a:rPr lang="en-US" altLang="en-US" sz="2800" dirty="0" err="1"/>
              <a:t>là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dirty="0"/>
              <a:t>Theo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1,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 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vậy</a:t>
            </a:r>
            <a:r>
              <a:rPr lang="en-US" altLang="en-US" sz="2800" dirty="0"/>
              <a:t>, {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chuẩn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29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954743"/>
              </p:ext>
            </p:extLst>
          </p:nvPr>
        </p:nvGraphicFramePr>
        <p:xfrm>
          <a:off x="7620000" y="1358900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0" name="Equation" r:id="rId3" imgW="1066800" imgH="342900" progId="">
                  <p:embed/>
                </p:oleObj>
              </mc:Choice>
              <mc:Fallback>
                <p:oleObj name="Equation" r:id="rId3" imgW="1066800" imgH="3429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358900"/>
                        <a:ext cx="1066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9093" name="Object 5"/>
          <p:cNvGraphicFramePr>
            <a:graphicFrameLocks noChangeAspect="1"/>
          </p:cNvGraphicFramePr>
          <p:nvPr/>
        </p:nvGraphicFramePr>
        <p:xfrm>
          <a:off x="1676400" y="1905000"/>
          <a:ext cx="5486400" cy="181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" name="Equation" r:id="rId5" imgW="5384800" imgH="1778000" progId="">
                  <p:embed/>
                </p:oleObj>
              </mc:Choice>
              <mc:Fallback>
                <p:oleObj name="Equation" r:id="rId5" imgW="5384800" imgH="17780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05000"/>
                        <a:ext cx="5486400" cy="181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C18D0434-C5FD-4A59-9B52-CB14DCC11997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ĐỐI XỨNG</a:t>
            </a:r>
          </a:p>
        </p:txBody>
      </p:sp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839200" cy="47244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Cho 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hóa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    . </a:t>
            </a:r>
          </a:p>
        </p:txBody>
      </p:sp>
      <p:graphicFrame>
        <p:nvGraphicFramePr>
          <p:cNvPr id="730116" name="Object 4"/>
          <p:cNvGraphicFramePr>
            <a:graphicFrameLocks noChangeAspect="1"/>
          </p:cNvGraphicFramePr>
          <p:nvPr/>
        </p:nvGraphicFramePr>
        <p:xfrm>
          <a:off x="254000" y="2133600"/>
          <a:ext cx="8648700" cy="17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2" name="Equation" r:id="rId3" imgW="10287000" imgH="2133600" progId="">
                  <p:embed/>
                </p:oleObj>
              </mc:Choice>
              <mc:Fallback>
                <p:oleObj name="Equation" r:id="rId3" imgW="10287000" imgH="21336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2133600"/>
                        <a:ext cx="8648700" cy="179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888377"/>
              </p:ext>
            </p:extLst>
          </p:nvPr>
        </p:nvGraphicFramePr>
        <p:xfrm>
          <a:off x="5562600" y="4622800"/>
          <a:ext cx="172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3" name="Equation" r:id="rId5" imgW="1726451" imgH="393529" progId="">
                  <p:embed/>
                </p:oleObj>
              </mc:Choice>
              <mc:Fallback>
                <p:oleObj name="Equation" r:id="rId5" imgW="1726451" imgH="393529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622800"/>
                        <a:ext cx="1727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64A2D4FC-6120-43C4-8D01-6B4F041EAB40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PHỔ</a:t>
            </a:r>
          </a:p>
        </p:txBody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phổ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vi-VN" altLang="en-US" sz="2800" dirty="0"/>
              <a:t>được gọi 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Định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lí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phổ</a:t>
            </a:r>
            <a:r>
              <a:rPr lang="en-US" altLang="en-US" sz="2800" dirty="0"/>
              <a:t>.</a:t>
            </a:r>
          </a:p>
          <a:p>
            <a:pPr marL="609600" indent="-609600" eaLnBrk="1" hangingPunct="1"/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3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xứng</a:t>
            </a:r>
            <a:endParaRPr lang="en-US" altLang="en-US" sz="2800" dirty="0"/>
          </a:p>
          <a:p>
            <a:pPr marL="609600" indent="-609600"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xứng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: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thực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kể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bội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31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17095"/>
              </p:ext>
            </p:extLst>
          </p:nvPr>
        </p:nvGraphicFramePr>
        <p:xfrm>
          <a:off x="1828800" y="38608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3" imgW="774364" imgH="253890" progId="">
                  <p:embed/>
                </p:oleObj>
              </mc:Choice>
              <mc:Fallback>
                <p:oleObj name="Equation" r:id="rId3" imgW="774364" imgH="25389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608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21AA7730-5CD2-41E4-87B7-FE056EC690F7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PHỔ</a:t>
            </a:r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marL="1371600" lvl="2" indent="-457200" eaLnBrk="1" hangingPunct="1">
              <a:buFont typeface="Wingdings" panose="05000000000000000000" pitchFamily="2" charset="2"/>
              <a:buAutoNum type="alphaLcPeriod" startAt="2"/>
            </a:pP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bôi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như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nghiệm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phương trình đặc trưng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 startAt="2"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marL="1371600" lvl="2" indent="-457200" eaLnBrk="1" hangingPunct="1">
              <a:buFont typeface="Wingdings" panose="05000000000000000000" pitchFamily="2" charset="2"/>
              <a:buAutoNum type="alphaLcPeriod" startAt="2"/>
            </a:pP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gian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trực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giao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theo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nghĩa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các vectơ 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tương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nhau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trực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giao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 startAt="2"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marL="1371600" lvl="2" indent="-457200" eaLnBrk="1" hangingPunct="1">
              <a:buFont typeface="Wingdings" panose="05000000000000000000" pitchFamily="2" charset="2"/>
              <a:buAutoNum type="alphaLcPeriod" startAt="2"/>
            </a:pP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chéo hóa trực giao được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  <a:endParaRPr lang="el-GR" altLang="en-US" sz="28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004942B2-4713-4C11-B652-34450D137AFC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PHÂN TÍCH PHỔ</a:t>
            </a:r>
          </a:p>
        </p:txBody>
      </p:sp>
      <p:sp>
        <p:nvSpPr>
          <p:cNvPr id="73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5626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Giả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                 ,  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 riêng trực chuẩn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b="1" dirty="0"/>
              <a:t>u</a:t>
            </a:r>
            <a:r>
              <a:rPr lang="en-US" altLang="en-US" sz="2800" i="1" baseline="-25000" dirty="0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,…,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nằm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đường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chéo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D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Khi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,</a:t>
            </a:r>
            <a:endParaRPr lang="el-GR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7331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342187"/>
              </p:ext>
            </p:extLst>
          </p:nvPr>
        </p:nvGraphicFramePr>
        <p:xfrm>
          <a:off x="1981200" y="1155700"/>
          <a:ext cx="172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Equation" r:id="rId3" imgW="1726451" imgH="393529" progId="">
                  <p:embed/>
                </p:oleObj>
              </mc:Choice>
              <mc:Fallback>
                <p:oleObj name="Equation" r:id="rId3" imgW="1726451" imgH="393529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155700"/>
                        <a:ext cx="1727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89" name="Object 5"/>
          <p:cNvGraphicFramePr>
            <a:graphicFrameLocks noChangeAspect="1"/>
          </p:cNvGraphicFramePr>
          <p:nvPr/>
        </p:nvGraphicFramePr>
        <p:xfrm>
          <a:off x="2578100" y="2959100"/>
          <a:ext cx="1371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1" name="Equation" r:id="rId5" imgW="1371600" imgH="393700" progId="">
                  <p:embed/>
                </p:oleObj>
              </mc:Choice>
              <mc:Fallback>
                <p:oleObj name="Equation" r:id="rId5" imgW="1371600" imgH="3937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2959100"/>
                        <a:ext cx="13716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90" name="Object 6"/>
          <p:cNvGraphicFramePr>
            <a:graphicFrameLocks noChangeAspect="1"/>
          </p:cNvGraphicFramePr>
          <p:nvPr/>
        </p:nvGraphicFramePr>
        <p:xfrm>
          <a:off x="1219200" y="3268663"/>
          <a:ext cx="6553200" cy="344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2" name="Equation" r:id="rId7" imgW="7188200" imgH="3784600" progId="">
                  <p:embed/>
                </p:oleObj>
              </mc:Choice>
              <mc:Fallback>
                <p:oleObj name="Equation" r:id="rId7" imgW="7188200" imgH="37846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268663"/>
                        <a:ext cx="6553200" cy="3449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3E4D61C6-A428-4DF7-A6A5-8FDB7E1F283F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PHÂN TÍCH PHỔ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421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143000"/>
                <a:ext cx="8991600" cy="53340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dụng</a:t>
                </a:r>
                <a:r>
                  <a:rPr lang="en-US" altLang="en-US" sz="2800" dirty="0"/>
                  <a:t> qui </a:t>
                </a:r>
                <a:r>
                  <a:rPr lang="en-US" altLang="en-US" sz="2800" dirty="0" err="1"/>
                  <a:t>tắc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triển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cột-hàng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tích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ta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viết</a:t>
                </a: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>
                    <a:cs typeface="Times New Roman" panose="02020603050405020304" pitchFamily="18" charset="0"/>
                  </a:rPr>
                  <a:t>(2)</a:t>
                </a:r>
              </a:p>
              <a:p>
                <a:pPr eaLnBrk="1" hangingPunct="1"/>
                <a:r>
                  <a:rPr lang="en-US" altLang="en-US" sz="28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diễn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được gọi 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phân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phổ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chẻ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xác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phổ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(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trị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riêng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)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8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hạng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tử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(2)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hạng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1.</a:t>
                </a:r>
              </a:p>
              <a:p>
                <a:pPr eaLnBrk="1" hangingPunct="1"/>
                <a:r>
                  <a:rPr lang="en-US" altLang="en-US" sz="2800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mọi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 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bội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8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ma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chiếu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    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chiếu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lên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sinh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i="1" baseline="-25000" dirty="0" err="1">
                    <a:cs typeface="Times New Roman" panose="02020603050405020304" pitchFamily="18" charset="0"/>
                  </a:rPr>
                  <a:t>j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342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143000"/>
                <a:ext cx="8991600" cy="5334000"/>
              </a:xfrm>
              <a:blipFill>
                <a:blip r:embed="rId3"/>
                <a:stretch>
                  <a:fillRect l="-1356" t="-1257" r="-1153" b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42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245307"/>
              </p:ext>
            </p:extLst>
          </p:nvPr>
        </p:nvGraphicFramePr>
        <p:xfrm>
          <a:off x="1549400" y="2095500"/>
          <a:ext cx="5308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9" name="Equation" r:id="rId4" imgW="5308600" imgH="508000" progId="">
                  <p:embed/>
                </p:oleObj>
              </mc:Choice>
              <mc:Fallback>
                <p:oleObj name="Equation" r:id="rId4" imgW="5308600" imgH="508000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2095500"/>
                        <a:ext cx="5308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782490"/>
              </p:ext>
            </p:extLst>
          </p:nvPr>
        </p:nvGraphicFramePr>
        <p:xfrm>
          <a:off x="4724400" y="41148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0" name="Equation" r:id="rId6" imgW="774364" imgH="253890" progId="">
                  <p:embed/>
                </p:oleObj>
              </mc:Choice>
              <mc:Fallback>
                <p:oleObj name="Equation" r:id="rId6" imgW="774364" imgH="253890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1148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277165"/>
              </p:ext>
            </p:extLst>
          </p:nvPr>
        </p:nvGraphicFramePr>
        <p:xfrm>
          <a:off x="3331672" y="4495800"/>
          <a:ext cx="1016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1" name="Equation" r:id="rId8" imgW="1016000" imgH="508000" progId="">
                  <p:embed/>
                </p:oleObj>
              </mc:Choice>
              <mc:Fallback>
                <p:oleObj name="Equation" r:id="rId8" imgW="1016000" imgH="508000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1672" y="4495800"/>
                        <a:ext cx="1016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5" name="Object 7"/>
          <p:cNvGraphicFramePr>
            <a:graphicFrameLocks noChangeAspect="1"/>
          </p:cNvGraphicFramePr>
          <p:nvPr/>
        </p:nvGraphicFramePr>
        <p:xfrm>
          <a:off x="2425700" y="5003800"/>
          <a:ext cx="749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2" name="Equation" r:id="rId10" imgW="748975" imgH="545863" progId="">
                  <p:embed/>
                </p:oleObj>
              </mc:Choice>
              <mc:Fallback>
                <p:oleObj name="Equation" r:id="rId10" imgW="748975" imgH="545863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5003800"/>
                        <a:ext cx="7493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125500"/>
              </p:ext>
            </p:extLst>
          </p:nvPr>
        </p:nvGraphicFramePr>
        <p:xfrm>
          <a:off x="4343400" y="5435600"/>
          <a:ext cx="1308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3" name="Equation" r:id="rId12" imgW="1307532" imgH="545863" progId="">
                  <p:embed/>
                </p:oleObj>
              </mc:Choice>
              <mc:Fallback>
                <p:oleObj name="Equation" r:id="rId12" imgW="1307532" imgH="545863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435600"/>
                        <a:ext cx="13081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C49B2A64-65B1-4DB4-81A3-04B6F1484085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PHÂN TÍCH PHỔ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839200" cy="4572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4: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Xây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hóa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b="1" dirty="0"/>
          </a:p>
          <a:p>
            <a:pPr marL="0" indent="0" eaLnBrk="1" hangingPunct="1">
              <a:buNone/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endParaRPr lang="en-US" altLang="en-US" sz="2800" dirty="0"/>
          </a:p>
        </p:txBody>
      </p:sp>
      <p:graphicFrame>
        <p:nvGraphicFramePr>
          <p:cNvPr id="735236" name="Object 4"/>
          <p:cNvGraphicFramePr>
            <a:graphicFrameLocks noChangeAspect="1"/>
          </p:cNvGraphicFramePr>
          <p:nvPr/>
        </p:nvGraphicFramePr>
        <p:xfrm>
          <a:off x="165100" y="2667000"/>
          <a:ext cx="88265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name="Equation" r:id="rId3" imgW="9207500" imgH="1320800" progId="">
                  <p:embed/>
                </p:oleObj>
              </mc:Choice>
              <mc:Fallback>
                <p:oleObj name="Equation" r:id="rId3" imgW="9207500" imgH="13208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2667000"/>
                        <a:ext cx="8826500" cy="1266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4530"/>
              </p:ext>
            </p:extLst>
          </p:nvPr>
        </p:nvGraphicFramePr>
        <p:xfrm>
          <a:off x="2895600" y="5562600"/>
          <a:ext cx="2870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1" name="Equation" r:id="rId5" imgW="2870200" imgH="508000" progId="">
                  <p:embed/>
                </p:oleObj>
              </mc:Choice>
              <mc:Fallback>
                <p:oleObj name="Equation" r:id="rId5" imgW="2870200" imgH="5080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562600"/>
                        <a:ext cx="28702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7.1- </a:t>
            </a:r>
            <a:fld id="{CB6847EB-3A47-4F2E-A91E-AEAA992846E9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PHÂN TÍCH PHỔ</a:t>
            </a:r>
          </a:p>
        </p:txBody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686800" cy="5334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hãy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và</a:t>
            </a:r>
            <a:endParaRPr lang="en-US" altLang="en-US" sz="2800" dirty="0"/>
          </a:p>
        </p:txBody>
      </p:sp>
      <p:graphicFrame>
        <p:nvGraphicFramePr>
          <p:cNvPr id="736260" name="Object 4"/>
          <p:cNvGraphicFramePr>
            <a:graphicFrameLocks noChangeAspect="1"/>
          </p:cNvGraphicFramePr>
          <p:nvPr/>
        </p:nvGraphicFramePr>
        <p:xfrm>
          <a:off x="514350" y="1676400"/>
          <a:ext cx="8172450" cy="267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2" name="Equation" r:id="rId3" imgW="8521700" imgH="2794000" progId="">
                  <p:embed/>
                </p:oleObj>
              </mc:Choice>
              <mc:Fallback>
                <p:oleObj name="Equation" r:id="rId3" imgW="8521700" imgH="27940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" y="1676400"/>
                        <a:ext cx="8172450" cy="2679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1" name="Object 5"/>
          <p:cNvGraphicFramePr>
            <a:graphicFrameLocks noChangeAspect="1"/>
          </p:cNvGraphicFramePr>
          <p:nvPr/>
        </p:nvGraphicFramePr>
        <p:xfrm>
          <a:off x="355600" y="5181600"/>
          <a:ext cx="861060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name="Equation" r:id="rId5" imgW="10134600" imgH="1143000" progId="">
                  <p:embed/>
                </p:oleObj>
              </mc:Choice>
              <mc:Fallback>
                <p:oleObj name="Equation" r:id="rId5" imgW="10134600" imgH="11430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" y="5181600"/>
                        <a:ext cx="8610600" cy="1011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16072</TotalTime>
  <Words>959</Words>
  <Application>Microsoft Office PowerPoint</Application>
  <PresentationFormat>On-screen Show (4:3)</PresentationFormat>
  <Paragraphs>151</Paragraphs>
  <Slides>16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Ma Trận Đối Xứng và  Dạng Toàn Phương</vt:lpstr>
      <vt:lpstr>MA TRẬN ĐỐI XỨNG</vt:lpstr>
      <vt:lpstr>MA TRẬN ĐỐI XỨNG</vt:lpstr>
      <vt:lpstr>MA TRẬN ĐỐI XỨNG</vt:lpstr>
      <vt:lpstr>MA TRẬN ĐỐI XỨNG</vt:lpstr>
      <vt:lpstr>MA TRẬN ĐỐI XỨNG</vt:lpstr>
      <vt:lpstr>MA TRẬN ĐỐI XỨNG</vt:lpstr>
      <vt:lpstr>MA TRẬN ĐỐI XỨNG</vt:lpstr>
      <vt:lpstr>MA TRẬN ĐỐI XỨNG</vt:lpstr>
      <vt:lpstr>MA TRẬN ĐỐI XỨNG</vt:lpstr>
      <vt:lpstr>ĐỊNH LÍ PHỔ</vt:lpstr>
      <vt:lpstr>ĐỊNH LÍ PHỔ</vt:lpstr>
      <vt:lpstr>PHÂN TÍCH PHỔ</vt:lpstr>
      <vt:lpstr>PHÂN TÍCH PHỔ</vt:lpstr>
      <vt:lpstr>PHÂN TÍCH PHỔ</vt:lpstr>
      <vt:lpstr>PHÂN TÍCH PHỔ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1249</cp:revision>
  <dcterms:created xsi:type="dcterms:W3CDTF">2005-10-22T18:34:54Z</dcterms:created>
  <dcterms:modified xsi:type="dcterms:W3CDTF">2016-08-07T14:28:31Z</dcterms:modified>
</cp:coreProperties>
</file>