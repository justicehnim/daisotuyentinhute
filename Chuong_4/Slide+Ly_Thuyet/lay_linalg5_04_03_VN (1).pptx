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8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5" autoAdjust="0"/>
    <p:restoredTop sz="98725" autoAdjust="0"/>
  </p:normalViewPr>
  <p:slideViewPr>
    <p:cSldViewPr>
      <p:cViewPr varScale="1">
        <p:scale>
          <a:sx n="92" d="100"/>
          <a:sy n="92" d="100"/>
        </p:scale>
        <p:origin x="1478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4B93248-D684-444A-8BED-0E7AC53595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1579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327406E8-6371-4A44-AB2C-ED00316CB6BB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3258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57D8CE6E-3A15-4226-B05A-837E6D983AF1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1028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4.3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8539" y="2060287"/>
            <a:ext cx="3248261" cy="405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1998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203EFBEA-BDF1-4C77-8865-2126393FF21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89968916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657D100C-3E32-4716-B937-16EA13F5845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84698194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D00438CD-47CE-40CF-80C4-FF0996BB0E58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71340667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1A3A3D67-D22E-4D21-9E0B-7ED15BFDFA6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84496545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54FA53EE-2717-47D6-BE5E-B1A129C34C0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69985841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423FC524-5CBB-4E46-98D0-24FB3591E7A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7709548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2FD6EFF0-9D96-4393-8DB4-59542569F5D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38298228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36BE56B8-E41F-4277-ABCD-D784A18EE30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081709794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0AF45854-9350-4DD8-B413-BD1D0B7E496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51081014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30F575F2-372D-4B8F-A5B2-18A97F3B2BBF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63091046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4.3- </a:t>
            </a:r>
            <a:fld id="{B5F03D5F-F6FF-4D4D-9B2A-7DC7D4F888B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0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TẬP ĐỘC LẬP TUYẾN TÍNH, CƠ SỞ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F260309C-4D21-4A05-B111-7719418F12D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TẬP ĐỘC LẬP TUYẾN TÍNH; CƠ SỞ</a:t>
            </a:r>
            <a:endParaRPr lang="en-US" altLang="en-US" dirty="0"/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0292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vectơ</a:t>
            </a:r>
            <a:r>
              <a:rPr lang="en-US" altLang="en-US" sz="2800" dirty="0">
                <a:cs typeface="Times New Roman" panose="02020603050405020304" pitchFamily="18" charset="0"/>
              </a:rPr>
              <a:t> {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v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p</a:t>
            </a:r>
            <a:r>
              <a:rPr lang="en-US" altLang="en-US" sz="2800" dirty="0">
                <a:cs typeface="Times New Roman" panose="02020603050405020304" pitchFamily="18" charset="0"/>
              </a:rPr>
              <a:t>}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gọi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độc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lập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phương trình vectơ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                                                (1)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nghiệm tầm thường</a:t>
            </a:r>
            <a:r>
              <a:rPr lang="en-US" altLang="en-US" sz="2800" dirty="0">
                <a:cs typeface="Times New Roman" panose="02020603050405020304" pitchFamily="18" charset="0"/>
              </a:rPr>
              <a:t>,                            .</a:t>
            </a:r>
          </a:p>
          <a:p>
            <a:pPr marL="609600" indent="-609600"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{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v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p</a:t>
            </a:r>
            <a:r>
              <a:rPr lang="en-US" altLang="en-US" sz="2800" dirty="0">
                <a:cs typeface="Times New Roman" panose="02020603050405020304" pitchFamily="18" charset="0"/>
              </a:rPr>
              <a:t>} </a:t>
            </a:r>
            <a:r>
              <a:rPr lang="vi-VN" altLang="en-US" sz="2800" dirty="0">
                <a:cs typeface="Times New Roman" panose="02020603050405020304" pitchFamily="18" charset="0"/>
              </a:rPr>
              <a:t>được gọi 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phụ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thuộc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(1)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nghiệm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vi-VN" altLang="en-US" sz="2800" dirty="0">
                <a:cs typeface="Times New Roman" panose="02020603050405020304" pitchFamily="18" charset="0"/>
              </a:rPr>
              <a:t> tầm thường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>
                <a:cs typeface="Times New Roman" panose="02020603050405020304" pitchFamily="18" charset="0"/>
              </a:rPr>
              <a:t>i.e.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trọng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>
                <a:cs typeface="Times New Roman" panose="02020603050405020304" pitchFamily="18" charset="0"/>
              </a:rPr>
              <a:t>c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c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p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đồng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thời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bằng</a:t>
            </a:r>
            <a:r>
              <a:rPr lang="en-US" altLang="en-US" sz="2800" i="1" dirty="0">
                <a:cs typeface="Times New Roman" panose="02020603050405020304" pitchFamily="18" charset="0"/>
              </a:rPr>
              <a:t> 0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sao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cs typeface="Times New Roman" panose="02020603050405020304" pitchFamily="18" charset="0"/>
              </a:rPr>
              <a:t> (1)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thỏa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mãn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609600" indent="-609600"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trường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này</a:t>
            </a:r>
            <a:r>
              <a:rPr lang="en-US" altLang="en-US" sz="2800" dirty="0">
                <a:cs typeface="Times New Roman" panose="02020603050405020304" pitchFamily="18" charset="0"/>
              </a:rPr>
              <a:t>, (1) </a:t>
            </a:r>
            <a:r>
              <a:rPr lang="en-US" altLang="en-US" sz="2800" dirty="0" err="1">
                <a:cs typeface="Times New Roman" panose="02020603050405020304" pitchFamily="18" charset="0"/>
              </a:rPr>
              <a:t>sinh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quan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hệ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phụ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thuộc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giữa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v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p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/>
            <a:endParaRPr lang="en-US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31645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194438"/>
              </p:ext>
            </p:extLst>
          </p:nvPr>
        </p:nvGraphicFramePr>
        <p:xfrm>
          <a:off x="2438400" y="2783263"/>
          <a:ext cx="3949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4" imgW="3949700" imgH="520700" progId="">
                  <p:embed/>
                </p:oleObj>
              </mc:Choice>
              <mc:Fallback>
                <p:oleObj name="Equation" r:id="rId4" imgW="3949700" imgH="5207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783263"/>
                        <a:ext cx="39497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272817"/>
              </p:ext>
            </p:extLst>
          </p:nvPr>
        </p:nvGraphicFramePr>
        <p:xfrm>
          <a:off x="5105400" y="3348413"/>
          <a:ext cx="2400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Equation" r:id="rId6" imgW="2400300" imgH="520700" progId="">
                  <p:embed/>
                </p:oleObj>
              </mc:Choice>
              <mc:Fallback>
                <p:oleObj name="Equation" r:id="rId6" imgW="2400300" imgH="5207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348413"/>
                        <a:ext cx="24003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660595F2-4CA0-4904-B945-5E5239F8C7E7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TẬP ĐỘC LẬP TUYẾN TÍNH; CƠ SỞ</a:t>
            </a:r>
            <a:endParaRPr lang="en-US" altLang="en-US" dirty="0"/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5257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4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đánh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{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v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p</a:t>
            </a:r>
            <a:r>
              <a:rPr lang="en-US" altLang="en-US" sz="2800" dirty="0">
                <a:cs typeface="Times New Roman" panose="02020603050405020304" pitchFamily="18" charset="0"/>
              </a:rPr>
              <a:t>}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hai</a:t>
            </a:r>
            <a:r>
              <a:rPr lang="en-US" altLang="en-US" sz="2800" dirty="0">
                <a:cs typeface="Times New Roman" panose="02020603050405020304" pitchFamily="18" charset="0"/>
              </a:rPr>
              <a:t> hay </a:t>
            </a:r>
            <a:r>
              <a:rPr lang="en-US" altLang="en-US" sz="2800" dirty="0" err="1">
                <a:cs typeface="Times New Roman" panose="02020603050405020304" pitchFamily="18" charset="0"/>
              </a:rPr>
              <a:t>nhiều</a:t>
            </a:r>
            <a:r>
              <a:rPr lang="vi-VN" altLang="en-US" sz="2800" dirty="0">
                <a:cs typeface="Times New Roman" panose="02020603050405020304" pitchFamily="18" charset="0"/>
              </a:rPr>
              <a:t> vectơ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          ,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phụ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thuộc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v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j</a:t>
            </a:r>
            <a:r>
              <a:rPr lang="en-US" altLang="en-US" sz="2800" dirty="0">
                <a:cs typeface="Times New Roman" panose="02020603050405020304" pitchFamily="18" charset="0"/>
              </a:rPr>
              <a:t> (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        )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tổ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trước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nó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.</a:t>
            </a:r>
          </a:p>
          <a:p>
            <a:pPr marL="660400" indent="-660400"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sz="2800" b="1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nghĩa</a:t>
            </a:r>
            <a:r>
              <a:rPr lang="en-US" altLang="en-US" sz="2800" b="1" dirty="0">
                <a:cs typeface="Times New Roman" panose="02020603050405020304" pitchFamily="18" charset="0"/>
              </a:rPr>
              <a:t>:</a:t>
            </a:r>
            <a:r>
              <a:rPr lang="en-US" altLang="en-US" sz="2800" dirty="0">
                <a:cs typeface="Times New Roman" panose="02020603050405020304" pitchFamily="18" charset="0"/>
              </a:rPr>
              <a:t> Cho </a:t>
            </a:r>
            <a:r>
              <a:rPr lang="en-US" altLang="en-US" sz="2800" i="1" dirty="0">
                <a:cs typeface="Times New Roman" panose="02020603050405020304" pitchFamily="18" charset="0"/>
              </a:rPr>
              <a:t>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gian</a:t>
            </a:r>
            <a:r>
              <a:rPr lang="en-US" altLang="en-US" sz="2800" dirty="0">
                <a:cs typeface="Times New Roman" panose="02020603050405020304" pitchFamily="18" charset="0"/>
              </a:rPr>
              <a:t> con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không gian 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đánh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gồm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vectơ</a:t>
            </a:r>
            <a:r>
              <a:rPr lang="en-US" altLang="en-US" sz="2800" dirty="0">
                <a:cs typeface="Times New Roman" panose="02020603050405020304" pitchFamily="18" charset="0"/>
              </a:rPr>
              <a:t> 		  </a:t>
            </a:r>
            <a:r>
              <a:rPr lang="en-US" altLang="en-US" sz="2800" dirty="0">
                <a:latin typeface="Euclid Math One" pitchFamily="18" charset="2"/>
                <a:cs typeface="Times New Roman" panose="02020603050405020304" pitchFamily="18" charset="0"/>
              </a:rPr>
              <a:t>B	   </a:t>
            </a:r>
            <a:r>
              <a:rPr lang="en-US" altLang="en-US" sz="2800" dirty="0">
                <a:cs typeface="Times New Roman" panose="02020603050405020304" pitchFamily="18" charset="0"/>
              </a:rPr>
              <a:t>   	   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cơ sở 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H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1409700" lvl="2" indent="-4953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(</a:t>
            </a:r>
            <a:r>
              <a:rPr lang="en-US" altLang="en-US" sz="2800" dirty="0" err="1"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cs typeface="Times New Roman" panose="02020603050405020304" pitchFamily="18" charset="0"/>
              </a:rPr>
              <a:t>)	</a:t>
            </a:r>
            <a:r>
              <a:rPr lang="en-US" altLang="en-US" sz="2800" dirty="0">
                <a:latin typeface="Euclid Math One" pitchFamily="18" charset="2"/>
                <a:cs typeface="Times New Roman" panose="02020603050405020304" pitchFamily="18" charset="0"/>
              </a:rPr>
              <a:t>B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1409700" lvl="2" indent="-4953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(ii)	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gian</a:t>
            </a:r>
            <a:r>
              <a:rPr lang="en-US" altLang="en-US" sz="2800" dirty="0">
                <a:cs typeface="Times New Roman" panose="02020603050405020304" pitchFamily="18" charset="0"/>
              </a:rPr>
              <a:t> con </a:t>
            </a:r>
            <a:r>
              <a:rPr lang="en-US" altLang="en-US" sz="2800" dirty="0" err="1">
                <a:cs typeface="Times New Roman" panose="02020603050405020304" pitchFamily="18" charset="0"/>
              </a:rPr>
              <a:t>sinh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Euclid Math One" pitchFamily="18" charset="2"/>
                <a:cs typeface="Times New Roman" panose="02020603050405020304" pitchFamily="18" charset="0"/>
              </a:rPr>
              <a:t>B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trùng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H</a:t>
            </a:r>
            <a:r>
              <a:rPr lang="en-US" altLang="en-US" sz="2800" dirty="0">
                <a:cs typeface="Times New Roman" panose="02020603050405020304" pitchFamily="18" charset="0"/>
              </a:rPr>
              <a:t>;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,  </a:t>
            </a: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720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055178"/>
              </p:ext>
            </p:extLst>
          </p:nvPr>
        </p:nvGraphicFramePr>
        <p:xfrm>
          <a:off x="2982884" y="1730375"/>
          <a:ext cx="838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2" name="Equation" r:id="rId3" imgW="965200" imgH="482600" progId="">
                  <p:embed/>
                </p:oleObj>
              </mc:Choice>
              <mc:Fallback>
                <p:oleObj name="Equation" r:id="rId3" imgW="965200" imgH="4826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884" y="1730375"/>
                        <a:ext cx="838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227766"/>
              </p:ext>
            </p:extLst>
          </p:nvPr>
        </p:nvGraphicFramePr>
        <p:xfrm>
          <a:off x="3135284" y="2211387"/>
          <a:ext cx="685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3" name="Equation" r:id="rId5" imgW="761669" imgH="418918" progId="">
                  <p:embed/>
                </p:oleObj>
              </mc:Choice>
              <mc:Fallback>
                <p:oleObj name="Equation" r:id="rId5" imgW="761669" imgH="418918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284" y="2211387"/>
                        <a:ext cx="685800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6"/>
          <p:cNvGraphicFramePr>
            <a:graphicFrameLocks noChangeAspect="1"/>
          </p:cNvGraphicFramePr>
          <p:nvPr/>
        </p:nvGraphicFramePr>
        <p:xfrm>
          <a:off x="3352800" y="19812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4" name="Equation" r:id="rId7" imgW="475104" imgH="810471" progId="">
                  <p:embed/>
                </p:oleObj>
              </mc:Choice>
              <mc:Fallback>
                <p:oleObj name="Equation" r:id="rId7" imgW="475104" imgH="810471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9812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948290"/>
              </p:ext>
            </p:extLst>
          </p:nvPr>
        </p:nvGraphicFramePr>
        <p:xfrm>
          <a:off x="838200" y="4419600"/>
          <a:ext cx="18478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name="Equation" r:id="rId9" imgW="1917700" imgH="520700" progId="">
                  <p:embed/>
                </p:oleObj>
              </mc:Choice>
              <mc:Fallback>
                <p:oleObj name="Equation" r:id="rId9" imgW="1917700" imgH="5207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419600"/>
                        <a:ext cx="18478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4" name="Object 8"/>
          <p:cNvGraphicFramePr>
            <a:graphicFrameLocks noChangeAspect="1"/>
          </p:cNvGraphicFramePr>
          <p:nvPr/>
        </p:nvGraphicFramePr>
        <p:xfrm>
          <a:off x="3200400" y="5943600"/>
          <a:ext cx="3213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Equation" r:id="rId11" imgW="3213100" imgH="520700" progId="">
                  <p:embed/>
                </p:oleObj>
              </mc:Choice>
              <mc:Fallback>
                <p:oleObj name="Equation" r:id="rId11" imgW="3213100" imgH="5207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943600"/>
                        <a:ext cx="32131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204573"/>
              </p:ext>
            </p:extLst>
          </p:nvPr>
        </p:nvGraphicFramePr>
        <p:xfrm>
          <a:off x="3478184" y="2527300"/>
          <a:ext cx="1384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name="Equation" r:id="rId13" imgW="1384300" imgH="520700" progId="">
                  <p:embed/>
                </p:oleObj>
              </mc:Choice>
              <mc:Fallback>
                <p:oleObj name="Equation" r:id="rId13" imgW="1384300" imgH="5207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184" y="2527300"/>
                        <a:ext cx="13843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FDD9279B-BB52-474C-A97A-90496AFED9EE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TẬP ĐỘC LẬP TUYẾN TÍNH; CƠ SỞ</a:t>
            </a:r>
            <a:endParaRPr lang="en-US" altLang="en-US" dirty="0"/>
          </a:p>
        </p:txBody>
      </p:sp>
      <p:sp>
        <p:nvSpPr>
          <p:cNvPr id="72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48006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áp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         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không gian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         , </a:t>
            </a: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kiện</a:t>
            </a:r>
            <a:r>
              <a:rPr lang="en-US" altLang="en-US" sz="2800" dirty="0"/>
              <a:t> (ii) </a:t>
            </a:r>
            <a:r>
              <a:rPr lang="en-US" altLang="en-US" sz="2800" dirty="0" err="1"/>
              <a:t>bao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yêu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cầu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b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Span{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b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chứa</a:t>
            </a:r>
            <a:r>
              <a:rPr lang="en-US" altLang="en-US" sz="2800" dirty="0"/>
              <a:t> 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b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 err="1"/>
              <a:t>.</a:t>
            </a:r>
            <a:endParaRPr lang="en-US" altLang="en-US" sz="2800" dirty="0"/>
          </a:p>
        </p:txBody>
      </p:sp>
      <p:graphicFrame>
        <p:nvGraphicFramePr>
          <p:cNvPr id="721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882558"/>
              </p:ext>
            </p:extLst>
          </p:nvPr>
        </p:nvGraphicFramePr>
        <p:xfrm>
          <a:off x="7848600" y="1600200"/>
          <a:ext cx="914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quation" r:id="rId3" imgW="1066800" imgH="342900" progId="">
                  <p:embed/>
                </p:oleObj>
              </mc:Choice>
              <mc:Fallback>
                <p:oleObj name="Equation" r:id="rId3" imgW="1066800" imgH="3429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600200"/>
                        <a:ext cx="914400" cy="29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154083"/>
              </p:ext>
            </p:extLst>
          </p:nvPr>
        </p:nvGraphicFramePr>
        <p:xfrm>
          <a:off x="1371600" y="4876800"/>
          <a:ext cx="9144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Equation" r:id="rId5" imgW="1066800" imgH="342900" progId="">
                  <p:embed/>
                </p:oleObj>
              </mc:Choice>
              <mc:Fallback>
                <p:oleObj name="Equation" r:id="rId5" imgW="1066800" imgH="3429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876800"/>
                        <a:ext cx="914400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E51C8336-D109-4ED8-B9FB-EA1A599CC963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CƠ SỞ CHÍNH TẮC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294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143000"/>
                <a:ext cx="8686800" cy="54864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/>
                  <a:t>Cho </a:t>
                </a:r>
                <a:r>
                  <a:rPr lang="en-US" altLang="en-US" sz="2800" b="1" dirty="0"/>
                  <a:t>e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b="1" dirty="0" err="1"/>
                  <a:t>e</a:t>
                </a:r>
                <a:r>
                  <a:rPr lang="en-US" altLang="en-US" sz="2800" i="1" baseline="-25000" dirty="0" err="1"/>
                  <a:t>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, </a:t>
                </a:r>
                <a:r>
                  <a:rPr lang="en-US" altLang="en-US" sz="2800" i="1" dirty="0"/>
                  <a:t>I</a:t>
                </a:r>
                <a:r>
                  <a:rPr lang="en-US" altLang="en-US" sz="2800" i="1" baseline="-25000" dirty="0"/>
                  <a:t>n</a:t>
                </a:r>
                <a:r>
                  <a:rPr lang="en-US" altLang="en-US" sz="2800" dirty="0"/>
                  <a:t>. </a:t>
                </a:r>
              </a:p>
              <a:p>
                <a:pPr eaLnBrk="1" hangingPunct="1"/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,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e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b="1" dirty="0" err="1"/>
                  <a:t>e</a:t>
                </a:r>
                <a:r>
                  <a:rPr lang="en-US" altLang="en-US" sz="2800" i="1" baseline="-25000" dirty="0" err="1"/>
                  <a:t>n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tạo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vi-VN" altLang="en-US" sz="2800" b="1" dirty="0"/>
                  <a:t>cơ sở chính tắc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Xem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sau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>
          <p:sp>
            <p:nvSpPr>
              <p:cNvPr id="7229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143000"/>
                <a:ext cx="8686800" cy="5486400"/>
              </a:xfrm>
              <a:blipFill>
                <a:blip r:embed="rId3"/>
                <a:stretch>
                  <a:fillRect l="-1193" t="-1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29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579390"/>
              </p:ext>
            </p:extLst>
          </p:nvPr>
        </p:nvGraphicFramePr>
        <p:xfrm>
          <a:off x="4787900" y="12954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name="Equation" r:id="rId4" imgW="774364" imgH="253890" progId="">
                  <p:embed/>
                </p:oleObj>
              </mc:Choice>
              <mc:Fallback>
                <p:oleObj name="Equation" r:id="rId4" imgW="774364" imgH="25389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2954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49" name="Object 5"/>
          <p:cNvGraphicFramePr>
            <a:graphicFrameLocks noChangeAspect="1"/>
          </p:cNvGraphicFramePr>
          <p:nvPr/>
        </p:nvGraphicFramePr>
        <p:xfrm>
          <a:off x="2133600" y="1676400"/>
          <a:ext cx="4495800" cy="229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Equation" r:id="rId6" imgW="4635500" imgH="2362200" progId="">
                  <p:embed/>
                </p:oleObj>
              </mc:Choice>
              <mc:Fallback>
                <p:oleObj name="Equation" r:id="rId6" imgW="4635500" imgH="23622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676400"/>
                        <a:ext cx="4495800" cy="229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2953" name="Picture 9" descr="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648200"/>
            <a:ext cx="2286000" cy="195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DBF23AD7-11C6-4D1C-9D1A-FCD594DF6D69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TẬP SINH</a:t>
            </a:r>
          </a:p>
        </p:txBody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lí</a:t>
            </a:r>
            <a:r>
              <a:rPr lang="en-US" altLang="en-US" sz="2800" b="1" dirty="0"/>
              <a:t> 5:</a:t>
            </a:r>
            <a:r>
              <a:rPr lang="en-US" altLang="en-US" sz="2800" dirty="0"/>
              <a:t> Cho                         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                                   .  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v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k</a:t>
            </a:r>
            <a:r>
              <a:rPr lang="en-US" altLang="en-US" sz="2800" dirty="0" err="1">
                <a:cs typeface="Times New Roman" panose="02020603050405020304" pitchFamily="18" charset="0"/>
              </a:rPr>
              <a:t>-là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tổ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còn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lại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S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thì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tạo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thành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từ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S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bỏ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v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k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vẫn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còn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sinh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H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,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con </a:t>
            </a:r>
            <a:r>
              <a:rPr lang="en-US" altLang="en-US" sz="2800" dirty="0" err="1">
                <a:cs typeface="Times New Roman" panose="02020603050405020304" pitchFamily="18" charset="0"/>
              </a:rPr>
              <a:t>nào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S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cơ sở 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H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609600" indent="-609600" eaLnBrk="1" hangingPunct="1"/>
            <a:r>
              <a:rPr lang="en-US" altLang="en-US" sz="2800" b="1" dirty="0" err="1">
                <a:cs typeface="Times New Roman" panose="02020603050405020304" pitchFamily="18" charset="0"/>
              </a:rPr>
              <a:t>Chứng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minh</a:t>
            </a:r>
            <a:r>
              <a:rPr lang="en-US" altLang="en-US" sz="2800" b="1" dirty="0">
                <a:cs typeface="Times New Roman" panose="02020603050405020304" pitchFamily="18" charset="0"/>
              </a:rPr>
              <a:t>: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sắp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xếp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lại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S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cần</a:t>
            </a:r>
            <a:r>
              <a:rPr lang="en-US" altLang="en-US" sz="2800" dirty="0">
                <a:cs typeface="Times New Roman" panose="02020603050405020304" pitchFamily="18" charset="0"/>
              </a:rPr>
              <a:t>, ta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thể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v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tổ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  , </a:t>
            </a:r>
          </a:p>
        </p:txBody>
      </p:sp>
      <p:graphicFrame>
        <p:nvGraphicFramePr>
          <p:cNvPr id="72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518629"/>
              </p:ext>
            </p:extLst>
          </p:nvPr>
        </p:nvGraphicFramePr>
        <p:xfrm>
          <a:off x="2743200" y="1177636"/>
          <a:ext cx="2260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4" name="Equation" r:id="rId3" imgW="2260600" imgH="520700" progId="">
                  <p:embed/>
                </p:oleObj>
              </mc:Choice>
              <mc:Fallback>
                <p:oleObj name="Equation" r:id="rId3" imgW="2260600" imgH="5207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177636"/>
                        <a:ext cx="2260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3" name="Object 5"/>
          <p:cNvGraphicFramePr>
            <a:graphicFrameLocks noChangeAspect="1"/>
          </p:cNvGraphicFramePr>
          <p:nvPr/>
        </p:nvGraphicFramePr>
        <p:xfrm>
          <a:off x="1600200" y="1600200"/>
          <a:ext cx="3149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" name="Equation" r:id="rId5" imgW="3149600" imgH="520700" progId="">
                  <p:embed/>
                </p:oleObj>
              </mc:Choice>
              <mc:Fallback>
                <p:oleObj name="Equation" r:id="rId5" imgW="3149600" imgH="5207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00200"/>
                        <a:ext cx="3149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471948"/>
              </p:ext>
            </p:extLst>
          </p:nvPr>
        </p:nvGraphicFramePr>
        <p:xfrm>
          <a:off x="2667000" y="3949700"/>
          <a:ext cx="12954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" name="Equation" r:id="rId7" imgW="1282700" imgH="431800" progId="">
                  <p:embed/>
                </p:oleObj>
              </mc:Choice>
              <mc:Fallback>
                <p:oleObj name="Equation" r:id="rId7" imgW="1282700" imgH="4318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49700"/>
                        <a:ext cx="1295400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257080"/>
              </p:ext>
            </p:extLst>
          </p:nvPr>
        </p:nvGraphicFramePr>
        <p:xfrm>
          <a:off x="4038600" y="6184900"/>
          <a:ext cx="1422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7" name="Equation" r:id="rId9" imgW="1422400" imgH="520700" progId="">
                  <p:embed/>
                </p:oleObj>
              </mc:Choice>
              <mc:Fallback>
                <p:oleObj name="Equation" r:id="rId9" imgW="1422400" imgH="5207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6184900"/>
                        <a:ext cx="1422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19EBCCE9-D57B-429C-BC8D-9253162C339E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TẬP SINH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5334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                                                                                            </a:t>
            </a:r>
            <a:r>
              <a:rPr lang="en-US" altLang="en-US" sz="2800" dirty="0"/>
              <a:t>(3)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lvl="3" eaLnBrk="1" hangingPunct="1">
              <a:lnSpc>
                <a:spcPct val="80000"/>
              </a:lnSpc>
            </a:pPr>
            <a:r>
              <a:rPr lang="en-US" altLang="en-US" sz="2800" dirty="0"/>
              <a:t>Cho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         (4)</a:t>
            </a:r>
          </a:p>
          <a:p>
            <a:pPr lvl="3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i="1" dirty="0"/>
              <a:t>c</a:t>
            </a:r>
            <a:r>
              <a:rPr lang="en-US" altLang="en-US" sz="2800" i="1" baseline="-25000" dirty="0"/>
              <a:t>p</a:t>
            </a:r>
            <a:r>
              <a:rPr lang="en-US" altLang="en-US" sz="2800" dirty="0"/>
              <a:t>.</a:t>
            </a:r>
          </a:p>
          <a:p>
            <a:pPr lvl="3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lvl="3" eaLnBrk="1" hangingPunct="1">
              <a:lnSpc>
                <a:spcPct val="80000"/>
              </a:lnSpc>
            </a:pP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(3)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(4), </a:t>
            </a:r>
            <a:r>
              <a:rPr lang="en-US" altLang="en-US" sz="2800" dirty="0" err="1"/>
              <a:t>dễ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               . </a:t>
            </a:r>
          </a:p>
          <a:p>
            <a:pPr lvl="3" eaLnBrk="1" hangingPunct="1">
              <a:lnSpc>
                <a:spcPct val="80000"/>
              </a:lnSpc>
            </a:pPr>
            <a:endParaRPr lang="en-US" altLang="en-US" sz="2800" dirty="0"/>
          </a:p>
          <a:p>
            <a:pPr lvl="3" eaLnBrk="1" hangingPunct="1">
              <a:lnSpc>
                <a:spcPct val="8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                    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724996" name="Object 4"/>
          <p:cNvGraphicFramePr>
            <a:graphicFrameLocks noChangeAspect="1"/>
          </p:cNvGraphicFramePr>
          <p:nvPr/>
        </p:nvGraphicFramePr>
        <p:xfrm>
          <a:off x="2514600" y="1130300"/>
          <a:ext cx="3543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4" name="Equation" r:id="rId3" imgW="3543300" imgH="520700" progId="">
                  <p:embed/>
                </p:oleObj>
              </mc:Choice>
              <mc:Fallback>
                <p:oleObj name="Equation" r:id="rId3" imgW="3543300" imgH="5207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130300"/>
                        <a:ext cx="35433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7" name="Object 5"/>
          <p:cNvGraphicFramePr>
            <a:graphicFrameLocks noChangeAspect="1"/>
          </p:cNvGraphicFramePr>
          <p:nvPr/>
        </p:nvGraphicFramePr>
        <p:xfrm>
          <a:off x="2362200" y="2400300"/>
          <a:ext cx="4394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Equation" r:id="rId5" imgW="4394200" imgH="520700" progId="">
                  <p:embed/>
                </p:oleObj>
              </mc:Choice>
              <mc:Fallback>
                <p:oleObj name="Equation" r:id="rId5" imgW="4394200" imgH="5207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400300"/>
                        <a:ext cx="4394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8" name="Object 6"/>
          <p:cNvGraphicFramePr>
            <a:graphicFrameLocks noChangeAspect="1"/>
          </p:cNvGraphicFramePr>
          <p:nvPr/>
        </p:nvGraphicFramePr>
        <p:xfrm>
          <a:off x="4394200" y="4368800"/>
          <a:ext cx="1320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" name="Equation" r:id="rId7" imgW="1320227" imgH="520474" progId="">
                  <p:embed/>
                </p:oleObj>
              </mc:Choice>
              <mc:Fallback>
                <p:oleObj name="Equation" r:id="rId7" imgW="1320227" imgH="520474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4368800"/>
                        <a:ext cx="13208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383733"/>
              </p:ext>
            </p:extLst>
          </p:nvPr>
        </p:nvGraphicFramePr>
        <p:xfrm>
          <a:off x="3251200" y="4816475"/>
          <a:ext cx="1803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7" name="Equation" r:id="rId9" imgW="1803400" imgH="520700" progId="">
                  <p:embed/>
                </p:oleObj>
              </mc:Choice>
              <mc:Fallback>
                <p:oleObj name="Equation" r:id="rId9" imgW="1803400" imgH="5207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4816475"/>
                        <a:ext cx="1803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84A245C8-70E2-4F83-A1B7-E34B8082DC1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TẬP SINH</a:t>
            </a:r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5410200"/>
          </a:xfrm>
        </p:spPr>
        <p:txBody>
          <a:bodyPr/>
          <a:lstStyle/>
          <a:p>
            <a:pPr marL="1371600" lvl="2" indent="-457200" eaLnBrk="1" hangingPunct="1">
              <a:buFont typeface="Wingdings" panose="05000000000000000000" pitchFamily="2" charset="2"/>
              <a:buAutoNum type="alphaLcPeriod" startAt="2"/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ban </a:t>
            </a:r>
            <a:r>
              <a:rPr lang="en-US" altLang="en-US" sz="2800" dirty="0" err="1"/>
              <a:t>đầu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marL="1752600" lvl="3" indent="-381000" eaLnBrk="1" hangingPunct="1"/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phụ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bỏ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(a).</a:t>
            </a:r>
          </a:p>
          <a:p>
            <a:pPr marL="1752600" lvl="3" indent="-381000"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vẫn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còn</a:t>
            </a:r>
            <a:r>
              <a:rPr lang="en-US" altLang="en-US" sz="2800" dirty="0"/>
              <a:t> 2 hay </a:t>
            </a:r>
            <a:r>
              <a:rPr lang="en-US" altLang="en-US" sz="2800" dirty="0" err="1"/>
              <a:t>nhiều</a:t>
            </a:r>
            <a:r>
              <a:rPr lang="vi-VN" altLang="en-US" sz="2800" dirty="0"/>
              <a:t>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lặp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 qui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marL="1752600" lvl="3" indent="-381000"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cuối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,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             .</a:t>
            </a:r>
          </a:p>
        </p:txBody>
      </p:sp>
      <p:graphicFrame>
        <p:nvGraphicFramePr>
          <p:cNvPr id="72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126925"/>
              </p:ext>
            </p:extLst>
          </p:nvPr>
        </p:nvGraphicFramePr>
        <p:xfrm>
          <a:off x="4343400" y="6218237"/>
          <a:ext cx="12192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Equation" r:id="rId3" imgW="1282700" imgH="431800" progId="">
                  <p:embed/>
                </p:oleObj>
              </mc:Choice>
              <mc:Fallback>
                <p:oleObj name="Equation" r:id="rId3" imgW="1282700" imgH="4318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6218237"/>
                        <a:ext cx="121920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A6AF1332-4616-4C0D-AC0E-E37ED2FA880A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TẬP SINH</a:t>
            </a:r>
          </a:p>
        </p:txBody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2400" b="1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7:</a:t>
            </a:r>
            <a:r>
              <a:rPr lang="en-US" altLang="en-US" sz="2800" dirty="0"/>
              <a:t> Cho                   ,                 ,                      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                     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Chú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                     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.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Span{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i="1" dirty="0"/>
              <a:t>H </a:t>
            </a:r>
            <a:r>
              <a:rPr lang="en-US" altLang="en-US" sz="2800" i="1" dirty="0" err="1"/>
              <a:t>vì</a:t>
            </a:r>
            <a:r>
              <a:rPr lang="en-US" altLang="en-US" sz="2800" dirty="0"/>
              <a:t> </a:t>
            </a:r>
          </a:p>
        </p:txBody>
      </p:sp>
      <p:graphicFrame>
        <p:nvGraphicFramePr>
          <p:cNvPr id="727044" name="Object 4"/>
          <p:cNvGraphicFramePr>
            <a:graphicFrameLocks noChangeAspect="1"/>
          </p:cNvGraphicFramePr>
          <p:nvPr/>
        </p:nvGraphicFramePr>
        <p:xfrm>
          <a:off x="3314700" y="1231900"/>
          <a:ext cx="15240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9" name="Equation" r:id="rId3" imgW="1524000" imgH="1778000" progId="">
                  <p:embed/>
                </p:oleObj>
              </mc:Choice>
              <mc:Fallback>
                <p:oleObj name="Equation" r:id="rId3" imgW="1524000" imgH="17780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1231900"/>
                        <a:ext cx="15240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5" name="Object 5"/>
          <p:cNvGraphicFramePr>
            <a:graphicFrameLocks noChangeAspect="1"/>
          </p:cNvGraphicFramePr>
          <p:nvPr/>
        </p:nvGraphicFramePr>
        <p:xfrm>
          <a:off x="5054600" y="1231900"/>
          <a:ext cx="13716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0" name="Equation" r:id="rId5" imgW="1371600" imgH="1778000" progId="">
                  <p:embed/>
                </p:oleObj>
              </mc:Choice>
              <mc:Fallback>
                <p:oleObj name="Equation" r:id="rId5" imgW="1371600" imgH="1778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1231900"/>
                        <a:ext cx="13716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6" name="Object 6"/>
          <p:cNvGraphicFramePr>
            <a:graphicFrameLocks noChangeAspect="1"/>
          </p:cNvGraphicFramePr>
          <p:nvPr/>
        </p:nvGraphicFramePr>
        <p:xfrm>
          <a:off x="6604000" y="1231900"/>
          <a:ext cx="15748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1" name="Equation" r:id="rId7" imgW="1574800" imgH="1778000" progId="">
                  <p:embed/>
                </p:oleObj>
              </mc:Choice>
              <mc:Fallback>
                <p:oleObj name="Equation" r:id="rId7" imgW="1574800" imgH="17780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1231900"/>
                        <a:ext cx="15748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7" name="Object 7"/>
          <p:cNvGraphicFramePr>
            <a:graphicFrameLocks noChangeAspect="1"/>
          </p:cNvGraphicFramePr>
          <p:nvPr/>
        </p:nvGraphicFramePr>
        <p:xfrm>
          <a:off x="1536700" y="3162300"/>
          <a:ext cx="316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2" name="Equation" r:id="rId9" imgW="3162300" imgH="482600" progId="">
                  <p:embed/>
                </p:oleObj>
              </mc:Choice>
              <mc:Fallback>
                <p:oleObj name="Equation" r:id="rId9" imgW="3162300" imgH="4826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700" y="3162300"/>
                        <a:ext cx="3162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750858"/>
              </p:ext>
            </p:extLst>
          </p:nvPr>
        </p:nvGraphicFramePr>
        <p:xfrm>
          <a:off x="2603500" y="3594100"/>
          <a:ext cx="2197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3" name="Equation" r:id="rId11" imgW="2197100" imgH="482600" progId="">
                  <p:embed/>
                </p:oleObj>
              </mc:Choice>
              <mc:Fallback>
                <p:oleObj name="Equation" r:id="rId11" imgW="2197100" imgH="4826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3594100"/>
                        <a:ext cx="2197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9" name="Object 9"/>
          <p:cNvGraphicFramePr>
            <a:graphicFrameLocks noChangeAspect="1"/>
          </p:cNvGraphicFramePr>
          <p:nvPr/>
        </p:nvGraphicFramePr>
        <p:xfrm>
          <a:off x="914400" y="4013200"/>
          <a:ext cx="4813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4" name="Equation" r:id="rId13" imgW="4813300" imgH="482600" progId="">
                  <p:embed/>
                </p:oleObj>
              </mc:Choice>
              <mc:Fallback>
                <p:oleObj name="Equation" r:id="rId13" imgW="4813300" imgH="4826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013200"/>
                        <a:ext cx="4813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51" name="Object 11"/>
          <p:cNvGraphicFramePr>
            <a:graphicFrameLocks noChangeAspect="1"/>
          </p:cNvGraphicFramePr>
          <p:nvPr/>
        </p:nvGraphicFramePr>
        <p:xfrm>
          <a:off x="2514600" y="5715000"/>
          <a:ext cx="4533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5" name="Equation" r:id="rId15" imgW="4533900" imgH="482600" progId="">
                  <p:embed/>
                </p:oleObj>
              </mc:Choice>
              <mc:Fallback>
                <p:oleObj name="Equation" r:id="rId15" imgW="4533900" imgH="4826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715000"/>
                        <a:ext cx="4533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813B70D3-D785-496C-9DE6-1880DF3FAAFD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TẬP SINH</a:t>
            </a:r>
          </a:p>
        </p:txBody>
      </p:sp>
      <p:sp>
        <p:nvSpPr>
          <p:cNvPr id="72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458200" cy="5334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Bây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giờ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>
                <a:cs typeface="Times New Roman" panose="02020603050405020304" pitchFamily="18" charset="0"/>
              </a:rPr>
              <a:t>—say,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                                   . </a:t>
            </a: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          , ta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thể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thế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Do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b="1" dirty="0"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thuộc</a:t>
            </a:r>
            <a:r>
              <a:rPr lang="en-US" altLang="en-US" sz="2800" dirty="0">
                <a:cs typeface="Times New Roman" panose="02020603050405020304" pitchFamily="18" charset="0"/>
              </a:rPr>
              <a:t> Span{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}, </a:t>
            </a:r>
            <a:r>
              <a:rPr lang="en-US" altLang="en-US" sz="2800" dirty="0" err="1">
                <a:cs typeface="Times New Roman" panose="02020603050405020304" pitchFamily="18" charset="0"/>
              </a:rPr>
              <a:t>nên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mọi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thuộc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vào</a:t>
            </a:r>
            <a:r>
              <a:rPr lang="en-US" altLang="en-US" sz="2800" dirty="0">
                <a:cs typeface="Times New Roman" panose="02020603050405020304" pitchFamily="18" charset="0"/>
              </a:rPr>
              <a:t> Span {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}.</a:t>
            </a: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Ta </a:t>
            </a:r>
            <a:r>
              <a:rPr lang="en-US" altLang="en-US" sz="2800" dirty="0" err="1">
                <a:cs typeface="Times New Roman" panose="02020603050405020304" pitchFamily="18" charset="0"/>
              </a:rPr>
              <a:t>kết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luận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Span {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}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thực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sự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cùng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vectơ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Suy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cs typeface="Times New Roman" panose="02020603050405020304" pitchFamily="18" charset="0"/>
              </a:rPr>
              <a:t>{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}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cơ sở 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{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}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728068" name="Object 4"/>
          <p:cNvGraphicFramePr>
            <a:graphicFrameLocks noChangeAspect="1"/>
          </p:cNvGraphicFramePr>
          <p:nvPr/>
        </p:nvGraphicFramePr>
        <p:xfrm>
          <a:off x="2997200" y="1701800"/>
          <a:ext cx="3238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2" name="Equation" r:id="rId3" imgW="3238500" imgH="482600" progId="">
                  <p:embed/>
                </p:oleObj>
              </mc:Choice>
              <mc:Fallback>
                <p:oleObj name="Equation" r:id="rId3" imgW="3238500" imgH="4826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1701800"/>
                        <a:ext cx="3238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370218"/>
              </p:ext>
            </p:extLst>
          </p:nvPr>
        </p:nvGraphicFramePr>
        <p:xfrm>
          <a:off x="1143000" y="2209800"/>
          <a:ext cx="2197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Equation" r:id="rId5" imgW="2197100" imgH="482600" progId="">
                  <p:embed/>
                </p:oleObj>
              </mc:Choice>
              <mc:Fallback>
                <p:oleObj name="Equation" r:id="rId5" imgW="2197100" imgH="4826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09800"/>
                        <a:ext cx="2197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0" name="Object 6"/>
          <p:cNvGraphicFramePr>
            <a:graphicFrameLocks noChangeAspect="1"/>
          </p:cNvGraphicFramePr>
          <p:nvPr/>
        </p:nvGraphicFramePr>
        <p:xfrm>
          <a:off x="2209800" y="2667000"/>
          <a:ext cx="46609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" name="Equation" r:id="rId7" imgW="4660900" imgH="1092200" progId="">
                  <p:embed/>
                </p:oleObj>
              </mc:Choice>
              <mc:Fallback>
                <p:oleObj name="Equation" r:id="rId7" imgW="4660900" imgH="10922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667000"/>
                        <a:ext cx="4660900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2EA5FF56-5287-4BDC-94AB-E43B81163446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CƠ SỞ CỦA COL B</a:t>
            </a:r>
            <a:endParaRPr lang="en-US" altLang="en-US" i="1" dirty="0"/>
          </a:p>
        </p:txBody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8: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it-IT" altLang="en-US" sz="2800" dirty="0"/>
              <a:t>cơ sở của Col B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,  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       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Theo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bỏ</a:t>
            </a:r>
            <a:r>
              <a:rPr lang="en-US" altLang="en-US" sz="2800" dirty="0"/>
              <a:t> 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{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, 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5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vẫn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còn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B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29092" name="Object 4"/>
          <p:cNvGraphicFramePr>
            <a:graphicFrameLocks noChangeAspect="1"/>
          </p:cNvGraphicFramePr>
          <p:nvPr/>
        </p:nvGraphicFramePr>
        <p:xfrm>
          <a:off x="1066800" y="1905000"/>
          <a:ext cx="6858000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name="Equation" r:id="rId3" imgW="6972300" imgH="2362200" progId="">
                  <p:embed/>
                </p:oleObj>
              </mc:Choice>
              <mc:Fallback>
                <p:oleObj name="Equation" r:id="rId3" imgW="6972300" imgH="23622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05000"/>
                        <a:ext cx="6858000" cy="232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987313"/>
              </p:ext>
            </p:extLst>
          </p:nvPr>
        </p:nvGraphicFramePr>
        <p:xfrm>
          <a:off x="2362200" y="5067300"/>
          <a:ext cx="12192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Equation" r:id="rId5" imgW="1295400" imgH="482600" progId="">
                  <p:embed/>
                </p:oleObj>
              </mc:Choice>
              <mc:Fallback>
                <p:oleObj name="Equation" r:id="rId5" imgW="1295400" imgH="4826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067300"/>
                        <a:ext cx="1219200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0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14282"/>
              </p:ext>
            </p:extLst>
          </p:nvPr>
        </p:nvGraphicFramePr>
        <p:xfrm>
          <a:off x="4114800" y="5067300"/>
          <a:ext cx="190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Equation" r:id="rId7" imgW="2006600" imgH="482600" progId="">
                  <p:embed/>
                </p:oleObj>
              </mc:Choice>
              <mc:Fallback>
                <p:oleObj name="Equation" r:id="rId7" imgW="2006600" imgH="4826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067300"/>
                        <a:ext cx="1905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0B3A5A81-DF5E-4D5E-9B7D-8C991C62451A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CƠ SỞ CỦA COL B</a:t>
            </a:r>
            <a:endParaRPr lang="en-US" altLang="en-US" i="1" dirty="0"/>
          </a:p>
        </p:txBody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Cho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Vì</a:t>
            </a:r>
            <a:r>
              <a:rPr lang="en-US" altLang="en-US" sz="2800" dirty="0"/>
              <a:t>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v</a:t>
            </a:r>
            <a:r>
              <a:rPr lang="vi-VN" altLang="en-US" sz="2800" dirty="0"/>
              <a:t>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,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. (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4).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it-IT" altLang="en-US" sz="2800" dirty="0"/>
              <a:t>cơ sở của Col B</a:t>
            </a:r>
            <a:r>
              <a:rPr lang="en-US" altLang="en-US" sz="2800" dirty="0"/>
              <a:t>. </a:t>
            </a:r>
          </a:p>
        </p:txBody>
      </p:sp>
      <p:graphicFrame>
        <p:nvGraphicFramePr>
          <p:cNvPr id="730116" name="Object 4"/>
          <p:cNvGraphicFramePr>
            <a:graphicFrameLocks noChangeAspect="1"/>
          </p:cNvGraphicFramePr>
          <p:nvPr/>
        </p:nvGraphicFramePr>
        <p:xfrm>
          <a:off x="1981200" y="1295400"/>
          <a:ext cx="51308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Equation" r:id="rId3" imgW="5130800" imgH="2438400" progId="">
                  <p:embed/>
                </p:oleObj>
              </mc:Choice>
              <mc:Fallback>
                <p:oleObj name="Equation" r:id="rId3" imgW="5130800" imgH="24384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95400"/>
                        <a:ext cx="5130800" cy="243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601347"/>
              </p:ext>
            </p:extLst>
          </p:nvPr>
        </p:nvGraphicFramePr>
        <p:xfrm>
          <a:off x="1295400" y="3962400"/>
          <a:ext cx="9144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Equation" r:id="rId5" imgW="952087" imgH="482391" progId="">
                  <p:embed/>
                </p:oleObj>
              </mc:Choice>
              <mc:Fallback>
                <p:oleObj name="Equation" r:id="rId5" imgW="952087" imgH="482391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962400"/>
                        <a:ext cx="91440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3FBC22DD-7FFF-45D8-AA8D-A283585F7F95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CƠ SỞ CỦA NUL A VÀ COL A</a:t>
            </a:r>
            <a:endParaRPr lang="en-US" altLang="en-US" i="1" dirty="0"/>
          </a:p>
        </p:txBody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6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của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</a:t>
            </a:r>
            <a:r>
              <a:rPr lang="en-US" altLang="en-US" sz="2800" dirty="0"/>
              <a:t> Cho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 </a:t>
            </a:r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hang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phụ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giữa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phụ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giữa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.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630D0DD5-69E3-46EC-BC5D-43FA380A6076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CƠ SỞ CỦA NUL A VÀ COL A</a:t>
            </a:r>
            <a:endParaRPr lang="en-US" altLang="en-US" i="1" dirty="0"/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458200" cy="5410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bỏ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ta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của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b="1" dirty="0"/>
          </a:p>
          <a:p>
            <a:pPr eaLnBrk="1" hangingPunct="1"/>
            <a:r>
              <a:rPr lang="en-US" altLang="en-US" sz="2800" b="1" dirty="0" err="1"/>
              <a:t>Cảnh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báo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dễ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thang.</a:t>
            </a:r>
          </a:p>
          <a:p>
            <a:pPr eaLnBrk="1" hangingPunct="1"/>
            <a:r>
              <a:rPr lang="en-US" altLang="en-US" sz="2800" dirty="0" err="1"/>
              <a:t>Nhưng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cẩn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làm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của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CF37288F-5B91-48FE-AAFA-DDC94EF925C8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CƠ SỞ CỦA NUL A VÀ COL A</a:t>
            </a:r>
            <a:endParaRPr lang="en-US" altLang="en-US" i="1" dirty="0"/>
          </a:p>
        </p:txBody>
      </p:sp>
      <p:sp>
        <p:nvSpPr>
          <p:cNvPr id="73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hang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thay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b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/>
              <a:t>Hai </a:t>
            </a:r>
            <a:r>
              <a:rPr lang="en-US" altLang="en-US" sz="2800" b="1" dirty="0" err="1"/>
              <a:t>cách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nhìn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của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một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Cơ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sở</a:t>
            </a:r>
            <a:endParaRPr lang="en-US" altLang="en-US" sz="2800" b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việc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bỏ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dừng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thêm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xóa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còn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nhỏ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span </a:t>
            </a:r>
            <a:r>
              <a:rPr lang="en-US" altLang="en-US" sz="2800" i="1" dirty="0"/>
              <a:t>V </a:t>
            </a:r>
            <a:r>
              <a:rPr lang="en-US" altLang="en-US" sz="2800" i="1" dirty="0" err="1"/>
              <a:t>nữa</a:t>
            </a:r>
            <a:r>
              <a:rPr lang="en-US" altLang="en-US" sz="2800" dirty="0"/>
              <a:t>.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1912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4.3- </a:t>
            </a:r>
            <a:fld id="{28E5336A-3DCD-4211-BA97-0646F76E4858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HAI CÁCH NHÌN VỀ CƠ SỞ</a:t>
            </a:r>
            <a:endParaRPr lang="en-US" altLang="en-US" dirty="0"/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nhỏ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lớn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rộng</a:t>
            </a:r>
            <a:r>
              <a:rPr lang="en-US" altLang="en-US" sz="2800" dirty="0"/>
              <a:t> them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- </a:t>
            </a:r>
            <a:r>
              <a:rPr lang="en-US" altLang="en-US" sz="2800" dirty="0">
                <a:cs typeface="Times New Roman" panose="02020603050405020304" pitchFamily="18" charset="0"/>
              </a:rPr>
              <a:t>say, </a:t>
            </a:r>
            <a:r>
              <a:rPr lang="en-US" altLang="en-US" sz="2800" b="1" dirty="0">
                <a:cs typeface="Times New Roman" panose="02020603050405020304" pitchFamily="18" charset="0"/>
              </a:rPr>
              <a:t>w – </a:t>
            </a:r>
            <a:r>
              <a:rPr lang="en-US" altLang="en-US" sz="2800" dirty="0" err="1">
                <a:cs typeface="Times New Roman" panose="02020603050405020304" pitchFamily="18" charset="0"/>
              </a:rPr>
              <a:t>từ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thì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thể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S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sinh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w</a:t>
            </a:r>
            <a:r>
              <a:rPr lang="en-US" altLang="en-US" sz="2800" dirty="0">
                <a:cs typeface="Times New Roman" panose="02020603050405020304" pitchFamily="18" charset="0"/>
              </a:rPr>
              <a:t> do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tổ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phần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>
                <a:cs typeface="Times New Roman" panose="02020603050405020304" pitchFamily="18" charset="0"/>
              </a:rPr>
              <a:t> </a:t>
            </a:r>
            <a:r>
              <a:rPr lang="en-US" altLang="en-US" sz="2800" i="1">
                <a:cs typeface="Times New Roman" panose="02020603050405020304" pitchFamily="18" charset="0"/>
              </a:rPr>
              <a:t>S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13175</TotalTime>
  <Words>1363</Words>
  <Application>Microsoft Office PowerPoint</Application>
  <PresentationFormat>On-screen Show (4:3)</PresentationFormat>
  <Paragraphs>147</Paragraphs>
  <Slides>16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Arial Narrow</vt:lpstr>
      <vt:lpstr>Bookshelf Symbol 2</vt:lpstr>
      <vt:lpstr>Cambria Math</vt:lpstr>
      <vt:lpstr>Euclid Math One</vt:lpstr>
      <vt:lpstr>Symbol</vt:lpstr>
      <vt:lpstr>Times New Roman</vt:lpstr>
      <vt:lpstr>Wingdings</vt:lpstr>
      <vt:lpstr>Blends</vt:lpstr>
      <vt:lpstr>Equation</vt:lpstr>
      <vt:lpstr>Không gian Vectơ</vt:lpstr>
      <vt:lpstr>TẬP ĐỘC LẬP TUYẾN TÍNH; CƠ SỞ</vt:lpstr>
      <vt:lpstr>TẬP ĐỘC LẬP TUYẾN TÍNH; CƠ SỞ</vt:lpstr>
      <vt:lpstr>TẬP ĐỘC LẬP TUYẾN TÍNH; CƠ SỞ</vt:lpstr>
      <vt:lpstr>CƠ SỞ CHÍNH TẮC</vt:lpstr>
      <vt:lpstr>ĐỊNH LÍ TẬP SINH</vt:lpstr>
      <vt:lpstr>ĐỊNH LÍ TẬP SINH</vt:lpstr>
      <vt:lpstr>ĐỊNH LÍ TẬP SINH</vt:lpstr>
      <vt:lpstr>ĐỊNH LÍ TẬP SINH</vt:lpstr>
      <vt:lpstr>ĐỊNH LÍ TẬP SINH</vt:lpstr>
      <vt:lpstr>CƠ SỞ CỦA COL B</vt:lpstr>
      <vt:lpstr>CƠ SỞ CỦA COL B</vt:lpstr>
      <vt:lpstr>CƠ SỞ CỦA NUL A VÀ COL A</vt:lpstr>
      <vt:lpstr>CƠ SỞ CỦA NUL A VÀ COL A</vt:lpstr>
      <vt:lpstr>CƠ SỞ CỦA NUL A VÀ COL A</vt:lpstr>
      <vt:lpstr>HAI CÁCH NHÌN VỀ CƠ SỞ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1223</cp:revision>
  <dcterms:created xsi:type="dcterms:W3CDTF">2005-10-22T18:34:54Z</dcterms:created>
  <dcterms:modified xsi:type="dcterms:W3CDTF">2016-07-31T17:17:21Z</dcterms:modified>
</cp:coreProperties>
</file>