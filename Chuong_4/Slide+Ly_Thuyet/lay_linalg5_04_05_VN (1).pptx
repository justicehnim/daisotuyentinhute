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notesMasterIdLst>
    <p:notesMasterId r:id="rId17"/>
  </p:notesMasterIdLst>
  <p:sldIdLst>
    <p:sldId id="424" r:id="rId2"/>
    <p:sldId id="362" r:id="rId3"/>
    <p:sldId id="425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ookshelf Symbol 2" pitchFamily="2" charset="2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96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pos="288">
          <p15:clr>
            <a:srgbClr val="A4A3A4"/>
          </p15:clr>
        </p15:guide>
        <p15:guide id="4" pos="54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7C97"/>
    <a:srgbClr val="D7791B"/>
    <a:srgbClr val="4C7816"/>
    <a:srgbClr val="528218"/>
    <a:srgbClr val="B6CEAA"/>
    <a:srgbClr val="ADC8A0"/>
    <a:srgbClr val="CD8019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47" autoAdjust="0"/>
    <p:restoredTop sz="98725" autoAdjust="0"/>
  </p:normalViewPr>
  <p:slideViewPr>
    <p:cSldViewPr>
      <p:cViewPr varScale="1">
        <p:scale>
          <a:sx n="92" d="100"/>
          <a:sy n="92" d="100"/>
        </p:scale>
        <p:origin x="1440" y="72"/>
      </p:cViewPr>
      <p:guideLst>
        <p:guide orient="horz" pos="1296"/>
        <p:guide orient="horz" pos="3888"/>
        <p:guide pos="288"/>
        <p:guide pos="54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4" Type="http://schemas.openxmlformats.org/officeDocument/2006/relationships/image" Target="../media/image2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5" Type="http://schemas.openxmlformats.org/officeDocument/2006/relationships/image" Target="../media/image31.wmf"/><Relationship Id="rId4" Type="http://schemas.openxmlformats.org/officeDocument/2006/relationships/image" Target="../media/image3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4" Type="http://schemas.openxmlformats.org/officeDocument/2006/relationships/image" Target="../media/image35.wmf"/></Relationships>
</file>

<file path=ppt/drawings/_rels/vmlDrawing1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CCCB95D7-E25D-4956-B3C0-9113E11751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94887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83BD1F19-19CB-413C-B301-641E1C338A15}" type="slidenum">
              <a:rPr lang="en-US" altLang="en-US" sz="1200">
                <a:latin typeface="Arial" panose="020B0604020202020204" pitchFamily="34" charset="0"/>
              </a:rPr>
              <a:pPr algn="r"/>
              <a:t>1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25294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fld id="{043AD2D0-6EA4-4756-A895-E8C924D14393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US" altLang="en-US" sz="1200">
              <a:latin typeface="Arial" panose="020B0604020202020204" pitchFamily="34" charset="0"/>
            </a:endParaRPr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1529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 descr="pearson_ppt_logo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292850"/>
            <a:ext cx="1295400" cy="48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12"/>
          <p:cNvSpPr>
            <a:spLocks noChangeShapeType="1"/>
          </p:cNvSpPr>
          <p:nvPr userDrawn="1"/>
        </p:nvSpPr>
        <p:spPr bwMode="auto">
          <a:xfrm>
            <a:off x="0" y="2667000"/>
            <a:ext cx="4953000" cy="0"/>
          </a:xfrm>
          <a:prstGeom prst="line">
            <a:avLst/>
          </a:prstGeom>
          <a:noFill/>
          <a:ln w="127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Text Box 14" descr="Pink tissue paper"/>
          <p:cNvSpPr txBox="1">
            <a:spLocks noChangeArrowheads="1"/>
          </p:cNvSpPr>
          <p:nvPr userDrawn="1"/>
        </p:nvSpPr>
        <p:spPr bwMode="auto">
          <a:xfrm>
            <a:off x="533400" y="304800"/>
            <a:ext cx="533400" cy="731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US" altLang="en-US" sz="4200" b="1">
                <a:solidFill>
                  <a:srgbClr val="4C7816"/>
                </a:solidFill>
                <a:latin typeface="Arial" panose="020B0604020202020204" pitchFamily="34" charset="0"/>
              </a:rPr>
              <a:t>4</a:t>
            </a:r>
          </a:p>
        </p:txBody>
      </p:sp>
      <p:sp>
        <p:nvSpPr>
          <p:cNvPr id="7" name="Text Box 15" descr="Pink tissue paper"/>
          <p:cNvSpPr txBox="1">
            <a:spLocks noChangeArrowheads="1"/>
          </p:cNvSpPr>
          <p:nvPr userDrawn="1"/>
        </p:nvSpPr>
        <p:spPr bwMode="auto">
          <a:xfrm>
            <a:off x="304800" y="2057400"/>
            <a:ext cx="838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 r:embed="rId3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3200" b="1">
                <a:solidFill>
                  <a:srgbClr val="CD8019"/>
                </a:solidFill>
                <a:latin typeface="Arial" panose="020B0604020202020204" pitchFamily="34" charset="0"/>
              </a:rPr>
              <a:t>4.5</a:t>
            </a:r>
          </a:p>
        </p:txBody>
      </p:sp>
      <p:sp>
        <p:nvSpPr>
          <p:cNvPr id="8" name="Line 21"/>
          <p:cNvSpPr>
            <a:spLocks noChangeShapeType="1"/>
          </p:cNvSpPr>
          <p:nvPr userDrawn="1"/>
        </p:nvSpPr>
        <p:spPr bwMode="auto">
          <a:xfrm rot="5400000" flipH="1">
            <a:off x="4572000" y="-43434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Line 23"/>
          <p:cNvSpPr>
            <a:spLocks noChangeShapeType="1"/>
          </p:cNvSpPr>
          <p:nvPr userDrawn="1"/>
        </p:nvSpPr>
        <p:spPr bwMode="auto">
          <a:xfrm rot="5400000" flipH="1">
            <a:off x="762000" y="701675"/>
            <a:ext cx="0" cy="60960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Line 24"/>
          <p:cNvSpPr>
            <a:spLocks noChangeShapeType="1"/>
          </p:cNvSpPr>
          <p:nvPr userDrawn="1"/>
        </p:nvSpPr>
        <p:spPr bwMode="auto">
          <a:xfrm rot="16200000" flipH="1" flipV="1">
            <a:off x="-19050" y="495300"/>
            <a:ext cx="990600" cy="0"/>
          </a:xfrm>
          <a:prstGeom prst="line">
            <a:avLst/>
          </a:prstGeom>
          <a:noFill/>
          <a:ln w="38100">
            <a:solidFill>
              <a:srgbClr val="B6CEA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Freeform 31"/>
          <p:cNvSpPr>
            <a:spLocks/>
          </p:cNvSpPr>
          <p:nvPr userDrawn="1"/>
        </p:nvSpPr>
        <p:spPr bwMode="auto">
          <a:xfrm>
            <a:off x="0" y="2057400"/>
            <a:ext cx="1143000" cy="609600"/>
          </a:xfrm>
          <a:custGeom>
            <a:avLst/>
            <a:gdLst>
              <a:gd name="T0" fmla="*/ 0 w 96"/>
              <a:gd name="T1" fmla="*/ 0 h 192"/>
              <a:gd name="T2" fmla="*/ 1143000 w 96"/>
              <a:gd name="T3" fmla="*/ 0 h 192"/>
              <a:gd name="T4" fmla="*/ 1143000 w 96"/>
              <a:gd name="T5" fmla="*/ 609600 h 19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96" h="192">
                <a:moveTo>
                  <a:pt x="0" y="0"/>
                </a:moveTo>
                <a:lnTo>
                  <a:pt x="96" y="0"/>
                </a:lnTo>
                <a:lnTo>
                  <a:pt x="96" y="192"/>
                </a:lnTo>
              </a:path>
            </a:pathLst>
          </a:custGeom>
          <a:noFill/>
          <a:ln w="12700" cap="flat" cmpd="sng">
            <a:solidFill>
              <a:srgbClr val="077C97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CC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200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219200" y="609600"/>
            <a:ext cx="5943600" cy="1295400"/>
          </a:xfrm>
        </p:spPr>
        <p:txBody>
          <a:bodyPr anchor="t"/>
          <a:lstStyle>
            <a:lvl1pPr>
              <a:defRPr sz="3600">
                <a:latin typeface="Times New Roman" panose="02020603050405020304" pitchFamily="18" charset="0"/>
              </a:defRPr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  <p:sp>
        <p:nvSpPr>
          <p:cNvPr id="605201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457200" y="2819400"/>
            <a:ext cx="4495800" cy="33528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>
                <a:solidFill>
                  <a:srgbClr val="077C97"/>
                </a:solidFill>
                <a:latin typeface="Arial Narrow" panose="020B0606020202030204" pitchFamily="34" charset="0"/>
              </a:defRPr>
            </a:lvl1pPr>
          </a:lstStyle>
          <a:p>
            <a:pPr lvl="0"/>
            <a:r>
              <a:rPr lang="en-US" altLang="en-US" noProof="0" dirty="0"/>
              <a:t>Click to edit Master subtitle style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10"/>
          </p:nvPr>
        </p:nvSpPr>
        <p:spPr>
          <a:xfrm>
            <a:off x="1752600" y="6305550"/>
            <a:ext cx="69342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89297" y="2155194"/>
            <a:ext cx="3197503" cy="399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01518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4.5- </a:t>
            </a:r>
            <a:fld id="{0F047BDC-33DE-45AC-8B2F-B20A61845CEF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14991917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4.5- </a:t>
            </a:r>
            <a:fld id="{59BF8242-424F-413E-9950-F76CB069135B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677370251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4.5- </a:t>
            </a:r>
            <a:fld id="{16F275B5-548E-40EC-9322-D656738F57B6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625301551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4.5- </a:t>
            </a:r>
            <a:fld id="{25FAFFED-3772-4C4E-9A8D-E07397EAC743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8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45631998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4.5- </a:t>
            </a:r>
            <a:fld id="{662180D6-1681-4728-A333-87270EF6BBA5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11337135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4.5- </a:t>
            </a:r>
            <a:fld id="{2F98F688-12D4-4D5A-A29A-AF43AE71DCD2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95508901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4.5- </a:t>
            </a:r>
            <a:fld id="{9DA1FC77-AB0F-46E8-855D-C69EF43B6C27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49097702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4.5- </a:t>
            </a:r>
            <a:fld id="{01D86D9E-CA8D-4E81-8F64-6E2AB3F51429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23717309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4.5- </a:t>
            </a:r>
            <a:fld id="{26DFE59A-72EA-4772-A9F2-892428FAD44A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1615799553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0"/>
            <a:ext cx="2057400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0"/>
            <a:ext cx="6019800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Slide 4.5- </a:t>
            </a:r>
            <a:fld id="{551F85E1-5288-4992-A17F-DC55EC0D8827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</p:spTree>
    <p:extLst>
      <p:ext uri="{BB962C8B-B14F-4D97-AF65-F5344CB8AC3E}">
        <p14:creationId xmlns:p14="http://schemas.microsoft.com/office/powerpoint/2010/main" val="24177559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586" name="Rectangle 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07138"/>
            <a:ext cx="1905000" cy="474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1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Slide 4.5- </a:t>
            </a:r>
            <a:fld id="{66F4439C-8C65-4D10-9CCE-89B3C54703C5}" type="slidenum">
              <a:rPr lang="en-US" altLang="en-US"/>
              <a:pPr>
                <a:defRPr/>
              </a:pPr>
              <a:t>‹#›</a:t>
            </a:fld>
            <a:endParaRPr lang="en-CA" altLang="en-US"/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229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457200" y="6305550"/>
            <a:ext cx="6324600" cy="4762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buFont typeface="Symbol" panose="05050102010706020507" pitchFamily="18" charset="2"/>
              <a:buNone/>
              <a:defRPr sz="1200" smtClean="0">
                <a:latin typeface="Arial" panose="020B0604020202020204" pitchFamily="34" charset="0"/>
                <a:sym typeface="Symbol" panose="05050102010706020507" pitchFamily="18" charset="2"/>
              </a:defRPr>
            </a:lvl1pPr>
          </a:lstStyle>
          <a:p>
            <a:pPr>
              <a:defRPr/>
            </a:pPr>
            <a:r>
              <a:rPr lang="en-US" altLang="en-US" dirty="0"/>
              <a:t> © 2012 Pearson Education, Ltd.</a:t>
            </a:r>
          </a:p>
        </p:txBody>
      </p:sp>
      <p:sp>
        <p:nvSpPr>
          <p:cNvPr id="1030" name="Line 13"/>
          <p:cNvSpPr>
            <a:spLocks noChangeShapeType="1"/>
          </p:cNvSpPr>
          <p:nvPr userDrawn="1"/>
        </p:nvSpPr>
        <p:spPr bwMode="auto">
          <a:xfrm rot="5400000" flipH="1">
            <a:off x="4572000" y="-3505200"/>
            <a:ext cx="0" cy="9144000"/>
          </a:xfrm>
          <a:prstGeom prst="line">
            <a:avLst/>
          </a:prstGeom>
          <a:noFill/>
          <a:ln w="63500">
            <a:solidFill>
              <a:srgbClr val="077C97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</p:sldLayoutIdLst>
  <p:transition spd="med"/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77C9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>
          <a:solidFill>
            <a:srgbClr val="077C97"/>
          </a:solidFill>
          <a:latin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77C97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png"/><Relationship Id="rId5" Type="http://schemas.openxmlformats.org/officeDocument/2006/relationships/image" Target="../media/image1.jpeg"/><Relationship Id="rId4" Type="http://schemas.openxmlformats.org/officeDocument/2006/relationships/image" Target="../media/image6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9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8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1.wmf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4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5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0" Type="http://schemas.openxmlformats.org/officeDocument/2006/relationships/image" Target="../media/image30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5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5.wmf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0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3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ooter Placeholder 9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gian</a:t>
            </a:r>
            <a:r>
              <a:rPr lang="en-US" altLang="en-US" dirty="0"/>
              <a:t> </a:t>
            </a:r>
            <a:r>
              <a:rPr lang="en-US" altLang="en-US" dirty="0" err="1"/>
              <a:t>Vectơ</a:t>
            </a:r>
            <a:endParaRPr lang="en-US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latin typeface="+mj-lt"/>
              </a:rPr>
              <a:t>SỐ CHIỀU CỦA</a:t>
            </a:r>
          </a:p>
          <a:p>
            <a:pPr eaLnBrk="1" hangingPunct="1"/>
            <a:r>
              <a:rPr lang="en-US" altLang="en-US" dirty="0">
                <a:latin typeface="+mj-lt"/>
              </a:rPr>
              <a:t>KHÔNG GIAN VECTƠ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4.5- </a:t>
            </a:r>
            <a:fld id="{569E49E5-21DA-44DA-80E2-624EFE9CA6E1}" type="slidenum">
              <a:rPr lang="en-US" altLang="en-US" sz="1200">
                <a:latin typeface="Arial" panose="020B0604020202020204" pitchFamily="34" charset="0"/>
              </a:rPr>
              <a:pPr algn="r"/>
              <a:t>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6147" name="Footer Placeholder 4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SỐ CHIỀU CỦA KHÔNG GIAN VECTƠ</a:t>
            </a:r>
            <a:endParaRPr lang="en-US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6424" name="Rectangle 8"/>
              <p:cNvSpPr>
                <a:spLocks noGrp="1" noChangeArrowheads="1"/>
              </p:cNvSpPr>
              <p:nvPr>
                <p:ph type="body" idx="1"/>
              </p:nvPr>
            </p:nvSpPr>
            <p:spPr>
              <a:xfrm>
                <a:off x="457200" y="1447800"/>
                <a:ext cx="8229600" cy="5029200"/>
              </a:xfrm>
            </p:spPr>
            <p:txBody>
              <a:bodyPr/>
              <a:lstStyle/>
              <a:p>
                <a:pPr marL="0" indent="0" eaLnBrk="1" hangingPunct="1">
                  <a:buNone/>
                </a:pPr>
                <a:r>
                  <a:rPr lang="en-US" altLang="en-US" sz="28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Định</a:t>
                </a:r>
                <a:r>
                  <a:rPr lang="en-US" altLang="en-US" sz="28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lí</a:t>
                </a:r>
                <a:r>
                  <a:rPr lang="en-US" altLang="en-US" sz="2800" b="1" dirty="0">
                    <a:solidFill>
                      <a:srgbClr val="077C97"/>
                    </a:solidFill>
                    <a:cs typeface="Times New Roman" panose="02020603050405020304" pitchFamily="18" charset="0"/>
                  </a:rPr>
                  <a:t> 9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: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Nếu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không gian 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cơ sở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 eaLnBrk="1" hangingPunct="1">
                  <a:buNone/>
                </a:pPr>
                <a:r>
                  <a:rPr lang="en-US" altLang="en-US" sz="2800" dirty="0">
                    <a:latin typeface="Euclid Math One" pitchFamily="18" charset="2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                     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thì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bất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kì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chứa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nhiều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hơn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phải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thuộc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609600" indent="-609600" eaLnBrk="1" hangingPunct="1">
                  <a:buFont typeface="Wingdings" panose="05000000000000000000" pitchFamily="2" charset="2"/>
                  <a:buNone/>
                </a:pPr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buNone/>
                </a:pPr>
                <a:r>
                  <a:rPr lang="en-US" altLang="en-US" sz="2800" b="1" dirty="0" err="1">
                    <a:cs typeface="Times New Roman" panose="02020603050405020304" pitchFamily="18" charset="0"/>
                  </a:rPr>
                  <a:t>Chứng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b="1" dirty="0" err="1">
                    <a:cs typeface="Times New Roman" panose="02020603050405020304" pitchFamily="18" charset="0"/>
                  </a:rPr>
                  <a:t>minh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: 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Cho{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…, 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800" i="1" baseline="-25000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}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là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V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nhiều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hơn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609600" indent="-609600" eaLnBrk="1" hangingPunct="1"/>
                <a:endParaRPr lang="en-US" altLang="en-US" sz="2800" dirty="0">
                  <a:cs typeface="Times New Roman" panose="02020603050405020304" pitchFamily="18" charset="0"/>
                </a:endParaRPr>
              </a:p>
              <a:p>
                <a:pPr marL="609600" indent="-609600" eaLnBrk="1" hangingPunct="1"/>
                <a:r>
                  <a:rPr lang="en-US" altLang="en-US" sz="2800" dirty="0" err="1">
                    <a:cs typeface="Times New Roman" panose="02020603050405020304" pitchFamily="18" charset="0"/>
                  </a:rPr>
                  <a:t>Các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v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ectơ tọa độ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[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]</a:t>
                </a:r>
                <a:r>
                  <a:rPr lang="en-US" altLang="en-US" sz="2800" baseline="-25000" dirty="0">
                    <a:latin typeface="Euclid Math One" pitchFamily="18" charset="2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, …, [</a:t>
                </a:r>
                <a:r>
                  <a:rPr lang="en-US" altLang="en-US" sz="2800" b="1" dirty="0">
                    <a:cs typeface="Times New Roman" panose="02020603050405020304" pitchFamily="18" charset="0"/>
                  </a:rPr>
                  <a:t>u</a:t>
                </a:r>
                <a:r>
                  <a:rPr lang="en-US" altLang="en-US" sz="2800" i="1" baseline="-25000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]</a:t>
                </a:r>
                <a:r>
                  <a:rPr lang="en-US" altLang="en-US" sz="2800" baseline="-25000" dirty="0">
                    <a:latin typeface="Euclid Math One" pitchFamily="18" charset="2"/>
                    <a:cs typeface="Times New Roman" panose="02020603050405020304" pitchFamily="18" charset="0"/>
                  </a:rPr>
                  <a:t>B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tạo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nên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một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tập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phụ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thuộc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tuyến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tính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2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en-US" sz="2800" dirty="0">
                    <a:cs typeface="Times New Roman" panose="02020603050405020304" pitchFamily="18" charset="0"/>
                  </a:rPr>
                  <a:t>,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vì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có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nhiều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(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p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)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hơn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số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thành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phần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(</a:t>
                </a:r>
                <a:r>
                  <a:rPr lang="en-US" altLang="en-US" sz="2800" i="1" dirty="0">
                    <a:cs typeface="Times New Roman" panose="02020603050405020304" pitchFamily="18" charset="0"/>
                  </a:rPr>
                  <a:t>n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)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trong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en-US" altLang="en-US" sz="2800" dirty="0" err="1">
                    <a:cs typeface="Times New Roman" panose="02020603050405020304" pitchFamily="18" charset="0"/>
                  </a:rPr>
                  <a:t>mỗi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 </a:t>
                </a:r>
                <a:r>
                  <a:rPr lang="vi-VN" altLang="en-US" sz="2800" dirty="0">
                    <a:cs typeface="Times New Roman" panose="02020603050405020304" pitchFamily="18" charset="0"/>
                  </a:rPr>
                  <a:t>vectơ</a:t>
                </a:r>
                <a:r>
                  <a:rPr lang="en-US" altLang="en-US" sz="2800" dirty="0">
                    <a:cs typeface="Times New Roman" panose="02020603050405020304" pitchFamily="18" charset="0"/>
                  </a:rPr>
                  <a:t>.</a:t>
                </a:r>
              </a:p>
              <a:p>
                <a:pPr marL="609600" indent="-609600" eaLnBrk="1" hangingPunct="1"/>
                <a:endParaRPr lang="en-US" altLang="en-US" sz="2800" dirty="0"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16424" name="Rectangle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447800"/>
                <a:ext cx="8229600" cy="5029200"/>
              </a:xfrm>
              <a:blipFill>
                <a:blip r:embed="rId4"/>
                <a:stretch>
                  <a:fillRect l="-1481" t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16459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219529"/>
              </p:ext>
            </p:extLst>
          </p:nvPr>
        </p:nvGraphicFramePr>
        <p:xfrm>
          <a:off x="914400" y="1955800"/>
          <a:ext cx="1892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Equation" r:id="rId5" imgW="1892300" imgH="482600" progId="">
                  <p:embed/>
                </p:oleObj>
              </mc:Choice>
              <mc:Fallback>
                <p:oleObj name="Equation" r:id="rId5" imgW="1892300" imgH="482600" progId="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1955800"/>
                        <a:ext cx="1892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4.5- </a:t>
            </a:r>
            <a:fld id="{D0A47050-303D-4C6B-88D8-9CCF33C4BB7D}" type="slidenum">
              <a:rPr lang="en-US" altLang="en-US" sz="1200">
                <a:latin typeface="Arial" panose="020B0604020202020204" pitchFamily="34" charset="0"/>
              </a:rPr>
              <a:pPr algn="r"/>
              <a:t>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SỐ CHIỀU CỦA KHÔNG GIAN VECTƠ</a:t>
            </a:r>
            <a:endParaRPr lang="en-US" altLang="en-US" dirty="0"/>
          </a:p>
        </p:txBody>
      </p:sp>
      <p:sp>
        <p:nvSpPr>
          <p:cNvPr id="7208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53340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tồn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tại</a:t>
            </a:r>
            <a:r>
              <a:rPr lang="en-US" altLang="en-US" sz="2800" dirty="0"/>
              <a:t> </a:t>
            </a:r>
            <a:r>
              <a:rPr lang="vi-VN" altLang="en-US" sz="2800" dirty="0"/>
              <a:t>các vô hướng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i="1" dirty="0" err="1"/>
              <a:t>c</a:t>
            </a:r>
            <a:r>
              <a:rPr lang="en-US" altLang="en-US" sz="2800" i="1" baseline="-25000" dirty="0" err="1"/>
              <a:t>p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đồng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thời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0, </a:t>
            </a:r>
            <a:r>
              <a:rPr lang="en-US" altLang="en-US" sz="2800" dirty="0" err="1"/>
              <a:t>sao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cho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ánh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xạ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tọa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phép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đổi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,</a:t>
            </a:r>
          </a:p>
        </p:txBody>
      </p:sp>
      <p:graphicFrame>
        <p:nvGraphicFramePr>
          <p:cNvPr id="720900" name="Object 4"/>
          <p:cNvGraphicFramePr>
            <a:graphicFrameLocks noChangeAspect="1"/>
          </p:cNvGraphicFramePr>
          <p:nvPr/>
        </p:nvGraphicFramePr>
        <p:xfrm>
          <a:off x="1136650" y="1778000"/>
          <a:ext cx="44577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Equation" r:id="rId3" imgW="4457700" imgH="1778000" progId="">
                  <p:embed/>
                </p:oleObj>
              </mc:Choice>
              <mc:Fallback>
                <p:oleObj name="Equation" r:id="rId3" imgW="4457700" imgH="17780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1778000"/>
                        <a:ext cx="44577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20901" name="Text Box 5" descr="Pink tissue paper"/>
              <p:cNvSpPr txBox="1">
                <a:spLocks noChangeArrowheads="1"/>
              </p:cNvSpPr>
              <p:nvPr/>
            </p:nvSpPr>
            <p:spPr bwMode="auto">
              <a:xfrm>
                <a:off x="5715000" y="2438400"/>
                <a:ext cx="3200400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blipFill dpi="0" rotWithShape="0">
                      <a:blip r:embed="rId5"/>
                      <a:srcRect/>
                      <a:tile tx="0" ty="0" sx="100000" sy="100000" flip="none" algn="tl"/>
                    </a:blip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 algn="ctr">
                  <a:defRPr sz="2400">
                    <a:solidFill>
                      <a:schemeClr val="tx1"/>
                    </a:solidFill>
                    <a:latin typeface="Bookshelf Symbol 2" pitchFamily="2" charset="2"/>
                  </a:defRPr>
                </a:lvl1pPr>
                <a:lvl2pPr marL="742950" indent="-285750" algn="ctr">
                  <a:defRPr sz="2400">
                    <a:solidFill>
                      <a:schemeClr val="tx1"/>
                    </a:solidFill>
                    <a:latin typeface="Bookshelf Symbol 2" pitchFamily="2" charset="2"/>
                  </a:defRPr>
                </a:lvl2pPr>
                <a:lvl3pPr marL="1143000" indent="-228600" algn="ctr">
                  <a:defRPr sz="2400">
                    <a:solidFill>
                      <a:schemeClr val="tx1"/>
                    </a:solidFill>
                    <a:latin typeface="Bookshelf Symbol 2" pitchFamily="2" charset="2"/>
                  </a:defRPr>
                </a:lvl3pPr>
                <a:lvl4pPr marL="1600200" indent="-228600" algn="ctr">
                  <a:defRPr sz="2400">
                    <a:solidFill>
                      <a:schemeClr val="tx1"/>
                    </a:solidFill>
                    <a:latin typeface="Bookshelf Symbol 2" pitchFamily="2" charset="2"/>
                  </a:defRPr>
                </a:lvl4pPr>
                <a:lvl5pPr marL="2057400" indent="-228600" algn="ctr">
                  <a:defRPr sz="2400">
                    <a:solidFill>
                      <a:schemeClr val="tx1"/>
                    </a:solidFill>
                    <a:latin typeface="Bookshelf Symbol 2" pitchFamily="2" charset="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Bookshelf Symbol 2" pitchFamily="2" charset="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Bookshelf Symbol 2" pitchFamily="2" charset="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Bookshelf Symbol 2" pitchFamily="2" charset="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Bookshelf Symbol 2" pitchFamily="2" charset="2"/>
                  </a:defRPr>
                </a:lvl9pPr>
              </a:lstStyle>
              <a:p>
                <a:pPr algn="l" eaLnBrk="1" hangingPunct="1">
                  <a:spcBef>
                    <a:spcPct val="50000"/>
                  </a:spcBef>
                </a:pPr>
                <a:r>
                  <a:rPr lang="en-US" altLang="en-US" dirty="0">
                    <a:solidFill>
                      <a:srgbClr val="0099FF"/>
                    </a:solidFill>
                    <a:latin typeface="Times New Roman" panose="02020603050405020304" pitchFamily="18" charset="0"/>
                  </a:rPr>
                  <a:t>V</a:t>
                </a:r>
                <a:r>
                  <a:rPr lang="vi-VN" altLang="en-US" dirty="0">
                    <a:solidFill>
                      <a:srgbClr val="0099FF"/>
                    </a:solidFill>
                    <a:latin typeface="Times New Roman" panose="02020603050405020304" pitchFamily="18" charset="0"/>
                  </a:rPr>
                  <a:t>ectơ không</a:t>
                </a:r>
                <a:r>
                  <a:rPr lang="en-US" altLang="en-US" dirty="0">
                    <a:solidFill>
                      <a:srgbClr val="0099FF"/>
                    </a:solidFill>
                    <a:latin typeface="Times New Roman" panose="02020603050405020304" pitchFamily="18" charset="0"/>
                  </a:rPr>
                  <a:t>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en-US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en-US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en-US" dirty="0">
                  <a:solidFill>
                    <a:srgbClr val="00B0F0"/>
                  </a:solidFill>
                  <a:latin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20901" name="Text Box 5" descr="Pink tissue paper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5000" y="2438400"/>
                <a:ext cx="3200400" cy="461665"/>
              </a:xfrm>
              <a:prstGeom prst="rect">
                <a:avLst/>
              </a:prstGeom>
              <a:blipFill>
                <a:blip r:embed="rId6"/>
                <a:stretch>
                  <a:fillRect l="-3048" t="-10526" b="-289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blipFill dpi="0" rotWithShape="0">
                      <a:blip r:embed="rId5"/>
                      <a:srcRect/>
                      <a:tile tx="0" ty="0" sx="100000" sy="100000" flip="none" algn="tl"/>
                    </a:blip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20903" name="Object 7"/>
          <p:cNvGraphicFramePr>
            <a:graphicFrameLocks noChangeAspect="1"/>
          </p:cNvGraphicFramePr>
          <p:nvPr/>
        </p:nvGraphicFramePr>
        <p:xfrm>
          <a:off x="2514600" y="4648200"/>
          <a:ext cx="38608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Equation" r:id="rId7" imgW="3860800" imgH="1778000" progId="">
                  <p:embed/>
                </p:oleObj>
              </mc:Choice>
              <mc:Fallback>
                <p:oleObj name="Equation" r:id="rId7" imgW="3860800" imgH="17780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4648200"/>
                        <a:ext cx="38608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4.5- </a:t>
            </a:r>
            <a:fld id="{DBB7BFD1-13E7-4605-AA3F-B9DE62373C00}" type="slidenum">
              <a:rPr lang="en-US" altLang="en-US" sz="1200">
                <a:latin typeface="Arial" panose="020B0604020202020204" pitchFamily="34" charset="0"/>
              </a:rPr>
              <a:pPr algn="r"/>
              <a:t>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SỐ CHIỀU CỦA KHÔNG GIAN VECTƠ</a:t>
            </a:r>
            <a:endParaRPr lang="en-US" altLang="en-US" dirty="0"/>
          </a:p>
        </p:txBody>
      </p:sp>
      <p:sp>
        <p:nvSpPr>
          <p:cNvPr id="7219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</a:t>
            </a:r>
            <a:r>
              <a:rPr lang="vi-VN" altLang="en-US" sz="2800" dirty="0"/>
              <a:t>ectơ 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vế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biểu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thị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trọng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dựng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                          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vectơ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Đó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,                                                                  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i="1" dirty="0"/>
              <a:t>c</a:t>
            </a:r>
            <a:r>
              <a:rPr lang="en-US" altLang="en-US" sz="2800" i="1" baseline="-25000" dirty="0"/>
              <a:t>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đồng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thời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0, </a:t>
            </a:r>
            <a:r>
              <a:rPr lang="en-US" altLang="en-US" sz="2800" dirty="0" err="1"/>
              <a:t>nên</a:t>
            </a:r>
            <a:r>
              <a:rPr lang="en-US" altLang="en-US" sz="2800" dirty="0"/>
              <a:t> {</a:t>
            </a:r>
            <a:r>
              <a:rPr lang="en-US" altLang="en-US" sz="2800" b="1" dirty="0"/>
              <a:t>u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…, </a:t>
            </a:r>
            <a:r>
              <a:rPr lang="en-US" altLang="en-US" sz="2800" b="1" dirty="0"/>
              <a:t>u</a:t>
            </a:r>
            <a:r>
              <a:rPr lang="en-US" altLang="en-US" sz="2800" i="1" baseline="-25000" dirty="0"/>
              <a:t>p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phụ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9 </a:t>
            </a:r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không gian vectơ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dirty="0"/>
              <a:t>                      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mỗi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hơn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219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2582398"/>
              </p:ext>
            </p:extLst>
          </p:nvPr>
        </p:nvGraphicFramePr>
        <p:xfrm>
          <a:off x="2514600" y="1612900"/>
          <a:ext cx="23114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4" name="Equation" r:id="rId3" imgW="2311400" imgH="520700" progId="">
                  <p:embed/>
                </p:oleObj>
              </mc:Choice>
              <mc:Fallback>
                <p:oleObj name="Equation" r:id="rId3" imgW="2311400" imgH="5207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612900"/>
                        <a:ext cx="23114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25" name="Object 5"/>
          <p:cNvGraphicFramePr>
            <a:graphicFrameLocks noChangeAspect="1"/>
          </p:cNvGraphicFramePr>
          <p:nvPr/>
        </p:nvGraphicFramePr>
        <p:xfrm>
          <a:off x="2006600" y="3060700"/>
          <a:ext cx="58039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5" name="Equation" r:id="rId5" imgW="5803900" imgH="520700" progId="">
                  <p:embed/>
                </p:oleObj>
              </mc:Choice>
              <mc:Fallback>
                <p:oleObj name="Equation" r:id="rId5" imgW="5803900" imgH="5207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6600" y="3060700"/>
                        <a:ext cx="5803900" cy="520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19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0433635"/>
              </p:ext>
            </p:extLst>
          </p:nvPr>
        </p:nvGraphicFramePr>
        <p:xfrm>
          <a:off x="2755900" y="5004031"/>
          <a:ext cx="1892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6" name="Equation" r:id="rId7" imgW="1892300" imgH="482600" progId="">
                  <p:embed/>
                </p:oleObj>
              </mc:Choice>
              <mc:Fallback>
                <p:oleObj name="Equation" r:id="rId7" imgW="1892300" imgH="482600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55900" y="5004031"/>
                        <a:ext cx="18923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4.5- </a:t>
            </a:r>
            <a:fld id="{A5CE95FE-0B4B-4825-9D3E-9E6E841E3229}" type="slidenum">
              <a:rPr lang="en-US" altLang="en-US" sz="1200">
                <a:latin typeface="Arial" panose="020B0604020202020204" pitchFamily="34" charset="0"/>
              </a:rPr>
              <a:pPr algn="r"/>
              <a:t>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SỐ CHIỀU CỦA KHÔNG GIAN VECTƠ</a:t>
            </a:r>
            <a:endParaRPr lang="en-US" altLang="en-US" dirty="0"/>
          </a:p>
        </p:txBody>
      </p:sp>
      <p:sp>
        <p:nvSpPr>
          <p:cNvPr id="72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458200" cy="5334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10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không gian vectơ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gồm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mọi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đúng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marL="0" indent="0" eaLnBrk="1" hangingPunct="1">
              <a:buNone/>
            </a:pPr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minh</a:t>
            </a:r>
            <a:r>
              <a:rPr lang="en-US" altLang="en-US" sz="2800" b="1" dirty="0"/>
              <a:t>: </a:t>
            </a:r>
            <a:r>
              <a:rPr lang="en-US" altLang="en-US" sz="2800" dirty="0"/>
              <a:t>Cho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gồm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tùy</a:t>
            </a:r>
            <a:r>
              <a:rPr lang="en-US" altLang="en-US" sz="2800" dirty="0"/>
              <a:t> ý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). </a:t>
            </a:r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,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vi-VN" altLang="en-US" sz="2800" dirty="0"/>
              <a:t>không thể có nhiều hơn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9.</a:t>
            </a:r>
          </a:p>
          <a:p>
            <a:pPr eaLnBrk="1" hangingPunct="1"/>
            <a:r>
              <a:rPr lang="en-US" altLang="en-US" sz="2800" dirty="0" err="1"/>
              <a:t>Tương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,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ít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nhất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>
                <a:latin typeface="Euclid Math One" pitchFamily="18" charset="2"/>
              </a:rPr>
              <a:t>B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gồm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đúng</a:t>
            </a:r>
            <a:r>
              <a:rPr lang="en-US" altLang="en-US" sz="2800" dirty="0"/>
              <a:t> </a:t>
            </a:r>
            <a:r>
              <a:rPr lang="en-US" altLang="en-US" sz="2800" i="1" dirty="0"/>
              <a:t>n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.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4.5- </a:t>
            </a:r>
            <a:fld id="{17F1E531-8C73-4F43-B9E9-DCC80E3A1A90}" type="slidenum">
              <a:rPr lang="en-US" altLang="en-US" sz="1200">
                <a:latin typeface="Arial" panose="020B0604020202020204" pitchFamily="34" charset="0"/>
              </a:rPr>
              <a:pPr algn="r"/>
              <a:t>6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SỐ CHIỀU CỦA KHÔNG GIAN VECTƠ</a:t>
            </a:r>
            <a:endParaRPr lang="en-US" altLang="en-US" dirty="0"/>
          </a:p>
        </p:txBody>
      </p:sp>
      <p:sp>
        <p:nvSpPr>
          <p:cNvPr id="72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Định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nghĩa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hữu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hữu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hạn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chiều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số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viết</a:t>
            </a:r>
            <a:r>
              <a:rPr lang="en-US" altLang="en-US" sz="2800" dirty="0"/>
              <a:t> dim </a:t>
            </a:r>
            <a:r>
              <a:rPr lang="en-US" altLang="en-US" sz="2800" i="1" dirty="0"/>
              <a:t>V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vi-VN" altLang="en-US" sz="2800" dirty="0"/>
              <a:t>không gian vectơ</a:t>
            </a:r>
            <a:r>
              <a:rPr lang="en-US" altLang="en-US" sz="2800" dirty="0"/>
              <a:t> </a:t>
            </a:r>
            <a:r>
              <a:rPr lang="en-US" altLang="en-US" sz="2800" b="1" dirty="0"/>
              <a:t>{0}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nghĩa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bằng</a:t>
            </a:r>
            <a:r>
              <a:rPr lang="en-US" altLang="en-US" sz="2800" dirty="0"/>
              <a:t> 0.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bởi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hữu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vi-VN" altLang="en-US" sz="2800" dirty="0"/>
              <a:t>được gọi là</a:t>
            </a:r>
            <a:r>
              <a:rPr lang="en-US" altLang="en-US" sz="2800" dirty="0"/>
              <a:t> </a:t>
            </a:r>
            <a:r>
              <a:rPr lang="en-US" altLang="en-US" sz="2800" b="1" dirty="0" err="1"/>
              <a:t>vô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hạn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chiều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3: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</a:t>
            </a:r>
          </a:p>
        </p:txBody>
      </p:sp>
      <p:graphicFrame>
        <p:nvGraphicFramePr>
          <p:cNvPr id="723972" name="Object 4"/>
          <p:cNvGraphicFramePr>
            <a:graphicFrameLocks noChangeAspect="1"/>
          </p:cNvGraphicFramePr>
          <p:nvPr/>
        </p:nvGraphicFramePr>
        <p:xfrm>
          <a:off x="1981200" y="4267200"/>
          <a:ext cx="5257800" cy="228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Equation" r:id="rId3" imgW="5613400" imgH="2438400" progId="">
                  <p:embed/>
                </p:oleObj>
              </mc:Choice>
              <mc:Fallback>
                <p:oleObj name="Equation" r:id="rId3" imgW="5613400" imgH="24384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267200"/>
                        <a:ext cx="5257800" cy="22844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  <p:sp>
        <p:nvSpPr>
          <p:cNvPr id="2" name="Rectangle 1"/>
          <p:cNvSpPr/>
          <p:nvPr/>
        </p:nvSpPr>
        <p:spPr>
          <a:xfrm>
            <a:off x="6629400" y="5115580"/>
            <a:ext cx="457200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800" dirty="0">
                <a:latin typeface="Cambria Math" panose="02040503050406030204" pitchFamily="18" charset="0"/>
                <a:ea typeface="Cambria Math" panose="02040503050406030204" pitchFamily="18" charset="0"/>
              </a:rPr>
              <a:t>ℝ</a:t>
            </a:r>
            <a:endParaRPr lang="en-US" sz="2800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4.5- </a:t>
            </a:r>
            <a:fld id="{BFA837A8-4F38-48FF-AC26-0F2F984C08A9}" type="slidenum">
              <a:rPr lang="en-US" altLang="en-US" sz="1200">
                <a:latin typeface="Arial" panose="020B0604020202020204" pitchFamily="34" charset="0"/>
              </a:rPr>
              <a:pPr algn="r"/>
              <a:t>7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SỐ CHIỀU CỦA KHÔNG GIAN VECTƠ</a:t>
            </a:r>
            <a:endParaRPr lang="en-US" altLang="en-US" dirty="0"/>
          </a:p>
        </p:txBody>
      </p:sp>
      <p:sp>
        <p:nvSpPr>
          <p:cNvPr id="7249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                 ,                  ,                   ,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r>
              <a:rPr lang="en-US" altLang="en-US" sz="2800" dirty="0" err="1"/>
              <a:t>Rõ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ràng</a:t>
            </a:r>
            <a:r>
              <a:rPr lang="en-US" altLang="en-US" sz="2800" dirty="0"/>
              <a:t>,           ,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bội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nhưng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bội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. </a:t>
            </a:r>
          </a:p>
          <a:p>
            <a:pPr eaLnBrk="1" hangingPunct="1"/>
            <a:r>
              <a:rPr lang="en-US" altLang="en-US" sz="2800" dirty="0"/>
              <a:t>Theo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loại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3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vẫn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.</a:t>
            </a:r>
          </a:p>
        </p:txBody>
      </p:sp>
      <p:graphicFrame>
        <p:nvGraphicFramePr>
          <p:cNvPr id="724996" name="Object 4"/>
          <p:cNvGraphicFramePr>
            <a:graphicFrameLocks noChangeAspect="1"/>
          </p:cNvGraphicFramePr>
          <p:nvPr/>
        </p:nvGraphicFramePr>
        <p:xfrm>
          <a:off x="762000" y="1930400"/>
          <a:ext cx="13208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9" name="Equation" r:id="rId3" imgW="1320800" imgH="2362200" progId="">
                  <p:embed/>
                </p:oleObj>
              </mc:Choice>
              <mc:Fallback>
                <p:oleObj name="Equation" r:id="rId3" imgW="1320800" imgH="23622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930400"/>
                        <a:ext cx="1320800" cy="236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7" name="Object 5"/>
          <p:cNvGraphicFramePr>
            <a:graphicFrameLocks noChangeAspect="1"/>
          </p:cNvGraphicFramePr>
          <p:nvPr/>
        </p:nvGraphicFramePr>
        <p:xfrm>
          <a:off x="2197100" y="1930400"/>
          <a:ext cx="15748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0" name="Equation" r:id="rId5" imgW="1574800" imgH="2362200" progId="">
                  <p:embed/>
                </p:oleObj>
              </mc:Choice>
              <mc:Fallback>
                <p:oleObj name="Equation" r:id="rId5" imgW="1574800" imgH="23622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7100" y="1930400"/>
                        <a:ext cx="1574800" cy="236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8" name="Object 6"/>
          <p:cNvGraphicFramePr>
            <a:graphicFrameLocks noChangeAspect="1"/>
          </p:cNvGraphicFramePr>
          <p:nvPr/>
        </p:nvGraphicFramePr>
        <p:xfrm>
          <a:off x="3962400" y="1930400"/>
          <a:ext cx="15748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1" name="Equation" r:id="rId7" imgW="1574800" imgH="2362200" progId="">
                  <p:embed/>
                </p:oleObj>
              </mc:Choice>
              <mc:Fallback>
                <p:oleObj name="Equation" r:id="rId7" imgW="1574800" imgH="23622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1930400"/>
                        <a:ext cx="1574800" cy="236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4999" name="Object 7"/>
          <p:cNvGraphicFramePr>
            <a:graphicFrameLocks noChangeAspect="1"/>
          </p:cNvGraphicFramePr>
          <p:nvPr/>
        </p:nvGraphicFramePr>
        <p:xfrm>
          <a:off x="5765800" y="1930400"/>
          <a:ext cx="1562100" cy="236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2" name="Equation" r:id="rId9" imgW="1562100" imgH="2362200" progId="">
                  <p:embed/>
                </p:oleObj>
              </mc:Choice>
              <mc:Fallback>
                <p:oleObj name="Equation" r:id="rId9" imgW="1562100" imgH="23622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5800" y="1930400"/>
                        <a:ext cx="1562100" cy="2362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500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928110"/>
              </p:ext>
            </p:extLst>
          </p:nvPr>
        </p:nvGraphicFramePr>
        <p:xfrm>
          <a:off x="2159000" y="4432300"/>
          <a:ext cx="965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3" name="Equation" r:id="rId11" imgW="965200" imgH="482600" progId="">
                  <p:embed/>
                </p:oleObj>
              </mc:Choice>
              <mc:Fallback>
                <p:oleObj name="Equation" r:id="rId11" imgW="965200" imgH="48260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9000" y="4432300"/>
                        <a:ext cx="965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4.5- </a:t>
            </a:r>
            <a:fld id="{3F1E77CD-ADD6-4E4F-BB3D-CD2E0BF1340D}" type="slidenum">
              <a:rPr lang="en-US" altLang="en-US" sz="1200">
                <a:latin typeface="Arial" panose="020B0604020202020204" pitchFamily="34" charset="0"/>
              </a:rPr>
              <a:pPr algn="r"/>
              <a:t>8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KHÔNG GIAN CON CỦA KHÔNG GIAN VECTƠ HỮU HẠN CHIỀU</a:t>
            </a:r>
            <a:endParaRPr lang="en-US" altLang="en-US" dirty="0"/>
          </a:p>
        </p:txBody>
      </p:sp>
      <p:sp>
        <p:nvSpPr>
          <p:cNvPr id="72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876800"/>
          </a:xfrm>
        </p:spPr>
        <p:txBody>
          <a:bodyPr/>
          <a:lstStyle/>
          <a:p>
            <a:pPr eaLnBrk="1" hangingPunct="1"/>
            <a:r>
              <a:rPr lang="en-US" altLang="en-US" sz="2800" dirty="0" err="1"/>
              <a:t>Cuối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,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4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{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1</a:t>
            </a:r>
            <a:r>
              <a:rPr lang="en-US" altLang="en-US" sz="2800" dirty="0"/>
              <a:t>,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2</a:t>
            </a:r>
            <a:r>
              <a:rPr lang="en-US" altLang="en-US" sz="2800" dirty="0"/>
              <a:t>, </a:t>
            </a:r>
            <a:r>
              <a:rPr lang="en-US" altLang="en-US" sz="2800" b="1" dirty="0"/>
              <a:t>v</a:t>
            </a:r>
            <a:r>
              <a:rPr lang="en-US" altLang="en-US" sz="2800" baseline="-25000" dirty="0"/>
              <a:t>4</a:t>
            </a:r>
            <a:r>
              <a:rPr lang="en-US" altLang="en-US" sz="2800" dirty="0"/>
              <a:t>}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.</a:t>
            </a:r>
          </a:p>
          <a:p>
            <a:pPr eaLnBrk="1" hangingPunct="1"/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vậy</a:t>
            </a:r>
            <a:r>
              <a:rPr lang="en-US" altLang="en-US" sz="2800" dirty="0"/>
              <a:t>, dim           .</a:t>
            </a:r>
          </a:p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11</a:t>
            </a:r>
            <a:r>
              <a:rPr lang="en-US" altLang="en-US" sz="2800" b="1" dirty="0"/>
              <a:t>:</a:t>
            </a:r>
            <a:r>
              <a:rPr lang="en-US" altLang="en-US" sz="2800" dirty="0"/>
              <a:t> Cho </a:t>
            </a:r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con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không gian vectơ hữu hạn chiều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rộng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cần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hữu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endParaRPr lang="en-US" altLang="en-US" sz="2800" dirty="0"/>
          </a:p>
        </p:txBody>
      </p:sp>
      <p:graphicFrame>
        <p:nvGraphicFramePr>
          <p:cNvPr id="726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8792128"/>
              </p:ext>
            </p:extLst>
          </p:nvPr>
        </p:nvGraphicFramePr>
        <p:xfrm>
          <a:off x="2590800" y="3352454"/>
          <a:ext cx="9652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6" name="Equation" r:id="rId3" imgW="965200" imgH="342900" progId="">
                  <p:embed/>
                </p:oleObj>
              </mc:Choice>
              <mc:Fallback>
                <p:oleObj name="Equation" r:id="rId3" imgW="965200" imgH="3429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352454"/>
                        <a:ext cx="9652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6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718502"/>
              </p:ext>
            </p:extLst>
          </p:nvPr>
        </p:nvGraphicFramePr>
        <p:xfrm>
          <a:off x="3429000" y="5791200"/>
          <a:ext cx="2413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7" name="Equation" r:id="rId5" imgW="2413000" imgH="355600" progId="">
                  <p:embed/>
                </p:oleObj>
              </mc:Choice>
              <mc:Fallback>
                <p:oleObj name="Equation" r:id="rId5" imgW="2413000" imgH="3556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791200"/>
                        <a:ext cx="2413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4.5- </a:t>
            </a:r>
            <a:fld id="{6D88400D-8630-47E3-81E7-5E4F5A6EFE41}" type="slidenum">
              <a:rPr lang="en-US" altLang="en-US" sz="1200">
                <a:latin typeface="Arial" panose="020B0604020202020204" pitchFamily="34" charset="0"/>
              </a:rPr>
              <a:pPr algn="r"/>
              <a:t>9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KHÔNG GIAN CON CỦA KHÔNG GIAN VECTƠ HỮU HẠN CHIỀU</a:t>
            </a:r>
            <a:endParaRPr lang="en-US" altLang="en-US" dirty="0"/>
          </a:p>
        </p:txBody>
      </p:sp>
      <p:sp>
        <p:nvSpPr>
          <p:cNvPr id="72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82000" cy="46482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minh</a:t>
            </a:r>
            <a:r>
              <a:rPr lang="en-US" altLang="en-US" sz="2800" b="1" dirty="0"/>
              <a:t>: </a:t>
            </a:r>
            <a:r>
              <a:rPr lang="en-US" altLang="en-US" sz="2800" dirty="0" err="1"/>
              <a:t>Nếu</a:t>
            </a:r>
            <a:r>
              <a:rPr lang="en-US" altLang="en-US" sz="2800" dirty="0"/>
              <a:t>               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đương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nhiên</a:t>
            </a:r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Ngược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lại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cho</a:t>
            </a:r>
            <a:r>
              <a:rPr lang="en-US" altLang="en-US" sz="2800" dirty="0"/>
              <a:t>                          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tùy</a:t>
            </a:r>
            <a:r>
              <a:rPr lang="en-US" altLang="en-US" sz="2800" dirty="0"/>
              <a:t> ý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thì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Nếu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ngược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lại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</a:t>
            </a:r>
            <a:r>
              <a:rPr lang="en-US" altLang="en-US" sz="2800" i="1" dirty="0"/>
              <a:t>H </a:t>
            </a:r>
            <a:r>
              <a:rPr lang="en-US" altLang="en-US" sz="2800" dirty="0" err="1"/>
              <a:t>mà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thuộc</a:t>
            </a:r>
            <a:r>
              <a:rPr lang="en-US" altLang="en-US" sz="2800" dirty="0"/>
              <a:t> Span </a:t>
            </a:r>
            <a:r>
              <a:rPr lang="en-US" altLang="en-US" sz="2800" i="1" dirty="0"/>
              <a:t>S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</p:txBody>
      </p:sp>
      <p:graphicFrame>
        <p:nvGraphicFramePr>
          <p:cNvPr id="72704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7880648"/>
              </p:ext>
            </p:extLst>
          </p:nvPr>
        </p:nvGraphicFramePr>
        <p:xfrm>
          <a:off x="3365500" y="1587500"/>
          <a:ext cx="12827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8" name="Equation" r:id="rId3" imgW="1282700" imgH="431800" progId="">
                  <p:embed/>
                </p:oleObj>
              </mc:Choice>
              <mc:Fallback>
                <p:oleObj name="Equation" r:id="rId3" imgW="1282700" imgH="43180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5500" y="1587500"/>
                        <a:ext cx="12827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3845119"/>
              </p:ext>
            </p:extLst>
          </p:nvPr>
        </p:nvGraphicFramePr>
        <p:xfrm>
          <a:off x="3149600" y="2082800"/>
          <a:ext cx="2997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9" name="Equation" r:id="rId5" imgW="2997200" imgH="355600" progId="">
                  <p:embed/>
                </p:oleObj>
              </mc:Choice>
              <mc:Fallback>
                <p:oleObj name="Equation" r:id="rId5" imgW="2997200" imgH="355600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9600" y="2082800"/>
                        <a:ext cx="29972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4575700"/>
              </p:ext>
            </p:extLst>
          </p:nvPr>
        </p:nvGraphicFramePr>
        <p:xfrm>
          <a:off x="3086100" y="2590800"/>
          <a:ext cx="22479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0" name="Equation" r:id="rId7" imgW="2247900" imgH="482600" progId="">
                  <p:embed/>
                </p:oleObj>
              </mc:Choice>
              <mc:Fallback>
                <p:oleObj name="Equation" r:id="rId7" imgW="2247900" imgH="4826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6100" y="2590800"/>
                        <a:ext cx="22479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4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09466"/>
              </p:ext>
            </p:extLst>
          </p:nvPr>
        </p:nvGraphicFramePr>
        <p:xfrm>
          <a:off x="4114800" y="5067300"/>
          <a:ext cx="5715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1" name="Equation" r:id="rId9" imgW="571252" imgH="482391" progId="">
                  <p:embed/>
                </p:oleObj>
              </mc:Choice>
              <mc:Fallback>
                <p:oleObj name="Equation" r:id="rId9" imgW="571252" imgH="482391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5067300"/>
                        <a:ext cx="5715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 txBox="1">
            <a:spLocks/>
          </p:cNvSpPr>
          <p:nvPr/>
        </p:nvSpPr>
        <p:spPr bwMode="auto">
          <a:xfrm>
            <a:off x="457200" y="6324600"/>
            <a:ext cx="6324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buFont typeface="Symbol" panose="05050102010706020507" pitchFamily="18" charset="2"/>
              <a:buNone/>
              <a:defRPr sz="2400" kern="1200" smtClean="0">
                <a:solidFill>
                  <a:schemeClr val="tx1"/>
                </a:solidFill>
                <a:latin typeface="Bookshelf Symbol 2" pitchFamily="2" charset="2"/>
                <a:ea typeface="+mn-ea"/>
                <a:cs typeface="+mn-cs"/>
                <a:sym typeface="Symbol" panose="05050102010706020507" pitchFamily="18" charset="2"/>
              </a:defRPr>
            </a:lvl1pPr>
            <a:lvl2pPr marL="742950" indent="-28575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ookshelf Symbol 2" pitchFamily="2" charset="2"/>
                <a:ea typeface="+mn-ea"/>
                <a:cs typeface="+mn-cs"/>
              </a:defRPr>
            </a:lvl2pPr>
            <a:lvl3pPr marL="11430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ookshelf Symbol 2" pitchFamily="2" charset="2"/>
                <a:ea typeface="+mn-ea"/>
                <a:cs typeface="+mn-cs"/>
              </a:defRPr>
            </a:lvl3pPr>
            <a:lvl4pPr marL="16002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ookshelf Symbol 2" pitchFamily="2" charset="2"/>
                <a:ea typeface="+mn-ea"/>
                <a:cs typeface="+mn-cs"/>
              </a:defRPr>
            </a:lvl4pPr>
            <a:lvl5pPr marL="2057400" indent="-228600" algn="ctr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ookshelf Symbol 2" pitchFamily="2" charset="2"/>
                <a:ea typeface="+mn-ea"/>
                <a:cs typeface="+mn-cs"/>
              </a:defRPr>
            </a:lvl5pPr>
            <a:lvl6pPr marL="25146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ookshelf Symbol 2" pitchFamily="2" charset="2"/>
                <a:ea typeface="+mn-ea"/>
                <a:cs typeface="+mn-cs"/>
              </a:defRPr>
            </a:lvl6pPr>
            <a:lvl7pPr marL="29718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ookshelf Symbol 2" pitchFamily="2" charset="2"/>
                <a:ea typeface="+mn-ea"/>
                <a:cs typeface="+mn-cs"/>
              </a:defRPr>
            </a:lvl7pPr>
            <a:lvl8pPr marL="34290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ookshelf Symbol 2" pitchFamily="2" charset="2"/>
                <a:ea typeface="+mn-ea"/>
                <a:cs typeface="+mn-cs"/>
              </a:defRPr>
            </a:lvl8pPr>
            <a:lvl9pPr marL="3886200" indent="-22860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ookshelf Symbol 2" pitchFamily="2" charset="2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4.5- </a:t>
            </a:r>
            <a:fld id="{2ABB5159-E3CA-4831-8F1F-D8BF52A63E4B}" type="slidenum">
              <a:rPr lang="en-US" altLang="en-US" sz="1200">
                <a:latin typeface="Arial" panose="020B0604020202020204" pitchFamily="34" charset="0"/>
              </a:rPr>
              <a:pPr algn="r"/>
              <a:t>10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KHÔNG GIAN CON CỦA KHÔNG GIAN VECTƠ HỮU HẠN CHIỀU</a:t>
            </a:r>
            <a:endParaRPr lang="en-US" altLang="en-US" dirty="0"/>
          </a:p>
        </p:txBody>
      </p:sp>
      <p:sp>
        <p:nvSpPr>
          <p:cNvPr id="72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Nhưng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                           </a:t>
            </a:r>
            <a:r>
              <a:rPr lang="en-US" altLang="en-US" sz="2800" dirty="0" err="1"/>
              <a:t>sẽ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tổ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ở </a:t>
            </a:r>
            <a:r>
              <a:rPr lang="en-US" altLang="en-US" sz="2800" dirty="0" err="1"/>
              <a:t>trước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nó</a:t>
            </a:r>
            <a:r>
              <a:rPr lang="en-US" altLang="en-US" sz="2800" dirty="0"/>
              <a:t> (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4).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Khi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hợp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vẫn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chưa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toàn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bộ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, ta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tiếp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tục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trình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rộng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tới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lớn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hơn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Nhưng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rộng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bao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giờ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vượt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quá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theo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9.</a:t>
            </a:r>
          </a:p>
        </p:txBody>
      </p:sp>
      <p:graphicFrame>
        <p:nvGraphicFramePr>
          <p:cNvPr id="72806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530337"/>
              </p:ext>
            </p:extLst>
          </p:nvPr>
        </p:nvGraphicFramePr>
        <p:xfrm>
          <a:off x="2895600" y="1308100"/>
          <a:ext cx="2324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0" name="Equation" r:id="rId3" imgW="2324100" imgH="482600" progId="">
                  <p:embed/>
                </p:oleObj>
              </mc:Choice>
              <mc:Fallback>
                <p:oleObj name="Equation" r:id="rId3" imgW="2324100" imgH="482600" progId="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308100"/>
                        <a:ext cx="23241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4.5- </a:t>
            </a:r>
            <a:fld id="{CD55D61A-8CC2-49D7-B37E-B86652EC8244}" type="slidenum">
              <a:rPr lang="en-US" altLang="en-US" sz="1200">
                <a:latin typeface="Arial" panose="020B0604020202020204" pitchFamily="34" charset="0"/>
              </a:rPr>
              <a:pPr algn="r"/>
              <a:t>11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ĐỊNH LÍ VỀ CƠ SỞ</a:t>
            </a:r>
            <a:endParaRPr lang="en-US" altLang="en-US" dirty="0"/>
          </a:p>
        </p:txBody>
      </p:sp>
      <p:sp>
        <p:nvSpPr>
          <p:cNvPr id="72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3340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cuối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cùng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rộng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H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                          .</a:t>
            </a:r>
          </a:p>
          <a:p>
            <a:pPr eaLnBrk="1" hangingPunct="1"/>
            <a:endParaRPr lang="en-US" altLang="en-US" sz="2800" b="1" dirty="0"/>
          </a:p>
          <a:p>
            <a:pPr marL="0" indent="0" eaLnBrk="1" hangingPunct="1">
              <a:buNone/>
            </a:pPr>
            <a:r>
              <a:rPr lang="en-US" altLang="en-US" sz="2800" b="1" dirty="0" err="1">
                <a:solidFill>
                  <a:srgbClr val="077C97"/>
                </a:solidFill>
              </a:rPr>
              <a:t>Định</a:t>
            </a:r>
            <a:r>
              <a:rPr lang="en-US" altLang="en-US" sz="2800" b="1" dirty="0">
                <a:solidFill>
                  <a:srgbClr val="077C97"/>
                </a:solidFill>
              </a:rPr>
              <a:t> </a:t>
            </a:r>
            <a:r>
              <a:rPr lang="en-US" altLang="en-US" sz="2800" b="1" dirty="0" err="1">
                <a:solidFill>
                  <a:srgbClr val="077C97"/>
                </a:solidFill>
              </a:rPr>
              <a:t>lí</a:t>
            </a:r>
            <a:r>
              <a:rPr lang="en-US" altLang="en-US" sz="2800" b="1" dirty="0">
                <a:solidFill>
                  <a:srgbClr val="077C97"/>
                </a:solidFill>
              </a:rPr>
              <a:t> 12</a:t>
            </a:r>
            <a:r>
              <a:rPr lang="en-US" altLang="en-US" sz="2800" b="1" dirty="0"/>
              <a:t>:</a:t>
            </a:r>
            <a:r>
              <a:rPr lang="en-US" altLang="en-US" sz="2800" dirty="0"/>
              <a:t> Cho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không gian vectơ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-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         .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gồm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bất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kì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gồm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/>
            <a:r>
              <a:rPr lang="en-US" altLang="en-US" sz="2800" b="1" dirty="0" err="1"/>
              <a:t>Chứng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minh</a:t>
            </a:r>
            <a:r>
              <a:rPr lang="en-US" altLang="en-US" sz="2800" b="1" dirty="0"/>
              <a:t>: </a:t>
            </a:r>
            <a:r>
              <a:rPr lang="en-US" altLang="en-US" sz="2800" dirty="0"/>
              <a:t>Theo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11,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gồm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thể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rộng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thành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graphicFrame>
        <p:nvGraphicFramePr>
          <p:cNvPr id="729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0938746"/>
              </p:ext>
            </p:extLst>
          </p:nvPr>
        </p:nvGraphicFramePr>
        <p:xfrm>
          <a:off x="3886200" y="1625600"/>
          <a:ext cx="24130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8" name="Equation" r:id="rId3" imgW="2413000" imgH="355600" progId="">
                  <p:embed/>
                </p:oleObj>
              </mc:Choice>
              <mc:Fallback>
                <p:oleObj name="Equation" r:id="rId3" imgW="2413000" imgH="355600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625600"/>
                        <a:ext cx="2413000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9093" name="Object 5"/>
          <p:cNvGraphicFramePr>
            <a:graphicFrameLocks noChangeAspect="1"/>
          </p:cNvGraphicFramePr>
          <p:nvPr/>
        </p:nvGraphicFramePr>
        <p:xfrm>
          <a:off x="850900" y="3187700"/>
          <a:ext cx="812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19" name="Equation" r:id="rId5" imgW="812447" imgH="418918" progId="">
                  <p:embed/>
                </p:oleObj>
              </mc:Choice>
              <mc:Fallback>
                <p:oleObj name="Equation" r:id="rId5" imgW="812447" imgH="418918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3187700"/>
                        <a:ext cx="8128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4.5- </a:t>
            </a:r>
            <a:fld id="{B1D33EB6-FBFF-42CA-9808-9445570DD751}" type="slidenum">
              <a:rPr lang="en-US" altLang="en-US" sz="1200">
                <a:latin typeface="Arial" panose="020B0604020202020204" pitchFamily="34" charset="0"/>
              </a:rPr>
              <a:pPr algn="r"/>
              <a:t>12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vi-VN" altLang="en-US" dirty="0"/>
              <a:t>ĐỊNH LÍ VỀ CƠ SỞ</a:t>
            </a:r>
            <a:endParaRPr lang="en-US" altLang="en-US" dirty="0"/>
          </a:p>
        </p:txBody>
      </p:sp>
      <p:sp>
        <p:nvSpPr>
          <p:cNvPr id="73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52600"/>
            <a:ext cx="82296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Nhưng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đúng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vì</a:t>
            </a:r>
            <a:r>
              <a:rPr lang="en-US" altLang="en-US" sz="2800" dirty="0"/>
              <a:t> dim          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Bây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giờ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giả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phần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Vì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Định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lí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suy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rằng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con    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S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vi-VN" altLang="en-US" sz="2800" dirty="0"/>
              <a:t>cơ sở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i="1" dirty="0"/>
              <a:t>V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 err="1"/>
              <a:t>Vì</a:t>
            </a:r>
            <a:r>
              <a:rPr lang="en-US" altLang="en-US" sz="2800" dirty="0"/>
              <a:t> dim           ,      </a:t>
            </a:r>
            <a:r>
              <a:rPr lang="en-US" altLang="en-US" sz="2800" dirty="0" err="1"/>
              <a:t>phải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chứa</a:t>
            </a:r>
            <a:r>
              <a:rPr lang="en-US" altLang="en-US" sz="2800" dirty="0"/>
              <a:t> </a:t>
            </a:r>
            <a:r>
              <a:rPr lang="en-US" altLang="en-US" sz="2800" i="1" dirty="0"/>
              <a:t>p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Do </a:t>
            </a:r>
            <a:r>
              <a:rPr lang="en-US" altLang="en-US" sz="2800" dirty="0" err="1"/>
              <a:t>đó</a:t>
            </a:r>
            <a:r>
              <a:rPr lang="en-US" altLang="en-US" sz="2800" dirty="0"/>
              <a:t>,           . </a:t>
            </a:r>
          </a:p>
          <a:p>
            <a:pPr eaLnBrk="1" hangingPunct="1">
              <a:lnSpc>
                <a:spcPct val="90000"/>
              </a:lnSpc>
            </a:pPr>
            <a:endParaRPr lang="en-US" altLang="en-US" sz="2800" dirty="0"/>
          </a:p>
        </p:txBody>
      </p:sp>
      <p:graphicFrame>
        <p:nvGraphicFramePr>
          <p:cNvPr id="73011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9666462"/>
              </p:ext>
            </p:extLst>
          </p:nvPr>
        </p:nvGraphicFramePr>
        <p:xfrm>
          <a:off x="7543800" y="1790700"/>
          <a:ext cx="965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4" name="Equation" r:id="rId3" imgW="965200" imgH="419100" progId="">
                  <p:embed/>
                </p:oleObj>
              </mc:Choice>
              <mc:Fallback>
                <p:oleObj name="Equation" r:id="rId3" imgW="965200" imgH="4191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1790700"/>
                        <a:ext cx="965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1036336"/>
              </p:ext>
            </p:extLst>
          </p:nvPr>
        </p:nvGraphicFramePr>
        <p:xfrm>
          <a:off x="1976351" y="3581400"/>
          <a:ext cx="368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5" name="Equation" r:id="rId5" imgW="368300" imgH="368300" progId="">
                  <p:embed/>
                </p:oleObj>
              </mc:Choice>
              <mc:Fallback>
                <p:oleObj name="Equation" r:id="rId5" imgW="368300" imgH="368300" progId="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6351" y="3581400"/>
                        <a:ext cx="3683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4591654"/>
              </p:ext>
            </p:extLst>
          </p:nvPr>
        </p:nvGraphicFramePr>
        <p:xfrm>
          <a:off x="1981200" y="4070350"/>
          <a:ext cx="965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6" name="Equation" r:id="rId7" imgW="965200" imgH="419100" progId="">
                  <p:embed/>
                </p:oleObj>
              </mc:Choice>
              <mc:Fallback>
                <p:oleObj name="Equation" r:id="rId7" imgW="965200" imgH="419100" progId="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4070350"/>
                        <a:ext cx="965200" cy="419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1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5943408"/>
              </p:ext>
            </p:extLst>
          </p:nvPr>
        </p:nvGraphicFramePr>
        <p:xfrm>
          <a:off x="3093489" y="4038600"/>
          <a:ext cx="368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7" name="Equation" r:id="rId9" imgW="368300" imgH="368300" progId="">
                  <p:embed/>
                </p:oleObj>
              </mc:Choice>
              <mc:Fallback>
                <p:oleObj name="Equation" r:id="rId9" imgW="368300" imgH="368300" progId="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3489" y="4038600"/>
                        <a:ext cx="3683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2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8714301"/>
              </p:ext>
            </p:extLst>
          </p:nvPr>
        </p:nvGraphicFramePr>
        <p:xfrm>
          <a:off x="1905000" y="4499148"/>
          <a:ext cx="10033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8" name="Equation" r:id="rId11" imgW="1002865" imgH="368140" progId="">
                  <p:embed/>
                </p:oleObj>
              </mc:Choice>
              <mc:Fallback>
                <p:oleObj name="Equation" r:id="rId11" imgW="1002865" imgH="368140" progId="">
                  <p:embed/>
                  <p:pic>
                    <p:nvPicPr>
                      <p:cNvPr id="0" name="Picture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4499148"/>
                        <a:ext cx="1003300" cy="368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4.5- </a:t>
            </a:r>
            <a:fld id="{E4906926-A5D7-4321-8C71-CF2986530B70}" type="slidenum">
              <a:rPr lang="en-US" altLang="en-US" sz="1200">
                <a:latin typeface="Arial" panose="020B0604020202020204" pitchFamily="34" charset="0"/>
              </a:rPr>
              <a:pPr algn="r"/>
              <a:t>13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SỐ CHIỀU CỦA NUL </a:t>
            </a:r>
            <a:r>
              <a:rPr lang="it-IT" altLang="en-US" i="1" dirty="0"/>
              <a:t>A</a:t>
            </a:r>
            <a:r>
              <a:rPr lang="it-IT" altLang="en-US" dirty="0"/>
              <a:t> VÀ COL </a:t>
            </a:r>
            <a:r>
              <a:rPr lang="it-IT" altLang="en-US" i="1" dirty="0"/>
              <a:t>A</a:t>
            </a:r>
            <a:endParaRPr lang="en-US" altLang="en-US" i="1" dirty="0"/>
          </a:p>
        </p:txBody>
      </p:sp>
      <p:sp>
        <p:nvSpPr>
          <p:cNvPr id="7311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4958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Cho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một</a:t>
            </a:r>
            <a:r>
              <a:rPr lang="en-US" altLang="en-US" sz="2800" dirty="0"/>
              <a:t>           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giả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sử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</a:t>
            </a:r>
            <a:r>
              <a:rPr lang="en-US" altLang="en-US" sz="2800" dirty="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            </a:t>
            </a:r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i="1" dirty="0"/>
              <a:t>k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do.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Một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sẽ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sinh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đúng</a:t>
            </a:r>
            <a:r>
              <a:rPr lang="en-US" altLang="en-US" sz="2800" dirty="0"/>
              <a:t> </a:t>
            </a:r>
            <a:r>
              <a:rPr lang="en-US" altLang="en-US" sz="2800" i="1" dirty="0"/>
              <a:t>k</a:t>
            </a:r>
            <a:r>
              <a:rPr lang="en-US" altLang="en-US" sz="2800" dirty="0"/>
              <a:t> </a:t>
            </a:r>
            <a:r>
              <a:rPr lang="vi-VN" altLang="en-US" sz="2800" dirty="0"/>
              <a:t>vectơ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độc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lập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tuyến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tính</a:t>
            </a:r>
            <a:r>
              <a:rPr lang="en-US" altLang="en-US" sz="2800" dirty="0"/>
              <a:t>-</a:t>
            </a:r>
            <a:r>
              <a:rPr lang="en-US" altLang="en-US" sz="2800" dirty="0">
                <a:cs typeface="Times New Roman" panose="02020603050405020304" pitchFamily="18" charset="0"/>
              </a:rPr>
              <a:t>say,                - </a:t>
            </a:r>
            <a:r>
              <a:rPr lang="en-US" altLang="en-US" sz="2800" dirty="0" err="1">
                <a:cs typeface="Times New Roman" panose="02020603050405020304" pitchFamily="18" charset="0"/>
              </a:rPr>
              <a:t>ứng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với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mỗi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biến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tự</a:t>
            </a:r>
            <a:r>
              <a:rPr lang="en-US" altLang="en-US" sz="2800" dirty="0">
                <a:cs typeface="Times New Roman" panose="02020603050405020304" pitchFamily="18" charset="0"/>
              </a:rPr>
              <a:t> do.</a:t>
            </a:r>
          </a:p>
          <a:p>
            <a:pPr eaLnBrk="1" hangingPunct="1"/>
            <a:endParaRPr lang="en-US" altLang="en-US" sz="2800" dirty="0"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en-US" sz="2800" dirty="0">
                <a:cs typeface="Times New Roman" panose="02020603050405020304" pitchFamily="18" charset="0"/>
              </a:rPr>
              <a:t>Do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cs typeface="Times New Roman" panose="02020603050405020304" pitchFamily="18" charset="0"/>
              </a:rPr>
              <a:t>,               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một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cơ sở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Nul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biến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tự</a:t>
            </a:r>
            <a:r>
              <a:rPr lang="en-US" altLang="en-US" sz="2800" dirty="0">
                <a:cs typeface="Times New Roman" panose="02020603050405020304" pitchFamily="18" charset="0"/>
              </a:rPr>
              <a:t> do </a:t>
            </a:r>
            <a:r>
              <a:rPr lang="en-US" altLang="en-US" sz="2800" dirty="0" err="1">
                <a:cs typeface="Times New Roman" panose="02020603050405020304" pitchFamily="18" charset="0"/>
              </a:rPr>
              <a:t>xác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định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phần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tử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trong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vi-VN" altLang="en-US" sz="2800" dirty="0">
                <a:cs typeface="Times New Roman" panose="02020603050405020304" pitchFamily="18" charset="0"/>
              </a:rPr>
              <a:t>cơ sở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endParaRPr lang="en-US" altLang="en-US" b="1" i="1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  <a:p>
            <a:pPr eaLnBrk="1" hangingPunct="1"/>
            <a:endParaRPr lang="en-US" altLang="en-US" dirty="0"/>
          </a:p>
        </p:txBody>
      </p:sp>
      <p:graphicFrame>
        <p:nvGraphicFramePr>
          <p:cNvPr id="7311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7528929"/>
              </p:ext>
            </p:extLst>
          </p:nvPr>
        </p:nvGraphicFramePr>
        <p:xfrm>
          <a:off x="2895600" y="1828800"/>
          <a:ext cx="863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4" name="Equation" r:id="rId3" imgW="863225" imgH="253890" progId="">
                  <p:embed/>
                </p:oleObj>
              </mc:Choice>
              <mc:Fallback>
                <p:oleObj name="Equation" r:id="rId3" imgW="863225" imgH="253890" progId="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828800"/>
                        <a:ext cx="8636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1142" name="Object 6"/>
          <p:cNvGraphicFramePr>
            <a:graphicFrameLocks noChangeAspect="1"/>
          </p:cNvGraphicFramePr>
          <p:nvPr/>
        </p:nvGraphicFramePr>
        <p:xfrm>
          <a:off x="762000" y="228600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5" name="Equation" r:id="rId5" imgW="1129810" imgH="342751" progId="">
                  <p:embed/>
                </p:oleObj>
              </mc:Choice>
              <mc:Fallback>
                <p:oleObj name="Equation" r:id="rId5" imgW="1129810" imgH="342751" progId="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2286000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114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5001233"/>
              </p:ext>
            </p:extLst>
          </p:nvPr>
        </p:nvGraphicFramePr>
        <p:xfrm>
          <a:off x="3625042" y="3644900"/>
          <a:ext cx="12827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6" name="Equation" r:id="rId7" imgW="1282700" imgH="482600" progId="">
                  <p:embed/>
                </p:oleObj>
              </mc:Choice>
              <mc:Fallback>
                <p:oleObj name="Equation" r:id="rId7" imgW="1282700" imgH="482600" progId="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5042" y="3644900"/>
                        <a:ext cx="12827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114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3661978"/>
              </p:ext>
            </p:extLst>
          </p:nvPr>
        </p:nvGraphicFramePr>
        <p:xfrm>
          <a:off x="1892300" y="4724400"/>
          <a:ext cx="16002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7" name="Equation" r:id="rId9" imgW="1600200" imgH="482600" progId="">
                  <p:embed/>
                </p:oleObj>
              </mc:Choice>
              <mc:Fallback>
                <p:oleObj name="Equation" r:id="rId9" imgW="1600200" imgH="482600" progId="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4724400"/>
                        <a:ext cx="1600200" cy="482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4.5- </a:t>
            </a:r>
            <a:fld id="{DCD6889D-833A-4B6C-94EB-B73BAB38DE78}" type="slidenum">
              <a:rPr lang="en-US" altLang="en-US" sz="1200">
                <a:latin typeface="Arial" panose="020B0604020202020204" pitchFamily="34" charset="0"/>
              </a:rPr>
              <a:pPr algn="r"/>
              <a:t>14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1946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SỐ CHIỀU CỦA NUL </a:t>
            </a:r>
            <a:r>
              <a:rPr lang="it-IT" altLang="en-US" i="1" dirty="0"/>
              <a:t>A</a:t>
            </a:r>
            <a:r>
              <a:rPr lang="it-IT" altLang="en-US" dirty="0"/>
              <a:t> VÀ COL </a:t>
            </a:r>
            <a:r>
              <a:rPr lang="it-IT" altLang="en-US" i="1" dirty="0"/>
              <a:t>A</a:t>
            </a:r>
            <a:endParaRPr lang="en-US" altLang="en-US" i="1" dirty="0"/>
          </a:p>
        </p:txBody>
      </p:sp>
      <p:sp>
        <p:nvSpPr>
          <p:cNvPr id="73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Do </a:t>
            </a:r>
            <a:r>
              <a:rPr lang="en-US" altLang="en-US" sz="2800" dirty="0" err="1"/>
              <a:t>vậy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Nul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do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vi-VN" altLang="en-US" sz="2800" dirty="0"/>
              <a:t>phương trình</a:t>
            </a:r>
            <a:r>
              <a:rPr lang="en-US" altLang="en-US" sz="2800" dirty="0"/>
              <a:t>              ,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Col </a:t>
            </a:r>
            <a:r>
              <a:rPr lang="en-US" altLang="en-US" sz="2800" i="1" dirty="0"/>
              <a:t>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là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các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chốt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trong</a:t>
            </a:r>
            <a:r>
              <a:rPr lang="en-US" altLang="en-US" sz="2800" dirty="0"/>
              <a:t> </a:t>
            </a:r>
            <a:r>
              <a:rPr lang="en-US" altLang="en-US" sz="2800" i="1" dirty="0"/>
              <a:t>A</a:t>
            </a:r>
            <a:r>
              <a:rPr lang="en-US" altLang="en-US" sz="2800" dirty="0"/>
              <a:t>.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b="1" dirty="0" err="1"/>
              <a:t>Ví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dụ</a:t>
            </a:r>
            <a:r>
              <a:rPr lang="en-US" altLang="en-US" sz="2800" b="1" dirty="0"/>
              <a:t> 5: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Tìm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số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chiều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</a:t>
            </a:r>
            <a:r>
              <a:rPr lang="en-US" altLang="en-US" sz="2800" dirty="0"/>
              <a:t> </a:t>
            </a:r>
            <a:r>
              <a:rPr lang="en-US" altLang="en-US" sz="2800" dirty="0" err="1"/>
              <a:t>không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gian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cột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</a:p>
        </p:txBody>
      </p:sp>
      <p:graphicFrame>
        <p:nvGraphicFramePr>
          <p:cNvPr id="73216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3022230"/>
              </p:ext>
            </p:extLst>
          </p:nvPr>
        </p:nvGraphicFramePr>
        <p:xfrm>
          <a:off x="2895600" y="2057400"/>
          <a:ext cx="1130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8" name="Equation" r:id="rId3" imgW="1129810" imgH="342751" progId="">
                  <p:embed/>
                </p:oleObj>
              </mc:Choice>
              <mc:Fallback>
                <p:oleObj name="Equation" r:id="rId3" imgW="1129810" imgH="342751" progId="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2057400"/>
                        <a:ext cx="1130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2165" name="Object 5"/>
          <p:cNvGraphicFramePr>
            <a:graphicFrameLocks noChangeAspect="1"/>
          </p:cNvGraphicFramePr>
          <p:nvPr/>
        </p:nvGraphicFramePr>
        <p:xfrm>
          <a:off x="2209800" y="4419600"/>
          <a:ext cx="44323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9" name="Equation" r:id="rId5" imgW="4432300" imgH="1778000" progId="">
                  <p:embed/>
                </p:oleObj>
              </mc:Choice>
              <mc:Fallback>
                <p:oleObj name="Equation" r:id="rId5" imgW="4432300" imgH="1778000" progId="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419600"/>
                        <a:ext cx="44323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r"/>
            <a:r>
              <a:rPr lang="en-US" altLang="en-US" sz="1200">
                <a:latin typeface="Arial" panose="020B0604020202020204" pitchFamily="34" charset="0"/>
              </a:rPr>
              <a:t>Slide 4.5- </a:t>
            </a:r>
            <a:fld id="{97C929DC-3258-4D32-B45B-77D788B0FFC9}" type="slidenum">
              <a:rPr lang="en-US" altLang="en-US" sz="1200">
                <a:latin typeface="Arial" panose="020B0604020202020204" pitchFamily="34" charset="0"/>
              </a:rPr>
              <a:pPr algn="r"/>
              <a:t>15</a:t>
            </a:fld>
            <a:endParaRPr lang="en-CA" altLang="en-US" sz="1200">
              <a:latin typeface="Arial" panose="020B0604020202020204" pitchFamily="34" charset="0"/>
            </a:endParaRPr>
          </a:p>
        </p:txBody>
      </p:sp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t-IT" altLang="en-US" dirty="0"/>
              <a:t>SỐ CHIỀU CỦA NUL </a:t>
            </a:r>
            <a:r>
              <a:rPr lang="it-IT" altLang="en-US" i="1" dirty="0"/>
              <a:t>A</a:t>
            </a:r>
            <a:r>
              <a:rPr lang="it-IT" altLang="en-US" dirty="0"/>
              <a:t> VÀ COL </a:t>
            </a:r>
            <a:r>
              <a:rPr lang="it-IT" altLang="en-US" i="1" dirty="0"/>
              <a:t>A</a:t>
            </a:r>
            <a:endParaRPr lang="en-US" altLang="en-US" i="1" dirty="0"/>
          </a:p>
        </p:txBody>
      </p:sp>
      <p:sp>
        <p:nvSpPr>
          <p:cNvPr id="73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724400"/>
          </a:xfrm>
        </p:spPr>
        <p:txBody>
          <a:bodyPr/>
          <a:lstStyle/>
          <a:p>
            <a:pPr eaLnBrk="1" hangingPunct="1"/>
            <a:r>
              <a:rPr lang="en-US" altLang="en-US" sz="2800" b="1" dirty="0" err="1"/>
              <a:t>Lời</a:t>
            </a:r>
            <a:r>
              <a:rPr lang="en-US" altLang="en-US" sz="2800" b="1" dirty="0"/>
              <a:t> </a:t>
            </a:r>
            <a:r>
              <a:rPr lang="en-US" altLang="en-US" sz="2800" b="1" dirty="0" err="1"/>
              <a:t>giải</a:t>
            </a:r>
            <a:r>
              <a:rPr lang="en-US" altLang="en-US" sz="2800" b="1" dirty="0"/>
              <a:t>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Rút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gọn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hàng</a:t>
            </a:r>
            <a:r>
              <a:rPr lang="en-US" altLang="en-US" sz="2800" dirty="0"/>
              <a:t> ma </a:t>
            </a:r>
            <a:r>
              <a:rPr lang="en-US" altLang="en-US" sz="2800" dirty="0" err="1"/>
              <a:t>trận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bổ</a:t>
            </a:r>
            <a:r>
              <a:rPr lang="en-US" altLang="en-US" sz="2800" dirty="0"/>
              <a:t> sung 		</a:t>
            </a:r>
            <a:r>
              <a:rPr lang="en-US" altLang="en-US" sz="2800" dirty="0" err="1"/>
              <a:t>về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dạng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bậc</a:t>
            </a:r>
            <a:r>
              <a:rPr lang="en-US" altLang="en-US" sz="2800" dirty="0"/>
              <a:t> thang:</a:t>
            </a:r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endParaRPr lang="en-US" altLang="en-US" sz="2800" dirty="0"/>
          </a:p>
          <a:p>
            <a:pPr eaLnBrk="1" hangingPunct="1"/>
            <a:r>
              <a:rPr lang="en-US" altLang="en-US" sz="2800" dirty="0" err="1"/>
              <a:t>Có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biến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tự</a:t>
            </a:r>
            <a:r>
              <a:rPr lang="en-US" altLang="en-US" sz="2800" dirty="0"/>
              <a:t> do - </a:t>
            </a:r>
            <a:r>
              <a:rPr lang="en-US" altLang="en-US" sz="2800" i="1" dirty="0">
                <a:cs typeface="Times New Roman" panose="02020603050405020304" pitchFamily="18" charset="0"/>
              </a:rPr>
              <a:t>x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2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i="1" dirty="0">
                <a:cs typeface="Times New Roman" panose="02020603050405020304" pitchFamily="18" charset="0"/>
              </a:rPr>
              <a:t>x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4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và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x</a:t>
            </a:r>
            <a:r>
              <a:rPr lang="en-US" altLang="en-US" sz="2800" baseline="-25000" dirty="0">
                <a:cs typeface="Times New Roman" panose="02020603050405020304" pitchFamily="18" charset="0"/>
              </a:rPr>
              <a:t>5</a:t>
            </a:r>
            <a:r>
              <a:rPr lang="en-US" altLang="en-US" sz="2800" dirty="0">
                <a:cs typeface="Times New Roman" panose="02020603050405020304" pitchFamily="18" charset="0"/>
              </a:rPr>
              <a:t>.</a:t>
            </a:r>
          </a:p>
          <a:p>
            <a:pPr eaLnBrk="1" hangingPunct="1"/>
            <a:r>
              <a:rPr lang="en-US" altLang="en-US" sz="2800" dirty="0">
                <a:cs typeface="Times New Roman" panose="02020603050405020304" pitchFamily="18" charset="0"/>
              </a:rPr>
              <a:t>Do </a:t>
            </a:r>
            <a:r>
              <a:rPr lang="en-US" altLang="en-US" sz="2800" dirty="0" err="1">
                <a:cs typeface="Times New Roman" panose="02020603050405020304" pitchFamily="18" charset="0"/>
              </a:rPr>
              <a:t>đó</a:t>
            </a:r>
            <a:r>
              <a:rPr lang="en-US" altLang="en-US" sz="2800" dirty="0">
                <a:cs typeface="Times New Roman" panose="02020603050405020304" pitchFamily="18" charset="0"/>
              </a:rPr>
              <a:t>, </a:t>
            </a:r>
            <a:r>
              <a:rPr lang="en-US" altLang="en-US" sz="2800" dirty="0" err="1">
                <a:cs typeface="Times New Roman" panose="02020603050405020304" pitchFamily="18" charset="0"/>
              </a:rPr>
              <a:t>số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chiều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của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Nul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là</a:t>
            </a:r>
            <a:r>
              <a:rPr lang="en-US" altLang="en-US" sz="2800" dirty="0">
                <a:cs typeface="Times New Roman" panose="02020603050405020304" pitchFamily="18" charset="0"/>
              </a:rPr>
              <a:t> 3.</a:t>
            </a:r>
          </a:p>
          <a:p>
            <a:pPr eaLnBrk="1" hangingPunct="1"/>
            <a:r>
              <a:rPr lang="en-US" altLang="en-US" sz="2800" dirty="0" err="1">
                <a:cs typeface="Times New Roman" panose="02020603050405020304" pitchFamily="18" charset="0"/>
              </a:rPr>
              <a:t>Tương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tự</a:t>
            </a:r>
            <a:r>
              <a:rPr lang="en-US" altLang="en-US" sz="2800" dirty="0">
                <a:cs typeface="Times New Roman" panose="02020603050405020304" pitchFamily="18" charset="0"/>
              </a:rPr>
              <a:t>, dim Col            </a:t>
            </a:r>
            <a:r>
              <a:rPr lang="en-US" altLang="en-US" sz="2800" dirty="0" err="1">
                <a:cs typeface="Times New Roman" panose="02020603050405020304" pitchFamily="18" charset="0"/>
              </a:rPr>
              <a:t>vì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i="1" dirty="0">
                <a:cs typeface="Times New Roman" panose="02020603050405020304" pitchFamily="18" charset="0"/>
              </a:rPr>
              <a:t>A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có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hai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 dirty="0" err="1">
                <a:cs typeface="Times New Roman" panose="02020603050405020304" pitchFamily="18" charset="0"/>
              </a:rPr>
              <a:t>cột</a:t>
            </a:r>
            <a:r>
              <a:rPr lang="en-US" altLang="en-US" sz="2800" dirty="0">
                <a:cs typeface="Times New Roman" panose="02020603050405020304" pitchFamily="18" charset="0"/>
              </a:rPr>
              <a:t> </a:t>
            </a:r>
            <a:r>
              <a:rPr lang="en-US" altLang="en-US" sz="2800">
                <a:cs typeface="Times New Roman" panose="02020603050405020304" pitchFamily="18" charset="0"/>
              </a:rPr>
              <a:t>chốt.</a:t>
            </a:r>
            <a:endParaRPr lang="en-US" altLang="en-US" sz="2800" dirty="0">
              <a:cs typeface="Times New Roman" panose="02020603050405020304" pitchFamily="18" charset="0"/>
            </a:endParaRPr>
          </a:p>
        </p:txBody>
      </p:sp>
      <p:graphicFrame>
        <p:nvGraphicFramePr>
          <p:cNvPr id="73319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1180966"/>
              </p:ext>
            </p:extLst>
          </p:nvPr>
        </p:nvGraphicFramePr>
        <p:xfrm>
          <a:off x="6715991" y="1447800"/>
          <a:ext cx="990600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5" name="Equation" r:id="rId3" imgW="1143000" imgH="558800" progId="">
                  <p:embed/>
                </p:oleObj>
              </mc:Choice>
              <mc:Fallback>
                <p:oleObj name="Equation" r:id="rId3" imgW="1143000" imgH="55880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991" y="1447800"/>
                        <a:ext cx="990600" cy="4857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91" name="Object 7"/>
          <p:cNvGraphicFramePr>
            <a:graphicFrameLocks noChangeAspect="1"/>
          </p:cNvGraphicFramePr>
          <p:nvPr/>
        </p:nvGraphicFramePr>
        <p:xfrm>
          <a:off x="2590800" y="2438400"/>
          <a:ext cx="3949700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6" name="Equation" r:id="rId5" imgW="3949700" imgH="1778000" progId="">
                  <p:embed/>
                </p:oleObj>
              </mc:Choice>
              <mc:Fallback>
                <p:oleObj name="Equation" r:id="rId5" imgW="3949700" imgH="1778000" progId="">
                  <p:embed/>
                  <p:pic>
                    <p:nvPicPr>
                      <p:cNvPr id="0" name="Picture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2438400"/>
                        <a:ext cx="3949700" cy="1778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9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9362815"/>
              </p:ext>
            </p:extLst>
          </p:nvPr>
        </p:nvGraphicFramePr>
        <p:xfrm>
          <a:off x="3581400" y="5549900"/>
          <a:ext cx="901700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7" name="Equation" r:id="rId7" imgW="901309" imgH="330057" progId="">
                  <p:embed/>
                </p:oleObj>
              </mc:Choice>
              <mc:Fallback>
                <p:oleObj name="Equation" r:id="rId7" imgW="901309" imgH="330057" progId="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5549900"/>
                        <a:ext cx="901700" cy="330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457200" y="6305550"/>
            <a:ext cx="6324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Bookshelf Symbol 2" pitchFamily="2" charset="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Bookshelf Symbol 2" pitchFamily="2" charset="2"/>
              </a:defRPr>
            </a:lvl9pPr>
          </a:lstStyle>
          <a:p>
            <a:pPr algn="l"/>
            <a:r>
              <a:rPr lang="en-US" altLang="en-US" sz="1200" dirty="0">
                <a:latin typeface="Arial" panose="020B0604020202020204" pitchFamily="34" charset="0"/>
              </a:rPr>
              <a:t> © 2016 Pearson Education, Ltd.</a:t>
            </a:r>
          </a:p>
        </p:txBody>
      </p:sp>
    </p:spTree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Slides V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shelf Symbol 2" pitchFamily="2" charset="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15919</TotalTime>
  <Words>1159</Words>
  <Application>Microsoft Office PowerPoint</Application>
  <PresentationFormat>On-screen Show (4:3)</PresentationFormat>
  <Paragraphs>131</Paragraphs>
  <Slides>15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Arial Narrow</vt:lpstr>
      <vt:lpstr>Bookshelf Symbol 2</vt:lpstr>
      <vt:lpstr>Cambria Math</vt:lpstr>
      <vt:lpstr>Euclid Math One</vt:lpstr>
      <vt:lpstr>Symbol</vt:lpstr>
      <vt:lpstr>Times New Roman</vt:lpstr>
      <vt:lpstr>Wingdings</vt:lpstr>
      <vt:lpstr>Blends</vt:lpstr>
      <vt:lpstr>Equation</vt:lpstr>
      <vt:lpstr>Không gian Vectơ</vt:lpstr>
      <vt:lpstr>SỐ CHIỀU CỦA KHÔNG GIAN VECTƠ</vt:lpstr>
      <vt:lpstr>SỐ CHIỀU CỦA KHÔNG GIAN VECTƠ</vt:lpstr>
      <vt:lpstr>SỐ CHIỀU CỦA KHÔNG GIAN VECTƠ</vt:lpstr>
      <vt:lpstr>SỐ CHIỀU CỦA KHÔNG GIAN VECTƠ</vt:lpstr>
      <vt:lpstr>SỐ CHIỀU CỦA KHÔNG GIAN VECTƠ</vt:lpstr>
      <vt:lpstr>SỐ CHIỀU CỦA KHÔNG GIAN VECTƠ</vt:lpstr>
      <vt:lpstr>KHÔNG GIAN CON CỦA KHÔNG GIAN VECTƠ HỮU HẠN CHIỀU</vt:lpstr>
      <vt:lpstr>KHÔNG GIAN CON CỦA KHÔNG GIAN VECTƠ HỮU HẠN CHIỀU</vt:lpstr>
      <vt:lpstr>KHÔNG GIAN CON CỦA KHÔNG GIAN VECTƠ HỮU HẠN CHIỀU</vt:lpstr>
      <vt:lpstr>ĐỊNH LÍ VỀ CƠ SỞ</vt:lpstr>
      <vt:lpstr>ĐỊNH LÍ VỀ CƠ SỞ</vt:lpstr>
      <vt:lpstr>SỐ CHIỀU CỦA NUL A VÀ COL A</vt:lpstr>
      <vt:lpstr>SỐ CHIỀU CỦA NUL A VÀ COL A</vt:lpstr>
      <vt:lpstr>SỐ CHIỀU CỦA NUL A VÀ COL A</vt:lpstr>
    </vt:vector>
  </TitlesOfParts>
  <Company>© 2012 Pearson Education, Inc. All rights reserved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>Linear Algebra and Its Applications</dc:subject>
  <dc:creator>David C. Lay</dc:creator>
  <cp:lastModifiedBy>Võ Thanh Tùng</cp:lastModifiedBy>
  <cp:revision>1248</cp:revision>
  <dcterms:created xsi:type="dcterms:W3CDTF">2005-10-22T18:34:54Z</dcterms:created>
  <dcterms:modified xsi:type="dcterms:W3CDTF">2016-08-02T13:53:37Z</dcterms:modified>
</cp:coreProperties>
</file>