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20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440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4" autoAdjust="0"/>
    <p:restoredTop sz="98725" autoAdjust="0"/>
  </p:normalViewPr>
  <p:slideViewPr>
    <p:cSldViewPr>
      <p:cViewPr varScale="1">
        <p:scale>
          <a:sx n="92" d="100"/>
          <a:sy n="92" d="100"/>
        </p:scale>
        <p:origin x="1469" y="86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4" Type="http://schemas.openxmlformats.org/officeDocument/2006/relationships/image" Target="../media/image6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EA8CA9B-7689-4A81-A71F-C43FC4A69B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6039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B1E7962C-6838-4E82-A6DD-8A2E67DDB5C3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5979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4F31D558-B047-4C94-84C5-8F2E6A79C449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0321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4.2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 dirty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85720" y="2282886"/>
            <a:ext cx="3095861" cy="386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79350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4.2- </a:t>
            </a:r>
            <a:fld id="{B7E1A142-815E-4E95-A5AC-9E73BD6590CA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81567124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4.2- </a:t>
            </a:r>
            <a:fld id="{E836A40C-DFD3-465C-9452-4DCACD6356CA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479171908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4.2- </a:t>
            </a:r>
            <a:fld id="{6658DDAB-5948-4AC9-BCC8-7C3487A298FB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56829776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4.2- </a:t>
            </a:r>
            <a:fld id="{9E40F1AC-1545-4433-AFD0-617E3F93E7C1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60698929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4.2- </a:t>
            </a:r>
            <a:fld id="{6C7F6127-152A-48EB-8290-86EDC8571A9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9528478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4.2- </a:t>
            </a:r>
            <a:fld id="{6C22BAB2-3D32-4BC5-B8E1-C8C4B89F944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0100954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4.2- </a:t>
            </a:r>
            <a:fld id="{6836718C-7C1B-4F16-84CE-518DC5BEB508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3701084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4.2- </a:t>
            </a:r>
            <a:fld id="{25EA5483-0861-4E86-85AB-1975A89FE783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2354488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4.2- </a:t>
            </a:r>
            <a:fld id="{1AA02AF7-7A87-4DA4-955F-3DB05CD602E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45120295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4.2- </a:t>
            </a:r>
            <a:fld id="{4CEC9B69-CB23-41F9-8C10-A367C3CCD4CF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92737911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4.2- </a:t>
            </a:r>
            <a:fld id="{73E66399-16F7-4C43-A4E1-3F5557B5EA68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368953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4.2- </a:t>
            </a:r>
            <a:fld id="{BA2B77F7-C8BB-4C56-B91B-D68AF434A309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5.bin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image" Target="../media/image10.png"/><Relationship Id="rId10" Type="http://schemas.openxmlformats.org/officeDocument/2006/relationships/image" Target="../media/image6.wmf"/><Relationship Id="rId4" Type="http://schemas.openxmlformats.org/officeDocument/2006/relationships/image" Target="../media/image9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4.wmf"/><Relationship Id="rId9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33.wmf"/><Relationship Id="rId3" Type="http://schemas.openxmlformats.org/officeDocument/2006/relationships/image" Target="../media/image34.png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1.wmf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9.wmf"/><Relationship Id="rId3" Type="http://schemas.openxmlformats.org/officeDocument/2006/relationships/image" Target="../media/image41.png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5" Type="http://schemas.openxmlformats.org/officeDocument/2006/relationships/image" Target="../media/image40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7.wmf"/><Relationship Id="rId14" Type="http://schemas.openxmlformats.org/officeDocument/2006/relationships/oleObject" Target="../embeddings/oleObject3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image" Target="../media/image47.png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4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4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54.png"/><Relationship Id="rId4" Type="http://schemas.openxmlformats.org/officeDocument/2006/relationships/image" Target="../media/image52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5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5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65.wmf"/><Relationship Id="rId3" Type="http://schemas.openxmlformats.org/officeDocument/2006/relationships/oleObject" Target="../embeddings/oleObject51.bin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55.bin"/><Relationship Id="rId17" Type="http://schemas.openxmlformats.org/officeDocument/2006/relationships/image" Target="../media/image67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57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64.wmf"/><Relationship Id="rId5" Type="http://schemas.openxmlformats.org/officeDocument/2006/relationships/image" Target="../media/image68.png"/><Relationship Id="rId15" Type="http://schemas.openxmlformats.org/officeDocument/2006/relationships/image" Target="../media/image66.wmf"/><Relationship Id="rId10" Type="http://schemas.openxmlformats.org/officeDocument/2006/relationships/oleObject" Target="../embeddings/oleObject54.bin"/><Relationship Id="rId4" Type="http://schemas.openxmlformats.org/officeDocument/2006/relationships/image" Target="../media/image61.wmf"/><Relationship Id="rId9" Type="http://schemas.openxmlformats.org/officeDocument/2006/relationships/image" Target="../media/image63.wmf"/><Relationship Id="rId14" Type="http://schemas.openxmlformats.org/officeDocument/2006/relationships/oleObject" Target="../embeddings/oleObject5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gian</a:t>
            </a:r>
            <a:r>
              <a:rPr lang="en-US" altLang="en-US" dirty="0"/>
              <a:t> </a:t>
            </a:r>
            <a:r>
              <a:rPr lang="en-US" altLang="en-US" dirty="0" err="1"/>
              <a:t>Vectơ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KHÔNG GIAN HẠCH, KHÔNG GIAN CỘT, VÀ PHÉP BIẾN ĐỔI TUYẾN TÍNH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4A3B16AD-A3E4-4E68-A7F3-8DF4D5263887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HẠCH CỦA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800" b="1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hạch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  ma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kí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hiệu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Nul</a:t>
                </a:r>
                <a:r>
                  <a:rPr lang="en-US" altLang="en-US" sz="2800" i="1" dirty="0" err="1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cả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nghiệm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phương trình thuần nhất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   .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Dưới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kí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hiệu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</a:t>
                </a:r>
              </a:p>
              <a:p>
                <a:pPr marL="609600" indent="-609600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en-US" sz="2800" dirty="0">
                    <a:cs typeface="Times New Roman" panose="02020603050405020304" pitchFamily="18" charset="0"/>
                  </a:rPr>
                  <a:t>                                                                          .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2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hạch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  ma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đương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cả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nghiệm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hệ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   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gồm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phương trình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thuần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nhất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biến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800" b="1" dirty="0">
                    <a:cs typeface="Times New Roman" panose="02020603050405020304" pitchFamily="18" charset="0"/>
                  </a:rPr>
                  <a:t>Proof: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Nul</a:t>
                </a:r>
                <a:r>
                  <a:rPr lang="en-US" altLang="en-US" sz="2800" i="1" dirty="0" err="1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vì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609600" indent="-609600" eaLnBrk="1" hangingPunct="1">
                  <a:lnSpc>
                    <a:spcPct val="90000"/>
                  </a:lnSpc>
                </a:pPr>
                <a:r>
                  <a:rPr lang="en-US" altLang="en-US" sz="2800" dirty="0">
                    <a:cs typeface="Times New Roman" panose="02020603050405020304" pitchFamily="18" charset="0"/>
                  </a:rPr>
                  <a:t>Ta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cần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mình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Nul</a:t>
                </a:r>
                <a:r>
                  <a:rPr lang="en-US" altLang="en-US" sz="2800" i="1" dirty="0" err="1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thỏa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mãn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3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chất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con. </a:t>
                </a:r>
                <a:endParaRPr lang="en-US" altLang="en-US" sz="2800" i="1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4"/>
                <a:stretch>
                  <a:fillRect l="-1481" t="-2118" r="-1259" b="-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645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8587843"/>
              </p:ext>
            </p:extLst>
          </p:nvPr>
        </p:nvGraphicFramePr>
        <p:xfrm>
          <a:off x="6299200" y="14224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1" name="Equation" r:id="rId5" imgW="863225" imgH="253890" progId="">
                  <p:embed/>
                </p:oleObj>
              </mc:Choice>
              <mc:Fallback>
                <p:oleObj name="Equation" r:id="rId5" imgW="863225" imgH="253890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14224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282115"/>
              </p:ext>
            </p:extLst>
          </p:nvPr>
        </p:nvGraphicFramePr>
        <p:xfrm>
          <a:off x="4038600" y="210820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2" name="Equation" r:id="rId7" imgW="1129810" imgH="342751" progId="">
                  <p:embed/>
                </p:oleObj>
              </mc:Choice>
              <mc:Fallback>
                <p:oleObj name="Equation" r:id="rId7" imgW="1129810" imgH="342751" progId="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108200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279377"/>
              </p:ext>
            </p:extLst>
          </p:nvPr>
        </p:nvGraphicFramePr>
        <p:xfrm>
          <a:off x="1754188" y="2517775"/>
          <a:ext cx="56356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3" name="Equation" r:id="rId9" imgW="5117760" imgH="495000" progId="Equation.DSMT4">
                  <p:embed/>
                </p:oleObj>
              </mc:Choice>
              <mc:Fallback>
                <p:oleObj name="Equation" r:id="rId9" imgW="5117760" imgH="495000" progId="Equation.DSMT4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188" y="2517775"/>
                        <a:ext cx="5635625" cy="495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2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310108"/>
              </p:ext>
            </p:extLst>
          </p:nvPr>
        </p:nvGraphicFramePr>
        <p:xfrm>
          <a:off x="5791200" y="31369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" name="Equation" r:id="rId11" imgW="863225" imgH="253890" progId="">
                  <p:embed/>
                </p:oleObj>
              </mc:Choice>
              <mc:Fallback>
                <p:oleObj name="Equation" r:id="rId11" imgW="863225" imgH="253890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1369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756751"/>
              </p:ext>
            </p:extLst>
          </p:nvPr>
        </p:nvGraphicFramePr>
        <p:xfrm>
          <a:off x="3886200" y="382270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5" name="Equation" r:id="rId13" imgW="1129810" imgH="342751" progId="">
                  <p:embed/>
                </p:oleObj>
              </mc:Choice>
              <mc:Fallback>
                <p:oleObj name="Equation" r:id="rId13" imgW="1129810" imgH="342751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822700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704187" y="2545152"/>
                <a:ext cx="56515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187" y="2545152"/>
                <a:ext cx="565150" cy="461665"/>
              </a:xfrm>
              <a:prstGeom prst="rect">
                <a:avLst/>
              </a:prstGeom>
              <a:blipFill rotWithShape="0">
                <a:blip r:embed="rId15"/>
                <a:stretch>
                  <a:fillRect l="-3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F2261A00-AD0D-44B5-ADE5-0996BE735491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HẠCH CỦA MA TRẬN</a:t>
            </a:r>
          </a:p>
        </p:txBody>
      </p:sp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16326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sz="2800" b="1" dirty="0"/>
              <a:t>0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Null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Tiếp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diễn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tùy</a:t>
            </a:r>
            <a:r>
              <a:rPr lang="en-US" altLang="en-US" sz="2800" dirty="0"/>
              <a:t> ý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 </a:t>
            </a:r>
          </a:p>
          <a:p>
            <a:pPr eaLnBrk="1" hangingPunct="1"/>
            <a:r>
              <a:rPr lang="en-US" altLang="en-US" sz="2800" dirty="0" err="1"/>
              <a:t>Thì</a:t>
            </a:r>
            <a:r>
              <a:rPr lang="en-US" altLang="en-US" sz="2800" dirty="0"/>
              <a:t>				</a:t>
            </a:r>
            <a:r>
              <a:rPr lang="en-US" altLang="en-US" sz="2800" dirty="0" err="1"/>
              <a:t>và</a:t>
            </a:r>
            <a:endParaRPr lang="en-US" altLang="en-US" sz="2800" dirty="0"/>
          </a:p>
          <a:p>
            <a:pPr eaLnBrk="1" hangingPunct="1"/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mình</a:t>
            </a:r>
            <a:r>
              <a:rPr lang="en-US" altLang="en-US" sz="2800" dirty="0"/>
              <a:t>         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   		  .</a:t>
            </a:r>
          </a:p>
          <a:p>
            <a:pPr eaLnBrk="1" hangingPunct="1"/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có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         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dưới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cộng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. </a:t>
            </a:r>
          </a:p>
        </p:txBody>
      </p:sp>
      <p:graphicFrame>
        <p:nvGraphicFramePr>
          <p:cNvPr id="7209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671839"/>
              </p:ext>
            </p:extLst>
          </p:nvPr>
        </p:nvGraphicFramePr>
        <p:xfrm>
          <a:off x="2503632" y="2892425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" name="Equation" r:id="rId3" imgW="1129810" imgH="342751" progId="">
                  <p:embed/>
                </p:oleObj>
              </mc:Choice>
              <mc:Fallback>
                <p:oleObj name="Equation" r:id="rId3" imgW="1129810" imgH="342751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3632" y="2892425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730807"/>
              </p:ext>
            </p:extLst>
          </p:nvPr>
        </p:nvGraphicFramePr>
        <p:xfrm>
          <a:off x="4876800" y="2899251"/>
          <a:ext cx="1117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" name="Equation" r:id="rId5" imgW="1117115" imgH="342751" progId="">
                  <p:embed/>
                </p:oleObj>
              </mc:Choice>
              <mc:Fallback>
                <p:oleObj name="Equation" r:id="rId5" imgW="1117115" imgH="342751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899251"/>
                        <a:ext cx="1117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29869"/>
              </p:ext>
            </p:extLst>
          </p:nvPr>
        </p:nvGraphicFramePr>
        <p:xfrm>
          <a:off x="3124200" y="3419735"/>
          <a:ext cx="838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2" name="Equation" r:id="rId7" imgW="838200" imgH="279400" progId="">
                  <p:embed/>
                </p:oleObj>
              </mc:Choice>
              <mc:Fallback>
                <p:oleObj name="Equation" r:id="rId7" imgW="838200" imgH="279400" progId="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419735"/>
                        <a:ext cx="8382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867049"/>
              </p:ext>
            </p:extLst>
          </p:nvPr>
        </p:nvGraphicFramePr>
        <p:xfrm>
          <a:off x="2389794" y="3810000"/>
          <a:ext cx="1993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3" name="Equation" r:id="rId9" imgW="1993900" imgH="431800" progId="">
                  <p:embed/>
                </p:oleObj>
              </mc:Choice>
              <mc:Fallback>
                <p:oleObj name="Equation" r:id="rId9" imgW="1993900" imgH="431800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9794" y="3810000"/>
                        <a:ext cx="1993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310173"/>
              </p:ext>
            </p:extLst>
          </p:nvPr>
        </p:nvGraphicFramePr>
        <p:xfrm>
          <a:off x="2120900" y="4818250"/>
          <a:ext cx="4902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4" name="Equation" r:id="rId11" imgW="4902200" imgH="431800" progId="">
                  <p:embed/>
                </p:oleObj>
              </mc:Choice>
              <mc:Fallback>
                <p:oleObj name="Equation" r:id="rId11" imgW="4902200" imgH="431800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4818250"/>
                        <a:ext cx="49022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276070"/>
              </p:ext>
            </p:extLst>
          </p:nvPr>
        </p:nvGraphicFramePr>
        <p:xfrm>
          <a:off x="1970694" y="5363059"/>
          <a:ext cx="838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" name="Equation" r:id="rId13" imgW="838200" imgH="279400" progId="">
                  <p:embed/>
                </p:oleObj>
              </mc:Choice>
              <mc:Fallback>
                <p:oleObj name="Equation" r:id="rId13" imgW="838200" imgH="279400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694" y="5363059"/>
                        <a:ext cx="8382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E4FDBE58-DA3A-4048-A66A-705CF83FBDDF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HẠCH CỦA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192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371600"/>
                <a:ext cx="8229600" cy="5029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Cuối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cùng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vô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hướng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tùy</a:t>
                </a:r>
                <a:r>
                  <a:rPr lang="en-US" altLang="en-US" sz="2800" dirty="0"/>
                  <a:t> ý, </a:t>
                </a:r>
                <a:r>
                  <a:rPr lang="en-US" altLang="en-US" sz="2800" dirty="0" err="1"/>
                  <a:t>thì</a:t>
                </a:r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chứng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tỏ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c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nằm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Nul</a:t>
                </a:r>
                <a:r>
                  <a:rPr lang="en-US" altLang="en-US" sz="2800" i="1" dirty="0" err="1"/>
                  <a:t>A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/>
                  <a:t>Do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Nul</a:t>
                </a:r>
                <a:r>
                  <a:rPr lang="en-US" altLang="en-US" sz="2800" i="1" dirty="0" err="1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Mô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tả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tường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mình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của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Nul</a:t>
                </a:r>
                <a:r>
                  <a:rPr lang="en-US" altLang="en-US" sz="2800" b="1" i="1" dirty="0" err="1"/>
                  <a:t>A</a:t>
                </a:r>
                <a:endParaRPr lang="en-US" altLang="en-US" sz="2800" b="1" i="1" dirty="0"/>
              </a:p>
              <a:p>
                <a:pPr eaLnBrk="1" hangingPunct="1"/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quan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hệ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hiển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nhiên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giữa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Nul</a:t>
                </a:r>
                <a:r>
                  <a:rPr lang="en-US" altLang="en-US" sz="2800" i="1" dirty="0" err="1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/>
                  <a:t>Ta </a:t>
                </a:r>
                <a:r>
                  <a:rPr lang="en-US" altLang="en-US" sz="2800" dirty="0" err="1"/>
                  <a:t>nói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Nul</a:t>
                </a:r>
                <a:r>
                  <a:rPr lang="en-US" altLang="en-US" sz="2800" i="1" dirty="0" err="1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nghĩa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ẩn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nghĩa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kiện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phải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tra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b="1" dirty="0"/>
              </a:p>
            </p:txBody>
          </p:sp>
        </mc:Choice>
        <mc:Fallback>
          <p:sp>
            <p:nvSpPr>
              <p:cNvPr id="7219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71600"/>
                <a:ext cx="8229600" cy="5029200"/>
              </a:xfrm>
              <a:blipFill>
                <a:blip r:embed="rId3"/>
                <a:stretch>
                  <a:fillRect l="-1481" t="-1212" b="-1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1924" name="Object 4"/>
          <p:cNvGraphicFramePr>
            <a:graphicFrameLocks noChangeAspect="1"/>
          </p:cNvGraphicFramePr>
          <p:nvPr/>
        </p:nvGraphicFramePr>
        <p:xfrm>
          <a:off x="2667000" y="1905000"/>
          <a:ext cx="4013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Equation" r:id="rId4" imgW="4013200" imgH="431800" progId="">
                  <p:embed/>
                </p:oleObj>
              </mc:Choice>
              <mc:Fallback>
                <p:oleObj name="Equation" r:id="rId4" imgW="4013200" imgH="4318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905000"/>
                        <a:ext cx="40132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CB7D472B-8FD1-417F-9602-1C633F388374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HẠCH CỦA MA TRẬN</a:t>
            </a:r>
          </a:p>
        </p:txBody>
      </p:sp>
      <p:sp>
        <p:nvSpPr>
          <p:cNvPr id="72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danh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sách</a:t>
            </a:r>
            <a:r>
              <a:rPr lang="en-US" altLang="en-US" sz="2800" dirty="0"/>
              <a:t> hay </a:t>
            </a:r>
            <a:r>
              <a:rPr lang="en-US" altLang="en-US" sz="2800" dirty="0" err="1"/>
              <a:t>mô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i="1" dirty="0" err="1"/>
              <a:t>Giải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</a:t>
            </a:r>
            <a:r>
              <a:rPr lang="en-US" altLang="en-US" sz="2800" dirty="0"/>
              <a:t>             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tả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tường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minh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b="1" dirty="0"/>
          </a:p>
          <a:p>
            <a:pPr eaLnBrk="1" hangingPunct="1"/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3: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           .</a:t>
            </a:r>
          </a:p>
        </p:txBody>
      </p:sp>
      <p:graphicFrame>
        <p:nvGraphicFramePr>
          <p:cNvPr id="7229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093893"/>
              </p:ext>
            </p:extLst>
          </p:nvPr>
        </p:nvGraphicFramePr>
        <p:xfrm>
          <a:off x="3505200" y="217170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2" name="Equation" r:id="rId3" imgW="1129810" imgH="342751" progId="">
                  <p:embed/>
                </p:oleObj>
              </mc:Choice>
              <mc:Fallback>
                <p:oleObj name="Equation" r:id="rId3" imgW="1129810" imgH="342751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171700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49" name="Object 5"/>
          <p:cNvGraphicFramePr>
            <a:graphicFrameLocks noChangeAspect="1"/>
          </p:cNvGraphicFramePr>
          <p:nvPr/>
        </p:nvGraphicFramePr>
        <p:xfrm>
          <a:off x="2590800" y="4343400"/>
          <a:ext cx="44323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name="Equation" r:id="rId5" imgW="4432300" imgH="1778000" progId="">
                  <p:embed/>
                </p:oleObj>
              </mc:Choice>
              <mc:Fallback>
                <p:oleObj name="Equation" r:id="rId5" imgW="4432300" imgH="17780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343400"/>
                        <a:ext cx="44323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09CAF9C4-4894-4E90-9D88-FB2E63F720DD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HẠCH CỦA MA TRẬN</a:t>
            </a:r>
          </a:p>
        </p:txBody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 </a:t>
            </a:r>
            <a:r>
              <a:rPr lang="en-US" altLang="en-US" sz="2800" dirty="0" err="1"/>
              <a:t>Bước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đầu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nghiệm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               	  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do.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Rút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bổ</a:t>
            </a:r>
            <a:r>
              <a:rPr lang="en-US" altLang="en-US" sz="2800" dirty="0"/>
              <a:t> sung             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en-US" altLang="en-US" sz="2800" i="1" dirty="0"/>
              <a:t>ma </a:t>
            </a:r>
            <a:r>
              <a:rPr lang="en-US" altLang="en-US" sz="2800" i="1" dirty="0" err="1"/>
              <a:t>trận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bậc</a:t>
            </a:r>
            <a:r>
              <a:rPr lang="en-US" altLang="en-US" sz="2800" i="1" dirty="0"/>
              <a:t> thang </a:t>
            </a:r>
            <a:r>
              <a:rPr lang="en-US" altLang="en-US" sz="2800" i="1" dirty="0" err="1"/>
              <a:t>rút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gọn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do: 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,</a:t>
            </a:r>
          </a:p>
        </p:txBody>
      </p:sp>
      <p:graphicFrame>
        <p:nvGraphicFramePr>
          <p:cNvPr id="723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793626"/>
              </p:ext>
            </p:extLst>
          </p:nvPr>
        </p:nvGraphicFramePr>
        <p:xfrm>
          <a:off x="533400" y="180340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2" name="Equation" r:id="rId3" imgW="1129810" imgH="342751" progId="">
                  <p:embed/>
                </p:oleObj>
              </mc:Choice>
              <mc:Fallback>
                <p:oleObj name="Equation" r:id="rId3" imgW="1129810" imgH="342751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803400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885858"/>
              </p:ext>
            </p:extLst>
          </p:nvPr>
        </p:nvGraphicFramePr>
        <p:xfrm>
          <a:off x="5257800" y="2806700"/>
          <a:ext cx="9906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3" name="Equation" r:id="rId5" imgW="1143000" imgH="558800" progId="">
                  <p:embed/>
                </p:oleObj>
              </mc:Choice>
              <mc:Fallback>
                <p:oleObj name="Equation" r:id="rId5" imgW="1143000" imgH="5588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806700"/>
                        <a:ext cx="990600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4" name="Object 6"/>
          <p:cNvGraphicFramePr>
            <a:graphicFrameLocks noChangeAspect="1"/>
          </p:cNvGraphicFramePr>
          <p:nvPr/>
        </p:nvGraphicFramePr>
        <p:xfrm>
          <a:off x="685800" y="4419600"/>
          <a:ext cx="41402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4" name="Equation" r:id="rId7" imgW="4140200" imgH="1778000" progId="">
                  <p:embed/>
                </p:oleObj>
              </mc:Choice>
              <mc:Fallback>
                <p:oleObj name="Equation" r:id="rId7" imgW="4140200" imgH="17780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419600"/>
                        <a:ext cx="41402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5" name="Object 7"/>
          <p:cNvGraphicFramePr>
            <a:graphicFrameLocks noChangeAspect="1"/>
          </p:cNvGraphicFramePr>
          <p:nvPr/>
        </p:nvGraphicFramePr>
        <p:xfrm>
          <a:off x="5105400" y="4495800"/>
          <a:ext cx="34163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" name="Equation" r:id="rId9" imgW="3416300" imgH="1625600" progId="">
                  <p:embed/>
                </p:oleObj>
              </mc:Choice>
              <mc:Fallback>
                <p:oleObj name="Equation" r:id="rId9" imgW="3416300" imgH="1625600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495800"/>
                        <a:ext cx="3416300" cy="162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F82F7A5B-5DA0-4046-B8CB-883C4753FDC2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HẠCH CỦA MA TRẬN</a:t>
            </a:r>
          </a:p>
        </p:txBody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5626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Nghiệm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	                                 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,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i="1" dirty="0"/>
              <a:t>x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 </a:t>
            </a:r>
            <a:r>
              <a:rPr lang="en-US" altLang="en-US" sz="2800" i="1" dirty="0"/>
              <a:t>x</a:t>
            </a:r>
            <a:r>
              <a:rPr lang="en-US" altLang="en-US" sz="2800" baseline="-25000" dirty="0"/>
              <a:t>4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x</a:t>
            </a:r>
            <a:r>
              <a:rPr lang="en-US" altLang="en-US" sz="2800" baseline="-25000" dirty="0"/>
              <a:t>5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do.</a:t>
            </a:r>
          </a:p>
          <a:p>
            <a:pPr eaLnBrk="1" hangingPunct="1"/>
            <a:r>
              <a:rPr lang="en-US" altLang="en-US" sz="2800" dirty="0" err="1"/>
              <a:t>Tiếp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nghiệm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i="1" dirty="0"/>
              <a:t>vectơ</a:t>
            </a:r>
            <a:r>
              <a:rPr lang="en-US" altLang="en-US" sz="2800" i="1" dirty="0"/>
              <a:t> ở </a:t>
            </a:r>
            <a:r>
              <a:rPr lang="en-US" altLang="en-US" sz="2800" i="1" dirty="0" err="1"/>
              <a:t>đó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các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trọng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số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là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các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biến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tự</a:t>
            </a:r>
            <a:r>
              <a:rPr lang="en-US" altLang="en-US" sz="2800" i="1" dirty="0"/>
              <a:t> do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  </a:t>
            </a:r>
          </a:p>
        </p:txBody>
      </p:sp>
      <p:graphicFrame>
        <p:nvGraphicFramePr>
          <p:cNvPr id="724996" name="Object 4"/>
          <p:cNvGraphicFramePr>
            <a:graphicFrameLocks noChangeAspect="1"/>
          </p:cNvGraphicFramePr>
          <p:nvPr/>
        </p:nvGraphicFramePr>
        <p:xfrm>
          <a:off x="4267200" y="1181100"/>
          <a:ext cx="2832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" name="Equation" r:id="rId3" imgW="2832100" imgH="482600" progId="">
                  <p:embed/>
                </p:oleObj>
              </mc:Choice>
              <mc:Fallback>
                <p:oleObj name="Equation" r:id="rId3" imgW="2832100" imgH="4826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181100"/>
                        <a:ext cx="28321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7" name="Object 5"/>
          <p:cNvGraphicFramePr>
            <a:graphicFrameLocks noChangeAspect="1"/>
          </p:cNvGraphicFramePr>
          <p:nvPr/>
        </p:nvGraphicFramePr>
        <p:xfrm>
          <a:off x="863600" y="1701800"/>
          <a:ext cx="2400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0" name="Equation" r:id="rId5" imgW="2400300" imgH="482600" progId="">
                  <p:embed/>
                </p:oleObj>
              </mc:Choice>
              <mc:Fallback>
                <p:oleObj name="Equation" r:id="rId5" imgW="2400300" imgH="4826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1701800"/>
                        <a:ext cx="2400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8" name="Object 6"/>
          <p:cNvGraphicFramePr>
            <a:graphicFrameLocks noChangeAspect="1"/>
          </p:cNvGraphicFramePr>
          <p:nvPr/>
        </p:nvGraphicFramePr>
        <p:xfrm>
          <a:off x="914400" y="3505200"/>
          <a:ext cx="7010400" cy="261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1" name="Equation" r:id="rId7" imgW="8039100" imgH="2997200" progId="">
                  <p:embed/>
                </p:oleObj>
              </mc:Choice>
              <mc:Fallback>
                <p:oleObj name="Equation" r:id="rId7" imgW="8039100" imgH="2997200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505200"/>
                        <a:ext cx="7010400" cy="2611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4999" name="Line 7"/>
          <p:cNvSpPr>
            <a:spLocks noChangeShapeType="1"/>
          </p:cNvSpPr>
          <p:nvPr/>
        </p:nvSpPr>
        <p:spPr bwMode="auto">
          <a:xfrm flipV="1">
            <a:off x="5029200" y="6096000"/>
            <a:ext cx="0" cy="2286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5000" name="Line 8"/>
          <p:cNvSpPr>
            <a:spLocks noChangeShapeType="1"/>
          </p:cNvSpPr>
          <p:nvPr/>
        </p:nvSpPr>
        <p:spPr bwMode="auto">
          <a:xfrm flipV="1">
            <a:off x="6324600" y="6096000"/>
            <a:ext cx="0" cy="2286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5001" name="Line 9"/>
          <p:cNvSpPr>
            <a:spLocks noChangeShapeType="1"/>
          </p:cNvSpPr>
          <p:nvPr/>
        </p:nvSpPr>
        <p:spPr bwMode="auto">
          <a:xfrm flipV="1">
            <a:off x="7620000" y="6096000"/>
            <a:ext cx="0" cy="2286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5003" name="Text Box 11" descr="Pink tissue paper"/>
          <p:cNvSpPr txBox="1">
            <a:spLocks noChangeArrowheads="1"/>
          </p:cNvSpPr>
          <p:nvPr/>
        </p:nvSpPr>
        <p:spPr bwMode="auto">
          <a:xfrm>
            <a:off x="4724400" y="6248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9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0099FF"/>
                </a:solidFill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725004" name="Text Box 12" descr="Pink tissue paper"/>
          <p:cNvSpPr txBox="1">
            <a:spLocks noChangeArrowheads="1"/>
          </p:cNvSpPr>
          <p:nvPr/>
        </p:nvSpPr>
        <p:spPr bwMode="auto">
          <a:xfrm>
            <a:off x="7239000" y="62484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9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0099FF"/>
                </a:solidFill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725005" name="Text Box 13" descr="Pink tissue paper"/>
          <p:cNvSpPr txBox="1">
            <a:spLocks noChangeArrowheads="1"/>
          </p:cNvSpPr>
          <p:nvPr/>
        </p:nvSpPr>
        <p:spPr bwMode="auto">
          <a:xfrm>
            <a:off x="5943600" y="62484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9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0099FF"/>
                </a:solidFill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6CE8B7D5-1102-4382-BA71-8E18B9A14A61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HẠCH CỦA MA TRẬN</a:t>
            </a:r>
          </a:p>
        </p:txBody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1816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                                                                                        </a:t>
            </a:r>
            <a:r>
              <a:rPr lang="en-US" altLang="en-US" sz="2800" dirty="0"/>
              <a:t>    (3)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800" dirty="0" err="1"/>
              <a:t>Mọi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, </a:t>
            </a:r>
            <a:r>
              <a:rPr lang="en-US" altLang="en-US" sz="2800" b="1" dirty="0"/>
              <a:t>v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/>
              <a:t>w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 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{</a:t>
            </a:r>
            <a:r>
              <a:rPr lang="en-US" altLang="en-US" sz="2800" b="1" dirty="0"/>
              <a:t>u</a:t>
            </a:r>
            <a:r>
              <a:rPr lang="en-US" altLang="en-US" sz="2800" dirty="0"/>
              <a:t>, </a:t>
            </a:r>
            <a:r>
              <a:rPr lang="en-US" altLang="en-US" sz="2800" b="1" dirty="0"/>
              <a:t>v</a:t>
            </a:r>
            <a:r>
              <a:rPr lang="en-US" altLang="en-US" sz="2800" dirty="0"/>
              <a:t>, </a:t>
            </a:r>
            <a:r>
              <a:rPr lang="en-US" altLang="en-US" sz="2800" b="1" dirty="0"/>
              <a:t>w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marL="1371600" lvl="2" indent="-4572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</a:t>
            </a:r>
            <a:r>
              <a:rPr lang="en-US" altLang="en-US" sz="2800" dirty="0"/>
              <a:t> (3)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trọng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.</a:t>
            </a:r>
          </a:p>
          <a:p>
            <a:pPr marL="1371600" lvl="2" indent="-4572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</a:t>
            </a:r>
            <a:r>
              <a:rPr lang="en-US" altLang="en-US" sz="2800" dirty="0"/>
              <a:t>              .</a:t>
            </a:r>
          </a:p>
        </p:txBody>
      </p:sp>
      <p:graphicFrame>
        <p:nvGraphicFramePr>
          <p:cNvPr id="726020" name="Object 4"/>
          <p:cNvGraphicFramePr>
            <a:graphicFrameLocks noChangeAspect="1"/>
          </p:cNvGraphicFramePr>
          <p:nvPr/>
        </p:nvGraphicFramePr>
        <p:xfrm>
          <a:off x="1663700" y="1358900"/>
          <a:ext cx="2768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6" name="Equation" r:id="rId3" imgW="2768600" imgH="482600" progId="">
                  <p:embed/>
                </p:oleObj>
              </mc:Choice>
              <mc:Fallback>
                <p:oleObj name="Equation" r:id="rId3" imgW="2768600" imgH="4826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1358900"/>
                        <a:ext cx="2768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848689"/>
              </p:ext>
            </p:extLst>
          </p:nvPr>
        </p:nvGraphicFramePr>
        <p:xfrm>
          <a:off x="6261100" y="518795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7" name="Equation" r:id="rId5" imgW="1129810" imgH="342751" progId="">
                  <p:embed/>
                </p:oleObj>
              </mc:Choice>
              <mc:Fallback>
                <p:oleObj name="Equation" r:id="rId5" imgW="1129810" imgH="342751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1100" y="5187950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2969D652-B5BC-4F27-942A-BA55E93053B3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CỘT CỦA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704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47800"/>
                <a:ext cx="8229600" cy="5029200"/>
              </a:xfrm>
            </p:spPr>
            <p:txBody>
              <a:bodyPr/>
              <a:lstStyle/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800" b="1" dirty="0" err="1"/>
                  <a:t>Định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nghĩa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         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kí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hiệu</a:t>
                </a:r>
                <a:r>
                  <a:rPr lang="en-US" altLang="en-US" sz="2800" dirty="0"/>
                  <a:t> Col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tổ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hợp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                             , </a:t>
                </a:r>
                <a:r>
                  <a:rPr lang="en-US" altLang="en-US" sz="2800" dirty="0" err="1"/>
                  <a:t>thì</a:t>
                </a: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                                                                   .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b="1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3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         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Col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viết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 </a:t>
                </a:r>
                <a:r>
                  <a:rPr lang="en-US" altLang="en-US" sz="2800" dirty="0" err="1"/>
                  <a:t>nào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hiệu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tổ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hợp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Nghĩa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,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                                                                                .</a:t>
                </a:r>
              </a:p>
            </p:txBody>
          </p:sp>
        </mc:Choice>
        <mc:Fallback>
          <p:sp>
            <p:nvSpPr>
              <p:cNvPr id="7270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47800"/>
                <a:ext cx="8229600" cy="5029200"/>
              </a:xfrm>
              <a:blipFill>
                <a:blip r:embed="rId3"/>
                <a:stretch>
                  <a:fillRect l="-1481" t="-2182"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70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374096"/>
              </p:ext>
            </p:extLst>
          </p:nvPr>
        </p:nvGraphicFramePr>
        <p:xfrm>
          <a:off x="5994400" y="15875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4" name="Equation" r:id="rId4" imgW="863225" imgH="253890" progId="">
                  <p:embed/>
                </p:oleObj>
              </mc:Choice>
              <mc:Fallback>
                <p:oleObj name="Equation" r:id="rId4" imgW="863225" imgH="25389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15875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99843"/>
              </p:ext>
            </p:extLst>
          </p:nvPr>
        </p:nvGraphicFramePr>
        <p:xfrm>
          <a:off x="2743200" y="2209800"/>
          <a:ext cx="25908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5" name="Equation" r:id="rId6" imgW="2730500" imgH="558800" progId="">
                  <p:embed/>
                </p:oleObj>
              </mc:Choice>
              <mc:Fallback>
                <p:oleObj name="Equation" r:id="rId6" imgW="2730500" imgH="55880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209800"/>
                        <a:ext cx="2590800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69354"/>
              </p:ext>
            </p:extLst>
          </p:nvPr>
        </p:nvGraphicFramePr>
        <p:xfrm>
          <a:off x="2870200" y="2870200"/>
          <a:ext cx="3670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" name="Equation" r:id="rId8" imgW="3670300" imgH="482600" progId="">
                  <p:embed/>
                </p:oleObj>
              </mc:Choice>
              <mc:Fallback>
                <p:oleObj name="Equation" r:id="rId8" imgW="3670300" imgH="4826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200" y="2870200"/>
                        <a:ext cx="3670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210735"/>
              </p:ext>
            </p:extLst>
          </p:nvPr>
        </p:nvGraphicFramePr>
        <p:xfrm>
          <a:off x="5562600" y="37592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7" name="Equation" r:id="rId10" imgW="863225" imgH="253890" progId="">
                  <p:embed/>
                </p:oleObj>
              </mc:Choice>
              <mc:Fallback>
                <p:oleObj name="Equation" r:id="rId10" imgW="863225" imgH="253890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7592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9" name="Object 9"/>
          <p:cNvGraphicFramePr>
            <a:graphicFrameLocks noChangeAspect="1"/>
          </p:cNvGraphicFramePr>
          <p:nvPr/>
        </p:nvGraphicFramePr>
        <p:xfrm>
          <a:off x="1676400" y="5702300"/>
          <a:ext cx="5981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8" name="Equation" r:id="rId12" imgW="5981700" imgH="482600" progId="">
                  <p:embed/>
                </p:oleObj>
              </mc:Choice>
              <mc:Fallback>
                <p:oleObj name="Equation" r:id="rId12" imgW="5981700" imgH="482600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702300"/>
                        <a:ext cx="5981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959601" y="5723235"/>
                <a:ext cx="5842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601" y="5723235"/>
                <a:ext cx="584200" cy="461665"/>
              </a:xfrm>
              <a:prstGeom prst="rect">
                <a:avLst/>
              </a:prstGeom>
              <a:blipFill rotWithShape="0">
                <a:blip r:embed="rId14"/>
                <a:stretch>
                  <a:fillRect l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E6E71F2A-8291-43A7-83C2-C3C1253BF0C6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CỘT CỦA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806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295400"/>
                <a:ext cx="8763000" cy="5257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Kí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hiệu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Col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còn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Col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ảnh</a:t>
                </a:r>
                <a:r>
                  <a:rPr lang="en-US" altLang="en-US" sz="2800" i="1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đổi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               .</a:t>
                </a:r>
              </a:p>
              <a:p>
                <a:pPr eaLnBrk="1" hangingPunct="1"/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         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bằng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en-US" sz="2800" dirty="0"/>
                  <a:t> nếu và chỉ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phương trình</a:t>
                </a:r>
                <a:r>
                  <a:rPr lang="en-US" altLang="en-US" sz="2800" dirty="0"/>
                  <a:t>             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nghiệm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b="1" dirty="0" err="1"/>
                  <a:t>Ví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dụ</a:t>
                </a:r>
                <a:r>
                  <a:rPr lang="en-US" altLang="en-US" sz="2800" b="1" dirty="0"/>
                  <a:t> 7:</a:t>
                </a:r>
                <a:r>
                  <a:rPr lang="en-US" altLang="en-US" sz="2800" dirty="0"/>
                  <a:t> Cho                                          ,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                .  </a:t>
                </a:r>
              </a:p>
            </p:txBody>
          </p:sp>
        </mc:Choice>
        <mc:Fallback>
          <p:sp>
            <p:nvSpPr>
              <p:cNvPr id="7280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295400"/>
                <a:ext cx="8763000" cy="5257800"/>
              </a:xfrm>
              <a:blipFill>
                <a:blip r:embed="rId3"/>
                <a:stretch>
                  <a:fillRect l="-1253" t="-1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8068" name="Object 4"/>
          <p:cNvGraphicFramePr>
            <a:graphicFrameLocks noChangeAspect="1"/>
          </p:cNvGraphicFramePr>
          <p:nvPr/>
        </p:nvGraphicFramePr>
        <p:xfrm>
          <a:off x="6692900" y="1803400"/>
          <a:ext cx="1346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0" name="Equation" r:id="rId4" imgW="1346200" imgH="330200" progId="">
                  <p:embed/>
                </p:oleObj>
              </mc:Choice>
              <mc:Fallback>
                <p:oleObj name="Equation" r:id="rId4" imgW="1346200" imgH="330200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900" y="1803400"/>
                        <a:ext cx="13462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69" name="Object 5"/>
          <p:cNvGraphicFramePr>
            <a:graphicFrameLocks noChangeAspect="1"/>
          </p:cNvGraphicFramePr>
          <p:nvPr/>
        </p:nvGraphicFramePr>
        <p:xfrm>
          <a:off x="4152900" y="24003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1" name="Equation" r:id="rId6" imgW="863225" imgH="253890" progId="">
                  <p:embed/>
                </p:oleObj>
              </mc:Choice>
              <mc:Fallback>
                <p:oleObj name="Equation" r:id="rId6" imgW="863225" imgH="253890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24003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574462"/>
              </p:ext>
            </p:extLst>
          </p:nvPr>
        </p:nvGraphicFramePr>
        <p:xfrm>
          <a:off x="4114800" y="2730500"/>
          <a:ext cx="1143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2" name="Equation" r:id="rId8" imgW="1143000" imgH="355600" progId="">
                  <p:embed/>
                </p:oleObj>
              </mc:Choice>
              <mc:Fallback>
                <p:oleObj name="Equation" r:id="rId8" imgW="1143000" imgH="3556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730500"/>
                        <a:ext cx="1143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3" name="Object 9"/>
          <p:cNvGraphicFramePr>
            <a:graphicFrameLocks noChangeAspect="1"/>
          </p:cNvGraphicFramePr>
          <p:nvPr/>
        </p:nvGraphicFramePr>
        <p:xfrm>
          <a:off x="3048000" y="3556000"/>
          <a:ext cx="3505200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3" name="Equation" r:id="rId10" imgW="3683000" imgH="1778000" progId="">
                  <p:embed/>
                </p:oleObj>
              </mc:Choice>
              <mc:Fallback>
                <p:oleObj name="Equation" r:id="rId10" imgW="3683000" imgH="17780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556000"/>
                        <a:ext cx="3505200" cy="169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4" name="Object 10"/>
          <p:cNvGraphicFramePr>
            <a:graphicFrameLocks noChangeAspect="1"/>
          </p:cNvGraphicFramePr>
          <p:nvPr/>
        </p:nvGraphicFramePr>
        <p:xfrm>
          <a:off x="6832600" y="3251200"/>
          <a:ext cx="1401763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4" name="Equation" r:id="rId12" imgW="1447800" imgH="2362200" progId="">
                  <p:embed/>
                </p:oleObj>
              </mc:Choice>
              <mc:Fallback>
                <p:oleObj name="Equation" r:id="rId12" imgW="1447800" imgH="2362200" progId="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3251200"/>
                        <a:ext cx="1401763" cy="228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7272086"/>
              </p:ext>
            </p:extLst>
          </p:nvPr>
        </p:nvGraphicFramePr>
        <p:xfrm>
          <a:off x="1219200" y="4584700"/>
          <a:ext cx="1328738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5" name="Equation" r:id="rId14" imgW="1409700" imgH="1778000" progId="">
                  <p:embed/>
                </p:oleObj>
              </mc:Choice>
              <mc:Fallback>
                <p:oleObj name="Equation" r:id="rId14" imgW="1409700" imgH="1778000" progId="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584700"/>
                        <a:ext cx="1328738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65309E22-3896-4C02-A0D3-147F94EB4F82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CỘT CỦA MA TRẬN</a:t>
            </a:r>
          </a:p>
        </p:txBody>
      </p:sp>
      <p:sp>
        <p:nvSpPr>
          <p:cNvPr id="72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534400" cy="5029200"/>
          </a:xfrm>
        </p:spPr>
        <p:txBody>
          <a:bodyPr/>
          <a:lstStyle/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Xác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liệu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 </a:t>
            </a:r>
            <a:r>
              <a:rPr lang="en-US" altLang="en-US" sz="2800" dirty="0"/>
              <a:t>hay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.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Col </a:t>
            </a:r>
            <a:r>
              <a:rPr lang="en-US" altLang="en-US" sz="2800" i="1" dirty="0"/>
              <a:t>A </a:t>
            </a:r>
            <a:r>
              <a:rPr lang="en-US" altLang="en-US" sz="2800" dirty="0"/>
              <a:t>hay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?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Xác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liệu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Col </a:t>
            </a:r>
            <a:r>
              <a:rPr lang="en-US" altLang="en-US" sz="2800" i="1" dirty="0"/>
              <a:t>A </a:t>
            </a:r>
            <a:r>
              <a:rPr lang="en-US" altLang="en-US" sz="2800" dirty="0"/>
              <a:t>hay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. 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 </a:t>
            </a:r>
            <a:r>
              <a:rPr lang="en-US" altLang="en-US" sz="2800" dirty="0"/>
              <a:t>hay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?</a:t>
            </a:r>
          </a:p>
          <a:p>
            <a:pPr marL="0" indent="0" eaLnBrk="1" hangingPunct="1">
              <a:buNone/>
            </a:pPr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endParaRPr lang="en-US" altLang="en-US" sz="2800" dirty="0"/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cần</a:t>
            </a:r>
            <a:r>
              <a:rPr lang="en-US" altLang="en-US" sz="2800" dirty="0"/>
              <a:t> theist ở </a:t>
            </a:r>
            <a:r>
              <a:rPr lang="en-US" altLang="en-US" sz="2800" dirty="0" err="1"/>
              <a:t>đây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Đơn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b="1" dirty="0"/>
              <a:t>u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29092" name="Object 4"/>
          <p:cNvGraphicFramePr>
            <a:graphicFrameLocks noChangeAspect="1"/>
          </p:cNvGraphicFramePr>
          <p:nvPr/>
        </p:nvGraphicFramePr>
        <p:xfrm>
          <a:off x="1219200" y="4419600"/>
          <a:ext cx="6705600" cy="230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Equation" r:id="rId3" imgW="6883400" imgH="2362200" progId="">
                  <p:embed/>
                </p:oleObj>
              </mc:Choice>
              <mc:Fallback>
                <p:oleObj name="Equation" r:id="rId3" imgW="6883400" imgH="23622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419600"/>
                        <a:ext cx="6705600" cy="230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E0C752CF-3663-4599-9A68-EABA2297DF05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CỘT CỦA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011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371600"/>
                <a:ext cx="8458200" cy="5181600"/>
              </a:xfrm>
            </p:spPr>
            <p:txBody>
              <a:bodyPr/>
              <a:lstStyle/>
              <a:p>
                <a:pPr marL="609600" indent="-609600" eaLnBrk="1" hangingPunct="1"/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nghiệm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            , </a:t>
                </a:r>
                <a:r>
                  <a:rPr lang="en-US" altLang="en-US" sz="2800" dirty="0" err="1"/>
                  <a:t>nên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thuộc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Nul</a:t>
                </a:r>
                <a:r>
                  <a:rPr lang="en-US" altLang="en-US" sz="2800" i="1" dirty="0" err="1"/>
                  <a:t>A</a:t>
                </a:r>
                <a:r>
                  <a:rPr lang="en-US" altLang="en-US" sz="2800" dirty="0"/>
                  <a:t>.</a:t>
                </a:r>
              </a:p>
              <a:p>
                <a:pPr marL="609600" indent="-609600" eaLnBrk="1" hangingPunct="1"/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tự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bốn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phần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thuộc</a:t>
                </a:r>
                <a:r>
                  <a:rPr lang="en-US" altLang="en-US" sz="2800" dirty="0"/>
                  <a:t> Col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Col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2"/>
                </a:pPr>
                <a:r>
                  <a:rPr lang="en-US" altLang="en-US" sz="2800" dirty="0" err="1"/>
                  <a:t>Rút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gọn</a:t>
                </a:r>
                <a:r>
                  <a:rPr lang="en-US" altLang="en-US" sz="2800" dirty="0"/>
                  <a:t>             </a:t>
                </a:r>
                <a:r>
                  <a:rPr lang="en-US" altLang="en-US" sz="2800" dirty="0" err="1"/>
                  <a:t>về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bậc</a:t>
                </a:r>
                <a:r>
                  <a:rPr lang="en-US" altLang="en-US" sz="2800" dirty="0"/>
                  <a:t> thang.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2"/>
                </a:pPr>
                <a:endParaRPr lang="en-US" altLang="en-US" sz="2800" dirty="0"/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2"/>
                </a:pPr>
                <a:endParaRPr lang="en-US" altLang="en-US" sz="2800" dirty="0"/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2"/>
                </a:pPr>
                <a:endParaRPr lang="en-US" altLang="en-US" sz="2800" dirty="0"/>
              </a:p>
              <a:p>
                <a:pPr marL="1371600" lvl="2" indent="-457200" eaLnBrk="1" hangingPunct="1"/>
                <a:endParaRPr lang="en-US" altLang="en-US" sz="2800" dirty="0"/>
              </a:p>
              <a:p>
                <a:pPr marL="495300" indent="-381000" eaLnBrk="1" hangingPunct="1"/>
                <a:r>
                  <a:rPr lang="en-US" altLang="en-US" sz="2800" dirty="0"/>
                  <a:t>P</a:t>
                </a:r>
                <a:r>
                  <a:rPr lang="vi-VN" altLang="en-US" sz="2800" dirty="0"/>
                  <a:t>hương trình</a:t>
                </a:r>
                <a:r>
                  <a:rPr lang="en-US" altLang="en-US" sz="2800" dirty="0"/>
                  <a:t>              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nghiệm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nên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thuộc</a:t>
                </a:r>
                <a:r>
                  <a:rPr lang="en-US" altLang="en-US" sz="2800" dirty="0"/>
                  <a:t> Col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.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</p:txBody>
          </p:sp>
        </mc:Choice>
        <mc:Fallback>
          <p:sp>
            <p:nvSpPr>
              <p:cNvPr id="7301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371600"/>
                <a:ext cx="8458200" cy="5181600"/>
              </a:xfrm>
              <a:blipFill>
                <a:blip r:embed="rId3"/>
                <a:stretch>
                  <a:fillRect l="-1298" t="-1176" r="-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0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881203"/>
              </p:ext>
            </p:extLst>
          </p:nvPr>
        </p:nvGraphicFramePr>
        <p:xfrm>
          <a:off x="4432300" y="144780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7" name="Equation" r:id="rId4" imgW="1129810" imgH="342751" progId="">
                  <p:embed/>
                </p:oleObj>
              </mc:Choice>
              <mc:Fallback>
                <p:oleObj name="Equation" r:id="rId4" imgW="1129810" imgH="342751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00" y="1447800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18" name="Object 6"/>
          <p:cNvGraphicFramePr>
            <a:graphicFrameLocks noChangeAspect="1"/>
          </p:cNvGraphicFramePr>
          <p:nvPr/>
        </p:nvGraphicFramePr>
        <p:xfrm>
          <a:off x="3086100" y="2908300"/>
          <a:ext cx="9144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8" name="Equation" r:id="rId6" imgW="1155700" imgH="558800" progId="">
                  <p:embed/>
                </p:oleObj>
              </mc:Choice>
              <mc:Fallback>
                <p:oleObj name="Equation" r:id="rId6" imgW="1155700" imgH="558800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2908300"/>
                        <a:ext cx="91440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19" name="Object 7"/>
          <p:cNvGraphicFramePr>
            <a:graphicFrameLocks noChangeAspect="1"/>
          </p:cNvGraphicFramePr>
          <p:nvPr/>
        </p:nvGraphicFramePr>
        <p:xfrm>
          <a:off x="457200" y="3505200"/>
          <a:ext cx="8382000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9" name="Equation" r:id="rId8" imgW="9283700" imgH="1778000" progId="">
                  <p:embed/>
                </p:oleObj>
              </mc:Choice>
              <mc:Fallback>
                <p:oleObj name="Equation" r:id="rId8" imgW="9283700" imgH="177800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05200"/>
                        <a:ext cx="8382000" cy="160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81124"/>
              </p:ext>
            </p:extLst>
          </p:nvPr>
        </p:nvGraphicFramePr>
        <p:xfrm>
          <a:off x="2895600" y="5473700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0" name="Equation" r:id="rId10" imgW="1143000" imgH="342900" progId="">
                  <p:embed/>
                </p:oleObj>
              </mc:Choice>
              <mc:Fallback>
                <p:oleObj name="Equation" r:id="rId10" imgW="1143000" imgH="34290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473700"/>
                        <a:ext cx="1143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994377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B6F4F945-6B1B-4355-AD36-864FED24275C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HẠT NHÂN VÀ ẢNH CỦA ÁNH XẠ TUYẾN TÍNH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113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371600"/>
                <a:ext cx="8839200" cy="5105400"/>
              </a:xfrm>
            </p:spPr>
            <p:txBody>
              <a:bodyPr/>
              <a:lstStyle/>
              <a:p>
                <a:pPr marL="1784350" lvl="3" indent="-412750" eaLnBrk="1" hangingPunct="1"/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phần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nên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nằm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Nul</a:t>
                </a:r>
                <a:r>
                  <a:rPr lang="en-US" altLang="en-US" sz="2800" i="1" dirty="0" err="1"/>
                  <a:t>A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Nul</a:t>
                </a:r>
                <a:r>
                  <a:rPr lang="en-US" altLang="en-US" sz="2800" i="1" dirty="0" err="1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en-US" sz="2800" dirty="0"/>
                  <a:t>. </a:t>
                </a:r>
              </a:p>
              <a:p>
                <a:pPr marL="660400" indent="-660400" eaLnBrk="1" hangingPunct="1"/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không gian 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khác</a:t>
                </a:r>
                <a14:m>
                  <m:oMath xmlns:m="http://schemas.openxmlformats.org/officeDocument/2006/math">
                    <m:r>
                      <a:rPr lang="en-US" alt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thường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mô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đổi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thay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.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Định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nghĩa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phép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biến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đổi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tuyến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tính</a:t>
                </a:r>
                <a:r>
                  <a:rPr lang="en-US" altLang="en-US" sz="2800" b="1" dirty="0"/>
                  <a:t> </a:t>
                </a:r>
                <a:r>
                  <a:rPr lang="en-US" altLang="en-US" sz="2800" i="1" dirty="0"/>
                  <a:t>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không gian vectơ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vào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không gian vectơ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qui </a:t>
                </a:r>
                <a:r>
                  <a:rPr lang="en-US" altLang="en-US" sz="2800" dirty="0" err="1"/>
                  <a:t>tắc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T</a:t>
                </a:r>
                <a:r>
                  <a:rPr lang="en-US" altLang="en-US" sz="2800" dirty="0"/>
                  <a:t> (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)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sao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endParaRPr lang="en-US" altLang="en-US" sz="2800" dirty="0"/>
              </a:p>
              <a:p>
                <a:pPr marL="1409700" lvl="2" indent="-495300" eaLnBrk="1" hangingPunct="1">
                  <a:buFont typeface="Wingdings" panose="05000000000000000000" pitchFamily="2" charset="2"/>
                  <a:buAutoNum type="romanLcPeriod"/>
                </a:pPr>
                <a:r>
                  <a:rPr lang="en-US" altLang="en-US" sz="2800" dirty="0"/>
                  <a:t>                                        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mọi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V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</a:p>
              <a:p>
                <a:pPr marL="1409700" lvl="2" indent="-495300" eaLnBrk="1" hangingPunct="1">
                  <a:buFont typeface="Wingdings" panose="05000000000000000000" pitchFamily="2" charset="2"/>
                  <a:buAutoNum type="romanLcPeriod"/>
                </a:pPr>
                <a:r>
                  <a:rPr lang="en-US" altLang="en-US" sz="2800" dirty="0"/>
                  <a:t>                         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mọi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vô hướng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c</a:t>
                </a:r>
                <a:r>
                  <a:rPr lang="en-US" altLang="en-US" sz="2800" dirty="0"/>
                  <a:t>.</a:t>
                </a:r>
              </a:p>
              <a:p>
                <a:pPr marL="660400" indent="-660400"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</p:txBody>
          </p:sp>
        </mc:Choice>
        <mc:Fallback>
          <p:sp>
            <p:nvSpPr>
              <p:cNvPr id="7311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371600"/>
                <a:ext cx="8839200" cy="5105400"/>
              </a:xfrm>
              <a:blipFill>
                <a:blip r:embed="rId3"/>
                <a:stretch>
                  <a:fillRect l="-1379" t="-1193" r="-1379" b="-3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1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03975"/>
              </p:ext>
            </p:extLst>
          </p:nvPr>
        </p:nvGraphicFramePr>
        <p:xfrm>
          <a:off x="1524000" y="5533217"/>
          <a:ext cx="3657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2" name="Equation" r:id="rId4" imgW="3657600" imgH="431800" progId="">
                  <p:embed/>
                </p:oleObj>
              </mc:Choice>
              <mc:Fallback>
                <p:oleObj name="Equation" r:id="rId4" imgW="3657600" imgH="4318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533217"/>
                        <a:ext cx="36576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11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896649"/>
              </p:ext>
            </p:extLst>
          </p:nvPr>
        </p:nvGraphicFramePr>
        <p:xfrm>
          <a:off x="1600200" y="6045200"/>
          <a:ext cx="2324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3" name="Equation" r:id="rId6" imgW="2324100" imgH="431800" progId="">
                  <p:embed/>
                </p:oleObj>
              </mc:Choice>
              <mc:Fallback>
                <p:oleObj name="Equation" r:id="rId6" imgW="2324100" imgH="4318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6045200"/>
                        <a:ext cx="2324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759ADBF7-A0F6-4901-9E65-FB78D600F1DA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HẠT NHÂN VÀ ẢNH CỦA ÁNH XẠ TUYẾN TÍNH</a:t>
            </a:r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en-US" sz="2800" b="1" dirty="0" err="1"/>
              <a:t>Hạt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nhân</a:t>
            </a:r>
            <a:r>
              <a:rPr lang="en-US" altLang="en-US" sz="2800" dirty="0"/>
              <a:t> (hay </a:t>
            </a:r>
            <a:r>
              <a:rPr lang="en-US" altLang="en-US" sz="2800" b="1" dirty="0" err="1"/>
              <a:t>không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gian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hạch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cả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                (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W </a:t>
            </a:r>
            <a:r>
              <a:rPr lang="en-US" altLang="en-US" sz="2800" dirty="0"/>
              <a:t>).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b="1" dirty="0" err="1"/>
              <a:t>Ảnh</a:t>
            </a:r>
            <a:r>
              <a:rPr lang="en-US" altLang="en-US" sz="2800" b="1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i="1" dirty="0"/>
              <a:t>T</a:t>
            </a:r>
            <a:r>
              <a:rPr lang="en-US" altLang="en-US" sz="2800" dirty="0"/>
              <a:t>(</a:t>
            </a:r>
            <a:r>
              <a:rPr lang="en-US" altLang="en-US" sz="2800" b="1" dirty="0"/>
              <a:t>x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Hạt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Ảnh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32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130868"/>
              </p:ext>
            </p:extLst>
          </p:nvPr>
        </p:nvGraphicFramePr>
        <p:xfrm>
          <a:off x="3492500" y="2006600"/>
          <a:ext cx="1384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Equation" r:id="rId3" imgW="1384300" imgH="431800" progId="">
                  <p:embed/>
                </p:oleObj>
              </mc:Choice>
              <mc:Fallback>
                <p:oleObj name="Equation" r:id="rId3" imgW="1384300" imgH="4318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006600"/>
                        <a:ext cx="13843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34D6B123-CFE1-4510-85C3-A05259DF07B3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ĐỐI CHIẾU GIỮA NUL </a:t>
            </a:r>
            <a:r>
              <a:rPr lang="en-US" altLang="en-US" i="1" dirty="0"/>
              <a:t>A</a:t>
            </a:r>
            <a:r>
              <a:rPr lang="en-US" altLang="en-US" dirty="0"/>
              <a:t> VÀ COL </a:t>
            </a:r>
            <a:r>
              <a:rPr lang="en-US" altLang="en-US" i="1" dirty="0"/>
              <a:t>A</a:t>
            </a:r>
            <a:r>
              <a:rPr lang="en-US" altLang="en-US" dirty="0"/>
              <a:t> CỦA MỘT             MA TRẬN </a:t>
            </a:r>
            <a:r>
              <a:rPr lang="en-US" altLang="en-US" i="1" dirty="0"/>
              <a:t>A</a:t>
            </a:r>
          </a:p>
        </p:txBody>
      </p:sp>
      <p:graphicFrame>
        <p:nvGraphicFramePr>
          <p:cNvPr id="2048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178361"/>
              </p:ext>
            </p:extLst>
          </p:nvPr>
        </p:nvGraphicFramePr>
        <p:xfrm>
          <a:off x="1591195" y="634740"/>
          <a:ext cx="10668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9" name="Equation" r:id="rId3" imgW="863225" imgH="253890" progId="">
                  <p:embed/>
                </p:oleObj>
              </mc:Choice>
              <mc:Fallback>
                <p:oleObj name="Equation" r:id="rId3" imgW="863225" imgH="25389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1195" y="634740"/>
                        <a:ext cx="1066800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33270" name="Group 86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55339485"/>
                  </p:ext>
                </p:extLst>
              </p:nvPr>
            </p:nvGraphicFramePr>
            <p:xfrm>
              <a:off x="381000" y="1676400"/>
              <a:ext cx="8382000" cy="4156075"/>
            </p:xfrm>
            <a:graphic>
              <a:graphicData uri="http://schemas.openxmlformats.org/drawingml/2006/table">
                <a:tbl>
                  <a:tblPr/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267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33408">
                    <a:tc>
                      <a:txBody>
                        <a:bodyPr/>
                        <a:lstStyle>
                          <a:lvl1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Nul</a:t>
                          </a:r>
                          <a:r>
                            <a:rPr kumimoji="0" lang="en-US" altLang="en-US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A</a:t>
                          </a: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en-US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Col </a:t>
                          </a:r>
                          <a:r>
                            <a:rPr kumimoji="0" lang="en-US" altLang="en-US" sz="28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A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30240">
                    <a:tc>
                      <a:txBody>
                        <a:bodyPr/>
                        <a:lstStyle>
                          <a:lvl1pPr marL="533400" indent="-5334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914400" indent="-4572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295400" indent="-3810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7145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1717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6289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30861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5433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40005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533400" marR="0" lvl="0" indent="-5334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AutoNum type="arabicPeriod"/>
                            <a:tabLst/>
                          </a:pP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Nul </a:t>
                          </a:r>
                          <a:r>
                            <a:rPr kumimoji="0" lang="en-US" altLang="en-US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A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là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một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không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gian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con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của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533400" indent="-5334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914400" indent="-4572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295400" indent="-3810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7145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1717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6289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30861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5433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40005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533400" marR="0" lvl="0" indent="-5334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AutoNum type="arabicPeriod"/>
                            <a:tabLst/>
                          </a:pP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Col </a:t>
                          </a:r>
                          <a:r>
                            <a:rPr kumimoji="0" lang="en-US" altLang="en-US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A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là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một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không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gian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con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của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2427">
                    <a:tc>
                      <a:txBody>
                        <a:bodyPr/>
                        <a:lstStyle>
                          <a:lvl1pPr marL="533400" indent="-5334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914400" indent="-4572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295400" indent="-3810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7145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1717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6289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30861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5433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40005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533400" marR="0" lvl="0" indent="-5334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AutoNum type="arabicPeriod" startAt="2"/>
                            <a:tabLst/>
                          </a:pP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Nul</a:t>
                          </a:r>
                          <a:r>
                            <a:rPr kumimoji="0" lang="en-US" altLang="en-US" sz="2800" b="0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A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xác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định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ẩn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; </a:t>
                          </a:r>
                          <a:r>
                            <a:rPr kumimoji="0" lang="en-US" altLang="en-US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i.e.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,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bạn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chỉ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được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cho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một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điều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kiện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                   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mà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các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vi-V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vectơ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trong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Nul</a:t>
                          </a:r>
                          <a:r>
                            <a:rPr kumimoji="0" lang="en-US" altLang="en-US" sz="2800" b="0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A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phải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thỏa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mãn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533400" indent="-5334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914400" indent="-4572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295400" indent="-3810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7145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1717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6289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30861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5433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40005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533400" marR="0" lvl="0" indent="-5334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AutoNum type="arabicPeriod" startAt="2"/>
                            <a:tabLst/>
                          </a:pP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Col </a:t>
                          </a:r>
                          <a:r>
                            <a:rPr kumimoji="0" lang="en-US" altLang="en-US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A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được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xác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định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tường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minh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; </a:t>
                          </a:r>
                          <a:r>
                            <a:rPr kumimoji="0" lang="en-US" altLang="en-US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i.e.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,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bạn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được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bảo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làm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thế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nào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để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dựng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các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vi-V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vectơ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nằm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trong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Col </a:t>
                          </a:r>
                          <a:r>
                            <a:rPr kumimoji="0" lang="en-US" altLang="en-US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A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33270" name="Group 86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55339485"/>
                  </p:ext>
                </p:extLst>
              </p:nvPr>
            </p:nvGraphicFramePr>
            <p:xfrm>
              <a:off x="381000" y="1676400"/>
              <a:ext cx="8382000" cy="4156075"/>
            </p:xfrm>
            <a:graphic>
              <a:graphicData uri="http://schemas.openxmlformats.org/drawingml/2006/table">
                <a:tbl>
                  <a:tblPr/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267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33408">
                    <a:tc>
                      <a:txBody>
                        <a:bodyPr/>
                        <a:lstStyle>
                          <a:lvl1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Nul</a:t>
                          </a:r>
                          <a:r>
                            <a:rPr kumimoji="0" lang="en-US" altLang="en-US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A</a:t>
                          </a: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en-US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Col </a:t>
                          </a:r>
                          <a:r>
                            <a:rPr kumimoji="0" lang="en-US" altLang="en-US" sz="28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A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3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2519" t="-57988" r="-105333" b="-254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98716" t="-57988" r="-1427" b="-2544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2427">
                    <a:tc>
                      <a:txBody>
                        <a:bodyPr/>
                        <a:lstStyle>
                          <a:lvl1pPr marL="533400" indent="-5334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914400" indent="-4572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295400" indent="-3810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7145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1717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6289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30861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5433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40005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533400" marR="0" lvl="0" indent="-5334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AutoNum type="arabicPeriod" startAt="2"/>
                            <a:tabLst/>
                          </a:pP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Nul</a:t>
                          </a:r>
                          <a:r>
                            <a:rPr kumimoji="0" lang="en-US" altLang="en-US" sz="2800" b="0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A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xác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định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ẩn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; </a:t>
                          </a:r>
                          <a:r>
                            <a:rPr kumimoji="0" lang="en-US" altLang="en-US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i.e.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,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bạn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chỉ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được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cho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một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điều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kiện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                   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mà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các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vi-V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vectơ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trong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Nul</a:t>
                          </a:r>
                          <a:r>
                            <a:rPr kumimoji="0" lang="en-US" altLang="en-US" sz="2800" b="0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A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phải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thỏa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mãn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533400" indent="-5334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914400" indent="-4572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295400" indent="-3810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7145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1717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6289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30861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5433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40005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533400" marR="0" lvl="0" indent="-5334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AutoNum type="arabicPeriod" startAt="2"/>
                            <a:tabLst/>
                          </a:pP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Col </a:t>
                          </a:r>
                          <a:r>
                            <a:rPr kumimoji="0" lang="en-US" altLang="en-US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A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được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xác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định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tường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minh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; </a:t>
                          </a:r>
                          <a:r>
                            <a:rPr kumimoji="0" lang="en-US" altLang="en-US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i.e.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,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bạn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được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bảo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làm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thế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nào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để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dựng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các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vi-V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vectơ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nằm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trong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Col </a:t>
                          </a:r>
                          <a:r>
                            <a:rPr kumimoji="0" lang="en-US" altLang="en-US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A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33239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197635"/>
              </p:ext>
            </p:extLst>
          </p:nvPr>
        </p:nvGraphicFramePr>
        <p:xfrm>
          <a:off x="2438400" y="4191000"/>
          <a:ext cx="12954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0" name="Equation" r:id="rId6" imgW="1409088" imgH="431613" progId="">
                  <p:embed/>
                </p:oleObj>
              </mc:Choice>
              <mc:Fallback>
                <p:oleObj name="Equation" r:id="rId6" imgW="1409088" imgH="431613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191000"/>
                        <a:ext cx="1295400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E6E08E6C-8489-4D1D-8769-270D1978813A}" type="slidenum">
              <a:rPr lang="en-US" altLang="en-US" sz="1200">
                <a:latin typeface="Arial" panose="020B0604020202020204" pitchFamily="34" charset="0"/>
              </a:rPr>
              <a:pPr algn="r"/>
              <a:t>16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ĐỐI CHIẾU GIỮA NUL </a:t>
            </a:r>
            <a:r>
              <a:rPr lang="en-US" altLang="en-US" i="1" dirty="0"/>
              <a:t>A</a:t>
            </a:r>
            <a:r>
              <a:rPr lang="en-US" altLang="en-US" dirty="0"/>
              <a:t> VÀ COL </a:t>
            </a:r>
            <a:r>
              <a:rPr lang="en-US" altLang="en-US" i="1" dirty="0"/>
              <a:t>A</a:t>
            </a:r>
            <a:r>
              <a:rPr lang="en-US" altLang="en-US" dirty="0"/>
              <a:t> CỦA MỘT             MA TRẬN </a:t>
            </a:r>
            <a:r>
              <a:rPr lang="en-US" altLang="en-US" i="1" dirty="0"/>
              <a:t>A</a:t>
            </a:r>
          </a:p>
        </p:txBody>
      </p:sp>
      <p:graphicFrame>
        <p:nvGraphicFramePr>
          <p:cNvPr id="2150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31686"/>
              </p:ext>
            </p:extLst>
          </p:nvPr>
        </p:nvGraphicFramePr>
        <p:xfrm>
          <a:off x="1600200" y="660400"/>
          <a:ext cx="10668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0" name="Equation" r:id="rId3" imgW="863225" imgH="253890" progId="">
                  <p:embed/>
                </p:oleObj>
              </mc:Choice>
              <mc:Fallback>
                <p:oleObj name="Equation" r:id="rId3" imgW="863225" imgH="25389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660400"/>
                        <a:ext cx="1066800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89" name="Group 3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8687195"/>
              </p:ext>
            </p:extLst>
          </p:nvPr>
        </p:nvGraphicFramePr>
        <p:xfrm>
          <a:off x="457200" y="1600200"/>
          <a:ext cx="8305800" cy="4670425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5343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SzTx/>
                        <a:buFont typeface="Wingdings" panose="05000000000000000000" pitchFamily="2" charset="2"/>
                        <a:buAutoNum type="arabicPeriod" startAt="3"/>
                        <a:tabLst/>
                      </a:pP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Mất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thời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gian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để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tìm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các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vi-V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vectơ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trong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Nul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cần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các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phép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biến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đổi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hàng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trên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SzTx/>
                        <a:buFont typeface="Wingdings" panose="05000000000000000000" pitchFamily="2" charset="2"/>
                        <a:buAutoNum type="arabicPeriod" startAt="3"/>
                        <a:tabLst/>
                      </a:pP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Dễ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tìm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các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vi-V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vectơ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trong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Col 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Các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cột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của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A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được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biểu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thị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;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các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vectơ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được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tạo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nên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từ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chúng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5082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SzTx/>
                        <a:buFont typeface="Wingdings" panose="05000000000000000000" pitchFamily="2" charset="2"/>
                        <a:buAutoNum type="arabicPeriod" startAt="4"/>
                        <a:tabLst/>
                      </a:pP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Không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có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quan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hệ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hiển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nhiên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nào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giữa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Nul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với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các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thành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phần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trong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SzTx/>
                        <a:buFont typeface="Wingdings" panose="05000000000000000000" pitchFamily="2" charset="2"/>
                        <a:buAutoNum type="arabicPeriod" startAt="4"/>
                        <a:tabLst/>
                      </a:pP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Có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một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quan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hệ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hiển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nhiên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giữa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Col 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và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các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thành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phần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trong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vì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mỗi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cột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của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nằm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trong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Col 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627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628218"/>
              </p:ext>
            </p:extLst>
          </p:nvPr>
        </p:nvGraphicFramePr>
        <p:xfrm>
          <a:off x="2514600" y="2971800"/>
          <a:ext cx="8382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1" name="Equation" r:id="rId5" imgW="1143000" imgH="558800" progId="">
                  <p:embed/>
                </p:oleObj>
              </mc:Choice>
              <mc:Fallback>
                <p:oleObj name="Equation" r:id="rId5" imgW="1143000" imgH="5588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971800"/>
                        <a:ext cx="838200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01E9BC1D-F264-48BB-B647-E670E1484458}" type="slidenum">
              <a:rPr lang="en-US" altLang="en-US" sz="1200">
                <a:latin typeface="Arial" panose="020B0604020202020204" pitchFamily="34" charset="0"/>
              </a:rPr>
              <a:pPr algn="r"/>
              <a:t>17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ĐỐI CHIẾU GIỮA NUL </a:t>
            </a:r>
            <a:r>
              <a:rPr lang="en-US" altLang="en-US" i="1" dirty="0"/>
              <a:t>A</a:t>
            </a:r>
            <a:r>
              <a:rPr lang="en-US" altLang="en-US" dirty="0"/>
              <a:t> VÀ COL </a:t>
            </a:r>
            <a:r>
              <a:rPr lang="en-US" altLang="en-US" i="1" dirty="0"/>
              <a:t>A</a:t>
            </a:r>
            <a:r>
              <a:rPr lang="en-US" altLang="en-US" dirty="0"/>
              <a:t> CỦA MỘT             MA TRẬN </a:t>
            </a:r>
            <a:r>
              <a:rPr lang="en-US" altLang="en-US" i="1" dirty="0"/>
              <a:t>A</a:t>
            </a:r>
          </a:p>
        </p:txBody>
      </p:sp>
      <p:graphicFrame>
        <p:nvGraphicFramePr>
          <p:cNvPr id="2253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864474"/>
              </p:ext>
            </p:extLst>
          </p:nvPr>
        </p:nvGraphicFramePr>
        <p:xfrm>
          <a:off x="1600200" y="676275"/>
          <a:ext cx="10668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0" name="Equation" r:id="rId3" imgW="863225" imgH="253890" progId="">
                  <p:embed/>
                </p:oleObj>
              </mc:Choice>
              <mc:Fallback>
                <p:oleObj name="Equation" r:id="rId3" imgW="863225" imgH="253890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676275"/>
                        <a:ext cx="1066800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29" name="Group 2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4859263"/>
              </p:ext>
            </p:extLst>
          </p:nvPr>
        </p:nvGraphicFramePr>
        <p:xfrm>
          <a:off x="228600" y="1600200"/>
          <a:ext cx="8686800" cy="4114800"/>
        </p:xfrm>
        <a:graphic>
          <a:graphicData uri="http://schemas.openxmlformats.org/drawingml/2006/table">
            <a:tbl>
              <a:tblPr/>
              <a:tblGrid>
                <a:gridCol w="438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0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SzTx/>
                        <a:buFont typeface="Wingdings" panose="05000000000000000000" pitchFamily="2" charset="2"/>
                        <a:buAutoNum type="arabicPeriod" startAt="5"/>
                        <a:tabLst/>
                      </a:pP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Một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vi-V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vectơ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điển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hình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trong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Nul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có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tính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chất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.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SzTx/>
                        <a:buFont typeface="Wingdings" panose="05000000000000000000" pitchFamily="2" charset="2"/>
                        <a:buAutoNum type="arabicPeriod" startAt="5"/>
                        <a:tabLst/>
                      </a:pP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Một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vi-V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vectơ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điển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hình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trong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Col 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có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tính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chất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rằng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vi-V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phương trình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là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có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nghiệm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  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0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SzTx/>
                        <a:buFont typeface="Wingdings" panose="05000000000000000000" pitchFamily="2" charset="2"/>
                        <a:buAutoNum type="arabicPeriod" startAt="6"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Cho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một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vi-V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vectơ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xác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định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dễ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thấy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liệu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có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nằm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trong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Nul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Chỉ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việc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tính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77C97"/>
                        </a:buClr>
                        <a:buSzTx/>
                        <a:buFont typeface="Wingdings" panose="05000000000000000000" pitchFamily="2" charset="2"/>
                        <a:buAutoNum type="arabicPeriod" startAt="6"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Cho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một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vi-V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vectơ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xác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định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cần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thời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gian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để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nói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liệu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v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nằm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trong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Col 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cần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phép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biến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đổi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hàng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trên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8322" name="Object 18"/>
          <p:cNvGraphicFramePr>
            <a:graphicFrameLocks noChangeAspect="1"/>
          </p:cNvGraphicFramePr>
          <p:nvPr/>
        </p:nvGraphicFramePr>
        <p:xfrm>
          <a:off x="838200" y="2616200"/>
          <a:ext cx="1117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1" name="Equation" r:id="rId5" imgW="1117115" imgH="342751" progId="">
                  <p:embed/>
                </p:oleObj>
              </mc:Choice>
              <mc:Fallback>
                <p:oleObj name="Equation" r:id="rId5" imgW="1117115" imgH="342751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616200"/>
                        <a:ext cx="1117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341058"/>
              </p:ext>
            </p:extLst>
          </p:nvPr>
        </p:nvGraphicFramePr>
        <p:xfrm>
          <a:off x="7848600" y="2574925"/>
          <a:ext cx="10668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2" name="Equation" r:id="rId7" imgW="1143000" imgH="342900" progId="">
                  <p:embed/>
                </p:oleObj>
              </mc:Choice>
              <mc:Fallback>
                <p:oleObj name="Equation" r:id="rId7" imgW="1143000" imgH="342900" progId="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574925"/>
                        <a:ext cx="1066800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3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83643"/>
              </p:ext>
            </p:extLst>
          </p:nvPr>
        </p:nvGraphicFramePr>
        <p:xfrm>
          <a:off x="5867400" y="5181600"/>
          <a:ext cx="9144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3" name="Equation" r:id="rId9" imgW="1155700" imgH="558800" progId="">
                  <p:embed/>
                </p:oleObj>
              </mc:Choice>
              <mc:Fallback>
                <p:oleObj name="Equation" r:id="rId9" imgW="1155700" imgH="558800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181600"/>
                        <a:ext cx="91440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4.2- </a:t>
            </a:r>
            <a:fld id="{877551BE-A191-4728-844E-030F0034509A}" type="slidenum">
              <a:rPr lang="en-US" altLang="en-US" sz="1200">
                <a:latin typeface="Arial" panose="020B0604020202020204" pitchFamily="34" charset="0"/>
              </a:rPr>
              <a:pPr algn="r"/>
              <a:t>18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ĐỐI CHIẾU GIỮA NUL </a:t>
            </a:r>
            <a:r>
              <a:rPr lang="en-US" altLang="en-US" i="1" dirty="0"/>
              <a:t>A</a:t>
            </a:r>
            <a:r>
              <a:rPr lang="en-US" altLang="en-US" dirty="0"/>
              <a:t> VÀ COL </a:t>
            </a:r>
            <a:r>
              <a:rPr lang="en-US" altLang="en-US" i="1" dirty="0"/>
              <a:t>A</a:t>
            </a:r>
            <a:r>
              <a:rPr lang="en-US" altLang="en-US" dirty="0"/>
              <a:t> CỦA MỘT             MA TRẬN </a:t>
            </a:r>
            <a:r>
              <a:rPr lang="en-US" altLang="en-US" i="1" dirty="0"/>
              <a:t>A</a:t>
            </a:r>
          </a:p>
        </p:txBody>
      </p:sp>
      <p:graphicFrame>
        <p:nvGraphicFramePr>
          <p:cNvPr id="2355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972635"/>
              </p:ext>
            </p:extLst>
          </p:nvPr>
        </p:nvGraphicFramePr>
        <p:xfrm>
          <a:off x="1600200" y="676275"/>
          <a:ext cx="10668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4" name="Equation" r:id="rId3" imgW="863225" imgH="253890" progId="">
                  <p:embed/>
                </p:oleObj>
              </mc:Choice>
              <mc:Fallback>
                <p:oleObj name="Equation" r:id="rId3" imgW="863225" imgH="253890" progId="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676275"/>
                        <a:ext cx="1066800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40385" name="Group 3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02961437"/>
                  </p:ext>
                </p:extLst>
              </p:nvPr>
            </p:nvGraphicFramePr>
            <p:xfrm>
              <a:off x="228600" y="1828800"/>
              <a:ext cx="8686800" cy="3810000"/>
            </p:xfrm>
            <a:graphic>
              <a:graphicData uri="http://schemas.openxmlformats.org/drawingml/2006/table">
                <a:tbl>
                  <a:tblPr/>
                  <a:tblGrid>
                    <a:gridCol w="4343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4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798470">
                    <a:tc>
                      <a:txBody>
                        <a:bodyPr/>
                        <a:lstStyle>
                          <a:lvl1pPr marL="533400" indent="-5334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914400" indent="-4572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295400" indent="-3810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7145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1717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6289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30861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5433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40005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533400" marR="0" lvl="0" indent="-5334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AutoNum type="arabicPeriod" startAt="7"/>
                            <a:tabLst/>
                          </a:pP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Nul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          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nếu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và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chỉ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nếu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vi-V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phương trình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         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chỉ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có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nghiệm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tầm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thường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.       </a:t>
                          </a:r>
                        </a:p>
                      </a:txBody>
                      <a:tcPr marT="45724" marB="45724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533400" indent="-5334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914400" indent="-4572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295400" indent="-3810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7145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1717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6289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30861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5433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40005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533400" marR="0" lvl="0" indent="-5334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AutoNum type="arabicPeriod" startAt="7"/>
                            <a:tabLst/>
                          </a:pP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Col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en-US" sz="2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kumimoji="0" lang="en-US" altLang="en-US" sz="2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nếu và chỉ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nếu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vi-V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phương trình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                                             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có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một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nghiệm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với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mọi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b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trong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T="45724" marB="45724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11530">
                    <a:tc>
                      <a:txBody>
                        <a:bodyPr/>
                        <a:lstStyle>
                          <a:lvl1pPr marL="533400" indent="-5334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914400" indent="-4572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295400" indent="-3810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7145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1717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6289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30861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5433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40005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533400" marR="0" lvl="0" indent="-5334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AutoNum type="arabicPeriod" startAt="8"/>
                            <a:tabLst/>
                          </a:pP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Nul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           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nếu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và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chỉ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nếu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phép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biến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đổi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tuyến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tính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             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là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đơn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cấu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T="45724" marB="45724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533400" indent="-5334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914400" indent="-4572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295400" indent="-3810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7145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1717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6289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30861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5433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40005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533400" marR="0" lvl="0" indent="-5334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AutoNum type="arabicPeriod" startAt="8"/>
                            <a:tabLst/>
                          </a:pP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Col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en-US" sz="2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kumimoji="0" lang="en-US" altLang="en-US" sz="2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nếu và chỉ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nếu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phép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biến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đổi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tuyến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tính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             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ánh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xạ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lên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T="45724" marB="45724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40385" name="Group 3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02961437"/>
                  </p:ext>
                </p:extLst>
              </p:nvPr>
            </p:nvGraphicFramePr>
            <p:xfrm>
              <a:off x="228600" y="1828800"/>
              <a:ext cx="8686800" cy="3810000"/>
            </p:xfrm>
            <a:graphic>
              <a:graphicData uri="http://schemas.openxmlformats.org/drawingml/2006/table">
                <a:tbl>
                  <a:tblPr/>
                  <a:tblGrid>
                    <a:gridCol w="4343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4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798470">
                    <a:tc>
                      <a:txBody>
                        <a:bodyPr/>
                        <a:lstStyle>
                          <a:lvl1pPr marL="533400" indent="-5334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914400" indent="-4572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295400" indent="-3810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7145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1717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6289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30861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5433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40005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533400" marR="0" lvl="0" indent="-5334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AutoNum type="arabicPeriod" startAt="7"/>
                            <a:tabLst/>
                          </a:pP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Nul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          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nếu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và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chỉ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nếu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vi-V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phương trình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         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chỉ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có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nghiệm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tầm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thường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.       </a:t>
                          </a:r>
                        </a:p>
                      </a:txBody>
                      <a:tcPr marT="45724" marB="45724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4" marB="45724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102384" t="-3390" r="-2384" b="-1135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11530">
                    <a:tc>
                      <a:txBody>
                        <a:bodyPr/>
                        <a:lstStyle>
                          <a:lvl1pPr marL="533400" indent="-5334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914400" indent="-4572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295400" indent="-3810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7145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171700" indent="-342900" algn="l">
                            <a:spcBef>
                              <a:spcPct val="20000"/>
                            </a:spcBef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6289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30861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5433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4000500" indent="-3429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Font typeface="Wingdings" panose="05000000000000000000" pitchFamily="2" charset="2"/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533400" marR="0" lvl="0" indent="-5334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077C97"/>
                            </a:buClr>
                            <a:buSzTx/>
                            <a:buFont typeface="Wingdings" panose="05000000000000000000" pitchFamily="2" charset="2"/>
                            <a:buAutoNum type="arabicPeriod" startAt="8"/>
                            <a:tabLst/>
                          </a:pP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Nul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           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nếu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và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chỉ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nếu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phép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biến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đổi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tuyến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tính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             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là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đơn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cấu</a:t>
                          </a:r>
                          <a:r>
                            <a:rPr kumimoji="0" lang="en-US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T="45724" marB="45724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4" marB="45724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102384" t="-92424" r="-2384" b="-15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4037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987674"/>
              </p:ext>
            </p:extLst>
          </p:nvPr>
        </p:nvGraphicFramePr>
        <p:xfrm>
          <a:off x="1447800" y="1943100"/>
          <a:ext cx="9906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5" name="Equation" r:id="rId6" imgW="1193800" imgH="431800" progId="">
                  <p:embed/>
                </p:oleObj>
              </mc:Choice>
              <mc:Fallback>
                <p:oleObj name="Equation" r:id="rId6" imgW="1193800" imgH="431800" progId="">
                  <p:embed/>
                  <p:pic>
                    <p:nvPicPr>
                      <p:cNvPr id="0" name="Picture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943100"/>
                        <a:ext cx="990600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7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293541"/>
              </p:ext>
            </p:extLst>
          </p:nvPr>
        </p:nvGraphicFramePr>
        <p:xfrm>
          <a:off x="3276600" y="2374900"/>
          <a:ext cx="990600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6" name="Equation" r:id="rId8" imgW="1129810" imgH="342751" progId="">
                  <p:embed/>
                </p:oleObj>
              </mc:Choice>
              <mc:Fallback>
                <p:oleObj name="Equation" r:id="rId8" imgW="1129810" imgH="342751" progId="">
                  <p:embed/>
                  <p:pic>
                    <p:nvPicPr>
                      <p:cNvPr id="0" name="Picture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374900"/>
                        <a:ext cx="990600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7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894744"/>
              </p:ext>
            </p:extLst>
          </p:nvPr>
        </p:nvGraphicFramePr>
        <p:xfrm>
          <a:off x="7620000" y="2364467"/>
          <a:ext cx="99060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7" name="Equation" r:id="rId10" imgW="1143000" imgH="355600" progId="">
                  <p:embed/>
                </p:oleObj>
              </mc:Choice>
              <mc:Fallback>
                <p:oleObj name="Equation" r:id="rId10" imgW="1143000" imgH="355600" progId="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364467"/>
                        <a:ext cx="990600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7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761064"/>
              </p:ext>
            </p:extLst>
          </p:nvPr>
        </p:nvGraphicFramePr>
        <p:xfrm>
          <a:off x="1447800" y="3746500"/>
          <a:ext cx="9906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8" name="Equation" r:id="rId12" imgW="1193800" imgH="431800" progId="">
                  <p:embed/>
                </p:oleObj>
              </mc:Choice>
              <mc:Fallback>
                <p:oleObj name="Equation" r:id="rId12" imgW="1193800" imgH="431800" progId="">
                  <p:embed/>
                  <p:pic>
                    <p:nvPicPr>
                      <p:cNvPr id="0" name="Picture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746500"/>
                        <a:ext cx="990600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7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726335"/>
              </p:ext>
            </p:extLst>
          </p:nvPr>
        </p:nvGraphicFramePr>
        <p:xfrm>
          <a:off x="1524000" y="4632325"/>
          <a:ext cx="1143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9" name="Equation" r:id="rId14" imgW="1346200" imgH="330200" progId="">
                  <p:embed/>
                </p:oleObj>
              </mc:Choice>
              <mc:Fallback>
                <p:oleObj name="Equation" r:id="rId14" imgW="1346200" imgH="330200" progId="">
                  <p:embed/>
                  <p:pic>
                    <p:nvPicPr>
                      <p:cNvPr id="0" name="Picture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632325"/>
                        <a:ext cx="11430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7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371584"/>
              </p:ext>
            </p:extLst>
          </p:nvPr>
        </p:nvGraphicFramePr>
        <p:xfrm>
          <a:off x="5867400" y="4632325"/>
          <a:ext cx="1143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0" name="Equation" r:id="rId16" imgW="1346200" imgH="330200" progId="">
                  <p:embed/>
                </p:oleObj>
              </mc:Choice>
              <mc:Fallback>
                <p:oleObj name="Equation" r:id="rId16" imgW="1346200" imgH="330200" progId="">
                  <p:embed/>
                  <p:pic>
                    <p:nvPicPr>
                      <p:cNvPr id="0" name="Picture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632325"/>
                        <a:ext cx="11430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13010</TotalTime>
  <Words>1167</Words>
  <Application>Microsoft Office PowerPoint</Application>
  <PresentationFormat>On-screen Show (4:3)</PresentationFormat>
  <Paragraphs>158</Paragraphs>
  <Slides>18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MathType 6.0 Equation</vt:lpstr>
      <vt:lpstr>Không gian Vectơ</vt:lpstr>
      <vt:lpstr>KHÔNG GIAN HẠCH CỦA MA TRẬN</vt:lpstr>
      <vt:lpstr>KHÔNG GIAN HẠCH CỦA MA TRẬN</vt:lpstr>
      <vt:lpstr>KHÔNG GIAN HẠCH CỦA MA TRẬN</vt:lpstr>
      <vt:lpstr>KHÔNG GIAN HẠCH CỦA MA TRẬN</vt:lpstr>
      <vt:lpstr>KHÔNG GIAN HẠCH CỦA MA TRẬN</vt:lpstr>
      <vt:lpstr>KHÔNG GIAN HẠCH CỦA MA TRẬN</vt:lpstr>
      <vt:lpstr>KHÔNG GIAN HẠCH CỦA MA TRẬN</vt:lpstr>
      <vt:lpstr>KHÔNG GIAN CỘT CỦA MA TRẬN</vt:lpstr>
      <vt:lpstr>KHÔNG GIAN CỘT CỦA MA TRẬN</vt:lpstr>
      <vt:lpstr>KHÔNG GIAN CỘT CỦA MA TRẬN</vt:lpstr>
      <vt:lpstr>KHÔNG GIAN CỘT CỦA MA TRẬN</vt:lpstr>
      <vt:lpstr>HẠT NHÂN VÀ ẢNH CỦA ÁNH XẠ TUYẾN TÍNH</vt:lpstr>
      <vt:lpstr>HẠT NHÂN VÀ ẢNH CỦA ÁNH XẠ TUYẾN TÍNH</vt:lpstr>
      <vt:lpstr>ĐỐI CHIẾU GIỮA NUL A VÀ COL A CỦA MỘT             MA TRẬN A</vt:lpstr>
      <vt:lpstr>ĐỐI CHIẾU GIỮA NUL A VÀ COL A CỦA MỘT             MA TRẬN A</vt:lpstr>
      <vt:lpstr>ĐỐI CHIẾU GIỮA NUL A VÀ COL A CỦA MỘT             MA TRẬN A</vt:lpstr>
      <vt:lpstr>ĐỐI CHIẾU GIỮA NUL A VÀ COL A CỦA MỘT             MA TRẬN A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1296</cp:revision>
  <dcterms:created xsi:type="dcterms:W3CDTF">2005-10-22T18:34:54Z</dcterms:created>
  <dcterms:modified xsi:type="dcterms:W3CDTF">2016-07-31T14:48:47Z</dcterms:modified>
</cp:coreProperties>
</file>