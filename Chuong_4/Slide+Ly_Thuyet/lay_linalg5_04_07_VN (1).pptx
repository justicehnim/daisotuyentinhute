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13"/>
  </p:notesMasterIdLst>
  <p:sldIdLst>
    <p:sldId id="424" r:id="rId2"/>
    <p:sldId id="362" r:id="rId3"/>
    <p:sldId id="425" r:id="rId4"/>
    <p:sldId id="426" r:id="rId5"/>
    <p:sldId id="427" r:id="rId6"/>
    <p:sldId id="428" r:id="rId7"/>
    <p:sldId id="429" r:id="rId8"/>
    <p:sldId id="430" r:id="rId9"/>
    <p:sldId id="431" r:id="rId10"/>
    <p:sldId id="432" r:id="rId11"/>
    <p:sldId id="433" r:id="rId1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7C97"/>
    <a:srgbClr val="D7791B"/>
    <a:srgbClr val="4C7816"/>
    <a:srgbClr val="528218"/>
    <a:srgbClr val="B6CEAA"/>
    <a:srgbClr val="ADC8A0"/>
    <a:srgbClr val="CD8019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15" autoAdjust="0"/>
    <p:restoredTop sz="86413" autoAdjust="0"/>
  </p:normalViewPr>
  <p:slideViewPr>
    <p:cSldViewPr>
      <p:cViewPr varScale="1">
        <p:scale>
          <a:sx n="92" d="100"/>
          <a:sy n="92" d="100"/>
        </p:scale>
        <p:origin x="1406" y="72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-953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F54F01C-9DAE-4834-B3FA-3D4760BB017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404709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A9C20A67-9360-415D-8A66-BED502C09899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8495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23364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51413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22890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48182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01497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624409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46457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518415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711122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39772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 dirty="0">
                <a:solidFill>
                  <a:srgbClr val="4C7816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 dirty="0">
                <a:solidFill>
                  <a:srgbClr val="CD8019"/>
                </a:solidFill>
                <a:latin typeface="Arial" panose="020B0604020202020204" pitchFamily="34" charset="0"/>
              </a:rPr>
              <a:t>4.7</a:t>
            </a: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000" y="2268506"/>
            <a:ext cx="2971800" cy="371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48795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E90E932-D1B3-4534-813D-FD4EBE5E39C2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2683769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611AF1AB-C2F6-4C2D-A675-8FAD64D2E68D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92826268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3986BFB6-CA82-4812-BE97-DA0F65491B7A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31710800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E6DAF540-46D9-4094-8FE8-0834E2370D1A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56966948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487CA900-6A0F-4284-BBF9-FA441424FECD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6714635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D08BDEBC-B0EE-4876-A910-04FE4D7A43B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9443986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8667CB26-4B9D-4316-91C7-62ACA1D37795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05084770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3411FFC-3F1F-41E6-A5CD-496F1593754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87073260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666FB77A-CE67-40A9-945B-251200CD2367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07739980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40906E5-C24C-4790-AE21-7B84BA83C02F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21629134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E7008AD-6ACD-4396-A6D7-C548241CE52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emf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9.png"/><Relationship Id="rId5" Type="http://schemas.openxmlformats.org/officeDocument/2006/relationships/image" Target="../media/image4.wmf"/><Relationship Id="rId4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0.png"/><Relationship Id="rId5" Type="http://schemas.openxmlformats.org/officeDocument/2006/relationships/image" Target="../media/image4.wmf"/><Relationship Id="rId4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2.png"/><Relationship Id="rId5" Type="http://schemas.openxmlformats.org/officeDocument/2006/relationships/image" Target="../media/image4.wmf"/><Relationship Id="rId4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Không</a:t>
            </a:r>
            <a:r>
              <a:rPr lang="en-US" altLang="en-US" dirty="0"/>
              <a:t> </a:t>
            </a:r>
            <a:r>
              <a:rPr lang="en-US" altLang="en-US" dirty="0" err="1"/>
              <a:t>gian</a:t>
            </a:r>
            <a:r>
              <a:rPr lang="en-US" altLang="en-US" dirty="0"/>
              <a:t> </a:t>
            </a:r>
            <a:r>
              <a:rPr lang="en-US" altLang="en-US" dirty="0" err="1"/>
              <a:t>Vectơ</a:t>
            </a:r>
            <a:endParaRPr lang="en-US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+mj-lt"/>
              </a:rPr>
              <a:t>ĐỔI CƠ SỞ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4.7-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ĐỔI CƠ SỞ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1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Xét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hai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sở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𝛽= {b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b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}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{c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c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}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không gian vectơ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sao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cho</a:t>
                </a:r>
                <a:endParaRPr lang="en-US" altLang="en-US" sz="27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=4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và   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−6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Giả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sử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=3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</m:oMath>
                  </m:oMathPara>
                </a14:m>
                <a:endParaRPr lang="en-US" altLang="en-US" sz="2700" baseline="-250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baseline="-250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Nghĩa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giả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en-US" sz="2700" baseline="-25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altLang="en-US" sz="27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altLang="en-US" sz="27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Tìm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en-US" sz="2700" b="0" i="1" baseline="-25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altLang="en-US" sz="2500" i="1" dirty="0"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  <a:blipFill>
                <a:blip r:embed="rId4"/>
                <a:stretch>
                  <a:fillRect l="-1185" t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4" name="Equation" r:id="rId5" imgW="475104" imgH="810471" progId="">
                  <p:embed/>
                </p:oleObj>
              </mc:Choice>
              <mc:Fallback>
                <p:oleObj name="Equation" r:id="rId5" imgW="475104" imgH="810471" progId="">
                  <p:embed/>
                  <p:pic>
                    <p:nvPicPr>
                      <p:cNvPr id="0" name="Picture 1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772400" y="2234066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(1)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581400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(2)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4.7-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ĐỔI CƠ SỞ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700" b="1" dirty="0" err="1">
                    <a:cs typeface="Times New Roman" panose="02020603050405020304" pitchFamily="18" charset="0"/>
                  </a:rPr>
                  <a:t>Lời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giải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: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Áp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dụng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ánh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tọa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độ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bởi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x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(2).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ánh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tọa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độ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ánh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en-US" sz="2700" i="1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en-US" sz="27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7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US" altLang="en-US" sz="27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b</m:t>
                          </m:r>
                          <m:r>
                            <a:rPr lang="en-US" altLang="en-US" sz="2700" b="0" i="0" baseline="-2500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en-US" sz="27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en-US" sz="27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b</m:t>
                          </m:r>
                          <m:r>
                            <a:rPr lang="en-US" altLang="en-US" sz="2700" b="0" i="0" baseline="-2500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en-US" sz="2700" b="0" i="1" baseline="-25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</m:oMath>
                  </m:oMathPara>
                </a14:m>
                <a:endParaRPr lang="en-US" altLang="en-US" sz="2700" baseline="-250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7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      </m:t>
                      </m:r>
                      <m:r>
                        <a:rPr lang="en-US" altLang="en-US" sz="27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7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US" altLang="en-US" sz="27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b</m:t>
                          </m:r>
                          <m:r>
                            <a:rPr lang="en-US" altLang="en-US" sz="2700" baseline="-25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en-US" sz="27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  <m:r>
                            <a:rPr lang="en-US" altLang="en-US" sz="2700" i="1" baseline="-25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  <m:r>
                            <m:rPr>
                              <m:nor/>
                            </m:rPr>
                            <a:rPr lang="en-US" altLang="en-US" sz="2700" baseline="-25000" dirty="0"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en-US" sz="27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en-US" sz="27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altLang="en-US" sz="27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b</m:t>
                          </m:r>
                          <m:r>
                            <a:rPr lang="en-US" altLang="en-US" sz="2700" baseline="-25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en-US" sz="2700" i="1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</m:oMath>
                  </m:oMathPara>
                </a14:m>
                <a:endParaRPr lang="en-US" altLang="en-US" sz="2700" baseline="-250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baseline="-250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>
                    <a:cs typeface="Times New Roman" panose="02020603050405020304" pitchFamily="18" charset="0"/>
                  </a:rPr>
                  <a:t>Ta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thể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viết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phương trình 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phương trình ma 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tổ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hợp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en-US" sz="2700" i="1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en-US" sz="27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7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en-US" sz="27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b</m:t>
                          </m:r>
                          <m:r>
                            <a:rPr lang="en-US" altLang="en-US" sz="2700" baseline="-25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en-US" sz="2700" i="1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7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en-US" sz="27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b</m:t>
                          </m:r>
                          <m:r>
                            <a:rPr lang="en-US" altLang="en-US" sz="2700" baseline="-25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en-US" sz="2700" i="1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7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en-US" sz="27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en-US" sz="27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en-US" sz="27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en-US" sz="2700" baseline="-250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baseline="-250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  <a:blipFill>
                <a:blip r:embed="rId4"/>
                <a:stretch>
                  <a:fillRect l="-1407" t="-1176" r="-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1" name="Equation" r:id="rId5" imgW="475104" imgH="810471" progId="">
                  <p:embed/>
                </p:oleObj>
              </mc:Choice>
              <mc:Fallback>
                <p:oleObj name="Equation" r:id="rId5" imgW="475104" imgH="810471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05800" y="5257800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82581498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4.7-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ĐỔI CƠ SỞ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Công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thức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này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en-US" sz="2700" i="1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ta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biết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Từ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(1),</a:t>
                </a:r>
                <a:endParaRPr lang="en-US" altLang="en-US" sz="2700" baseline="-250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7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altLang="en-US" sz="2700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  <m:r>
                      <a:rPr lang="en-US" altLang="en-US" sz="2700" i="1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en-US" sz="27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altLang="en-US" sz="27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và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7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altLang="en-US" sz="2700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  <m:r>
                      <a:rPr lang="en-US" altLang="en-US" sz="2700" i="1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en-US" sz="27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−6</m:t>
                            </m:r>
                          </m:e>
                          <m:e>
                            <m:r>
                              <a:rPr lang="en-US" altLang="en-US" sz="27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>
                    <a:cs typeface="Times New Roman" panose="02020603050405020304" pitchFamily="18" charset="0"/>
                  </a:rPr>
                  <a:t>Do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(3)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ta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lời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giải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en-US" sz="2700" i="1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en-US" sz="27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7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7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en-US" sz="27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−6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7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7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en-US" sz="27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altLang="en-US" sz="27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altLang="en-US" sz="27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e>
                        </m:eqArr>
                      </m:e>
                    </m:d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-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tọa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độ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x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phù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hợp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tọa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độ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x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1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slide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tiếp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theo.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  <a:blipFill>
                <a:blip r:embed="rId4"/>
                <a:stretch>
                  <a:fillRect l="-1185" t="-1176" r="-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6" name="Equation" r:id="rId5" imgW="475104" imgH="810471" progId="">
                  <p:embed/>
                </p:oleObj>
              </mc:Choice>
              <mc:Fallback>
                <p:oleObj name="Equation" r:id="rId5" imgW="475104" imgH="810471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9303031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4.7-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ĐỔI CƠ SỞ</a:t>
            </a:r>
            <a:endParaRPr lang="en-US" altLang="en-US" dirty="0"/>
          </a:p>
        </p:txBody>
      </p:sp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4" name="Equation" r:id="rId4" imgW="475104" imgH="810471" progId="">
                  <p:embed/>
                </p:oleObj>
              </mc:Choice>
              <mc:Fallback>
                <p:oleObj name="Equation" r:id="rId4" imgW="475104" imgH="810471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032000"/>
            <a:ext cx="8312524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92984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4.7-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ĐỔI CƠ SỞ</a:t>
            </a:r>
            <a:endParaRPr lang="en-US" altLang="en-US" dirty="0"/>
          </a:p>
        </p:txBody>
      </p:sp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1" name="Equation" r:id="rId4" imgW="475104" imgH="810471" progId="">
                  <p:embed/>
                </p:oleObj>
              </mc:Choice>
              <mc:Fallback>
                <p:oleObj name="Equation" r:id="rId4" imgW="475104" imgH="810471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8"/>
              <p:cNvSpPr txBox="1">
                <a:spLocks noChangeArrowheads="1"/>
              </p:cNvSpPr>
              <p:nvPr/>
            </p:nvSpPr>
            <p:spPr bwMode="auto">
              <a:xfrm>
                <a:off x="457200" y="1295400"/>
                <a:ext cx="8229600" cy="5181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1" hangingPunct="1">
                  <a:buNone/>
                </a:pP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15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: Cho 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𝛽= {b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. . . ,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en-US" sz="2700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}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{c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. . . , c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}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cơ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sở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không gian vectơ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tồn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tại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duy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nhất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n </a:t>
                </a:r>
                <a14:m>
                  <m:oMath xmlns:m="http://schemas.openxmlformats.org/officeDocument/2006/math">
                    <m:r>
                      <a:rPr lang="en-US" altLang="en-US" sz="27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n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altLang="en-US" sz="27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</m:groupChr>
                  </m:oMath>
                </a14:m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sao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cho</a:t>
                </a:r>
                <a:endParaRPr lang="en-US" altLang="en-US" sz="27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en-US" sz="2700" i="1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 c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</m:groupChr>
                  </m:oMath>
                </a14:m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en-US" sz="2700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endParaRPr lang="en-US" altLang="en-US" sz="27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</m:groupChr>
                  </m:oMath>
                </a14:m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 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C-</a:t>
                </a:r>
                <a:r>
                  <a:rPr lang="vi-VN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vectơ tọa độ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cơ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sở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𝛽.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pPr eaLnBrk="1" hangingPunct="1"/>
                <a:endParaRPr lang="en-US" altLang="en-US" sz="20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</m:groupChr>
                  </m:oMath>
                </a14:m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 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=[</a:t>
                </a:r>
                <a14:m>
                  <m:oMath xmlns:m="http://schemas.openxmlformats.org/officeDocument/2006/math">
                    <m:r>
                      <a:rPr lang="en-US" altLang="en-US" sz="27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7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altLang="en-US" sz="2700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  <m:r>
                      <a:rPr lang="en-US" altLang="en-US" sz="2700" i="1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7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altLang="en-US" sz="2700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  <m:r>
                      <a:rPr lang="en-US" altLang="en-US" sz="2700" i="1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en-US" sz="2700" b="0" i="1" baseline="-25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   </m:t>
                    </m:r>
                    <m:r>
                      <a:rPr lang="en-US" altLang="en-US" sz="27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 . .     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7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en-US" altLang="en-US" sz="2700" b="0" i="0" baseline="-250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e>
                    </m:d>
                    <m:r>
                      <a:rPr lang="en-US" altLang="en-US" sz="2700" i="1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]</a:t>
                </a:r>
              </a:p>
            </p:txBody>
          </p:sp>
        </mc:Choice>
        <mc:Fallback>
          <p:sp>
            <p:nvSpPr>
              <p:cNvPr id="7" name="Rectangl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295400"/>
                <a:ext cx="8229600" cy="5181600"/>
              </a:xfrm>
              <a:prstGeom prst="rect">
                <a:avLst/>
              </a:prstGeom>
              <a:blipFill>
                <a:blip r:embed="rId6"/>
                <a:stretch>
                  <a:fillRect l="-1407" t="-1294" r="-29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8229600" y="5029200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(5)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967335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(4)</a:t>
            </a:r>
          </a:p>
        </p:txBody>
      </p:sp>
    </p:spTree>
    <p:extLst>
      <p:ext uri="{BB962C8B-B14F-4D97-AF65-F5344CB8AC3E}">
        <p14:creationId xmlns:p14="http://schemas.microsoft.com/office/powerpoint/2010/main" val="2003245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4.7-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ĐỔI CƠ SỞ</a:t>
            </a:r>
            <a:endParaRPr lang="en-US" altLang="en-US" dirty="0"/>
          </a:p>
        </p:txBody>
      </p:sp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3" name="Equation" r:id="rId4" imgW="475104" imgH="810471" progId="">
                  <p:embed/>
                </p:oleObj>
              </mc:Choice>
              <mc:Fallback>
                <p:oleObj name="Equation" r:id="rId4" imgW="475104" imgH="810471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8"/>
              <p:cNvSpPr txBox="1">
                <a:spLocks noChangeArrowheads="1"/>
              </p:cNvSpPr>
              <p:nvPr/>
            </p:nvSpPr>
            <p:spPr bwMode="auto">
              <a:xfrm>
                <a:off x="457200" y="1219200"/>
                <a:ext cx="8229600" cy="5181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/>
                <a:r>
                  <a:rPr lang="en-US" altLang="en-US" sz="2700" dirty="0">
                    <a:cs typeface="Times New Roman" panose="02020603050405020304" pitchFamily="18" charset="0"/>
                  </a:rPr>
                  <a:t>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</m:groupChr>
                  </m:oMath>
                </a14:m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 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15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gọi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altLang="en-US" sz="27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ma trận đổi tọa độ</a:t>
                </a:r>
                <a:r>
                  <a:rPr lang="en-US" altLang="en-US" sz="27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US" altLang="en-US" sz="27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𝛽 sang </a:t>
                </a:r>
                <a:r>
                  <a:rPr lang="en-US" altLang="en-US" sz="27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Phép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nhân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</m:groupChr>
                  </m:oMath>
                </a14:m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𝛽-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sang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bên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dưới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minh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họa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(4).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Rectangl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219200"/>
                <a:ext cx="8229600" cy="5181600"/>
              </a:xfrm>
              <a:prstGeom prst="rect">
                <a:avLst/>
              </a:prstGeom>
              <a:blipFill>
                <a:blip r:embed="rId6"/>
                <a:stretch>
                  <a:fillRect l="-1185" r="-81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3710233"/>
            <a:ext cx="5506569" cy="269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29456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4.7-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ĐỔI CƠ SỞ</a:t>
            </a:r>
            <a:endParaRPr lang="en-US" altLang="en-US" dirty="0"/>
          </a:p>
        </p:txBody>
      </p:sp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5" name="Equation" r:id="rId4" imgW="475104" imgH="810471" progId="">
                  <p:embed/>
                </p:oleObj>
              </mc:Choice>
              <mc:Fallback>
                <p:oleObj name="Equation" r:id="rId4" imgW="475104" imgH="810471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8"/>
              <p:cNvSpPr txBox="1">
                <a:spLocks noChangeArrowheads="1"/>
              </p:cNvSpPr>
              <p:nvPr/>
            </p:nvSpPr>
            <p:spPr bwMode="auto">
              <a:xfrm>
                <a:off x="457200" y="1066800"/>
                <a:ext cx="8458200" cy="5334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</m:groupChr>
                  </m:oMath>
                </a14:m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độc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lập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chúng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vectơ tọa độ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tập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độc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lập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𝛽.</a:t>
                </a:r>
              </a:p>
              <a:p>
                <a:pPr eaLnBrk="1" hangingPunct="1"/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</m:groupChr>
                  </m:oMath>
                </a14:m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vuông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nó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phải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khả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nghịch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Khả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nghịch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Nhân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trái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vế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(4)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</m:groupChr>
                  </m:oMath>
                </a14:m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en-US" sz="2700" baseline="30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-1 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đến</a:t>
                </a:r>
                <a:endParaRPr lang="en-US" altLang="en-US" sz="27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</m:groupChr>
                  </m:oMath>
                </a14:m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en-US" sz="2700" baseline="30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-1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en-US" sz="2700" i="1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en-US" sz="2700" b="0" i="1" baseline="-25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en-US" sz="2700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endParaRPr lang="en-US" altLang="en-US" sz="27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Do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</m:groupChr>
                  </m:oMath>
                </a14:m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en-US" sz="2700" baseline="30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-1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C-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𝛽–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marL="0" indent="0" algn="ctr" eaLnBrk="1" hangingPunct="1">
                  <a:buNone/>
                </a:pP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</m:groupChr>
                  </m:oMath>
                </a14:m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en-US" sz="2700" baseline="30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-1 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groupChr>
                      <m:groupChrPr>
                        <m:chr m:val="←"/>
                        <m:vertJc m:val="bot"/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</m:groupChr>
                  </m:oMath>
                </a14:m>
                <a:r>
                  <a:rPr lang="en-US" altLang="en-US" sz="20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</a:t>
                </a:r>
                <a:endParaRPr lang="en-US" altLang="en-US" sz="2700" i="1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Rectangl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066800"/>
                <a:ext cx="8458200" cy="5334000"/>
              </a:xfrm>
              <a:prstGeom prst="rect">
                <a:avLst/>
              </a:prstGeom>
              <a:blipFill>
                <a:blip r:embed="rId6"/>
                <a:stretch>
                  <a:fillRect l="-115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8420100" y="6091535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(6)</a:t>
            </a:r>
          </a:p>
        </p:txBody>
      </p:sp>
    </p:spTree>
    <p:extLst>
      <p:ext uri="{BB962C8B-B14F-4D97-AF65-F5344CB8AC3E}">
        <p14:creationId xmlns:p14="http://schemas.microsoft.com/office/powerpoint/2010/main" val="416505337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4.7-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8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eaLnBrk="1" hangingPunct="1"/>
                <a:r>
                  <a:rPr lang="vi-VN" altLang="en-US" dirty="0"/>
                  <a:t>ĐỔI CƠ SỞ TRONG</a:t>
                </a:r>
                <a:r>
                  <a:rPr lang="en-US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en-US" dirty="0"/>
              </a:p>
            </p:txBody>
          </p:sp>
        </mc:Choice>
        <mc:Fallback>
          <p:sp>
            <p:nvSpPr>
              <p:cNvPr id="614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1852" b="-18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9" name="Equation" r:id="rId5" imgW="475104" imgH="810471" progId="">
                  <p:embed/>
                </p:oleObj>
              </mc:Choice>
              <mc:Fallback>
                <p:oleObj name="Equation" r:id="rId5" imgW="475104" imgH="810471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8"/>
              <p:cNvSpPr txBox="1">
                <a:spLocks noChangeArrowheads="1"/>
              </p:cNvSpPr>
              <p:nvPr/>
            </p:nvSpPr>
            <p:spPr bwMode="auto">
              <a:xfrm>
                <a:off x="457200" y="1447800"/>
                <a:ext cx="8458200" cy="4876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𝛽= {b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. . . ,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en-US" sz="2700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ℰ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sở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tắc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{e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. . . ,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altLang="en-US" sz="2700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7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altLang="en-US" sz="2700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  <m:r>
                      <a:rPr lang="en-US" altLang="en-US" sz="2700" i="1" baseline="-25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ℰ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7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altLang="en-US" sz="2700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v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à 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t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ươ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ng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t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ự 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cho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á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en-US" altLang="en-US" sz="2700" dirty="0"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vi-VN" altLang="en-US" sz="2700" i="1" dirty="0" smtClean="0">
                        <a:cs typeface="Times New Roman" panose="02020603050405020304" pitchFamily="18" charset="0"/>
                      </a:rPr>
                      <m:t>vect</m:t>
                    </m:r>
                    <m:r>
                      <a:rPr lang="vi-VN" altLang="en-US" sz="2700" i="1" dirty="0" smtClean="0">
                        <a:cs typeface="Times New Roman" panose="02020603050405020304" pitchFamily="18" charset="0"/>
                      </a:rPr>
                      <m:t>ơ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cs typeface="Times New Roman" panose="02020603050405020304" pitchFamily="18" charset="0"/>
                      </a:rPr>
                      <m:t>kh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cs typeface="Times New Roman" panose="02020603050405020304" pitchFamily="18" charset="0"/>
                      </a:rPr>
                      <m:t>á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cs typeface="Times New Roman" panose="02020603050405020304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en-US" altLang="en-US" sz="2700" dirty="0"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cs typeface="Times New Roman" panose="02020603050405020304" pitchFamily="18" charset="0"/>
                      </a:rPr>
                      <m:t>trong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en-US" sz="27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m:rPr>
                        <m:nor/>
                      </m:rPr>
                      <a:rPr lang="en-US" altLang="en-US" sz="2700" dirty="0">
                        <a:cs typeface="Times New Roman" panose="02020603050405020304" pitchFamily="18" charset="0"/>
                      </a:rPr>
                      <m:t>. 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cs typeface="Times New Roman" panose="02020603050405020304" pitchFamily="18" charset="0"/>
                      </a:rPr>
                      <m:t>Trong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cs typeface="Times New Roman" panose="02020603050405020304" pitchFamily="18" charset="0"/>
                      </a:rPr>
                      <m:t>tr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cs typeface="Times New Roman" panose="02020603050405020304" pitchFamily="18" charset="0"/>
                      </a:rPr>
                      <m:t>ườ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cs typeface="Times New Roman" panose="02020603050405020304" pitchFamily="18" charset="0"/>
                      </a:rPr>
                      <m:t>ng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cs typeface="Times New Roman" panose="02020603050405020304" pitchFamily="18" charset="0"/>
                      </a:rPr>
                      <m:t>h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cs typeface="Times New Roman" panose="02020603050405020304" pitchFamily="18" charset="0"/>
                      </a:rPr>
                      <m:t>ợ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cs typeface="Times New Roman" panose="020206030504050203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cs typeface="Times New Roman" panose="020206030504050203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cs typeface="Times New Roman" panose="02020603050405020304" pitchFamily="18" charset="0"/>
                      </a:rPr>
                      <m:t>à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cs typeface="Times New Roman" panose="02020603050405020304" pitchFamily="18" charset="0"/>
                      </a:rPr>
                      <m:t>y</m:t>
                    </m:r>
                    <m:r>
                      <a:rPr lang="en-US" altLang="en-US" sz="27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en-US" sz="27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ℰ</m:t>
                    </m:r>
                    <m:groupChr>
                      <m:groupChrPr>
                        <m:chr m:val="←"/>
                        <m:vertJc m:val="bot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</m:groupChr>
                    <m:r>
                      <m:rPr>
                        <m:nor/>
                      </m:rPr>
                      <a:rPr lang="en-US" altLang="en-US" sz="27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m:rPr>
                        <m:nor/>
                      </m:rPr>
                      <a:rPr lang="en-US" altLang="en-US" sz="27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it-IT" altLang="en-US" sz="2700" dirty="0">
                    <a:cs typeface="Times New Roman" panose="02020603050405020304" pitchFamily="18" charset="0"/>
                  </a:rPr>
                  <a:t>ma trận đổi tọa độ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7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altLang="en-US" sz="2700" i="1" baseline="-25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đã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thiệu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Mục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4.4,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cụ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thể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</a:t>
                </a: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7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altLang="en-US" sz="2700" i="1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= [ b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 b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. . 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</a:t>
                </a:r>
                <a:r>
                  <a:rPr lang="en-US" altLang="en-US" sz="2700" baseline="-25000" dirty="0" err="1">
                    <a:cs typeface="Times New Roman" panose="02020603050405020304" pitchFamily="18" charset="0"/>
                  </a:rPr>
                  <a:t>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]</a:t>
                </a: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Để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đổi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tọa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độ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giữa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sở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tắc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7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7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ta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cần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15.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thấy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để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giải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quyết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bài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toán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đổi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sở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ta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cần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vectơ tọa độ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sở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cũ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sở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7" name="Rectangl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447800"/>
                <a:ext cx="8458200" cy="4876800"/>
              </a:xfrm>
              <a:prstGeom prst="rect">
                <a:avLst/>
              </a:prstGeom>
              <a:blipFill>
                <a:blip r:embed="rId7"/>
                <a:stretch>
                  <a:fillRect l="-1153" t="-137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315524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4.7-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8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eaLnBrk="1" hangingPunct="1"/>
                <a:r>
                  <a:rPr lang="vi-VN" altLang="en-US" dirty="0"/>
                  <a:t>ĐỔI CƠ SỞ TRONG</a:t>
                </a:r>
                <a:r>
                  <a:rPr lang="en-US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en-US" dirty="0"/>
              </a:p>
            </p:txBody>
          </p:sp>
        </mc:Choice>
        <mc:Fallback>
          <p:sp>
            <p:nvSpPr>
              <p:cNvPr id="614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1852" b="-18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1" name="Equation" r:id="rId5" imgW="475104" imgH="810471" progId="">
                  <p:embed/>
                </p:oleObj>
              </mc:Choice>
              <mc:Fallback>
                <p:oleObj name="Equation" r:id="rId5" imgW="475104" imgH="810471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8"/>
              <p:cNvSpPr txBox="1">
                <a:spLocks noChangeArrowheads="1"/>
              </p:cNvSpPr>
              <p:nvPr/>
            </p:nvSpPr>
            <p:spPr bwMode="auto">
              <a:xfrm>
                <a:off x="304800" y="1295400"/>
                <a:ext cx="8458200" cy="5410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Cho </a:t>
                </a:r>
                <a14:m>
                  <m:oMath xmlns:m="http://schemas.openxmlformats.org/officeDocument/2006/math">
                    <m:r>
                      <a:rPr lang="en-US" altLang="en-US" sz="27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sz="27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altLang="en-US" sz="2700" b="0" i="0" baseline="-25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−9</m:t>
                            </m:r>
                          </m:e>
                          <m:e>
                            <m:r>
                              <a:rPr lang="en-US" altLang="en-US" sz="27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7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altLang="en-US" sz="2700" b="0" i="0" baseline="-25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en-US" sz="27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altLang="en-US" sz="27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en-US" sz="27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  <m:r>
                      <a:rPr lang="en-US" altLang="en-US" sz="27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en-US" sz="27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en-US" sz="2700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en-US" sz="27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−4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7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en-US" sz="2700" b="0" i="0" baseline="-25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altLang="en-US" sz="27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en-US" sz="27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xét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sở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bởi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𝛽= {b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b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}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{c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c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}.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Tìm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ma trận đổi tọa độ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𝛽 sang </a:t>
                </a:r>
                <a:r>
                  <a:rPr lang="en-US" altLang="en-US" sz="27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C.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Lời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giải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: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groupChr>
                      <m:groupChrPr>
                        <m:chr m:val="←"/>
                        <m:vertJc m:val="bot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</m:groupChr>
                  </m:oMath>
                </a14:m>
                <a:r>
                  <a:rPr lang="en-US" alt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liên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quan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-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vectơ tọa độ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b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b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Cho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7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altLang="en-US" sz="2700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  <m:r>
                      <a:rPr lang="en-US" altLang="en-US" sz="2700" i="1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en-US" sz="27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en-US" sz="2700" b="0" i="1" baseline="-2500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en-US" sz="27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en-US" sz="2700" b="0" i="1" baseline="-2500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và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7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altLang="en-US" sz="2700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  <m:r>
                      <a:rPr lang="en-US" altLang="en-US" sz="2700" i="1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en-US" sz="27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altLang="en-US" sz="2700" i="1" baseline="-25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en-US" sz="27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altLang="en-US" sz="2700" i="1" baseline="-25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  <m:r>
                      <a:rPr lang="en-US" altLang="en-US" sz="27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nghĩa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</a:t>
                </a: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en-US" sz="2700" b="0" i="1" baseline="-250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en-US" sz="2700" b="0" i="1" baseline="-250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= b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altLang="en-US" sz="2700" i="1" baseline="-25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altLang="en-US" sz="2700" i="1" baseline="-25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= b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Rectangl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295400"/>
                <a:ext cx="8458200" cy="5410200"/>
              </a:xfrm>
              <a:prstGeom prst="rect">
                <a:avLst/>
              </a:prstGeom>
              <a:blipFill>
                <a:blip r:embed="rId7"/>
                <a:stretch>
                  <a:fillRect l="-1153" r="-13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644680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4.7-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8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eaLnBrk="1" hangingPunct="1"/>
                <a:r>
                  <a:rPr lang="vi-VN" altLang="en-US" dirty="0"/>
                  <a:t>ĐỔI CƠ SỞ TRONG</a:t>
                </a:r>
                <a:r>
                  <a:rPr lang="en-US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en-US" dirty="0"/>
              </a:p>
            </p:txBody>
          </p:sp>
        </mc:Choice>
        <mc:Fallback>
          <p:sp>
            <p:nvSpPr>
              <p:cNvPr id="614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1852" b="-18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0" name="Equation" r:id="rId5" imgW="475104" imgH="810471" progId="">
                  <p:embed/>
                </p:oleObj>
              </mc:Choice>
              <mc:Fallback>
                <p:oleObj name="Equation" r:id="rId5" imgW="475104" imgH="810471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8"/>
              <p:cNvSpPr txBox="1">
                <a:spLocks noChangeArrowheads="1"/>
              </p:cNvSpPr>
              <p:nvPr/>
            </p:nvSpPr>
            <p:spPr bwMode="auto">
              <a:xfrm>
                <a:off x="304800" y="1295400"/>
                <a:ext cx="8458200" cy="5410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Để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giải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cả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hai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hệ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phương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cùng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lúc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bổ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sung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hệ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bởi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b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b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rút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gọn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hàng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eaLnBrk="1" hangingPunct="1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en-US" sz="2400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 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en-US" sz="2400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⋮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en-US" sz="2400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 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en-US" sz="2400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  <m:r>
                      <a:rPr lang="en-US" alt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eqArr>
                          <m:eqArrPr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1        3</m:t>
                            </m:r>
                          </m:e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−4  −5</m:t>
                            </m:r>
                          </m:e>
                        </m:eqArr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⋮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−5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 sz="2400" dirty="0">
                    <a:cs typeface="Times New Roman" panose="02020603050405020304" pitchFamily="18" charset="0"/>
                  </a:rPr>
                  <a:t>~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1    </m:t>
                            </m:r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0</m:t>
                            </m:r>
                            <m:r>
                              <a:rPr lang="en-US" alt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 </m:t>
                            </m:r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  1</m:t>
                            </m:r>
                          </m:e>
                        </m:eqArr>
                        <m:r>
                          <a:rPr lang="en-US" alt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⋮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−5</m:t>
                              </m:r>
                            </m:e>
                            <m:e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en-US" sz="24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>
                    <a:cs typeface="Times New Roman" panose="02020603050405020304" pitchFamily="18" charset="0"/>
                  </a:rPr>
                  <a:t>Do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7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altLang="en-US" sz="2700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  <m:r>
                      <a:rPr lang="en-US" altLang="en-US" sz="2700" i="1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en-US" sz="27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altLang="en-US" sz="27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−5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 và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7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altLang="en-US" sz="2700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  <m:r>
                      <a:rPr lang="en-US" altLang="en-US" sz="2700" i="1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en-US" sz="27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US" altLang="en-US" sz="27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−3</m:t>
                            </m:r>
                          </m:e>
                        </m:eqArr>
                      </m:e>
                    </m:d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it-IT" altLang="en-US" sz="2700" dirty="0">
                    <a:cs typeface="Times New Roman" panose="02020603050405020304" pitchFamily="18" charset="0"/>
                  </a:rPr>
                  <a:t>Ma trận đổi tọa độ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muốn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</m:groupChr>
                  </m:oMath>
                </a14:m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 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en-US" altLang="en-US" sz="2700" b="0" i="1" baseline="-250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en-US" sz="2700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en-US" altLang="en-US" sz="2700" b="0" i="1" baseline="-250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altLang="en-US" sz="2700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−5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Rectangl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295400"/>
                <a:ext cx="8458200" cy="5410200"/>
              </a:xfrm>
              <a:prstGeom prst="rect">
                <a:avLst/>
              </a:prstGeom>
              <a:blipFill>
                <a:blip r:embed="rId7"/>
                <a:stretch>
                  <a:fillRect l="-1153" t="-112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8305800" y="2398032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(7)</a:t>
            </a:r>
          </a:p>
        </p:txBody>
      </p:sp>
    </p:spTree>
    <p:extLst>
      <p:ext uri="{BB962C8B-B14F-4D97-AF65-F5344CB8AC3E}">
        <p14:creationId xmlns:p14="http://schemas.microsoft.com/office/powerpoint/2010/main" val="105559887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Slides V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17760</TotalTime>
  <Words>410</Words>
  <Application>Microsoft Office PowerPoint</Application>
  <PresentationFormat>On-screen Show (4:3)</PresentationFormat>
  <Paragraphs>94</Paragraphs>
  <Slides>11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Arial Narrow</vt:lpstr>
      <vt:lpstr>Bookshelf Symbol 2</vt:lpstr>
      <vt:lpstr>Cambria Math</vt:lpstr>
      <vt:lpstr>Symbol</vt:lpstr>
      <vt:lpstr>Times New Roman</vt:lpstr>
      <vt:lpstr>Wingdings</vt:lpstr>
      <vt:lpstr>Blends</vt:lpstr>
      <vt:lpstr>Equation</vt:lpstr>
      <vt:lpstr>Không gian Vectơ</vt:lpstr>
      <vt:lpstr>ĐỔI CƠ SỞ</vt:lpstr>
      <vt:lpstr>ĐỔI CƠ SỞ</vt:lpstr>
      <vt:lpstr>ĐỔI CƠ SỞ</vt:lpstr>
      <vt:lpstr>ĐỔI CƠ SỞ</vt:lpstr>
      <vt:lpstr>ĐỔI CƠ SỞ</vt:lpstr>
      <vt:lpstr>ĐỔI CƠ SỞ</vt:lpstr>
      <vt:lpstr>ĐỔI CƠ SỞ</vt:lpstr>
      <vt:lpstr>ĐỔI CƠ SỞ TRONG R^n</vt:lpstr>
      <vt:lpstr>ĐỔI CƠ SỞ TRONG R^n</vt:lpstr>
      <vt:lpstr>ĐỔI CƠ SỞ TRONG R^n</vt:lpstr>
    </vt:vector>
  </TitlesOfParts>
  <Company>© 2012 Pearson Education, Inc. All rights reserved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Võ Thanh Tùng</cp:lastModifiedBy>
  <cp:revision>1028</cp:revision>
  <dcterms:created xsi:type="dcterms:W3CDTF">2005-10-22T18:34:54Z</dcterms:created>
  <dcterms:modified xsi:type="dcterms:W3CDTF">2016-08-02T17:19:50Z</dcterms:modified>
</cp:coreProperties>
</file>