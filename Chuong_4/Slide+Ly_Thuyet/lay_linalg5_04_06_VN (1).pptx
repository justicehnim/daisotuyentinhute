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</p:sldMasterIdLst>
  <p:notesMasterIdLst>
    <p:notesMasterId r:id="rId21"/>
  </p:notesMasterIdLst>
  <p:sldIdLst>
    <p:sldId id="424" r:id="rId2"/>
    <p:sldId id="362" r:id="rId3"/>
    <p:sldId id="425" r:id="rId4"/>
    <p:sldId id="426" r:id="rId5"/>
    <p:sldId id="427" r:id="rId6"/>
    <p:sldId id="428" r:id="rId7"/>
    <p:sldId id="429" r:id="rId8"/>
    <p:sldId id="430" r:id="rId9"/>
    <p:sldId id="431" r:id="rId10"/>
    <p:sldId id="432" r:id="rId11"/>
    <p:sldId id="433" r:id="rId12"/>
    <p:sldId id="434" r:id="rId13"/>
    <p:sldId id="435" r:id="rId14"/>
    <p:sldId id="436" r:id="rId15"/>
    <p:sldId id="437" r:id="rId16"/>
    <p:sldId id="438" r:id="rId17"/>
    <p:sldId id="439" r:id="rId18"/>
    <p:sldId id="440" r:id="rId19"/>
    <p:sldId id="441" r:id="rId2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pos="288">
          <p15:clr>
            <a:srgbClr val="A4A3A4"/>
          </p15:clr>
        </p15:guide>
        <p15:guide id="4" pos="547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7C97"/>
    <a:srgbClr val="D7791B"/>
    <a:srgbClr val="4C7816"/>
    <a:srgbClr val="528218"/>
    <a:srgbClr val="B6CEAA"/>
    <a:srgbClr val="ADC8A0"/>
    <a:srgbClr val="CD8019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60" autoAdjust="0"/>
    <p:restoredTop sz="98813" autoAdjust="0"/>
  </p:normalViewPr>
  <p:slideViewPr>
    <p:cSldViewPr>
      <p:cViewPr varScale="1">
        <p:scale>
          <a:sx n="92" d="100"/>
          <a:sy n="92" d="100"/>
        </p:scale>
        <p:origin x="1147" y="86"/>
      </p:cViewPr>
      <p:guideLst>
        <p:guide orient="horz" pos="1296"/>
        <p:guide orient="horz" pos="3888"/>
        <p:guide pos="288"/>
        <p:guide pos="54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6" Type="http://schemas.openxmlformats.org/officeDocument/2006/relationships/image" Target="../media/image16.wmf"/><Relationship Id="rId5" Type="http://schemas.openxmlformats.org/officeDocument/2006/relationships/image" Target="../media/image15.wmf"/><Relationship Id="rId4" Type="http://schemas.openxmlformats.org/officeDocument/2006/relationships/image" Target="../media/image14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5" Type="http://schemas.openxmlformats.org/officeDocument/2006/relationships/image" Target="../media/image26.wmf"/><Relationship Id="rId4" Type="http://schemas.openxmlformats.org/officeDocument/2006/relationships/image" Target="../media/image25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4" Type="http://schemas.openxmlformats.org/officeDocument/2006/relationships/image" Target="../media/image30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Relationship Id="rId5" Type="http://schemas.openxmlformats.org/officeDocument/2006/relationships/image" Target="../media/image39.wmf"/><Relationship Id="rId4" Type="http://schemas.openxmlformats.org/officeDocument/2006/relationships/image" Target="../media/image38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5CB057B-A982-47D4-830E-52007AD9A8C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475688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9D1B1FA8-F1DC-415D-98D9-58A6E4479A50}" type="slidenum">
              <a:rPr lang="en-US" altLang="en-US" sz="1200">
                <a:latin typeface="Arial" panose="020B0604020202020204" pitchFamily="34" charset="0"/>
              </a:rPr>
              <a:pPr algn="r"/>
              <a:t>1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04861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6EF1CE66-0230-44C5-BAEE-B747A1F1CAB1}" type="slidenum">
              <a:rPr lang="en-US" altLang="en-US" sz="1200">
                <a:latin typeface="Arial" panose="020B0604020202020204" pitchFamily="34" charset="0"/>
              </a:rPr>
              <a:pPr algn="r"/>
              <a:t>2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2323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 descr="pearson_ppt_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292850"/>
            <a:ext cx="12954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12"/>
          <p:cNvSpPr>
            <a:spLocks noChangeShapeType="1"/>
          </p:cNvSpPr>
          <p:nvPr userDrawn="1"/>
        </p:nvSpPr>
        <p:spPr bwMode="auto">
          <a:xfrm>
            <a:off x="0" y="2667000"/>
            <a:ext cx="4953000" cy="0"/>
          </a:xfrm>
          <a:prstGeom prst="line">
            <a:avLst/>
          </a:prstGeom>
          <a:noFill/>
          <a:ln w="127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Text Box 14" descr="Pink tissue paper"/>
          <p:cNvSpPr txBox="1">
            <a:spLocks noChangeArrowheads="1"/>
          </p:cNvSpPr>
          <p:nvPr userDrawn="1"/>
        </p:nvSpPr>
        <p:spPr bwMode="auto">
          <a:xfrm>
            <a:off x="533400" y="304800"/>
            <a:ext cx="533400" cy="731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3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sz="4200" b="1">
                <a:solidFill>
                  <a:srgbClr val="4C7816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7" name="Text Box 15" descr="Pink tissue paper"/>
          <p:cNvSpPr txBox="1">
            <a:spLocks noChangeArrowheads="1"/>
          </p:cNvSpPr>
          <p:nvPr userDrawn="1"/>
        </p:nvSpPr>
        <p:spPr bwMode="auto">
          <a:xfrm>
            <a:off x="304800" y="2057400"/>
            <a:ext cx="838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3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3200" b="1">
                <a:solidFill>
                  <a:srgbClr val="CD8019"/>
                </a:solidFill>
                <a:latin typeface="Arial" panose="020B0604020202020204" pitchFamily="34" charset="0"/>
              </a:rPr>
              <a:t>4.6</a:t>
            </a:r>
          </a:p>
        </p:txBody>
      </p:sp>
      <p:sp>
        <p:nvSpPr>
          <p:cNvPr id="8" name="Line 21"/>
          <p:cNvSpPr>
            <a:spLocks noChangeShapeType="1"/>
          </p:cNvSpPr>
          <p:nvPr userDrawn="1"/>
        </p:nvSpPr>
        <p:spPr bwMode="auto">
          <a:xfrm rot="5400000" flipH="1">
            <a:off x="4572000" y="-4343400"/>
            <a:ext cx="0" cy="9144000"/>
          </a:xfrm>
          <a:prstGeom prst="line">
            <a:avLst/>
          </a:prstGeom>
          <a:noFill/>
          <a:ln w="635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Line 23"/>
          <p:cNvSpPr>
            <a:spLocks noChangeShapeType="1"/>
          </p:cNvSpPr>
          <p:nvPr userDrawn="1"/>
        </p:nvSpPr>
        <p:spPr bwMode="auto">
          <a:xfrm rot="5400000" flipH="1">
            <a:off x="762000" y="701675"/>
            <a:ext cx="0" cy="609600"/>
          </a:xfrm>
          <a:prstGeom prst="line">
            <a:avLst/>
          </a:prstGeom>
          <a:noFill/>
          <a:ln w="38100">
            <a:solidFill>
              <a:srgbClr val="B6CEA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Line 24"/>
          <p:cNvSpPr>
            <a:spLocks noChangeShapeType="1"/>
          </p:cNvSpPr>
          <p:nvPr userDrawn="1"/>
        </p:nvSpPr>
        <p:spPr bwMode="auto">
          <a:xfrm rot="16200000" flipH="1" flipV="1">
            <a:off x="-19050" y="495300"/>
            <a:ext cx="990600" cy="0"/>
          </a:xfrm>
          <a:prstGeom prst="line">
            <a:avLst/>
          </a:prstGeom>
          <a:noFill/>
          <a:ln w="38100">
            <a:solidFill>
              <a:srgbClr val="B6CEA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Freeform 31"/>
          <p:cNvSpPr>
            <a:spLocks/>
          </p:cNvSpPr>
          <p:nvPr userDrawn="1"/>
        </p:nvSpPr>
        <p:spPr bwMode="auto">
          <a:xfrm>
            <a:off x="0" y="2057400"/>
            <a:ext cx="1143000" cy="609600"/>
          </a:xfrm>
          <a:custGeom>
            <a:avLst/>
            <a:gdLst>
              <a:gd name="T0" fmla="*/ 0 w 96"/>
              <a:gd name="T1" fmla="*/ 0 h 192"/>
              <a:gd name="T2" fmla="*/ 1143000 w 96"/>
              <a:gd name="T3" fmla="*/ 0 h 192"/>
              <a:gd name="T4" fmla="*/ 1143000 w 96"/>
              <a:gd name="T5" fmla="*/ 609600 h 19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6" h="192">
                <a:moveTo>
                  <a:pt x="0" y="0"/>
                </a:moveTo>
                <a:lnTo>
                  <a:pt x="96" y="0"/>
                </a:lnTo>
                <a:lnTo>
                  <a:pt x="96" y="192"/>
                </a:lnTo>
              </a:path>
            </a:pathLst>
          </a:custGeom>
          <a:noFill/>
          <a:ln w="12700" cap="flat" cmpd="sng">
            <a:solidFill>
              <a:srgbClr val="077C97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5200" name="Rectangle 16"/>
          <p:cNvSpPr>
            <a:spLocks noGrp="1" noChangeArrowheads="1"/>
          </p:cNvSpPr>
          <p:nvPr>
            <p:ph type="ctrTitle" sz="quarter"/>
          </p:nvPr>
        </p:nvSpPr>
        <p:spPr>
          <a:xfrm>
            <a:off x="1219200" y="609600"/>
            <a:ext cx="5943600" cy="1295400"/>
          </a:xfrm>
        </p:spPr>
        <p:txBody>
          <a:bodyPr anchor="t"/>
          <a:lstStyle>
            <a:lvl1pPr>
              <a:defRPr sz="3600">
                <a:latin typeface="Times New Roman" panose="02020603050405020304" pitchFamily="18" charset="0"/>
              </a:defRPr>
            </a:lvl1pPr>
          </a:lstStyle>
          <a:p>
            <a:pPr lvl="0"/>
            <a:r>
              <a:rPr lang="en-US" altLang="en-US" noProof="0" dirty="0"/>
              <a:t>Click to edit Master title style</a:t>
            </a:r>
          </a:p>
        </p:txBody>
      </p:sp>
      <p:sp>
        <p:nvSpPr>
          <p:cNvPr id="605201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457200" y="2819400"/>
            <a:ext cx="4495800" cy="33528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>
                <a:solidFill>
                  <a:srgbClr val="077C97"/>
                </a:solidFill>
                <a:latin typeface="Arial Narrow" panose="020B0606020202030204" pitchFamily="34" charset="0"/>
              </a:defRPr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13" name="Footer Placeholder 9"/>
          <p:cNvSpPr>
            <a:spLocks noGrp="1"/>
          </p:cNvSpPr>
          <p:nvPr>
            <p:ph type="ftr" sz="quarter" idx="10"/>
          </p:nvPr>
        </p:nvSpPr>
        <p:spPr>
          <a:xfrm>
            <a:off x="1752600" y="6305550"/>
            <a:ext cx="69342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438539" y="2015228"/>
            <a:ext cx="3248261" cy="4058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917387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4.6- </a:t>
            </a:r>
            <a:fld id="{8EA007E6-F255-4078-8806-B3459965904C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3023256667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4.6- </a:t>
            </a:r>
            <a:fld id="{01BC23E5-54D4-4BDA-8C10-CCBAAF64AC07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375231167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4.6- </a:t>
            </a:r>
            <a:fld id="{22E3F871-646A-44B1-8D66-4E4624102922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2429576075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4.6- </a:t>
            </a:r>
            <a:fld id="{3FCFA126-BAA3-485C-9298-78D29120F256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8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266920358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4.6- </a:t>
            </a:r>
            <a:fld id="{2C54D173-B4AD-4B74-922A-E99628F7F6A6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4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960789672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4.6- </a:t>
            </a:r>
            <a:fld id="{0FBC69BD-5714-4B44-8F2D-400ED1782AF4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3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304329611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4.6- </a:t>
            </a:r>
            <a:fld id="{EA6BDE30-69C2-47B7-AA46-31F98BD98FBD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796681369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4.6- </a:t>
            </a:r>
            <a:fld id="{EA54A1CB-703A-43E6-B67C-DCEED32367F2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2653236178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4.6- </a:t>
            </a:r>
            <a:fld id="{B877446E-C72E-430D-8C03-B929112728F7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572644389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0"/>
            <a:ext cx="2057400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0"/>
            <a:ext cx="6019800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4.6- </a:t>
            </a:r>
            <a:fld id="{43646B46-483F-4478-8BCA-3C62565395F9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4189721010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6" name="Rectangle 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07138"/>
            <a:ext cx="1905000" cy="474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1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en-US"/>
              <a:t>Slide 4.6- </a:t>
            </a:r>
            <a:fld id="{111CC80F-8E0F-4132-B47D-22245CD5D380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0"/>
            <a:ext cx="82296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457200" y="6305550"/>
            <a:ext cx="6324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buFont typeface="Symbol" panose="05050102010706020507" pitchFamily="18" charset="2"/>
              <a:buNone/>
              <a:defRPr sz="1200" smtClean="0">
                <a:latin typeface="Arial" panose="020B0604020202020204" pitchFamily="34" charset="0"/>
                <a:sym typeface="Symbol" panose="05050102010706020507" pitchFamily="18" charset="2"/>
              </a:defRPr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  <p:sp>
        <p:nvSpPr>
          <p:cNvPr id="1030" name="Line 13"/>
          <p:cNvSpPr>
            <a:spLocks noChangeShapeType="1"/>
          </p:cNvSpPr>
          <p:nvPr userDrawn="1"/>
        </p:nvSpPr>
        <p:spPr bwMode="auto">
          <a:xfrm rot="5400000" flipH="1">
            <a:off x="4572000" y="-3505200"/>
            <a:ext cx="0" cy="9144000"/>
          </a:xfrm>
          <a:prstGeom prst="line">
            <a:avLst/>
          </a:prstGeom>
          <a:noFill/>
          <a:ln w="635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</p:sldLayoutIdLst>
  <p:transition spd="med"/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rgbClr val="077C97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6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7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9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0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13" Type="http://schemas.openxmlformats.org/officeDocument/2006/relationships/oleObject" Target="../embeddings/oleObject12.bin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12" Type="http://schemas.openxmlformats.org/officeDocument/2006/relationships/image" Target="../media/image1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2.wmf"/><Relationship Id="rId11" Type="http://schemas.openxmlformats.org/officeDocument/2006/relationships/oleObject" Target="../embeddings/oleObject11.bin"/><Relationship Id="rId5" Type="http://schemas.openxmlformats.org/officeDocument/2006/relationships/oleObject" Target="../embeddings/oleObject8.bin"/><Relationship Id="rId10" Type="http://schemas.openxmlformats.org/officeDocument/2006/relationships/image" Target="../media/image14.wmf"/><Relationship Id="rId4" Type="http://schemas.openxmlformats.org/officeDocument/2006/relationships/image" Target="../media/image11.wmf"/><Relationship Id="rId9" Type="http://schemas.openxmlformats.org/officeDocument/2006/relationships/oleObject" Target="../embeddings/oleObject10.bin"/><Relationship Id="rId14" Type="http://schemas.openxmlformats.org/officeDocument/2006/relationships/image" Target="../media/image16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7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8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20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21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12" Type="http://schemas.openxmlformats.org/officeDocument/2006/relationships/image" Target="../media/image2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23.wmf"/><Relationship Id="rId11" Type="http://schemas.openxmlformats.org/officeDocument/2006/relationships/oleObject" Target="../embeddings/oleObject22.bin"/><Relationship Id="rId5" Type="http://schemas.openxmlformats.org/officeDocument/2006/relationships/oleObject" Target="../embeddings/oleObject19.bin"/><Relationship Id="rId10" Type="http://schemas.openxmlformats.org/officeDocument/2006/relationships/image" Target="../media/image25.wmf"/><Relationship Id="rId4" Type="http://schemas.openxmlformats.org/officeDocument/2006/relationships/image" Target="../media/image22.wmf"/><Relationship Id="rId9" Type="http://schemas.openxmlformats.org/officeDocument/2006/relationships/oleObject" Target="../embeddings/oleObject21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3" Type="http://schemas.openxmlformats.org/officeDocument/2006/relationships/image" Target="../media/image31.png"/><Relationship Id="rId7" Type="http://schemas.openxmlformats.org/officeDocument/2006/relationships/image" Target="../media/image28.wmf"/><Relationship Id="rId12" Type="http://schemas.openxmlformats.org/officeDocument/2006/relationships/image" Target="../media/image3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24.bin"/><Relationship Id="rId11" Type="http://schemas.openxmlformats.org/officeDocument/2006/relationships/image" Target="../media/image30.wmf"/><Relationship Id="rId5" Type="http://schemas.openxmlformats.org/officeDocument/2006/relationships/image" Target="../media/image27.wmf"/><Relationship Id="rId10" Type="http://schemas.openxmlformats.org/officeDocument/2006/relationships/oleObject" Target="../embeddings/oleObject26.bin"/><Relationship Id="rId4" Type="http://schemas.openxmlformats.org/officeDocument/2006/relationships/oleObject" Target="../embeddings/oleObject23.bin"/><Relationship Id="rId9" Type="http://schemas.openxmlformats.org/officeDocument/2006/relationships/image" Target="../media/image29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33.w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32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13" Type="http://schemas.openxmlformats.org/officeDocument/2006/relationships/image" Target="../media/image39.wmf"/><Relationship Id="rId3" Type="http://schemas.openxmlformats.org/officeDocument/2006/relationships/image" Target="../media/image40.png"/><Relationship Id="rId7" Type="http://schemas.openxmlformats.org/officeDocument/2006/relationships/image" Target="../media/image36.wmf"/><Relationship Id="rId12" Type="http://schemas.openxmlformats.org/officeDocument/2006/relationships/oleObject" Target="../embeddings/oleObject3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31.bin"/><Relationship Id="rId11" Type="http://schemas.openxmlformats.org/officeDocument/2006/relationships/image" Target="../media/image38.wmf"/><Relationship Id="rId5" Type="http://schemas.openxmlformats.org/officeDocument/2006/relationships/image" Target="../media/image35.wmf"/><Relationship Id="rId10" Type="http://schemas.openxmlformats.org/officeDocument/2006/relationships/oleObject" Target="../embeddings/oleObject33.bin"/><Relationship Id="rId4" Type="http://schemas.openxmlformats.org/officeDocument/2006/relationships/oleObject" Target="../embeddings/oleObject30.bin"/><Relationship Id="rId9" Type="http://schemas.openxmlformats.org/officeDocument/2006/relationships/image" Target="../media/image37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42.w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41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9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 err="1"/>
              <a:t>Không</a:t>
            </a:r>
            <a:r>
              <a:rPr lang="en-US" altLang="en-US" dirty="0"/>
              <a:t> </a:t>
            </a:r>
            <a:r>
              <a:rPr lang="en-US" altLang="en-US" dirty="0" err="1"/>
              <a:t>gian</a:t>
            </a:r>
            <a:r>
              <a:rPr lang="en-US" altLang="en-US" dirty="0"/>
              <a:t> </a:t>
            </a:r>
            <a:r>
              <a:rPr lang="en-US" altLang="en-US" dirty="0" err="1"/>
              <a:t>Vectơ</a:t>
            </a:r>
            <a:endParaRPr lang="en-US" altLang="en-US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latin typeface="+mj-lt"/>
              </a:rPr>
              <a:t>HẠNG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4.6- </a:t>
            </a:r>
            <a:fld id="{A752B12A-49E4-4170-9304-3C7AD864CF40}" type="slidenum">
              <a:rPr lang="en-US" altLang="en-US" sz="1200">
                <a:latin typeface="Arial" panose="020B0604020202020204" pitchFamily="34" charset="0"/>
              </a:rPr>
              <a:pPr algn="r"/>
              <a:t>2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KHÔNG GIAN HÀNG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600200"/>
                <a:ext cx="8229600" cy="4800600"/>
              </a:xfrm>
            </p:spPr>
            <p:txBody>
              <a:bodyPr/>
              <a:lstStyle/>
              <a:p>
                <a:pPr marL="609600" indent="-609600" eaLnBrk="1" hangingPunct="1"/>
                <a:r>
                  <a:rPr lang="en-US" altLang="en-US" sz="2800" dirty="0" err="1">
                    <a:cs typeface="Times New Roman" panose="02020603050405020304" pitchFamily="18" charset="0"/>
                  </a:rPr>
                  <a:t>Nếu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          ma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trận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mỗi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hàng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có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i="1" dirty="0">
                    <a:cs typeface="Times New Roman" panose="02020603050405020304" pitchFamily="18" charset="0"/>
                  </a:rPr>
                  <a:t>n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thành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phần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do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đó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có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thể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đồng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nhất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với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800" dirty="0">
                    <a:cs typeface="Times New Roman" panose="02020603050405020304" pitchFamily="18" charset="0"/>
                  </a:rPr>
                  <a:t>vectơ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800" dirty="0">
                    <a:cs typeface="Times New Roman" panose="02020603050405020304" pitchFamily="18" charset="0"/>
                  </a:rPr>
                  <a:t>.</a:t>
                </a:r>
              </a:p>
              <a:p>
                <a:pPr marL="609600" indent="-609600" eaLnBrk="1" hangingPunct="1"/>
                <a:r>
                  <a:rPr lang="en-US" altLang="en-US" sz="2800" dirty="0" err="1">
                    <a:cs typeface="Times New Roman" panose="02020603050405020304" pitchFamily="18" charset="0"/>
                  </a:rPr>
                  <a:t>Tâp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tất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cả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tổ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hợp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tuyến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tính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800" dirty="0">
                    <a:cs typeface="Times New Roman" panose="02020603050405020304" pitchFamily="18" charset="0"/>
                  </a:rPr>
                  <a:t>các vectơ hàng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800" dirty="0">
                    <a:cs typeface="Times New Roman" panose="02020603050405020304" pitchFamily="18" charset="0"/>
                  </a:rPr>
                  <a:t>được gọi là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không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gian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hàng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800" dirty="0">
                    <a:cs typeface="Times New Roman" panose="02020603050405020304" pitchFamily="18" charset="0"/>
                  </a:rPr>
                  <a:t>được kí hiệu bởi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Row </a:t>
                </a:r>
                <a:r>
                  <a:rPr lang="en-US" altLang="en-US" sz="28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.</a:t>
                </a:r>
              </a:p>
              <a:p>
                <a:pPr marL="609600" indent="-609600" eaLnBrk="1" hangingPunct="1"/>
                <a:r>
                  <a:rPr lang="en-US" altLang="en-US" sz="2800" dirty="0" err="1">
                    <a:cs typeface="Times New Roman" panose="02020603050405020304" pitchFamily="18" charset="0"/>
                  </a:rPr>
                  <a:t>Mỗi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hàng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có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i="1" dirty="0">
                    <a:cs typeface="Times New Roman" panose="02020603050405020304" pitchFamily="18" charset="0"/>
                  </a:rPr>
                  <a:t>n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thành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phần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, do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đó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Row </a:t>
                </a:r>
                <a:r>
                  <a:rPr lang="en-US" altLang="en-US" sz="28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không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gian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con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800" dirty="0">
                    <a:cs typeface="Times New Roman" panose="02020603050405020304" pitchFamily="18" charset="0"/>
                  </a:rPr>
                  <a:t>.</a:t>
                </a:r>
              </a:p>
              <a:p>
                <a:pPr marL="609600" indent="-609600" eaLnBrk="1" hangingPunct="1"/>
                <a:r>
                  <a:rPr lang="en-US" altLang="en-US" sz="2800" dirty="0" err="1">
                    <a:cs typeface="Times New Roman" panose="02020603050405020304" pitchFamily="18" charset="0"/>
                  </a:rPr>
                  <a:t>Vì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hàng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được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đồng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nhất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với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cột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800" i="1" baseline="30000" dirty="0">
                    <a:cs typeface="Times New Roman" panose="02020603050405020304" pitchFamily="18" charset="0"/>
                  </a:rPr>
                  <a:t>T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, ta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cũng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có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thể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viết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Col </a:t>
                </a:r>
                <a:r>
                  <a:rPr lang="en-US" altLang="en-US" sz="28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800" i="1" baseline="30000" dirty="0">
                    <a:cs typeface="Times New Roman" panose="02020603050405020304" pitchFamily="18" charset="0"/>
                  </a:rPr>
                  <a:t>T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thay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cho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Row </a:t>
                </a:r>
                <a:r>
                  <a:rPr lang="en-US" altLang="en-US" sz="28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600200"/>
                <a:ext cx="8229600" cy="4800600"/>
              </a:xfrm>
              <a:blipFill>
                <a:blip r:embed="rId4"/>
                <a:stretch>
                  <a:fillRect l="-1259" t="-1398" r="-8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16459" name="Object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7735971"/>
              </p:ext>
            </p:extLst>
          </p:nvPr>
        </p:nvGraphicFramePr>
        <p:xfrm>
          <a:off x="3098800" y="1765300"/>
          <a:ext cx="8636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5" name="Equation" r:id="rId5" imgW="863225" imgH="253890" progId="">
                  <p:embed/>
                </p:oleObj>
              </mc:Choice>
              <mc:Fallback>
                <p:oleObj name="Equation" r:id="rId5" imgW="863225" imgH="253890" progId="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8800" y="1765300"/>
                        <a:ext cx="86360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4.6- </a:t>
            </a:r>
            <a:fld id="{A5E656A6-AB33-453A-AEF3-05062795E266}" type="slidenum">
              <a:rPr lang="en-US" altLang="en-US" sz="1200">
                <a:latin typeface="Arial" panose="020B0604020202020204" pitchFamily="34" charset="0"/>
              </a:rPr>
              <a:pPr algn="r"/>
              <a:t>3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KHÔNG GIAN HÀNG</a:t>
            </a:r>
          </a:p>
        </p:txBody>
      </p:sp>
      <p:sp>
        <p:nvSpPr>
          <p:cNvPr id="720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8382000" cy="52578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2800" b="1" dirty="0" err="1">
                <a:solidFill>
                  <a:srgbClr val="077C97"/>
                </a:solidFill>
              </a:rPr>
              <a:t>Định</a:t>
            </a:r>
            <a:r>
              <a:rPr lang="en-US" altLang="en-US" sz="2800" b="1" dirty="0">
                <a:solidFill>
                  <a:srgbClr val="077C97"/>
                </a:solidFill>
              </a:rPr>
              <a:t> </a:t>
            </a:r>
            <a:r>
              <a:rPr lang="en-US" altLang="en-US" sz="2800" b="1" dirty="0" err="1">
                <a:solidFill>
                  <a:srgbClr val="077C97"/>
                </a:solidFill>
              </a:rPr>
              <a:t>lí</a:t>
            </a:r>
            <a:r>
              <a:rPr lang="en-US" altLang="en-US" sz="2800" b="1" dirty="0">
                <a:solidFill>
                  <a:srgbClr val="077C97"/>
                </a:solidFill>
              </a:rPr>
              <a:t> 13</a:t>
            </a:r>
            <a:r>
              <a:rPr lang="en-US" altLang="en-US" sz="2800" b="1" dirty="0"/>
              <a:t>: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hai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i="1" dirty="0"/>
              <a:t>B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tương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hàng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thì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chúng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cùng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hàng</a:t>
            </a:r>
            <a:r>
              <a:rPr lang="en-US" altLang="en-US" sz="2800" dirty="0"/>
              <a:t>. </a:t>
            </a:r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i="1" dirty="0"/>
              <a:t>B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bậc</a:t>
            </a:r>
            <a:r>
              <a:rPr lang="en-US" altLang="en-US" sz="2800" dirty="0"/>
              <a:t> thang, </a:t>
            </a:r>
            <a:r>
              <a:rPr lang="en-US" altLang="en-US" sz="2800" dirty="0" err="1"/>
              <a:t>thì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hàng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khác</a:t>
            </a:r>
            <a:r>
              <a:rPr lang="en-US" altLang="en-US" sz="2800" dirty="0"/>
              <a:t> 0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B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tạo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thành</a:t>
            </a:r>
            <a:r>
              <a:rPr lang="en-US" altLang="en-US" sz="2800" dirty="0"/>
              <a:t> </a:t>
            </a:r>
            <a:r>
              <a:rPr lang="vi-VN" altLang="en-US" sz="2800" dirty="0"/>
              <a:t>một cơ sở 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hàng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cũng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như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B</a:t>
            </a:r>
            <a:r>
              <a:rPr lang="en-US" altLang="en-US" sz="2800" dirty="0"/>
              <a:t>.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b="1" dirty="0" err="1"/>
              <a:t>Chứng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minh</a:t>
            </a:r>
            <a:r>
              <a:rPr lang="en-US" altLang="en-US" sz="2800" b="1" dirty="0"/>
              <a:t>: </a:t>
            </a:r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i="1" dirty="0"/>
              <a:t>B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từ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bằng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phép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đổi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hàng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thì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hàng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B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tổ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hợp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tuyến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hàng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.</a:t>
            </a:r>
          </a:p>
          <a:p>
            <a:pPr eaLnBrk="1" hangingPunct="1"/>
            <a:r>
              <a:rPr lang="en-US" altLang="en-US" sz="2800" dirty="0" err="1"/>
              <a:t>Suy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rằng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bất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kì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tổ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hợp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tuyến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nào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hàng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B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cũng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tổ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hợp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tuyến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hàng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.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4.6- </a:t>
            </a:r>
            <a:fld id="{5B99698A-B731-4D62-AFE5-93C494E3C99C}" type="slidenum">
              <a:rPr lang="en-US" altLang="en-US" sz="1200">
                <a:latin typeface="Arial" panose="020B0604020202020204" pitchFamily="34" charset="0"/>
              </a:rPr>
              <a:pPr algn="r"/>
              <a:t>4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KHÔNG GIAN HÀNG</a:t>
            </a:r>
          </a:p>
        </p:txBody>
      </p:sp>
      <p:sp>
        <p:nvSpPr>
          <p:cNvPr id="72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229600" cy="47244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Do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hàng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B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chứa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hàng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.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 err="1"/>
              <a:t>Vì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phép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đổi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hàng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đảo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lập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luận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tương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tự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chỉ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rằng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hàng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tập</a:t>
            </a:r>
            <a:r>
              <a:rPr lang="en-US" altLang="en-US" sz="2800" dirty="0"/>
              <a:t> con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hàng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B</a:t>
            </a:r>
            <a:r>
              <a:rPr lang="en-US" altLang="en-US" sz="2800" dirty="0"/>
              <a:t>.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/>
              <a:t>Do </a:t>
            </a:r>
            <a:r>
              <a:rPr lang="en-US" altLang="en-US" sz="2800" dirty="0" err="1"/>
              <a:t>vậy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hai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hàng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như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nhau</a:t>
            </a:r>
            <a:r>
              <a:rPr lang="en-US" altLang="en-US" sz="2800" dirty="0"/>
              <a:t>.</a:t>
            </a:r>
          </a:p>
          <a:p>
            <a:pPr eaLnBrk="1" hangingPunct="1"/>
            <a:endParaRPr lang="en-US" altLang="en-US" sz="2800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4.6- </a:t>
            </a:r>
            <a:fld id="{071AF902-4C39-4CD4-AF26-A95006BE9EDE}" type="slidenum">
              <a:rPr lang="en-US" altLang="en-US" sz="1200">
                <a:latin typeface="Arial" panose="020B0604020202020204" pitchFamily="34" charset="0"/>
              </a:rPr>
              <a:pPr algn="r"/>
              <a:t>5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KHÔNG GIAN HÀNG</a:t>
            </a:r>
          </a:p>
        </p:txBody>
      </p:sp>
      <p:sp>
        <p:nvSpPr>
          <p:cNvPr id="72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i="1" dirty="0"/>
              <a:t>B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bậc</a:t>
            </a:r>
            <a:r>
              <a:rPr lang="en-US" altLang="en-US" sz="2800" dirty="0"/>
              <a:t> thang,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hàng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khác</a:t>
            </a:r>
            <a:r>
              <a:rPr lang="en-US" altLang="en-US" sz="2800" dirty="0"/>
              <a:t> 0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độc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tuyến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vì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hàng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khác</a:t>
            </a:r>
            <a:r>
              <a:rPr lang="en-US" altLang="en-US" sz="2800" dirty="0"/>
              <a:t> 0 </a:t>
            </a:r>
            <a:r>
              <a:rPr lang="en-US" altLang="en-US" sz="2800" dirty="0" err="1"/>
              <a:t>nào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tổ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hợp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tuyến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hàng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khác</a:t>
            </a:r>
            <a:r>
              <a:rPr lang="en-US" altLang="en-US" sz="2800" dirty="0"/>
              <a:t> 0 </a:t>
            </a:r>
            <a:r>
              <a:rPr lang="en-US" altLang="en-US" sz="2800" dirty="0" err="1"/>
              <a:t>dưới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nó</a:t>
            </a:r>
            <a:r>
              <a:rPr lang="en-US" altLang="en-US" sz="2800" dirty="0"/>
              <a:t>. (</a:t>
            </a:r>
            <a:r>
              <a:rPr lang="en-US" altLang="en-US" sz="2800" dirty="0" err="1"/>
              <a:t>Áp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dụng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lí</a:t>
            </a:r>
            <a:r>
              <a:rPr lang="en-US" altLang="en-US" sz="2800" dirty="0"/>
              <a:t> 4 </a:t>
            </a:r>
            <a:r>
              <a:rPr lang="en-US" altLang="en-US" sz="2800" dirty="0" err="1"/>
              <a:t>vào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hàng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khác</a:t>
            </a:r>
            <a:r>
              <a:rPr lang="en-US" altLang="en-US" sz="2800" dirty="0"/>
              <a:t> 0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B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theo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thứ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tự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lại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hàng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cuối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trước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tiên</a:t>
            </a:r>
            <a:r>
              <a:rPr lang="en-US" altLang="en-US" sz="2800" dirty="0"/>
              <a:t>).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 err="1"/>
              <a:t>Vì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vậy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hàng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khác</a:t>
            </a:r>
            <a:r>
              <a:rPr lang="en-US" altLang="en-US" sz="2800" dirty="0"/>
              <a:t> 0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B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nên</a:t>
            </a:r>
            <a:r>
              <a:rPr lang="en-US" altLang="en-US" sz="2800" dirty="0"/>
              <a:t> </a:t>
            </a:r>
            <a:r>
              <a:rPr lang="vi-VN" altLang="en-US" sz="2800" dirty="0"/>
              <a:t>một cơ sở của</a:t>
            </a:r>
            <a:r>
              <a:rPr lang="en-US" altLang="en-US" sz="2800" dirty="0"/>
              <a:t>  (</a:t>
            </a:r>
            <a:r>
              <a:rPr lang="en-US" altLang="en-US" sz="2800" dirty="0" err="1"/>
              <a:t>cùng</a:t>
            </a:r>
            <a:r>
              <a:rPr lang="en-US" altLang="en-US" sz="2800" dirty="0"/>
              <a:t>)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hàng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B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.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4.6- </a:t>
            </a:r>
            <a:fld id="{4AEB1AD6-56C1-4CDF-B9D5-C313CC9D5FDF}" type="slidenum">
              <a:rPr lang="en-US" altLang="en-US" sz="1200">
                <a:latin typeface="Arial" panose="020B0604020202020204" pitchFamily="34" charset="0"/>
              </a:rPr>
              <a:pPr algn="r"/>
              <a:t>6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KHÔNG GIAN HÀNG</a:t>
            </a:r>
          </a:p>
        </p:txBody>
      </p:sp>
      <p:sp>
        <p:nvSpPr>
          <p:cNvPr id="723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257800"/>
          </a:xfrm>
        </p:spPr>
        <p:txBody>
          <a:bodyPr/>
          <a:lstStyle/>
          <a:p>
            <a:pPr eaLnBrk="1" hangingPunct="1"/>
            <a:r>
              <a:rPr lang="en-US" altLang="en-US" sz="2800" b="1" dirty="0" err="1"/>
              <a:t>Ví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dụ</a:t>
            </a:r>
            <a:r>
              <a:rPr lang="en-US" altLang="en-US" sz="2800" b="1" dirty="0"/>
              <a:t> 2: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Tìm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sở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hàng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cột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hạch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b="1" dirty="0" err="1"/>
              <a:t>Lời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giải</a:t>
            </a:r>
            <a:r>
              <a:rPr lang="en-US" altLang="en-US" sz="2800" b="1" dirty="0"/>
              <a:t>: </a:t>
            </a:r>
            <a:r>
              <a:rPr lang="en-US" altLang="en-US" sz="2800" dirty="0" err="1"/>
              <a:t>Để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tìm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sở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hàng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cột</a:t>
            </a:r>
            <a:r>
              <a:rPr lang="en-US" altLang="en-US" sz="2800" dirty="0"/>
              <a:t>, ta </a:t>
            </a:r>
            <a:r>
              <a:rPr lang="en-US" altLang="en-US" sz="2800" dirty="0" err="1"/>
              <a:t>rút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gọn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hàng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về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bậc</a:t>
            </a:r>
            <a:r>
              <a:rPr lang="en-US" altLang="en-US" sz="2800" dirty="0"/>
              <a:t> thang:</a:t>
            </a:r>
          </a:p>
        </p:txBody>
      </p:sp>
      <p:graphicFrame>
        <p:nvGraphicFramePr>
          <p:cNvPr id="723972" name="Object 4"/>
          <p:cNvGraphicFramePr>
            <a:graphicFrameLocks noChangeAspect="1"/>
          </p:cNvGraphicFramePr>
          <p:nvPr/>
        </p:nvGraphicFramePr>
        <p:xfrm>
          <a:off x="2743200" y="2438400"/>
          <a:ext cx="4114800" cy="229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1" name="Equation" r:id="rId3" imgW="4229100" imgH="2362200" progId="">
                  <p:embed/>
                </p:oleObj>
              </mc:Choice>
              <mc:Fallback>
                <p:oleObj name="Equation" r:id="rId3" imgW="4229100" imgH="2362200" progId="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2438400"/>
                        <a:ext cx="4114800" cy="2298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4.6- </a:t>
            </a:r>
            <a:fld id="{7A2E3A72-5D51-4544-9C6B-918137E80459}" type="slidenum">
              <a:rPr lang="en-US" altLang="en-US" sz="1200">
                <a:latin typeface="Arial" panose="020B0604020202020204" pitchFamily="34" charset="0"/>
              </a:rPr>
              <a:pPr algn="r"/>
              <a:t>7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KHÔNG GIAN HÀNG</a:t>
            </a:r>
          </a:p>
        </p:txBody>
      </p:sp>
      <p:sp>
        <p:nvSpPr>
          <p:cNvPr id="724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686800" cy="5257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Theo </a:t>
            </a:r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lí</a:t>
            </a:r>
            <a:r>
              <a:rPr lang="en-US" altLang="en-US" sz="2800" dirty="0"/>
              <a:t> 13, </a:t>
            </a:r>
            <a:r>
              <a:rPr lang="en-US" altLang="en-US" sz="2800" dirty="0" err="1"/>
              <a:t>ba</a:t>
            </a:r>
            <a:r>
              <a:rPr lang="en-US" altLang="en-US" sz="2800" dirty="0"/>
              <a:t> hang </a:t>
            </a:r>
            <a:r>
              <a:rPr lang="en-US" altLang="en-US" sz="2800" dirty="0" err="1"/>
              <a:t>đầu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tiên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B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nên</a:t>
            </a:r>
            <a:r>
              <a:rPr lang="en-US" altLang="en-US" sz="2800" dirty="0"/>
              <a:t> </a:t>
            </a:r>
            <a:r>
              <a:rPr lang="vi-VN" altLang="en-US" sz="2800" dirty="0"/>
              <a:t>một cơ sở 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hàng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(</a:t>
            </a:r>
            <a:r>
              <a:rPr lang="en-US" altLang="en-US" sz="2800" dirty="0" err="1"/>
              <a:t>cũng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như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hàng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B</a:t>
            </a:r>
            <a:r>
              <a:rPr lang="en-US" altLang="en-US" sz="2800" dirty="0"/>
              <a:t>).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Do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cơ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sở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hàng</a:t>
            </a:r>
            <a:r>
              <a:rPr lang="en-US" altLang="en-US" sz="2800" dirty="0"/>
              <a:t>  </a:t>
            </a:r>
          </a:p>
        </p:txBody>
      </p:sp>
      <p:graphicFrame>
        <p:nvGraphicFramePr>
          <p:cNvPr id="724996" name="Object 4"/>
          <p:cNvGraphicFramePr>
            <a:graphicFrameLocks noChangeAspect="1"/>
          </p:cNvGraphicFramePr>
          <p:nvPr/>
        </p:nvGraphicFramePr>
        <p:xfrm>
          <a:off x="2209800" y="1447800"/>
          <a:ext cx="4724400" cy="225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4" name="Equation" r:id="rId3" imgW="4940300" imgH="2362200" progId="">
                  <p:embed/>
                </p:oleObj>
              </mc:Choice>
              <mc:Fallback>
                <p:oleObj name="Equation" r:id="rId3" imgW="4940300" imgH="2362200" progId="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447800"/>
                        <a:ext cx="4724400" cy="2259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499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7435133"/>
              </p:ext>
            </p:extLst>
          </p:nvPr>
        </p:nvGraphicFramePr>
        <p:xfrm>
          <a:off x="1752600" y="5943600"/>
          <a:ext cx="609600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5" name="Equation" r:id="rId5" imgW="7454900" imgH="431800" progId="">
                  <p:embed/>
                </p:oleObj>
              </mc:Choice>
              <mc:Fallback>
                <p:oleObj name="Equation" r:id="rId5" imgW="7454900" imgH="431800" progId="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5943600"/>
                        <a:ext cx="6096000" cy="352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01900" y="2286000"/>
            <a:ext cx="30480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~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4.6- </a:t>
            </a:r>
            <a:fld id="{B2C49412-4747-41A4-B581-7613DE23D210}" type="slidenum">
              <a:rPr lang="en-US" altLang="en-US" sz="1200">
                <a:latin typeface="Arial" panose="020B0604020202020204" pitchFamily="34" charset="0"/>
              </a:rPr>
              <a:pPr algn="r"/>
              <a:t>8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KHÔNG GIAN HÀNG</a:t>
            </a:r>
          </a:p>
        </p:txBody>
      </p:sp>
      <p:sp>
        <p:nvSpPr>
          <p:cNvPr id="726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410200"/>
          </a:xfrm>
        </p:spPr>
        <p:txBody>
          <a:bodyPr/>
          <a:lstStyle/>
          <a:p>
            <a:pPr eaLnBrk="1" hangingPunct="1"/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cột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nhận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thấy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từ</a:t>
            </a:r>
            <a:r>
              <a:rPr lang="en-US" altLang="en-US" sz="2800" dirty="0"/>
              <a:t> </a:t>
            </a:r>
            <a:r>
              <a:rPr lang="en-US" altLang="en-US" sz="2800" i="1" dirty="0"/>
              <a:t>B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rằng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chốt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nằm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cột</a:t>
            </a:r>
            <a:r>
              <a:rPr lang="en-US" altLang="en-US" sz="2800" dirty="0"/>
              <a:t> 1, 2,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4.</a:t>
            </a:r>
          </a:p>
          <a:p>
            <a:pPr eaLnBrk="1" hangingPunct="1"/>
            <a:r>
              <a:rPr lang="en-US" altLang="en-US" sz="2800" dirty="0"/>
              <a:t>Do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cột</a:t>
            </a:r>
            <a:r>
              <a:rPr lang="en-US" altLang="en-US" sz="2800" dirty="0"/>
              <a:t> 1, 2,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4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(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B</a:t>
            </a:r>
            <a:r>
              <a:rPr lang="en-US" altLang="en-US" sz="2800" dirty="0"/>
              <a:t>) </a:t>
            </a:r>
            <a:r>
              <a:rPr lang="en-US" altLang="en-US" sz="2800" dirty="0" err="1"/>
              <a:t>lập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nên</a:t>
            </a:r>
            <a:r>
              <a:rPr lang="en-US" altLang="en-US" sz="2800" dirty="0"/>
              <a:t> </a:t>
            </a:r>
            <a:r>
              <a:rPr lang="vi-VN" altLang="en-US" sz="2800" dirty="0"/>
              <a:t>một cơ sở của</a:t>
            </a:r>
            <a:r>
              <a:rPr lang="en-US" altLang="en-US" sz="2800" dirty="0"/>
              <a:t> Col </a:t>
            </a:r>
            <a:r>
              <a:rPr lang="en-US" altLang="en-US" sz="2800" i="1" dirty="0"/>
              <a:t>A</a:t>
            </a:r>
            <a:r>
              <a:rPr lang="en-US" altLang="en-US" sz="2800" dirty="0"/>
              <a:t>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	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	</a:t>
            </a:r>
            <a:r>
              <a:rPr lang="en-US" altLang="en-US" sz="2800" dirty="0" err="1"/>
              <a:t>Cơ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sở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     Col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eaLnBrk="1" hangingPunct="1"/>
            <a:r>
              <a:rPr lang="en-US" altLang="en-US" sz="2800" dirty="0" err="1"/>
              <a:t>Chú</a:t>
            </a:r>
            <a:r>
              <a:rPr lang="en-US" altLang="en-US" sz="2800" dirty="0"/>
              <a:t> ý </a:t>
            </a:r>
            <a:r>
              <a:rPr lang="en-US" altLang="en-US" sz="2800" dirty="0" err="1"/>
              <a:t>rằng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bậc</a:t>
            </a:r>
            <a:r>
              <a:rPr lang="en-US" altLang="en-US" sz="2800" dirty="0"/>
              <a:t> thang </a:t>
            </a:r>
            <a:r>
              <a:rPr lang="en-US" altLang="en-US" sz="2800" dirty="0" err="1"/>
              <a:t>bất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kì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cho</a:t>
            </a:r>
            <a:r>
              <a:rPr lang="en-US" altLang="en-US" sz="2800" dirty="0"/>
              <a:t> ta (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hàng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khác</a:t>
            </a:r>
            <a:r>
              <a:rPr lang="en-US" altLang="en-US" sz="2800" dirty="0"/>
              <a:t> 0) </a:t>
            </a:r>
            <a:r>
              <a:rPr lang="vi-VN" altLang="en-US" sz="2800" dirty="0"/>
              <a:t>một cơ sở của</a:t>
            </a:r>
            <a:r>
              <a:rPr lang="en-US" altLang="en-US" sz="2800" dirty="0"/>
              <a:t> Row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cũng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đồng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nhất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chốt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Col </a:t>
            </a:r>
            <a:r>
              <a:rPr lang="en-US" altLang="en-US" sz="2800" i="1" dirty="0"/>
              <a:t>A</a:t>
            </a:r>
            <a:r>
              <a:rPr lang="en-US" altLang="en-US" sz="2800" dirty="0"/>
              <a:t>.</a:t>
            </a:r>
          </a:p>
          <a:p>
            <a:pPr eaLnBrk="1" hangingPunct="1"/>
            <a:endParaRPr lang="en-US" altLang="en-US" sz="2800" dirty="0"/>
          </a:p>
        </p:txBody>
      </p:sp>
      <p:graphicFrame>
        <p:nvGraphicFramePr>
          <p:cNvPr id="7260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3734252"/>
              </p:ext>
            </p:extLst>
          </p:nvPr>
        </p:nvGraphicFramePr>
        <p:xfrm>
          <a:off x="3429000" y="2667000"/>
          <a:ext cx="3276600" cy="232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0" name="Equation" r:id="rId3" imgW="3441700" imgH="2438400" progId="">
                  <p:embed/>
                </p:oleObj>
              </mc:Choice>
              <mc:Fallback>
                <p:oleObj name="Equation" r:id="rId3" imgW="3441700" imgH="2438400" progId="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2667000"/>
                        <a:ext cx="3276600" cy="2320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4.6- </a:t>
            </a:r>
            <a:fld id="{64ED5F2D-273E-4E17-BDEB-5180E431F6D3}" type="slidenum">
              <a:rPr lang="en-US" altLang="en-US" sz="1200">
                <a:latin typeface="Arial" panose="020B0604020202020204" pitchFamily="34" charset="0"/>
              </a:rPr>
              <a:pPr algn="r"/>
              <a:t>9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KHÔNG GIAN HÀNG</a:t>
            </a:r>
          </a:p>
        </p:txBody>
      </p:sp>
      <p:sp>
        <p:nvSpPr>
          <p:cNvPr id="72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229600" cy="4724400"/>
          </a:xfrm>
        </p:spPr>
        <p:txBody>
          <a:bodyPr/>
          <a:lstStyle/>
          <a:p>
            <a:pPr eaLnBrk="1" hangingPunct="1"/>
            <a:r>
              <a:rPr lang="en-US" altLang="en-US" sz="2800" dirty="0" err="1"/>
              <a:t>Tuy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nhiên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Nul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, ta </a:t>
            </a:r>
            <a:r>
              <a:rPr lang="en-US" altLang="en-US" sz="2800" dirty="0" err="1"/>
              <a:t>cần</a:t>
            </a:r>
            <a:r>
              <a:rPr lang="en-US" altLang="en-US" sz="2800" dirty="0"/>
              <a:t> </a:t>
            </a:r>
            <a:r>
              <a:rPr lang="en-US" altLang="en-US" sz="2800" i="1" dirty="0" err="1"/>
              <a:t>dạng</a:t>
            </a:r>
            <a:r>
              <a:rPr lang="en-US" altLang="en-US" sz="2800" i="1" dirty="0"/>
              <a:t> </a:t>
            </a:r>
            <a:r>
              <a:rPr lang="en-US" altLang="en-US" sz="2800" i="1" dirty="0" err="1"/>
              <a:t>bậc</a:t>
            </a:r>
            <a:r>
              <a:rPr lang="en-US" altLang="en-US" sz="2800" i="1" dirty="0"/>
              <a:t> thang </a:t>
            </a:r>
            <a:r>
              <a:rPr lang="en-US" altLang="en-US" sz="2800" i="1" dirty="0" err="1"/>
              <a:t>rút</a:t>
            </a:r>
            <a:r>
              <a:rPr lang="en-US" altLang="en-US" sz="2800" i="1" dirty="0"/>
              <a:t> </a:t>
            </a:r>
            <a:r>
              <a:rPr lang="en-US" altLang="en-US" sz="2800" i="1" dirty="0" err="1"/>
              <a:t>gọn</a:t>
            </a:r>
            <a:r>
              <a:rPr lang="en-US" altLang="en-US" sz="2800" dirty="0"/>
              <a:t>.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phép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đổi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hàng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bổ</a:t>
            </a:r>
            <a:r>
              <a:rPr lang="en-US" altLang="en-US" sz="2800" dirty="0"/>
              <a:t> sung </a:t>
            </a:r>
            <a:r>
              <a:rPr lang="en-US" altLang="en-US" sz="2800" dirty="0" err="1"/>
              <a:t>trên</a:t>
            </a:r>
            <a:r>
              <a:rPr lang="en-US" altLang="en-US" sz="2800" dirty="0"/>
              <a:t> </a:t>
            </a:r>
            <a:r>
              <a:rPr lang="en-US" altLang="en-US" sz="2800" i="1" dirty="0"/>
              <a:t>B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ra</a:t>
            </a:r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 dirty="0"/>
          </a:p>
        </p:txBody>
      </p:sp>
      <p:graphicFrame>
        <p:nvGraphicFramePr>
          <p:cNvPr id="727044" name="Object 4"/>
          <p:cNvGraphicFramePr>
            <a:graphicFrameLocks noChangeAspect="1"/>
          </p:cNvGraphicFramePr>
          <p:nvPr/>
        </p:nvGraphicFramePr>
        <p:xfrm>
          <a:off x="1981200" y="3733800"/>
          <a:ext cx="5181600" cy="226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3" name="Equation" r:id="rId3" imgW="5397500" imgH="2362200" progId="">
                  <p:embed/>
                </p:oleObj>
              </mc:Choice>
              <mc:Fallback>
                <p:oleObj name="Equation" r:id="rId3" imgW="5397500" imgH="2362200" progId="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3733800"/>
                        <a:ext cx="5181600" cy="2266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95600" y="4571999"/>
            <a:ext cx="30480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~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4572000"/>
            <a:ext cx="30480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~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4.6- </a:t>
            </a:r>
            <a:fld id="{05E46737-2FC5-4E39-96C8-4D2D21AEB0CB}" type="slidenum">
              <a:rPr lang="en-US" altLang="en-US" sz="1200">
                <a:latin typeface="Arial" panose="020B0604020202020204" pitchFamily="34" charset="0"/>
              </a:rPr>
              <a:pPr algn="r"/>
              <a:t>10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KHÔNG GIAN HÀNG</a:t>
            </a:r>
          </a:p>
        </p:txBody>
      </p:sp>
      <p:sp>
        <p:nvSpPr>
          <p:cNvPr id="72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229600" cy="48006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P</a:t>
            </a:r>
            <a:r>
              <a:rPr lang="vi-VN" altLang="en-US" sz="2800" dirty="0"/>
              <a:t>hương trình</a:t>
            </a:r>
            <a:r>
              <a:rPr lang="en-US" altLang="en-US" sz="2800" dirty="0"/>
              <a:t>               </a:t>
            </a:r>
            <a:r>
              <a:rPr lang="en-US" altLang="en-US" sz="2800" dirty="0" err="1"/>
              <a:t>tương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            , </a:t>
            </a:r>
            <a:r>
              <a:rPr lang="en-US" altLang="en-US" sz="2800" dirty="0" err="1"/>
              <a:t>nghĩa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,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/>
              <a:t>Do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                       ,                         ,               ,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i="1" dirty="0"/>
              <a:t>x</a:t>
            </a:r>
            <a:r>
              <a:rPr lang="en-US" altLang="en-US" sz="2800" baseline="-25000" dirty="0"/>
              <a:t>3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i="1" dirty="0"/>
              <a:t>x</a:t>
            </a:r>
            <a:r>
              <a:rPr lang="en-US" altLang="en-US" sz="2800" baseline="-25000" dirty="0"/>
              <a:t>5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tự</a:t>
            </a:r>
            <a:r>
              <a:rPr lang="en-US" altLang="en-US" sz="2800" dirty="0"/>
              <a:t> do.</a:t>
            </a:r>
          </a:p>
        </p:txBody>
      </p:sp>
      <p:graphicFrame>
        <p:nvGraphicFramePr>
          <p:cNvPr id="728068" name="Object 4"/>
          <p:cNvGraphicFramePr>
            <a:graphicFrameLocks noChangeAspect="1"/>
          </p:cNvGraphicFramePr>
          <p:nvPr/>
        </p:nvGraphicFramePr>
        <p:xfrm>
          <a:off x="2857500" y="1600200"/>
          <a:ext cx="1130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32" name="Equation" r:id="rId3" imgW="1129810" imgH="342751" progId="">
                  <p:embed/>
                </p:oleObj>
              </mc:Choice>
              <mc:Fallback>
                <p:oleObj name="Equation" r:id="rId3" imgW="1129810" imgH="342751" progId="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0" y="1600200"/>
                        <a:ext cx="11303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806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7457256"/>
              </p:ext>
            </p:extLst>
          </p:nvPr>
        </p:nvGraphicFramePr>
        <p:xfrm>
          <a:off x="6629400" y="1612900"/>
          <a:ext cx="10668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33" name="Equation" r:id="rId5" imgW="1104900" imgH="342900" progId="">
                  <p:embed/>
                </p:oleObj>
              </mc:Choice>
              <mc:Fallback>
                <p:oleObj name="Equation" r:id="rId5" imgW="1104900" imgH="342900" progId="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1612900"/>
                        <a:ext cx="10668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8070" name="Object 6"/>
          <p:cNvGraphicFramePr>
            <a:graphicFrameLocks noChangeAspect="1"/>
          </p:cNvGraphicFramePr>
          <p:nvPr/>
        </p:nvGraphicFramePr>
        <p:xfrm>
          <a:off x="3200400" y="2286000"/>
          <a:ext cx="2667000" cy="167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34" name="Equation" r:id="rId7" imgW="2743200" imgH="1727200" progId="">
                  <p:embed/>
                </p:oleObj>
              </mc:Choice>
              <mc:Fallback>
                <p:oleObj name="Equation" r:id="rId7" imgW="2743200" imgH="1727200" progId="">
                  <p:embed/>
                  <p:pic>
                    <p:nvPicPr>
                      <p:cNvPr id="0" name="Picture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2286000"/>
                        <a:ext cx="2667000" cy="1679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807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6488984"/>
              </p:ext>
            </p:extLst>
          </p:nvPr>
        </p:nvGraphicFramePr>
        <p:xfrm>
          <a:off x="1905000" y="4546600"/>
          <a:ext cx="1955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35" name="Equation" r:id="rId9" imgW="1955800" imgH="482600" progId="">
                  <p:embed/>
                </p:oleObj>
              </mc:Choice>
              <mc:Fallback>
                <p:oleObj name="Equation" r:id="rId9" imgW="1955800" imgH="482600" progId="">
                  <p:embed/>
                  <p:pic>
                    <p:nvPicPr>
                      <p:cNvPr id="0" name="Picture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4546600"/>
                        <a:ext cx="19558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807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0445829"/>
              </p:ext>
            </p:extLst>
          </p:nvPr>
        </p:nvGraphicFramePr>
        <p:xfrm>
          <a:off x="4038600" y="4572000"/>
          <a:ext cx="21463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36" name="Equation" r:id="rId11" imgW="2146300" imgH="482600" progId="">
                  <p:embed/>
                </p:oleObj>
              </mc:Choice>
              <mc:Fallback>
                <p:oleObj name="Equation" r:id="rId11" imgW="2146300" imgH="482600" progId="">
                  <p:embed/>
                  <p:pic>
                    <p:nvPicPr>
                      <p:cNvPr id="0" name="Picture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4572000"/>
                        <a:ext cx="21463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807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6623717"/>
              </p:ext>
            </p:extLst>
          </p:nvPr>
        </p:nvGraphicFramePr>
        <p:xfrm>
          <a:off x="6324600" y="4546600"/>
          <a:ext cx="12573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37" name="Equation" r:id="rId13" imgW="1256755" imgH="482391" progId="">
                  <p:embed/>
                </p:oleObj>
              </mc:Choice>
              <mc:Fallback>
                <p:oleObj name="Equation" r:id="rId13" imgW="1256755" imgH="482391" progId="">
                  <p:embed/>
                  <p:pic>
                    <p:nvPicPr>
                      <p:cNvPr id="0" name="Picture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4546600"/>
                        <a:ext cx="12573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4.6- </a:t>
            </a:r>
            <a:fld id="{46D68C67-8DBD-40C0-A546-9876FEC49C05}" type="slidenum">
              <a:rPr lang="en-US" altLang="en-US" sz="1200">
                <a:latin typeface="Arial" panose="020B0604020202020204" pitchFamily="34" charset="0"/>
              </a:rPr>
              <a:pPr algn="r"/>
              <a:t>11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KHÔNG GIAN HÀNG</a:t>
            </a:r>
          </a:p>
        </p:txBody>
      </p:sp>
      <p:sp>
        <p:nvSpPr>
          <p:cNvPr id="72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334000"/>
          </a:xfrm>
        </p:spPr>
        <p:txBody>
          <a:bodyPr/>
          <a:lstStyle/>
          <a:p>
            <a:pPr eaLnBrk="1" hangingPunct="1"/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toán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chứng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tỏ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rằng</a:t>
            </a:r>
            <a:endParaRPr lang="en-US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	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	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	                 </a:t>
            </a:r>
            <a:r>
              <a:rPr lang="en-US" altLang="en-US" sz="2800" dirty="0" err="1"/>
              <a:t>Cơ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sở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Nul</a:t>
            </a:r>
            <a:endParaRPr lang="en-US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 err="1"/>
              <a:t>Nhận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thấy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rằng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giống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như</a:t>
            </a:r>
            <a:r>
              <a:rPr lang="en-US" altLang="en-US" sz="2800" dirty="0"/>
              <a:t> </a:t>
            </a:r>
            <a:r>
              <a:rPr lang="vi-VN" altLang="en-US" sz="2800" dirty="0"/>
              <a:t>cơ sở của</a:t>
            </a:r>
            <a:r>
              <a:rPr lang="en-US" altLang="en-US" sz="2800" dirty="0"/>
              <a:t> Col </a:t>
            </a:r>
            <a:r>
              <a:rPr lang="en-US" altLang="en-US" sz="2800" i="1" dirty="0"/>
              <a:t>A</a:t>
            </a:r>
            <a:r>
              <a:rPr lang="en-US" altLang="en-US" sz="2800" dirty="0"/>
              <a:t>, </a:t>
            </a:r>
            <a:r>
              <a:rPr lang="vi-VN" altLang="en-US" sz="2800" dirty="0"/>
              <a:t>cơ sở của</a:t>
            </a:r>
            <a:r>
              <a:rPr lang="en-US" altLang="en-US" sz="2800" dirty="0"/>
              <a:t> Row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Nul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mối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liên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hệ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nào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thành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phần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cả</a:t>
            </a:r>
            <a:r>
              <a:rPr lang="en-US" altLang="en-US" sz="2800" dirty="0"/>
              <a:t>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eaLnBrk="1" hangingPunct="1"/>
            <a:endParaRPr lang="en-US" altLang="en-US" sz="2800" dirty="0"/>
          </a:p>
        </p:txBody>
      </p:sp>
      <p:graphicFrame>
        <p:nvGraphicFramePr>
          <p:cNvPr id="72909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7573024"/>
              </p:ext>
            </p:extLst>
          </p:nvPr>
        </p:nvGraphicFramePr>
        <p:xfrm>
          <a:off x="4467225" y="1600200"/>
          <a:ext cx="2466975" cy="281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1" name="Equation" r:id="rId3" imgW="2667000" imgH="3048000" progId="">
                  <p:embed/>
                </p:oleObj>
              </mc:Choice>
              <mc:Fallback>
                <p:oleObj name="Equation" r:id="rId3" imgW="2667000" imgH="3048000" progId="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7225" y="1600200"/>
                        <a:ext cx="2466975" cy="281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4.6- </a:t>
            </a:r>
            <a:fld id="{44E3F1F0-5D57-4672-A8A5-0A983F9D99C3}" type="slidenum">
              <a:rPr lang="en-US" altLang="en-US" sz="1200">
                <a:latin typeface="Arial" panose="020B0604020202020204" pitchFamily="34" charset="0"/>
              </a:rPr>
              <a:pPr algn="r"/>
              <a:t>12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ĐỊNH LÍ VỀ HẠNG</a:t>
            </a:r>
          </a:p>
        </p:txBody>
      </p:sp>
      <p:sp>
        <p:nvSpPr>
          <p:cNvPr id="73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4102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2800" b="1" dirty="0" err="1"/>
              <a:t>Định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nghĩa</a:t>
            </a:r>
            <a:r>
              <a:rPr lang="en-US" altLang="en-US" sz="2800" b="1" dirty="0"/>
              <a:t>:</a:t>
            </a:r>
            <a:r>
              <a:rPr lang="en-US" altLang="en-US" sz="2800" dirty="0"/>
              <a:t> </a:t>
            </a:r>
            <a:r>
              <a:rPr lang="en-US" altLang="en-US" sz="2800" b="1" dirty="0" err="1"/>
              <a:t>Hạng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số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chiều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.</a:t>
            </a:r>
          </a:p>
          <a:p>
            <a:pPr eaLnBrk="1" hangingPunct="1"/>
            <a:r>
              <a:rPr lang="en-US" altLang="en-US" sz="2800" dirty="0" err="1"/>
              <a:t>Vì</a:t>
            </a:r>
            <a:r>
              <a:rPr lang="en-US" altLang="en-US" sz="2800" dirty="0"/>
              <a:t> Row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Col </a:t>
            </a:r>
            <a:r>
              <a:rPr lang="en-US" altLang="en-US" sz="2800" i="1" dirty="0"/>
              <a:t>A</a:t>
            </a:r>
            <a:r>
              <a:rPr lang="en-US" altLang="en-US" sz="2800" i="1" baseline="30000" dirty="0"/>
              <a:t>T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số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chiều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hàng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bằng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i="1" baseline="30000" dirty="0"/>
              <a:t>T</a:t>
            </a:r>
            <a:r>
              <a:rPr lang="en-US" altLang="en-US" sz="2800" dirty="0"/>
              <a:t>.</a:t>
            </a:r>
          </a:p>
          <a:p>
            <a:pPr eaLnBrk="1" hangingPunct="1"/>
            <a:r>
              <a:rPr lang="en-US" altLang="en-US" sz="2800" dirty="0" err="1"/>
              <a:t>Số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chiều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hạch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đôi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gọi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b="1" dirty="0" err="1"/>
              <a:t>số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khuyết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.</a:t>
            </a:r>
          </a:p>
          <a:p>
            <a:pPr marL="0" indent="0" eaLnBrk="1" hangingPunct="1">
              <a:buNone/>
            </a:pPr>
            <a:r>
              <a:rPr lang="en-US" altLang="en-US" sz="2800" b="1" dirty="0" err="1">
                <a:solidFill>
                  <a:srgbClr val="077C97"/>
                </a:solidFill>
              </a:rPr>
              <a:t>Định</a:t>
            </a:r>
            <a:r>
              <a:rPr lang="en-US" altLang="en-US" sz="2800" b="1" dirty="0">
                <a:solidFill>
                  <a:srgbClr val="077C97"/>
                </a:solidFill>
              </a:rPr>
              <a:t> </a:t>
            </a:r>
            <a:r>
              <a:rPr lang="en-US" altLang="en-US" sz="2800" b="1" dirty="0" err="1">
                <a:solidFill>
                  <a:srgbClr val="077C97"/>
                </a:solidFill>
              </a:rPr>
              <a:t>lí</a:t>
            </a:r>
            <a:r>
              <a:rPr lang="en-US" altLang="en-US" sz="2800" b="1" dirty="0">
                <a:solidFill>
                  <a:srgbClr val="077C97"/>
                </a:solidFill>
              </a:rPr>
              <a:t> 14</a:t>
            </a:r>
            <a:r>
              <a:rPr lang="en-US" altLang="en-US" sz="2800" b="1" dirty="0"/>
              <a:t>: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số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chiều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hàng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          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bằng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nhau</a:t>
            </a:r>
            <a:r>
              <a:rPr lang="en-US" altLang="en-US" sz="2800" dirty="0"/>
              <a:t>. </a:t>
            </a:r>
            <a:r>
              <a:rPr lang="en-US" altLang="en-US" sz="2800" dirty="0" err="1"/>
              <a:t>Số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chiều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chung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này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cũng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bằng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số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vị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chốt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thỏa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mãn</a:t>
            </a:r>
            <a:r>
              <a:rPr lang="en-US" altLang="en-US" sz="2800" dirty="0"/>
              <a:t> </a:t>
            </a:r>
            <a:r>
              <a:rPr lang="vi-VN" altLang="en-US" sz="2800" dirty="0"/>
              <a:t>phương trình</a:t>
            </a:r>
            <a:endParaRPr lang="en-US" altLang="en-US" sz="2800" dirty="0"/>
          </a:p>
        </p:txBody>
      </p:sp>
      <p:graphicFrame>
        <p:nvGraphicFramePr>
          <p:cNvPr id="7301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5617665"/>
              </p:ext>
            </p:extLst>
          </p:nvPr>
        </p:nvGraphicFramePr>
        <p:xfrm>
          <a:off x="3251200" y="4572000"/>
          <a:ext cx="8636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0" name="Equation" r:id="rId3" imgW="863225" imgH="253890" progId="">
                  <p:embed/>
                </p:oleObj>
              </mc:Choice>
              <mc:Fallback>
                <p:oleObj name="Equation" r:id="rId3" imgW="863225" imgH="253890" progId="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1200" y="4572000"/>
                        <a:ext cx="86360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011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0653753"/>
              </p:ext>
            </p:extLst>
          </p:nvPr>
        </p:nvGraphicFramePr>
        <p:xfrm>
          <a:off x="2692400" y="5943600"/>
          <a:ext cx="37338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1" name="Equation" r:id="rId5" imgW="3733800" imgH="355600" progId="">
                  <p:embed/>
                </p:oleObj>
              </mc:Choice>
              <mc:Fallback>
                <p:oleObj name="Equation" r:id="rId5" imgW="3733800" imgH="355600" progId="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2400" y="5943600"/>
                        <a:ext cx="37338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4.6- </a:t>
            </a:r>
            <a:fld id="{F27A0855-C218-45BE-BB53-033A54BFC446}" type="slidenum">
              <a:rPr lang="en-US" altLang="en-US" sz="1200">
                <a:latin typeface="Arial" panose="020B0604020202020204" pitchFamily="34" charset="0"/>
              </a:rPr>
              <a:pPr algn="r"/>
              <a:t>13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ĐỊNH LÍ VỀ HẠNG</a:t>
            </a:r>
          </a:p>
        </p:txBody>
      </p:sp>
      <p:sp>
        <p:nvSpPr>
          <p:cNvPr id="731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3340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2800" b="1" dirty="0" err="1"/>
              <a:t>Chứng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minh</a:t>
            </a:r>
            <a:r>
              <a:rPr lang="en-US" altLang="en-US" sz="2800" b="1" dirty="0"/>
              <a:t>: </a:t>
            </a:r>
            <a:r>
              <a:rPr lang="en-US" altLang="en-US" sz="2800" dirty="0"/>
              <a:t>Theo </a:t>
            </a:r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lí</a:t>
            </a:r>
            <a:r>
              <a:rPr lang="en-US" altLang="en-US" sz="2800" dirty="0"/>
              <a:t> 6, rank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số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chốt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.</a:t>
            </a:r>
          </a:p>
          <a:p>
            <a:pPr eaLnBrk="1" hangingPunct="1"/>
            <a:r>
              <a:rPr lang="en-US" altLang="en-US" sz="2800" dirty="0" err="1"/>
              <a:t>Tương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đương</a:t>
            </a:r>
            <a:r>
              <a:rPr lang="en-US" altLang="en-US" sz="2800" dirty="0"/>
              <a:t>, rank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số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vị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chốt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bậc</a:t>
            </a:r>
            <a:r>
              <a:rPr lang="en-US" altLang="en-US" sz="2800" dirty="0"/>
              <a:t> thang </a:t>
            </a:r>
            <a:r>
              <a:rPr lang="en-US" altLang="en-US" sz="2800" i="1" dirty="0"/>
              <a:t>B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.</a:t>
            </a:r>
          </a:p>
          <a:p>
            <a:pPr eaLnBrk="1" hangingPunct="1"/>
            <a:r>
              <a:rPr lang="en-US" altLang="en-US" sz="2800" dirty="0" err="1"/>
              <a:t>Vì</a:t>
            </a:r>
            <a:r>
              <a:rPr lang="en-US" altLang="en-US" sz="2800" dirty="0"/>
              <a:t> </a:t>
            </a:r>
            <a:r>
              <a:rPr lang="en-US" altLang="en-US" sz="2800" i="1" dirty="0"/>
              <a:t>B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hàng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khác</a:t>
            </a:r>
            <a:r>
              <a:rPr lang="en-US" altLang="en-US" sz="2800" dirty="0"/>
              <a:t> 0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mỗi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chốt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vì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hang </a:t>
            </a:r>
            <a:r>
              <a:rPr lang="en-US" altLang="en-US" sz="2800" dirty="0" err="1"/>
              <a:t>này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nên</a:t>
            </a:r>
            <a:r>
              <a:rPr lang="en-US" altLang="en-US" sz="2800" dirty="0"/>
              <a:t> </a:t>
            </a:r>
            <a:r>
              <a:rPr lang="vi-VN" altLang="en-US" sz="2800" dirty="0"/>
              <a:t>một cơ sở 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hàng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hạng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cũng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số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chiều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hàng</a:t>
            </a:r>
            <a:r>
              <a:rPr lang="en-US" altLang="en-US" sz="2800" dirty="0"/>
              <a:t>.</a:t>
            </a:r>
          </a:p>
          <a:p>
            <a:pPr eaLnBrk="1" hangingPunct="1"/>
            <a:r>
              <a:rPr lang="en-US" altLang="en-US" sz="2800" dirty="0" err="1"/>
              <a:t>Số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chiều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Nul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bằng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số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tự</a:t>
            </a:r>
            <a:r>
              <a:rPr lang="en-US" altLang="en-US" sz="2800" dirty="0"/>
              <a:t> do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vi-VN" altLang="en-US" sz="2800" dirty="0"/>
              <a:t>phương trình</a:t>
            </a:r>
            <a:r>
              <a:rPr lang="en-US" altLang="en-US" sz="2800" dirty="0"/>
              <a:t>              .</a:t>
            </a:r>
          </a:p>
          <a:p>
            <a:pPr eaLnBrk="1" hangingPunct="1"/>
            <a:r>
              <a:rPr lang="en-US" altLang="en-US" sz="2800" dirty="0" err="1"/>
              <a:t>Biểu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diễn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khác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số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chiều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Nul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số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chốt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.</a:t>
            </a:r>
          </a:p>
          <a:p>
            <a:pPr eaLnBrk="1" hangingPunct="1"/>
            <a:endParaRPr lang="en-US" altLang="en-US" sz="2800" dirty="0"/>
          </a:p>
        </p:txBody>
      </p:sp>
      <p:graphicFrame>
        <p:nvGraphicFramePr>
          <p:cNvPr id="73114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5470832"/>
              </p:ext>
            </p:extLst>
          </p:nvPr>
        </p:nvGraphicFramePr>
        <p:xfrm>
          <a:off x="2895600" y="4914900"/>
          <a:ext cx="1130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2" name="Equation" r:id="rId3" imgW="1129810" imgH="342751" progId="">
                  <p:embed/>
                </p:oleObj>
              </mc:Choice>
              <mc:Fallback>
                <p:oleObj name="Equation" r:id="rId3" imgW="1129810" imgH="342751" progId="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914900"/>
                        <a:ext cx="11303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4.6- </a:t>
            </a:r>
            <a:fld id="{4A0D9DDE-9EFD-47D1-80CB-407590F7EEED}" type="slidenum">
              <a:rPr lang="en-US" altLang="en-US" sz="1200">
                <a:latin typeface="Arial" panose="020B0604020202020204" pitchFamily="34" charset="0"/>
              </a:rPr>
              <a:pPr algn="r"/>
              <a:t>14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ĐỊNH LÍ VỀ HẠNG</a:t>
            </a:r>
          </a:p>
        </p:txBody>
      </p:sp>
      <p:sp>
        <p:nvSpPr>
          <p:cNvPr id="732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524000"/>
            <a:ext cx="8610600" cy="47244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(</a:t>
            </a:r>
            <a:r>
              <a:rPr lang="en-US" altLang="en-US" sz="2800" dirty="0" err="1"/>
              <a:t>Nó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số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này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phải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cột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điều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này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liên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hệ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Nul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).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 err="1"/>
              <a:t>Hiển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nhiên</a:t>
            </a:r>
            <a:r>
              <a:rPr lang="en-US" altLang="en-US" sz="2800" dirty="0"/>
              <a:t>,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 err="1"/>
              <a:t>Điều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này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chứng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minh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lí</a:t>
            </a:r>
            <a:r>
              <a:rPr lang="en-US" altLang="en-US" sz="2800" dirty="0"/>
              <a:t>.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	</a:t>
            </a:r>
          </a:p>
        </p:txBody>
      </p:sp>
      <p:graphicFrame>
        <p:nvGraphicFramePr>
          <p:cNvPr id="73216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1710716"/>
              </p:ext>
            </p:extLst>
          </p:nvPr>
        </p:nvGraphicFramePr>
        <p:xfrm>
          <a:off x="381000" y="3581400"/>
          <a:ext cx="8407400" cy="106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3" name="Equation" r:id="rId3" imgW="9017000" imgH="1143000" progId="Equation.DSMT4">
                  <p:embed/>
                </p:oleObj>
              </mc:Choice>
              <mc:Fallback>
                <p:oleObj name="Equation" r:id="rId3" imgW="9017000" imgH="1143000" progId="Equation.DSMT4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581400"/>
                        <a:ext cx="8407400" cy="1065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4.6- </a:t>
            </a:r>
            <a:fld id="{DDDA3A47-4221-4115-AEAC-2E23FA439B16}" type="slidenum">
              <a:rPr lang="en-US" altLang="en-US" sz="1200">
                <a:latin typeface="Arial" panose="020B0604020202020204" pitchFamily="34" charset="0"/>
              </a:rPr>
              <a:pPr algn="r"/>
              <a:t>15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ĐỊNH LÍ VỀ HẠNG</a:t>
            </a:r>
          </a:p>
        </p:txBody>
      </p:sp>
      <p:sp>
        <p:nvSpPr>
          <p:cNvPr id="73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3340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2800" b="1" dirty="0" err="1"/>
              <a:t>Ví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dụ</a:t>
            </a:r>
            <a:r>
              <a:rPr lang="en-US" altLang="en-US" sz="2800" b="1" dirty="0"/>
              <a:t> 3:</a:t>
            </a:r>
            <a:r>
              <a:rPr lang="en-US" altLang="en-US" sz="2800" dirty="0"/>
              <a:t> </a:t>
            </a:r>
          </a:p>
          <a:p>
            <a:pPr marL="1371600" lvl="2" indent="-457200" eaLnBrk="1" hangingPunct="1">
              <a:buFont typeface="Wingdings" panose="05000000000000000000" pitchFamily="2" charset="2"/>
              <a:buAutoNum type="alphaLcPeriod"/>
            </a:pPr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       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hạch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số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chiều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bằng</a:t>
            </a:r>
            <a:r>
              <a:rPr lang="en-US" altLang="en-US" sz="2800" dirty="0"/>
              <a:t> 2, </a:t>
            </a:r>
            <a:r>
              <a:rPr lang="en-US" altLang="en-US" sz="2800" dirty="0" err="1"/>
              <a:t>hạng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A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bao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nhiêu</a:t>
            </a:r>
            <a:r>
              <a:rPr lang="en-US" altLang="en-US" sz="2800" dirty="0"/>
              <a:t>?</a:t>
            </a:r>
          </a:p>
          <a:p>
            <a:pPr marL="1371600" lvl="2" indent="-457200" eaLnBrk="1" hangingPunct="1">
              <a:buFont typeface="Wingdings" panose="05000000000000000000" pitchFamily="2" charset="2"/>
              <a:buAutoNum type="alphaLcPeriod"/>
            </a:pPr>
            <a:r>
              <a:rPr lang="en-US" altLang="en-US" sz="2800" dirty="0" err="1"/>
              <a:t>Liệu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        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hạch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hai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chiều</a:t>
            </a:r>
            <a:r>
              <a:rPr lang="en-US" altLang="en-US" sz="2800" dirty="0"/>
              <a:t>?</a:t>
            </a:r>
          </a:p>
          <a:p>
            <a:pPr marL="0" indent="0" eaLnBrk="1" hangingPunct="1">
              <a:buNone/>
            </a:pPr>
            <a:r>
              <a:rPr lang="en-US" altLang="en-US" sz="2800" b="1" dirty="0" err="1"/>
              <a:t>Lời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giải</a:t>
            </a:r>
            <a:r>
              <a:rPr lang="en-US" altLang="en-US" sz="2800" b="1" dirty="0"/>
              <a:t>:</a:t>
            </a:r>
          </a:p>
          <a:p>
            <a:pPr marL="1371600" lvl="2" indent="-457200" eaLnBrk="1" hangingPunct="1">
              <a:buFont typeface="Wingdings" panose="05000000000000000000" pitchFamily="2" charset="2"/>
              <a:buAutoNum type="alphaLcPeriod"/>
            </a:pPr>
            <a:r>
              <a:rPr lang="en-US" altLang="en-US" sz="2800" dirty="0" err="1"/>
              <a:t>Vì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9 </a:t>
            </a:r>
            <a:r>
              <a:rPr lang="en-US" altLang="en-US" sz="2800" dirty="0" err="1"/>
              <a:t>cột</a:t>
            </a:r>
            <a:r>
              <a:rPr lang="en-US" altLang="en-US" sz="2800" dirty="0"/>
              <a:t>,                           ,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do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		 	rank          .</a:t>
            </a:r>
          </a:p>
          <a:p>
            <a:pPr marL="1371600" lvl="2" indent="-457200" eaLnBrk="1" hangingPunct="1">
              <a:buFont typeface="Wingdings" panose="05000000000000000000" pitchFamily="2" charset="2"/>
              <a:buAutoNum type="alphaLcPeriod"/>
            </a:pPr>
            <a:r>
              <a:rPr lang="en-US" altLang="en-US" sz="2800" dirty="0" err="1"/>
              <a:t>Không</a:t>
            </a:r>
            <a:r>
              <a:rPr lang="en-US" altLang="en-US" sz="2800" dirty="0"/>
              <a:t>. </a:t>
            </a:r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        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gọi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i="1" dirty="0"/>
              <a:t>B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hạch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hai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chiều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thì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phải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hạng</a:t>
            </a:r>
            <a:r>
              <a:rPr lang="en-US" altLang="en-US" sz="2800" dirty="0"/>
              <a:t> 7, </a:t>
            </a:r>
            <a:r>
              <a:rPr lang="en-US" altLang="en-US" sz="2800" dirty="0" err="1"/>
              <a:t>theo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Về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Hạng</a:t>
            </a:r>
            <a:r>
              <a:rPr lang="en-US" altLang="en-US" sz="2800" dirty="0"/>
              <a:t>.</a:t>
            </a:r>
          </a:p>
        </p:txBody>
      </p:sp>
      <p:graphicFrame>
        <p:nvGraphicFramePr>
          <p:cNvPr id="73318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8799786"/>
              </p:ext>
            </p:extLst>
          </p:nvPr>
        </p:nvGraphicFramePr>
        <p:xfrm>
          <a:off x="3886200" y="1765300"/>
          <a:ext cx="685800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6" name="Equation" r:id="rId3" imgW="748975" imgH="342751" progId="">
                  <p:embed/>
                </p:oleObj>
              </mc:Choice>
              <mc:Fallback>
                <p:oleObj name="Equation" r:id="rId3" imgW="748975" imgH="342751" progId="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1765300"/>
                        <a:ext cx="685800" cy="314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31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3054152"/>
              </p:ext>
            </p:extLst>
          </p:nvPr>
        </p:nvGraphicFramePr>
        <p:xfrm>
          <a:off x="3733800" y="2728912"/>
          <a:ext cx="685800" cy="31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7" name="Equation" r:id="rId5" imgW="736600" imgH="342900" progId="">
                  <p:embed/>
                </p:oleObj>
              </mc:Choice>
              <mc:Fallback>
                <p:oleObj name="Equation" r:id="rId5" imgW="736600" imgH="342900" progId="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2728912"/>
                        <a:ext cx="685800" cy="319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319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7966831"/>
              </p:ext>
            </p:extLst>
          </p:nvPr>
        </p:nvGraphicFramePr>
        <p:xfrm>
          <a:off x="3971290" y="4122019"/>
          <a:ext cx="2374900" cy="40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8" name="Equation" r:id="rId7" imgW="2527300" imgH="431800" progId="">
                  <p:embed/>
                </p:oleObj>
              </mc:Choice>
              <mc:Fallback>
                <p:oleObj name="Equation" r:id="rId7" imgW="2527300" imgH="431800" progId="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1290" y="4122019"/>
                        <a:ext cx="2374900" cy="405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319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7656756"/>
              </p:ext>
            </p:extLst>
          </p:nvPr>
        </p:nvGraphicFramePr>
        <p:xfrm>
          <a:off x="3975100" y="4559300"/>
          <a:ext cx="901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9" name="Equation" r:id="rId9" imgW="901309" imgH="342751" progId="">
                  <p:embed/>
                </p:oleObj>
              </mc:Choice>
              <mc:Fallback>
                <p:oleObj name="Equation" r:id="rId9" imgW="901309" imgH="342751" progId="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5100" y="4559300"/>
                        <a:ext cx="9017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319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6992768"/>
              </p:ext>
            </p:extLst>
          </p:nvPr>
        </p:nvGraphicFramePr>
        <p:xfrm>
          <a:off x="4419600" y="5090394"/>
          <a:ext cx="685800" cy="31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0" name="Equation" r:id="rId11" imgW="736600" imgH="342900" progId="">
                  <p:embed/>
                </p:oleObj>
              </mc:Choice>
              <mc:Fallback>
                <p:oleObj name="Equation" r:id="rId11" imgW="736600" imgH="342900" progId="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5090394"/>
                        <a:ext cx="685800" cy="319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4.6- </a:t>
            </a:r>
            <a:fld id="{988883A5-1323-4D34-9CC0-78ECF3CFEF1C}" type="slidenum">
              <a:rPr lang="en-US" altLang="en-US" sz="1200">
                <a:latin typeface="Arial" panose="020B0604020202020204" pitchFamily="34" charset="0"/>
              </a:rPr>
              <a:pPr algn="r"/>
              <a:t>16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ĐỊNH LÍ MA TRẬN KHẢ NGHỊCH (TIẾP TỤC)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3421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143000"/>
                <a:ext cx="8229600" cy="5334000"/>
              </a:xfrm>
            </p:spPr>
            <p:txBody>
              <a:bodyPr/>
              <a:lstStyle/>
              <a:p>
                <a:pPr marL="1752600" lvl="3" indent="-381000" eaLnBrk="1" hangingPunct="1"/>
                <a:r>
                  <a:rPr lang="en-US" altLang="en-US" sz="2800" dirty="0" err="1"/>
                  <a:t>Nhưng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các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B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các vectơ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do </a:t>
                </a:r>
                <a:r>
                  <a:rPr lang="en-US" altLang="en-US" sz="2800" dirty="0" err="1"/>
                  <a:t>đó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số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chiều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Col </a:t>
                </a:r>
                <a:r>
                  <a:rPr lang="en-US" altLang="en-US" sz="2800" i="1" dirty="0"/>
                  <a:t>B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không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thể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vượt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quá</a:t>
                </a:r>
                <a:r>
                  <a:rPr lang="en-US" altLang="en-US" sz="2800" dirty="0"/>
                  <a:t> 6; </a:t>
                </a:r>
                <a:r>
                  <a:rPr lang="en-US" altLang="en-US" sz="2800" dirty="0" err="1"/>
                  <a:t>đó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, rank </a:t>
                </a:r>
                <a:r>
                  <a:rPr lang="en-US" altLang="en-US" sz="2800" i="1" dirty="0"/>
                  <a:t>B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không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thể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vượt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quá</a:t>
                </a:r>
                <a:r>
                  <a:rPr lang="en-US" altLang="en-US" sz="2800" dirty="0"/>
                  <a:t> 6.</a:t>
                </a:r>
              </a:p>
              <a:p>
                <a:pPr marL="609600" indent="-609600" eaLnBrk="1" hangingPunct="1"/>
                <a:endParaRPr lang="en-US" altLang="en-US" sz="2800" dirty="0"/>
              </a:p>
              <a:p>
                <a:pPr marL="0" indent="0" eaLnBrk="1" hangingPunct="1">
                  <a:buNone/>
                </a:pPr>
                <a:r>
                  <a:rPr lang="en-US" altLang="en-US" sz="2800" b="1" dirty="0" err="1"/>
                  <a:t>Định</a:t>
                </a:r>
                <a:r>
                  <a:rPr lang="en-US" altLang="en-US" sz="2800" b="1" dirty="0"/>
                  <a:t> </a:t>
                </a:r>
                <a:r>
                  <a:rPr lang="en-US" altLang="en-US" sz="2800" b="1" dirty="0" err="1"/>
                  <a:t>lí</a:t>
                </a:r>
                <a:r>
                  <a:rPr lang="en-US" altLang="en-US" sz="2800" b="1" dirty="0"/>
                  <a:t>:</a:t>
                </a:r>
                <a:r>
                  <a:rPr lang="en-US" altLang="en-US" sz="2800" dirty="0"/>
                  <a:t> Cho </a:t>
                </a:r>
                <a:r>
                  <a:rPr lang="en-US" altLang="en-US" sz="2800" i="1" dirty="0"/>
                  <a:t>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          ma </a:t>
                </a:r>
                <a:r>
                  <a:rPr lang="en-US" altLang="en-US" sz="2800" dirty="0" err="1"/>
                  <a:t>trận</a:t>
                </a:r>
                <a:r>
                  <a:rPr lang="en-US" altLang="en-US" sz="2800" dirty="0"/>
                  <a:t>. </a:t>
                </a:r>
                <a:r>
                  <a:rPr lang="en-US" altLang="en-US" sz="2800" dirty="0" err="1"/>
                  <a:t>Khi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đó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các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phát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biểu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sau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tương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đương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với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phát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biểu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rằng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ma </a:t>
                </a:r>
                <a:r>
                  <a:rPr lang="en-US" altLang="en-US" sz="2800" dirty="0" err="1"/>
                  <a:t>trận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khả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nghịch</a:t>
                </a:r>
                <a:r>
                  <a:rPr lang="en-US" altLang="en-US" sz="2800" dirty="0"/>
                  <a:t>.</a:t>
                </a:r>
              </a:p>
              <a:p>
                <a:pPr marL="1371600" lvl="2" indent="-457200" eaLnBrk="1" hangingPunct="1">
                  <a:buFont typeface="Wingdings" panose="05000000000000000000" pitchFamily="2" charset="2"/>
                  <a:buAutoNum type="alphaLcPeriod" startAt="13"/>
                </a:pPr>
                <a:r>
                  <a:rPr lang="en-US" altLang="en-US" sz="2800" dirty="0" err="1"/>
                  <a:t>Các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A </a:t>
                </a:r>
                <a:r>
                  <a:rPr lang="en-US" altLang="en-US" sz="2800" dirty="0" err="1"/>
                  <a:t>lập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nên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một cơ sở của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800" dirty="0"/>
                  <a:t>.</a:t>
                </a:r>
              </a:p>
              <a:p>
                <a:pPr marL="1371600" lvl="2" indent="-457200" eaLnBrk="1" hangingPunct="1">
                  <a:buFont typeface="Wingdings" panose="05000000000000000000" pitchFamily="2" charset="2"/>
                  <a:buAutoNum type="alphaLcPeriod" startAt="13"/>
                </a:pPr>
                <a:r>
                  <a:rPr lang="en-US" altLang="en-US" sz="2800" dirty="0"/>
                  <a:t>Col</a:t>
                </a:r>
              </a:p>
              <a:p>
                <a:pPr marL="1371600" lvl="2" indent="-457200" eaLnBrk="1" hangingPunct="1">
                  <a:buFont typeface="Wingdings" panose="05000000000000000000" pitchFamily="2" charset="2"/>
                  <a:buAutoNum type="alphaLcPeriod" startAt="13"/>
                </a:pPr>
                <a:r>
                  <a:rPr lang="en-US" altLang="en-US" sz="2800" dirty="0"/>
                  <a:t>Dim Col</a:t>
                </a:r>
              </a:p>
              <a:p>
                <a:pPr marL="1371600" lvl="2" indent="-457200" eaLnBrk="1" hangingPunct="1">
                  <a:buFont typeface="Wingdings" panose="05000000000000000000" pitchFamily="2" charset="2"/>
                  <a:buAutoNum type="alphaLcPeriod" startAt="13"/>
                </a:pPr>
                <a:r>
                  <a:rPr lang="en-US" altLang="en-US" sz="2800" dirty="0"/>
                  <a:t>rank</a:t>
                </a:r>
              </a:p>
            </p:txBody>
          </p:sp>
        </mc:Choice>
        <mc:Fallback>
          <p:sp>
            <p:nvSpPr>
              <p:cNvPr id="73421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143000"/>
                <a:ext cx="8229600" cy="5334000"/>
              </a:xfrm>
              <a:blipFill>
                <a:blip r:embed="rId3"/>
                <a:stretch>
                  <a:fillRect l="-1481" t="-1257" r="-1111" b="-24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342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2630983"/>
              </p:ext>
            </p:extLst>
          </p:nvPr>
        </p:nvGraphicFramePr>
        <p:xfrm>
          <a:off x="3810000" y="3187700"/>
          <a:ext cx="7747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62" name="Equation" r:id="rId4" imgW="774364" imgH="253890" progId="">
                  <p:embed/>
                </p:oleObj>
              </mc:Choice>
              <mc:Fallback>
                <p:oleObj name="Equation" r:id="rId4" imgW="774364" imgH="253890" progId="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3187700"/>
                        <a:ext cx="77470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4215" name="Object 7"/>
          <p:cNvGraphicFramePr>
            <a:graphicFrameLocks noChangeAspect="1"/>
          </p:cNvGraphicFramePr>
          <p:nvPr/>
        </p:nvGraphicFramePr>
        <p:xfrm>
          <a:off x="2489200" y="4914900"/>
          <a:ext cx="1130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63" name="Equation" r:id="rId6" imgW="1129810" imgH="393529" progId="">
                  <p:embed/>
                </p:oleObj>
              </mc:Choice>
              <mc:Fallback>
                <p:oleObj name="Equation" r:id="rId6" imgW="1129810" imgH="393529" progId="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9200" y="4914900"/>
                        <a:ext cx="11303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4216" name="Object 8"/>
          <p:cNvGraphicFramePr>
            <a:graphicFrameLocks noChangeAspect="1"/>
          </p:cNvGraphicFramePr>
          <p:nvPr/>
        </p:nvGraphicFramePr>
        <p:xfrm>
          <a:off x="3200400" y="5499100"/>
          <a:ext cx="914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64" name="Equation" r:id="rId8" imgW="914400" imgH="342900" progId="">
                  <p:embed/>
                </p:oleObj>
              </mc:Choice>
              <mc:Fallback>
                <p:oleObj name="Equation" r:id="rId8" imgW="914400" imgH="342900" progId="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5499100"/>
                        <a:ext cx="9144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4217" name="Object 9"/>
          <p:cNvGraphicFramePr>
            <a:graphicFrameLocks noChangeAspect="1"/>
          </p:cNvGraphicFramePr>
          <p:nvPr/>
        </p:nvGraphicFramePr>
        <p:xfrm>
          <a:off x="2590800" y="6007100"/>
          <a:ext cx="914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65" name="Equation" r:id="rId10" imgW="914400" imgH="342900" progId="">
                  <p:embed/>
                </p:oleObj>
              </mc:Choice>
              <mc:Fallback>
                <p:oleObj name="Equation" r:id="rId10" imgW="914400" imgH="342900" progId="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6007100"/>
                        <a:ext cx="9144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3054350" y="4876800"/>
                <a:ext cx="746876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4350" y="4876800"/>
                <a:ext cx="746876" cy="523220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4.6- </a:t>
            </a:r>
            <a:fld id="{E4244FEC-4D62-4189-9FBE-685951F80408}" type="slidenum">
              <a:rPr lang="en-US" altLang="en-US" sz="1200">
                <a:latin typeface="Arial" panose="020B0604020202020204" pitchFamily="34" charset="0"/>
              </a:rPr>
              <a:pPr algn="r"/>
              <a:t>17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225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HẠNG VÀ ĐỊNH LÍ MA TRẬN KHẢ NGHỊCH</a:t>
            </a:r>
          </a:p>
        </p:txBody>
      </p:sp>
      <p:sp>
        <p:nvSpPr>
          <p:cNvPr id="735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410200"/>
          </a:xfrm>
        </p:spPr>
        <p:txBody>
          <a:bodyPr/>
          <a:lstStyle/>
          <a:p>
            <a:pPr marL="1371600" lvl="2" indent="-457200" eaLnBrk="1" hangingPunct="1">
              <a:buFont typeface="Wingdings" panose="05000000000000000000" pitchFamily="2" charset="2"/>
              <a:buAutoNum type="alphaLcPeriod" startAt="17"/>
            </a:pPr>
            <a:r>
              <a:rPr lang="en-US" altLang="en-US" sz="2800" dirty="0" err="1"/>
              <a:t>Nul</a:t>
            </a:r>
            <a:endParaRPr lang="en-US" altLang="en-US" sz="2800" dirty="0"/>
          </a:p>
          <a:p>
            <a:pPr marL="1371600" lvl="2" indent="-457200" eaLnBrk="1" hangingPunct="1">
              <a:buFont typeface="Wingdings" panose="05000000000000000000" pitchFamily="2" charset="2"/>
              <a:buAutoNum type="alphaLcPeriod" startAt="17"/>
            </a:pPr>
            <a:r>
              <a:rPr lang="en-US" altLang="en-US" sz="2800" dirty="0"/>
              <a:t>Dim </a:t>
            </a:r>
            <a:r>
              <a:rPr lang="en-US" altLang="en-US" sz="2800" dirty="0" err="1"/>
              <a:t>Nul</a:t>
            </a:r>
            <a:endParaRPr lang="en-US" altLang="en-US" sz="2800" dirty="0"/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endParaRPr lang="en-US" altLang="en-US" sz="3600" dirty="0"/>
          </a:p>
          <a:p>
            <a:pPr marL="0" indent="0" eaLnBrk="1" hangingPunct="1">
              <a:buNone/>
            </a:pPr>
            <a:r>
              <a:rPr lang="en-US" altLang="en-US" sz="2800" b="1" dirty="0" err="1"/>
              <a:t>Chứng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minh</a:t>
            </a:r>
            <a:r>
              <a:rPr lang="en-US" altLang="en-US" sz="2800" b="1" dirty="0"/>
              <a:t>: </a:t>
            </a:r>
            <a:r>
              <a:rPr lang="en-US" altLang="en-US" sz="2800" dirty="0" err="1"/>
              <a:t>Phát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biểu</a:t>
            </a:r>
            <a:r>
              <a:rPr lang="en-US" altLang="en-US" sz="2800" dirty="0"/>
              <a:t> (m) </a:t>
            </a:r>
            <a:r>
              <a:rPr lang="en-US" altLang="en-US" sz="2800" dirty="0" err="1"/>
              <a:t>tương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phát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biểu</a:t>
            </a:r>
            <a:r>
              <a:rPr lang="en-US" altLang="en-US" sz="2800" dirty="0"/>
              <a:t> (e)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(h) </a:t>
            </a:r>
            <a:r>
              <a:rPr lang="en-US" altLang="en-US" sz="2800" dirty="0" err="1"/>
              <a:t>theo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sự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độc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tuyến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sinh</a:t>
            </a:r>
            <a:r>
              <a:rPr lang="en-US" altLang="en-US" sz="2800" dirty="0"/>
              <a:t>.</a:t>
            </a:r>
          </a:p>
          <a:p>
            <a:pPr marL="609600" indent="-609600" eaLnBrk="1" hangingPunct="1"/>
            <a:endParaRPr lang="en-US" altLang="en-US" sz="2800" dirty="0"/>
          </a:p>
          <a:p>
            <a:pPr marL="609600" indent="-609600" eaLnBrk="1" hangingPunct="1"/>
            <a:r>
              <a:rPr lang="en-US" altLang="en-US" sz="2800" dirty="0" err="1"/>
              <a:t>Năm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phát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biểu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liên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kết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phát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biểu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trước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bởi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dãy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kéo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theo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hầu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như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tầm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thường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sau</a:t>
            </a:r>
            <a:r>
              <a:rPr lang="en-US" altLang="en-US" sz="2800" dirty="0"/>
              <a:t>:</a:t>
            </a:r>
          </a:p>
        </p:txBody>
      </p:sp>
      <p:graphicFrame>
        <p:nvGraphicFramePr>
          <p:cNvPr id="735236" name="Object 4"/>
          <p:cNvGraphicFramePr>
            <a:graphicFrameLocks noChangeAspect="1"/>
          </p:cNvGraphicFramePr>
          <p:nvPr/>
        </p:nvGraphicFramePr>
        <p:xfrm>
          <a:off x="2514600" y="1206500"/>
          <a:ext cx="1193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0" name="Equation" r:id="rId3" imgW="1193800" imgH="431800" progId="">
                  <p:embed/>
                </p:oleObj>
              </mc:Choice>
              <mc:Fallback>
                <p:oleObj name="Equation" r:id="rId3" imgW="1193800" imgH="431800" progId="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1206500"/>
                        <a:ext cx="11938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5237" name="Object 5"/>
          <p:cNvGraphicFramePr>
            <a:graphicFrameLocks noChangeAspect="1"/>
          </p:cNvGraphicFramePr>
          <p:nvPr/>
        </p:nvGraphicFramePr>
        <p:xfrm>
          <a:off x="3225800" y="1739900"/>
          <a:ext cx="901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1" name="Equation" r:id="rId5" imgW="901309" imgH="342751" progId="">
                  <p:embed/>
                </p:oleObj>
              </mc:Choice>
              <mc:Fallback>
                <p:oleObj name="Equation" r:id="rId5" imgW="901309" imgH="342751" progId="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5800" y="1739900"/>
                        <a:ext cx="9017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523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4475748"/>
              </p:ext>
            </p:extLst>
          </p:nvPr>
        </p:nvGraphicFramePr>
        <p:xfrm>
          <a:off x="1295400" y="5867400"/>
          <a:ext cx="6781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2" name="Equation" r:id="rId7" imgW="6781800" imgH="431800" progId="">
                  <p:embed/>
                </p:oleObj>
              </mc:Choice>
              <mc:Fallback>
                <p:oleObj name="Equation" r:id="rId7" imgW="6781800" imgH="431800" progId="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5867400"/>
                        <a:ext cx="67818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4.6- </a:t>
            </a:r>
            <a:fld id="{41EF5BC7-A4E2-45EE-BA37-754F492239E3}" type="slidenum">
              <a:rPr lang="en-US" altLang="en-US" sz="1200">
                <a:latin typeface="Arial" panose="020B0604020202020204" pitchFamily="34" charset="0"/>
              </a:rPr>
              <a:pPr algn="r"/>
              <a:t>18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HẠNG VÀ ĐỊNH LÍ MA TRẬN KHẢ NGHỊCH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36259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295400"/>
                <a:ext cx="8229600" cy="52578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800" dirty="0" err="1"/>
                  <a:t>Phát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biểu</a:t>
                </a:r>
                <a:r>
                  <a:rPr lang="en-US" altLang="en-US" sz="2800" dirty="0"/>
                  <a:t> (g), </a:t>
                </a:r>
                <a:r>
                  <a:rPr lang="en-US" altLang="en-US" sz="2800" dirty="0" err="1"/>
                  <a:t>nói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rằng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phương trình</a:t>
                </a:r>
                <a:r>
                  <a:rPr lang="en-US" altLang="en-US" sz="2800" dirty="0"/>
                  <a:t>               </a:t>
                </a:r>
                <a:r>
                  <a:rPr lang="en-US" altLang="en-US" sz="2800" dirty="0" err="1"/>
                  <a:t>có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ít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nhất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nghiệm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với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mỗi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b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trong</a:t>
                </a:r>
                <a:r>
                  <a:rPr lang="en-US" altLang="en-US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kéo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theo</a:t>
                </a:r>
                <a:r>
                  <a:rPr lang="en-US" altLang="en-US" sz="2800" dirty="0"/>
                  <a:t> (n), </a:t>
                </a:r>
                <a:r>
                  <a:rPr lang="en-US" altLang="en-US" sz="2800" dirty="0" err="1"/>
                  <a:t>vì</a:t>
                </a:r>
                <a:r>
                  <a:rPr lang="en-US" altLang="en-US" sz="2800" dirty="0"/>
                  <a:t> Col </a:t>
                </a:r>
                <a:r>
                  <a:rPr lang="en-US" altLang="en-US" sz="2800" i="1" dirty="0"/>
                  <a:t>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chính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tâp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tất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cả</a:t>
                </a:r>
                <a:r>
                  <a:rPr lang="en-US" altLang="en-US" sz="2800" dirty="0"/>
                  <a:t> </a:t>
                </a:r>
                <a:r>
                  <a:rPr lang="en-US" altLang="en-US" sz="2800" b="1" dirty="0"/>
                  <a:t>b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sao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cho</a:t>
                </a:r>
                <a:r>
                  <a:rPr lang="en-US" altLang="en-US" sz="2800" dirty="0"/>
                  <a:t> </a:t>
                </a:r>
                <a:r>
                  <a:rPr lang="vi-VN" altLang="en-US" sz="2800" dirty="0"/>
                  <a:t>phương trình</a:t>
                </a:r>
                <a:r>
                  <a:rPr lang="en-US" altLang="en-US" sz="2800" dirty="0"/>
                  <a:t>               	       </a:t>
                </a:r>
                <a:r>
                  <a:rPr lang="en-US" altLang="en-US" sz="2800" dirty="0" err="1"/>
                  <a:t>có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nghiệm</a:t>
                </a:r>
                <a:endParaRPr lang="en-US" altLang="en-US" sz="2800" dirty="0"/>
              </a:p>
              <a:p>
                <a:pPr eaLnBrk="1" hangingPunct="1"/>
                <a:r>
                  <a:rPr lang="en-US" altLang="en-US" sz="2800" dirty="0" err="1"/>
                  <a:t>Các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kéo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theo</a:t>
                </a:r>
                <a:r>
                  <a:rPr lang="en-US" altLang="en-US" sz="2800" dirty="0"/>
                  <a:t>                               </a:t>
                </a:r>
                <a:r>
                  <a:rPr lang="en-US" altLang="en-US" sz="2800" dirty="0" err="1"/>
                  <a:t>suy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ra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từ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các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định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nghĩa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về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số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chiều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rank.</a:t>
                </a:r>
              </a:p>
              <a:p>
                <a:pPr eaLnBrk="1" hangingPunct="1"/>
                <a:endParaRPr lang="en-US" altLang="en-US" sz="2800" dirty="0"/>
              </a:p>
              <a:p>
                <a:pPr eaLnBrk="1" hangingPunct="1"/>
                <a:r>
                  <a:rPr lang="en-US" altLang="en-US" sz="2800" dirty="0" err="1"/>
                  <a:t>Nếu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hạng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A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n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là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số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các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cột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của</a:t>
                </a:r>
                <a:r>
                  <a:rPr lang="en-US" altLang="en-US" sz="2800" dirty="0"/>
                  <a:t> </a:t>
                </a:r>
                <a:r>
                  <a:rPr lang="en-US" altLang="en-US" sz="2800" i="1" dirty="0"/>
                  <a:t>A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thì</a:t>
                </a:r>
                <a:r>
                  <a:rPr lang="en-US" altLang="en-US" sz="2800" dirty="0"/>
                  <a:t> dim </a:t>
                </a:r>
                <a:r>
                  <a:rPr lang="en-US" altLang="en-US" sz="2800" dirty="0" err="1"/>
                  <a:t>Nul</a:t>
                </a:r>
                <a:r>
                  <a:rPr lang="en-US" altLang="en-US" sz="2800" dirty="0"/>
                  <a:t>  	   , </a:t>
                </a:r>
                <a:r>
                  <a:rPr lang="en-US" altLang="en-US" sz="2800" dirty="0" err="1"/>
                  <a:t>theo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Định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Lí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Về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Hạng</a:t>
                </a:r>
                <a:r>
                  <a:rPr lang="en-US" altLang="en-US" sz="2800" dirty="0"/>
                  <a:t>, </a:t>
                </a:r>
                <a:r>
                  <a:rPr lang="en-US" altLang="en-US" sz="2800" dirty="0" err="1"/>
                  <a:t>và</a:t>
                </a:r>
                <a:r>
                  <a:rPr lang="en-US" altLang="en-US" sz="2800" dirty="0"/>
                  <a:t> do </a:t>
                </a:r>
                <a:r>
                  <a:rPr lang="en-US" altLang="en-US" sz="2800" dirty="0" err="1"/>
                  <a:t>đó</a:t>
                </a:r>
                <a:r>
                  <a:rPr lang="en-US" altLang="en-US" sz="2800" dirty="0"/>
                  <a:t> </a:t>
                </a:r>
                <a:r>
                  <a:rPr lang="en-US" altLang="en-US" sz="2800" dirty="0" err="1"/>
                  <a:t>Nul</a:t>
                </a:r>
                <a:r>
                  <a:rPr lang="en-US" altLang="en-US" sz="2800" dirty="0"/>
                  <a:t>              .</a:t>
                </a:r>
              </a:p>
            </p:txBody>
          </p:sp>
        </mc:Choice>
        <mc:Fallback>
          <p:sp>
            <p:nvSpPr>
              <p:cNvPr id="73625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295400"/>
                <a:ext cx="8229600" cy="5257800"/>
              </a:xfrm>
              <a:blipFill>
                <a:blip r:embed="rId3"/>
                <a:stretch>
                  <a:fillRect l="-1259" t="-1276" r="-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3626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3653754"/>
              </p:ext>
            </p:extLst>
          </p:nvPr>
        </p:nvGraphicFramePr>
        <p:xfrm>
          <a:off x="6096000" y="1371600"/>
          <a:ext cx="11430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20" name="Equation" r:id="rId4" imgW="1143000" imgH="355600" progId="">
                  <p:embed/>
                </p:oleObj>
              </mc:Choice>
              <mc:Fallback>
                <p:oleObj name="Equation" r:id="rId4" imgW="1143000" imgH="355600" progId="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1371600"/>
                        <a:ext cx="11430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626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2597756"/>
              </p:ext>
            </p:extLst>
          </p:nvPr>
        </p:nvGraphicFramePr>
        <p:xfrm>
          <a:off x="838200" y="2590800"/>
          <a:ext cx="11430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21" name="Equation" r:id="rId6" imgW="1143000" imgH="355600" progId="">
                  <p:embed/>
                </p:oleObj>
              </mc:Choice>
              <mc:Fallback>
                <p:oleObj name="Equation" r:id="rId6" imgW="1143000" imgH="355600" progId="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590800"/>
                        <a:ext cx="11430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626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1512490"/>
              </p:ext>
            </p:extLst>
          </p:nvPr>
        </p:nvGraphicFramePr>
        <p:xfrm>
          <a:off x="2819400" y="3178695"/>
          <a:ext cx="2628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22" name="Equation" r:id="rId8" imgW="2628900" imgH="431800" progId="">
                  <p:embed/>
                </p:oleObj>
              </mc:Choice>
              <mc:Fallback>
                <p:oleObj name="Equation" r:id="rId8" imgW="2628900" imgH="431800" progId="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178695"/>
                        <a:ext cx="26289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626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5780723"/>
              </p:ext>
            </p:extLst>
          </p:nvPr>
        </p:nvGraphicFramePr>
        <p:xfrm>
          <a:off x="838200" y="5029200"/>
          <a:ext cx="901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23" name="Equation" r:id="rId10" imgW="901309" imgH="342751" progId="">
                  <p:embed/>
                </p:oleObj>
              </mc:Choice>
              <mc:Fallback>
                <p:oleObj name="Equation" r:id="rId10" imgW="901309" imgH="342751" progId="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5029200"/>
                        <a:ext cx="9017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626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0270608"/>
              </p:ext>
            </p:extLst>
          </p:nvPr>
        </p:nvGraphicFramePr>
        <p:xfrm>
          <a:off x="7137400" y="5029200"/>
          <a:ext cx="1193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24" name="Equation" r:id="rId12" imgW="1193800" imgH="431800" progId="">
                  <p:embed/>
                </p:oleObj>
              </mc:Choice>
              <mc:Fallback>
                <p:oleObj name="Equation" r:id="rId12" imgW="1193800" imgH="431800" progId="">
                  <p:embed/>
                  <p:pic>
                    <p:nvPicPr>
                      <p:cNvPr id="0" name="Picture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37400" y="5029200"/>
                        <a:ext cx="11938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4.6- </a:t>
            </a:r>
            <a:fld id="{02488479-6656-4F89-863A-F5A8E73EBDC4}" type="slidenum">
              <a:rPr lang="en-US" altLang="en-US" sz="1200">
                <a:latin typeface="Arial" panose="020B0604020202020204" pitchFamily="34" charset="0"/>
              </a:rPr>
              <a:pPr algn="r"/>
              <a:t>19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HẠNG VÀ ĐỊNH LÍ MA TRẬN KHẢ NGHỊCH </a:t>
            </a:r>
          </a:p>
        </p:txBody>
      </p:sp>
      <p:sp>
        <p:nvSpPr>
          <p:cNvPr id="737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Do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                              .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 err="1"/>
              <a:t>Tương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tự</a:t>
            </a:r>
            <a:r>
              <a:rPr lang="en-US" altLang="en-US" sz="2800" dirty="0"/>
              <a:t>, (q) </a:t>
            </a:r>
            <a:r>
              <a:rPr lang="en-US" altLang="en-US" sz="2800" dirty="0" err="1"/>
              <a:t>suy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rằng</a:t>
            </a:r>
            <a:r>
              <a:rPr lang="en-US" altLang="en-US" sz="2800" dirty="0"/>
              <a:t> </a:t>
            </a:r>
            <a:r>
              <a:rPr lang="vi-VN" altLang="en-US" sz="2800" dirty="0"/>
              <a:t>phương trình</a:t>
            </a:r>
            <a:r>
              <a:rPr lang="en-US" altLang="en-US" sz="2800" dirty="0"/>
              <a:t>               </a:t>
            </a:r>
            <a:r>
              <a:rPr lang="en-US" altLang="en-US" sz="2800" dirty="0" err="1"/>
              <a:t>chỉ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nghiệm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tầm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thường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phát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biểu</a:t>
            </a:r>
            <a:r>
              <a:rPr lang="en-US" altLang="en-US" sz="2800" dirty="0"/>
              <a:t> (d).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 err="1"/>
              <a:t>Vì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phát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biểu</a:t>
            </a:r>
            <a:r>
              <a:rPr lang="en-US" altLang="en-US" sz="2800" dirty="0"/>
              <a:t> (d)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(g) </a:t>
            </a:r>
            <a:r>
              <a:rPr lang="en-US" altLang="en-US" sz="2800" dirty="0" err="1"/>
              <a:t>đã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biết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tương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phát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biểu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rằng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nghịch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chứng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minh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hoàn</a:t>
            </a:r>
            <a:r>
              <a:rPr lang="en-US" altLang="en-US" sz="2800" dirty="0"/>
              <a:t> </a:t>
            </a:r>
            <a:r>
              <a:rPr lang="en-US" altLang="en-US" sz="2800"/>
              <a:t>tất.</a:t>
            </a:r>
            <a:endParaRPr lang="en-US" altLang="en-US" sz="2800" dirty="0"/>
          </a:p>
        </p:txBody>
      </p:sp>
      <p:graphicFrame>
        <p:nvGraphicFramePr>
          <p:cNvPr id="73728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3136647"/>
              </p:ext>
            </p:extLst>
          </p:nvPr>
        </p:nvGraphicFramePr>
        <p:xfrm>
          <a:off x="1854200" y="1663700"/>
          <a:ext cx="2565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4" name="Equation" r:id="rId3" imgW="2565400" imgH="431800" progId="">
                  <p:embed/>
                </p:oleObj>
              </mc:Choice>
              <mc:Fallback>
                <p:oleObj name="Equation" r:id="rId3" imgW="2565400" imgH="431800" progId="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4200" y="1663700"/>
                        <a:ext cx="25654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28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1883479"/>
              </p:ext>
            </p:extLst>
          </p:nvPr>
        </p:nvGraphicFramePr>
        <p:xfrm>
          <a:off x="6477000" y="2705100"/>
          <a:ext cx="1130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5" name="Equation" r:id="rId5" imgW="1129810" imgH="342751" progId="">
                  <p:embed/>
                </p:oleObj>
              </mc:Choice>
              <mc:Fallback>
                <p:oleObj name="Equation" r:id="rId5" imgW="1129810" imgH="342751" progId="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2705100"/>
                        <a:ext cx="11303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Slides V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ookshelf Symbol 2" pitchFamily="2" charset="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ookshelf Symbol 2" pitchFamily="2" charset="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16176</TotalTime>
  <Words>1227</Words>
  <Application>Microsoft Office PowerPoint</Application>
  <PresentationFormat>On-screen Show (4:3)</PresentationFormat>
  <Paragraphs>170</Paragraphs>
  <Slides>19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Arial</vt:lpstr>
      <vt:lpstr>Arial Narrow</vt:lpstr>
      <vt:lpstr>Bookshelf Symbol 2</vt:lpstr>
      <vt:lpstr>Cambria Math</vt:lpstr>
      <vt:lpstr>Symbol</vt:lpstr>
      <vt:lpstr>Times New Roman</vt:lpstr>
      <vt:lpstr>Wingdings</vt:lpstr>
      <vt:lpstr>Blends</vt:lpstr>
      <vt:lpstr>Equation</vt:lpstr>
      <vt:lpstr>MathType 6.0 Equation</vt:lpstr>
      <vt:lpstr>Không gian Vectơ</vt:lpstr>
      <vt:lpstr>KHÔNG GIAN HÀNG</vt:lpstr>
      <vt:lpstr>KHÔNG GIAN HÀNG</vt:lpstr>
      <vt:lpstr>KHÔNG GIAN HÀNG</vt:lpstr>
      <vt:lpstr>KHÔNG GIAN HÀNG</vt:lpstr>
      <vt:lpstr>KHÔNG GIAN HÀNG</vt:lpstr>
      <vt:lpstr>KHÔNG GIAN HÀNG</vt:lpstr>
      <vt:lpstr>KHÔNG GIAN HÀNG</vt:lpstr>
      <vt:lpstr>KHÔNG GIAN HÀNG</vt:lpstr>
      <vt:lpstr>KHÔNG GIAN HÀNG</vt:lpstr>
      <vt:lpstr>KHÔNG GIAN HÀNG</vt:lpstr>
      <vt:lpstr>ĐỊNH LÍ VỀ HẠNG</vt:lpstr>
      <vt:lpstr>ĐỊNH LÍ VỀ HẠNG</vt:lpstr>
      <vt:lpstr>ĐỊNH LÍ VỀ HẠNG</vt:lpstr>
      <vt:lpstr>ĐỊNH LÍ VỀ HẠNG</vt:lpstr>
      <vt:lpstr>ĐỊNH LÍ MA TRẬN KHẢ NGHỊCH (TIẾP TỤC)</vt:lpstr>
      <vt:lpstr>HẠNG VÀ ĐỊNH LÍ MA TRẬN KHẢ NGHỊCH</vt:lpstr>
      <vt:lpstr>HẠNG VÀ ĐỊNH LÍ MA TRẬN KHẢ NGHỊCH</vt:lpstr>
      <vt:lpstr>HẠNG VÀ ĐỊNH LÍ MA TRẬN KHẢ NGHỊCH </vt:lpstr>
    </vt:vector>
  </TitlesOfParts>
  <Company>© 2012 Pearson Education, Inc. All rights reserved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>Linear Algebra and Its Applications</dc:subject>
  <dc:creator>David C. Lay</dc:creator>
  <cp:lastModifiedBy>Võ Thanh Tùng</cp:lastModifiedBy>
  <cp:revision>1235</cp:revision>
  <dcterms:created xsi:type="dcterms:W3CDTF">2005-10-22T18:34:54Z</dcterms:created>
  <dcterms:modified xsi:type="dcterms:W3CDTF">2016-08-02T16:43:18Z</dcterms:modified>
</cp:coreProperties>
</file>