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3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51" autoAdjust="0"/>
    <p:restoredTop sz="98725" autoAdjust="0"/>
  </p:normalViewPr>
  <p:slideViewPr>
    <p:cSldViewPr>
      <p:cViewPr varScale="1">
        <p:scale>
          <a:sx n="92" d="100"/>
          <a:sy n="92" d="100"/>
        </p:scale>
        <p:origin x="1430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EAE739D-BE2B-4913-9E8E-012117E88A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70422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3E818687-1772-4B35-9D1F-80F6573ADB18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5357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C0B771B2-8B3A-4B4E-9F25-06928D19AE41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6168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4.1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89297" y="2155194"/>
            <a:ext cx="3197503" cy="399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7341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4.1- </a:t>
            </a:r>
            <a:fld id="{9DFD53EE-8CC8-4448-A064-2F65A6A79915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90803933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4.1- </a:t>
            </a:r>
            <a:fld id="{300B712D-6B09-4074-AD11-B54C230D15A3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151556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4.1- </a:t>
            </a:r>
            <a:fld id="{119E7500-9620-4CD2-87CE-8B33B8BBCA5B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41788082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4.1- </a:t>
            </a:r>
            <a:fld id="{29308FD2-761C-40F6-93B8-4910A8D43790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27382528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4.1- </a:t>
            </a:r>
            <a:fld id="{B0CF01F6-DF1F-41DD-8D4D-46303776B83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74242900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4.1- </a:t>
            </a:r>
            <a:fld id="{5805B553-217B-478D-95AD-A9362EC7039B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0119421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4.1- </a:t>
            </a:r>
            <a:fld id="{7EEE433F-79FA-436C-BE74-9B884CD4233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70045099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4.1- </a:t>
            </a:r>
            <a:fld id="{17C5BEDA-FAE4-4ECC-9BBF-456F69C0DB23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35803890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4.1- </a:t>
            </a:r>
            <a:fld id="{BC804F9A-74E8-42B2-9E3B-57CF58A437C0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62519659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4.1- </a:t>
            </a:r>
            <a:fld id="{8365D4C6-2372-4DE1-A615-949C5757463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93427150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624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4.1- </a:t>
            </a:r>
            <a:fld id="{444EB49A-BC3F-4604-A0D1-5553CE86464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6525040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4.1- </a:t>
            </a:r>
            <a:fld id="{BF6BFBB9-CC4B-4C12-8EED-D38D3E165357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2.png"/><Relationship Id="rId4" Type="http://schemas.openxmlformats.org/officeDocument/2006/relationships/image" Target="../media/image2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r>
              <a:rPr lang="en-US" altLang="en-US" dirty="0"/>
              <a:t> </a:t>
            </a:r>
            <a:r>
              <a:rPr lang="en-US" altLang="en-US" dirty="0" err="1"/>
              <a:t>Vectơ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KHÔNG GIAN VECTƠ VÀ KHÔNG GIAN CON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4.1- </a:t>
            </a:r>
            <a:fld id="{006200EF-118E-43D6-8022-94D9B0E8C561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KHÔNG GIAN VECTƠ VÀ KHÔNG GIAN CON</a:t>
            </a:r>
            <a:endParaRPr lang="en-US" altLang="en-US" dirty="0"/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 b="1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nghĩa</a:t>
            </a:r>
            <a:r>
              <a:rPr lang="en-US" altLang="en-US" sz="2800" b="1" dirty="0">
                <a:cs typeface="Times New Roman" panose="02020603050405020304" pitchFamily="18" charset="0"/>
              </a:rPr>
              <a:t>: </a:t>
            </a:r>
            <a:r>
              <a:rPr lang="vi-VN" altLang="en-US" sz="2800" dirty="0">
                <a:cs typeface="Times New Roman" panose="02020603050405020304" pitchFamily="18" charset="0"/>
              </a:rPr>
              <a:t>Một không gian vectơ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rỗng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phần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gọi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i="1" dirty="0">
                <a:cs typeface="Times New Roman" panose="02020603050405020304" pitchFamily="18" charset="0"/>
              </a:rPr>
              <a:t>vectơ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trên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nghĩa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hai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phép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toán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gọi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phép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cộng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phép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nhân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vi-VN" altLang="en-US" sz="2800" i="1" dirty="0">
                <a:cs typeface="Times New Roman" panose="02020603050405020304" pitchFamily="18" charset="0"/>
              </a:rPr>
              <a:t>vô hướng</a:t>
            </a:r>
            <a:r>
              <a:rPr lang="en-US" altLang="en-US" sz="2800" dirty="0">
                <a:cs typeface="Times New Roman" panose="02020603050405020304" pitchFamily="18" charset="0"/>
              </a:rPr>
              <a:t> (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thực</a:t>
            </a:r>
            <a:r>
              <a:rPr lang="en-US" altLang="en-US" sz="2800" dirty="0">
                <a:cs typeface="Times New Roman" panose="02020603050405020304" pitchFamily="18" charset="0"/>
              </a:rPr>
              <a:t>),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thỏa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mãn</a:t>
            </a:r>
            <a:r>
              <a:rPr lang="en-US" altLang="en-US" sz="2800" dirty="0">
                <a:cs typeface="Times New Roman" panose="02020603050405020304" pitchFamily="18" charset="0"/>
              </a:rPr>
              <a:t> 10 </a:t>
            </a:r>
            <a:r>
              <a:rPr lang="en-US" altLang="en-US" sz="2800" dirty="0" err="1">
                <a:cs typeface="Times New Roman" panose="02020603050405020304" pitchFamily="18" charset="0"/>
              </a:rPr>
              <a:t>tiên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đề</a:t>
            </a:r>
            <a:r>
              <a:rPr lang="en-US" altLang="en-US" sz="2800" dirty="0">
                <a:cs typeface="Times New Roman" panose="02020603050405020304" pitchFamily="18" charset="0"/>
              </a:rPr>
              <a:t> (hay qui </a:t>
            </a:r>
            <a:r>
              <a:rPr lang="en-US" altLang="en-US" sz="2800" dirty="0" err="1">
                <a:cs typeface="Times New Roman" panose="02020603050405020304" pitchFamily="18" charset="0"/>
              </a:rPr>
              <a:t>tắc</a:t>
            </a:r>
            <a:r>
              <a:rPr lang="en-US" altLang="en-US" sz="2800" dirty="0">
                <a:cs typeface="Times New Roman" panose="02020603050405020304" pitchFamily="18" charset="0"/>
              </a:rPr>
              <a:t>) </a:t>
            </a:r>
            <a:r>
              <a:rPr lang="en-US" altLang="en-US" sz="2800" dirty="0" err="1">
                <a:cs typeface="Times New Roman" panose="02020603050405020304" pitchFamily="18" charset="0"/>
              </a:rPr>
              <a:t>liệt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kê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dưới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đây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tiên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đề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phải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thỏa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mãn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mọi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vectơ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u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w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mọi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vô hướng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i="1" dirty="0">
                <a:cs typeface="Times New Roman" panose="02020603050405020304" pitchFamily="18" charset="0"/>
              </a:rPr>
              <a:t> d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 dirty="0" err="1">
                <a:cs typeface="Times New Roman" panose="02020603050405020304" pitchFamily="18" charset="0"/>
              </a:rPr>
              <a:t>Tổng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kí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hiệu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cs typeface="Times New Roman" panose="02020603050405020304" pitchFamily="18" charset="0"/>
              </a:rPr>
              <a:t>         , </a:t>
            </a:r>
            <a:r>
              <a:rPr lang="en-US" altLang="en-US" sz="2800" dirty="0" err="1">
                <a:cs typeface="Times New Roman" panose="02020603050405020304" pitchFamily="18" charset="0"/>
              </a:rPr>
              <a:t>thuộc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 dirty="0">
                <a:cs typeface="Times New Roman" panose="02020603050405020304" pitchFamily="18" charset="0"/>
              </a:rPr>
              <a:t>                       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 dirty="0">
                <a:cs typeface="Times New Roman" panose="02020603050405020304" pitchFamily="18" charset="0"/>
              </a:rPr>
              <a:t>                                            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 dirty="0" err="1">
                <a:cs typeface="Times New Roman" panose="02020603050405020304" pitchFamily="18" charset="0"/>
              </a:rPr>
              <a:t>Tồn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tại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vectơ</a:t>
            </a:r>
            <a:r>
              <a:rPr lang="en-US" altLang="en-US" sz="2800" dirty="0">
                <a:cs typeface="Times New Roman" panose="02020603050405020304" pitchFamily="18" charset="0"/>
              </a:rPr>
              <a:t> 0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sao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cs typeface="Times New Roman" panose="02020603050405020304" pitchFamily="18" charset="0"/>
              </a:rPr>
              <a:t>   </a:t>
            </a:r>
          </a:p>
          <a:p>
            <a:pPr marL="1371600" lvl="2" indent="-457200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                          .                   </a:t>
            </a:r>
          </a:p>
        </p:txBody>
      </p:sp>
      <p:graphicFrame>
        <p:nvGraphicFramePr>
          <p:cNvPr id="31645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944309"/>
              </p:ext>
            </p:extLst>
          </p:nvPr>
        </p:nvGraphicFramePr>
        <p:xfrm>
          <a:off x="6019800" y="4495800"/>
          <a:ext cx="838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" name="Equation" r:id="rId4" imgW="838200" imgH="279400" progId="">
                  <p:embed/>
                </p:oleObj>
              </mc:Choice>
              <mc:Fallback>
                <p:oleObj name="Equation" r:id="rId4" imgW="838200" imgH="2794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495800"/>
                        <a:ext cx="8382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5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118378"/>
              </p:ext>
            </p:extLst>
          </p:nvPr>
        </p:nvGraphicFramePr>
        <p:xfrm>
          <a:off x="1905000" y="5028117"/>
          <a:ext cx="2032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3" name="Equation" r:id="rId6" imgW="2032000" imgH="279400" progId="">
                  <p:embed/>
                </p:oleObj>
              </mc:Choice>
              <mc:Fallback>
                <p:oleObj name="Equation" r:id="rId6" imgW="2032000" imgH="2794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028117"/>
                        <a:ext cx="20320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54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942594"/>
              </p:ext>
            </p:extLst>
          </p:nvPr>
        </p:nvGraphicFramePr>
        <p:xfrm>
          <a:off x="1891607" y="5435324"/>
          <a:ext cx="3975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4" name="Equation" r:id="rId8" imgW="3975100" imgH="431800" progId="">
                  <p:embed/>
                </p:oleObj>
              </mc:Choice>
              <mc:Fallback>
                <p:oleObj name="Equation" r:id="rId8" imgW="3975100" imgH="4318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1607" y="5435324"/>
                        <a:ext cx="3975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5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190179"/>
              </p:ext>
            </p:extLst>
          </p:nvPr>
        </p:nvGraphicFramePr>
        <p:xfrm>
          <a:off x="6477000" y="5981700"/>
          <a:ext cx="1435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" name="Equation" r:id="rId10" imgW="1435100" imgH="342900" progId="">
                  <p:embed/>
                </p:oleObj>
              </mc:Choice>
              <mc:Fallback>
                <p:oleObj name="Equation" r:id="rId10" imgW="1435100" imgH="3429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981700"/>
                        <a:ext cx="1435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4.1- </a:t>
            </a:r>
            <a:fld id="{E805C1A2-A49A-4FD1-8846-915038EF1717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KHÔNG GIAN VECTƠ VÀ KHÔNG GIAN CON</a:t>
            </a:r>
            <a:endParaRPr lang="en-US" altLang="en-US" dirty="0"/>
          </a:p>
        </p:txBody>
      </p:sp>
      <p:sp>
        <p:nvSpPr>
          <p:cNvPr id="70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marL="1371600" lvl="2" indent="-457200" eaLnBrk="1" hangingPunct="1">
              <a:lnSpc>
                <a:spcPct val="90000"/>
              </a:lnSpc>
              <a:buFont typeface="Wingdings" panose="05000000000000000000" pitchFamily="2" charset="2"/>
              <a:buAutoNum type="arabicPeriod" startAt="5"/>
            </a:pP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tồn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     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		  .</a:t>
            </a:r>
          </a:p>
          <a:p>
            <a:pPr marL="1371600" lvl="2" indent="-457200" eaLnBrk="1" hangingPunct="1">
              <a:lnSpc>
                <a:spcPct val="90000"/>
              </a:lnSpc>
              <a:buFont typeface="Wingdings" panose="05000000000000000000" pitchFamily="2" charset="2"/>
              <a:buAutoNum type="arabicPeriod" startAt="5"/>
            </a:pPr>
            <a:r>
              <a:rPr lang="en-US" altLang="en-US" sz="2800" dirty="0" err="1"/>
              <a:t>Bội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kí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b="1" dirty="0"/>
              <a:t>u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</a:t>
            </a:r>
          </a:p>
          <a:p>
            <a:pPr marL="1371600" lvl="2" indent="-457200" eaLnBrk="1" hangingPunct="1">
              <a:lnSpc>
                <a:spcPct val="90000"/>
              </a:lnSpc>
              <a:buFont typeface="Wingdings" panose="05000000000000000000" pitchFamily="2" charset="2"/>
              <a:buAutoNum type="arabicPeriod" startAt="5"/>
            </a:pPr>
            <a:r>
              <a:rPr lang="en-US" altLang="en-US" sz="2800" dirty="0"/>
              <a:t>                               .</a:t>
            </a:r>
          </a:p>
          <a:p>
            <a:pPr marL="1371600" lvl="2" indent="-457200" eaLnBrk="1" hangingPunct="1">
              <a:lnSpc>
                <a:spcPct val="90000"/>
              </a:lnSpc>
              <a:buFont typeface="Wingdings" panose="05000000000000000000" pitchFamily="2" charset="2"/>
              <a:buAutoNum type="arabicPeriod" startAt="5"/>
            </a:pPr>
            <a:r>
              <a:rPr lang="en-US" altLang="en-US" sz="2800" dirty="0"/>
              <a:t>                                .</a:t>
            </a:r>
          </a:p>
          <a:p>
            <a:pPr marL="1371600" lvl="2" indent="-457200" eaLnBrk="1" hangingPunct="1">
              <a:lnSpc>
                <a:spcPct val="90000"/>
              </a:lnSpc>
              <a:buFont typeface="Wingdings" panose="05000000000000000000" pitchFamily="2" charset="2"/>
              <a:buAutoNum type="arabicPeriod" startAt="5"/>
            </a:pPr>
            <a:r>
              <a:rPr lang="en-US" altLang="en-US" sz="2800" dirty="0"/>
              <a:t>                          .</a:t>
            </a:r>
          </a:p>
          <a:p>
            <a:pPr marL="1371600" lvl="2" indent="-457200" eaLnBrk="1" hangingPunct="1">
              <a:lnSpc>
                <a:spcPct val="90000"/>
              </a:lnSpc>
              <a:buFont typeface="Wingdings" panose="05000000000000000000" pitchFamily="2" charset="2"/>
              <a:buAutoNum type="arabicPeriod" startAt="5"/>
            </a:pPr>
            <a:r>
              <a:rPr lang="en-US" altLang="en-US" sz="2800" dirty="0"/>
              <a:t>            .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0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đề</a:t>
            </a:r>
            <a:r>
              <a:rPr lang="en-US" altLang="en-US" sz="2800" dirty="0"/>
              <a:t> 4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nhất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     , </a:t>
            </a:r>
            <a:r>
              <a:rPr lang="vi-VN" altLang="en-US" sz="2800" dirty="0"/>
              <a:t>được gọi là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vectơ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đề</a:t>
            </a:r>
            <a:r>
              <a:rPr lang="en-US" altLang="en-US" sz="2800" dirty="0"/>
              <a:t> 5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086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698611"/>
              </p:ext>
            </p:extLst>
          </p:nvPr>
        </p:nvGraphicFramePr>
        <p:xfrm>
          <a:off x="7200900" y="1282700"/>
          <a:ext cx="495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" name="Equation" r:id="rId3" imgW="494870" imgH="253780" progId="">
                  <p:embed/>
                </p:oleObj>
              </mc:Choice>
              <mc:Fallback>
                <p:oleObj name="Equation" r:id="rId3" imgW="494870" imgH="25378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900" y="1282700"/>
                        <a:ext cx="4953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86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24"/>
              </p:ext>
            </p:extLst>
          </p:nvPr>
        </p:nvGraphicFramePr>
        <p:xfrm>
          <a:off x="3378200" y="1562100"/>
          <a:ext cx="195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" name="Equation" r:id="rId5" imgW="1955800" imgH="431800" progId="">
                  <p:embed/>
                </p:oleObj>
              </mc:Choice>
              <mc:Fallback>
                <p:oleObj name="Equation" r:id="rId5" imgW="1955800" imgH="4318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1562100"/>
                        <a:ext cx="1955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8614" name="Object 6"/>
          <p:cNvGraphicFramePr>
            <a:graphicFrameLocks noChangeAspect="1"/>
          </p:cNvGraphicFramePr>
          <p:nvPr/>
        </p:nvGraphicFramePr>
        <p:xfrm>
          <a:off x="1905000" y="2882900"/>
          <a:ext cx="284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8" name="Equation" r:id="rId7" imgW="2844800" imgH="431800" progId="">
                  <p:embed/>
                </p:oleObj>
              </mc:Choice>
              <mc:Fallback>
                <p:oleObj name="Equation" r:id="rId7" imgW="2844800" imgH="43180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882900"/>
                        <a:ext cx="2844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8615" name="Object 7"/>
          <p:cNvGraphicFramePr>
            <a:graphicFrameLocks noChangeAspect="1"/>
          </p:cNvGraphicFramePr>
          <p:nvPr/>
        </p:nvGraphicFramePr>
        <p:xfrm>
          <a:off x="1879600" y="3352800"/>
          <a:ext cx="292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" name="Equation" r:id="rId9" imgW="2921000" imgH="431800" progId="">
                  <p:embed/>
                </p:oleObj>
              </mc:Choice>
              <mc:Fallback>
                <p:oleObj name="Equation" r:id="rId9" imgW="2921000" imgH="431800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3352800"/>
                        <a:ext cx="2921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8616" name="Object 8"/>
          <p:cNvGraphicFramePr>
            <a:graphicFrameLocks noChangeAspect="1"/>
          </p:cNvGraphicFramePr>
          <p:nvPr/>
        </p:nvGraphicFramePr>
        <p:xfrm>
          <a:off x="1981200" y="3822700"/>
          <a:ext cx="2247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" name="Equation" r:id="rId11" imgW="2247900" imgH="431800" progId="">
                  <p:embed/>
                </p:oleObj>
              </mc:Choice>
              <mc:Fallback>
                <p:oleObj name="Equation" r:id="rId11" imgW="2247900" imgH="43180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822700"/>
                        <a:ext cx="2247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8617" name="Object 9"/>
          <p:cNvGraphicFramePr>
            <a:graphicFrameLocks noChangeAspect="1"/>
          </p:cNvGraphicFramePr>
          <p:nvPr/>
        </p:nvGraphicFramePr>
        <p:xfrm>
          <a:off x="1981200" y="4305300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" name="Equation" r:id="rId13" imgW="1002865" imgH="342751" progId="">
                  <p:embed/>
                </p:oleObj>
              </mc:Choice>
              <mc:Fallback>
                <p:oleObj name="Equation" r:id="rId13" imgW="1002865" imgH="342751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305300"/>
                        <a:ext cx="1003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86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637849"/>
              </p:ext>
            </p:extLst>
          </p:nvPr>
        </p:nvGraphicFramePr>
        <p:xfrm>
          <a:off x="7581900" y="5232400"/>
          <a:ext cx="495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" name="Equation" r:id="rId15" imgW="494870" imgH="253780" progId="">
                  <p:embed/>
                </p:oleObj>
              </mc:Choice>
              <mc:Fallback>
                <p:oleObj name="Equation" r:id="rId15" imgW="494870" imgH="25378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1900" y="5232400"/>
                        <a:ext cx="4953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4.1- </a:t>
            </a:r>
            <a:fld id="{44738905-DA60-49F0-8083-FC273E491265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KHÔNG GIAN VECTƠ VÀ KHÔNG GIAN CON</a:t>
            </a:r>
            <a:endParaRPr lang="en-US" altLang="en-US" dirty="0"/>
          </a:p>
        </p:txBody>
      </p:sp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dirty="0"/>
              <a:t>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                                                                   (1)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                                                                   (2)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                                                                   (3)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2:</a:t>
            </a:r>
            <a:r>
              <a:rPr lang="en-US" altLang="en-US" sz="2800" dirty="0"/>
              <a:t> Cho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tât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mũi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tên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đoạn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hướng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mũi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xem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nhau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chúng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qui </a:t>
            </a:r>
            <a:r>
              <a:rPr lang="en-US" altLang="en-US" sz="2800" dirty="0" err="1"/>
              <a:t>tắc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mũi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     </a:t>
            </a:r>
            <a:r>
              <a:rPr lang="en-US" altLang="en-US" sz="2800" dirty="0" err="1"/>
              <a:t>lần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	.</a:t>
            </a:r>
          </a:p>
        </p:txBody>
      </p:sp>
      <p:graphicFrame>
        <p:nvGraphicFramePr>
          <p:cNvPr id="709636" name="Object 4"/>
          <p:cNvGraphicFramePr>
            <a:graphicFrameLocks noChangeAspect="1"/>
          </p:cNvGraphicFramePr>
          <p:nvPr/>
        </p:nvGraphicFramePr>
        <p:xfrm>
          <a:off x="3136900" y="1549400"/>
          <a:ext cx="105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2" name="Equation" r:id="rId3" imgW="1054100" imgH="342900" progId="">
                  <p:embed/>
                </p:oleObj>
              </mc:Choice>
              <mc:Fallback>
                <p:oleObj name="Equation" r:id="rId3" imgW="1054100" imgH="3429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1549400"/>
                        <a:ext cx="1054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37" name="Object 5"/>
          <p:cNvGraphicFramePr>
            <a:graphicFrameLocks noChangeAspect="1"/>
          </p:cNvGraphicFramePr>
          <p:nvPr/>
        </p:nvGraphicFramePr>
        <p:xfrm>
          <a:off x="3175000" y="1955800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3" name="Equation" r:id="rId5" imgW="1016000" imgH="342900" progId="">
                  <p:embed/>
                </p:oleObj>
              </mc:Choice>
              <mc:Fallback>
                <p:oleObj name="Equation" r:id="rId5" imgW="1016000" imgH="3429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1955800"/>
                        <a:ext cx="1016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38" name="Object 6"/>
          <p:cNvGraphicFramePr>
            <a:graphicFrameLocks noChangeAspect="1"/>
          </p:cNvGraphicFramePr>
          <p:nvPr/>
        </p:nvGraphicFramePr>
        <p:xfrm>
          <a:off x="3111500" y="2336800"/>
          <a:ext cx="1790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4" name="Equation" r:id="rId7" imgW="1790700" imgH="431800" progId="">
                  <p:embed/>
                </p:oleObj>
              </mc:Choice>
              <mc:Fallback>
                <p:oleObj name="Equation" r:id="rId7" imgW="1790700" imgH="4318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2336800"/>
                        <a:ext cx="1790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016646"/>
              </p:ext>
            </p:extLst>
          </p:nvPr>
        </p:nvGraphicFramePr>
        <p:xfrm>
          <a:off x="7818436" y="5105400"/>
          <a:ext cx="3286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5" name="Equation" r:id="rId9" imgW="342751" imgH="558558" progId="">
                  <p:embed/>
                </p:oleObj>
              </mc:Choice>
              <mc:Fallback>
                <p:oleObj name="Equation" r:id="rId9" imgW="342751" imgH="558558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8436" y="5105400"/>
                        <a:ext cx="32861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634698"/>
              </p:ext>
            </p:extLst>
          </p:nvPr>
        </p:nvGraphicFramePr>
        <p:xfrm>
          <a:off x="7162800" y="5638800"/>
          <a:ext cx="6858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6" name="Equation" r:id="rId11" imgW="799753" imgH="342751" progId="Equation.DSMT4">
                  <p:embed/>
                </p:oleObj>
              </mc:Choice>
              <mc:Fallback>
                <p:oleObj name="Equation" r:id="rId11" imgW="799753" imgH="342751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638800"/>
                        <a:ext cx="685800" cy="293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graphicFrame>
        <p:nvGraphicFramePr>
          <p:cNvPr id="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612130"/>
              </p:ext>
            </p:extLst>
          </p:nvPr>
        </p:nvGraphicFramePr>
        <p:xfrm>
          <a:off x="4419600" y="6019800"/>
          <a:ext cx="696912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7" name="Equation" r:id="rId13" imgW="812520" imgH="342720" progId="Equation.DSMT4">
                  <p:embed/>
                </p:oleObj>
              </mc:Choice>
              <mc:Fallback>
                <p:oleObj name="Equation" r:id="rId13" imgW="812520" imgH="342720" progId="Equation.DSMT4">
                  <p:embed/>
                  <p:pic>
                    <p:nvPicPr>
                      <p:cNvPr id="7096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6019800"/>
                        <a:ext cx="696912" cy="293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4.1- </a:t>
            </a:r>
            <a:fld id="{F9FD7677-B9C5-4A50-A9AF-087A18FAE099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KHÔNG GIAN VECTƠ VÀ KHÔNG GIAN CON</a:t>
            </a:r>
            <a:endParaRPr lang="en-US" altLang="en-US" dirty="0"/>
          </a:p>
        </p:txBody>
      </p:sp>
      <p:sp>
        <p:nvSpPr>
          <p:cNvPr id="71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Xem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dưới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m</a:t>
            </a:r>
            <a:r>
              <a:rPr lang="vi-VN" altLang="en-US" sz="2800" dirty="0"/>
              <a:t>ột không gian vectơ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học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niệm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hướng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tọa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i="1" dirty="0"/>
              <a:t>x y z 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mũi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0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diễn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0.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      </a:t>
            </a:r>
            <a:r>
              <a:rPr lang="en-US" altLang="en-US" sz="2800" b="1" dirty="0"/>
              <a:t>v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đề</a:t>
            </a:r>
            <a:r>
              <a:rPr lang="en-US" altLang="en-US" sz="2800" dirty="0"/>
              <a:t> 1, 4, 5, 6,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10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hiển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nhiên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Xem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slide </a:t>
            </a:r>
            <a:r>
              <a:rPr lang="en-US" altLang="en-US" sz="2800" dirty="0" err="1"/>
              <a:t>tiếp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theo.</a:t>
            </a:r>
            <a:endParaRPr lang="en-US" altLang="en-US" sz="2800" dirty="0"/>
          </a:p>
        </p:txBody>
      </p:sp>
      <p:graphicFrame>
        <p:nvGraphicFramePr>
          <p:cNvPr id="710660" name="Object 4"/>
          <p:cNvGraphicFramePr>
            <a:graphicFrameLocks noChangeAspect="1"/>
          </p:cNvGraphicFramePr>
          <p:nvPr/>
        </p:nvGraphicFramePr>
        <p:xfrm>
          <a:off x="3771900" y="5219700"/>
          <a:ext cx="584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Equation" r:id="rId3" imgW="710891" imgH="431613" progId="">
                  <p:embed/>
                </p:oleObj>
              </mc:Choice>
              <mc:Fallback>
                <p:oleObj name="Equation" r:id="rId3" imgW="710891" imgH="431613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5219700"/>
                        <a:ext cx="5842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0663" name="Picture 7" descr="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600200"/>
            <a:ext cx="18288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4.1- </a:t>
            </a:r>
            <a:fld id="{47ADD4A7-0362-41FD-B8C2-9F3AD765871F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CON</a:t>
            </a:r>
          </a:p>
        </p:txBody>
      </p:sp>
      <p:sp>
        <p:nvSpPr>
          <p:cNvPr id="711690" name="Rectangle 10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3733800"/>
            <a:ext cx="8229600" cy="2590800"/>
          </a:xfrm>
        </p:spPr>
        <p:txBody>
          <a:bodyPr/>
          <a:lstStyle/>
          <a:p>
            <a:pPr marL="533400" indent="-533400" eaLnBrk="1" hangingPunct="1"/>
            <a:r>
              <a:rPr lang="en-US" altLang="en-US" sz="2800" b="1" dirty="0" err="1"/>
              <a:t>Định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nghĩa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m</a:t>
            </a:r>
            <a:r>
              <a:rPr lang="vi-VN" altLang="en-US" sz="2800" dirty="0"/>
              <a:t>ột không gian vectơ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con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thỏa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mãn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:</a:t>
            </a:r>
          </a:p>
          <a:p>
            <a:pPr marL="1295400" lvl="2" indent="-3810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V</a:t>
            </a:r>
            <a:r>
              <a:rPr lang="vi-VN" altLang="en-US" sz="2800" dirty="0"/>
              <a:t>ectơ 0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.</a:t>
            </a:r>
          </a:p>
          <a:p>
            <a:pPr marL="1295400" lvl="2" indent="-3810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công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         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H.</a:t>
            </a:r>
          </a:p>
          <a:p>
            <a:pPr marL="1295400" lvl="2" indent="-381000"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graphicFrame>
        <p:nvGraphicFramePr>
          <p:cNvPr id="7116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758666"/>
              </p:ext>
            </p:extLst>
          </p:nvPr>
        </p:nvGraphicFramePr>
        <p:xfrm>
          <a:off x="5410200" y="6176703"/>
          <a:ext cx="838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Equation" r:id="rId3" imgW="838200" imgH="279400" progId="">
                  <p:embed/>
                </p:oleObj>
              </mc:Choice>
              <mc:Fallback>
                <p:oleObj name="Equation" r:id="rId3" imgW="838200" imgH="2794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6176703"/>
                        <a:ext cx="8382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1693" name="Picture 13" descr="4"/>
          <p:cNvPicPr>
            <a:picLocks noGrp="1" noChangeAspect="1" noChangeArrowheads="1"/>
          </p:cNvPicPr>
          <p:nvPr>
            <p:ph sz="half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371600"/>
            <a:ext cx="8229600" cy="2209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4.1- </a:t>
            </a:r>
            <a:fld id="{F687E3CF-FABF-4A5E-A4DB-EF02380A3E8C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CON</a:t>
            </a:r>
          </a:p>
        </p:txBody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05800" cy="5334000"/>
          </a:xfrm>
        </p:spPr>
        <p:txBody>
          <a:bodyPr/>
          <a:lstStyle/>
          <a:p>
            <a:pPr marL="1371600" lvl="2" indent="-457200" eaLnBrk="1" hangingPunct="1">
              <a:lnSpc>
                <a:spcPct val="90000"/>
              </a:lnSpc>
              <a:buFont typeface="Wingdings" panose="05000000000000000000" pitchFamily="2" charset="2"/>
              <a:buAutoNum type="alphaLcPeriod" startAt="3"/>
            </a:pP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dirty="0"/>
              <a:t>,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.</a:t>
            </a:r>
          </a:p>
          <a:p>
            <a:pPr marL="1371600" lvl="2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chất</a:t>
            </a:r>
            <a:r>
              <a:rPr lang="en-US" altLang="en-US" sz="2800" dirty="0"/>
              <a:t> (a), (b),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(c) </a:t>
            </a:r>
            <a:r>
              <a:rPr lang="en-US" altLang="en-US" sz="2800" dirty="0" err="1"/>
              <a:t>bảo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m</a:t>
            </a:r>
            <a:r>
              <a:rPr lang="vi-VN" altLang="en-US" sz="2800" dirty="0"/>
              <a:t>ột không gian vectơ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1800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 dirty="0" err="1"/>
              <a:t>Mọi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m</a:t>
            </a:r>
            <a:r>
              <a:rPr lang="vi-VN" altLang="en-US" sz="2800" dirty="0"/>
              <a:t>ột không gian vectơ</a:t>
            </a:r>
            <a:r>
              <a:rPr lang="en-US" altLang="en-US" sz="2800" dirty="0"/>
              <a:t>.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 dirty="0" err="1"/>
              <a:t>Ngược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</a:t>
            </a:r>
            <a:r>
              <a:rPr lang="vi-VN" altLang="en-US" sz="2800" dirty="0"/>
              <a:t>không gian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(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lớn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hơn</a:t>
            </a:r>
            <a:r>
              <a:rPr lang="en-US" altLang="en-US" sz="2800" dirty="0"/>
              <a:t>).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4.1- </a:t>
            </a:r>
            <a:fld id="{798E33E5-D1CF-47E7-8A1C-2F5B830F9E60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CON SINH BỞI MỘT TẬP HỢP</a:t>
            </a:r>
          </a:p>
        </p:txBody>
      </p:sp>
      <p:sp>
        <p:nvSpPr>
          <p:cNvPr id="71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 0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m</a:t>
            </a:r>
            <a:r>
              <a:rPr lang="vi-VN" altLang="en-US" sz="2800" dirty="0"/>
              <a:t>ột không gian vectơ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, </a:t>
            </a:r>
            <a:r>
              <a:rPr lang="vi-VN" altLang="en-US" sz="2800" dirty="0"/>
              <a:t>được gọi là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không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gian</a:t>
            </a:r>
            <a:r>
              <a:rPr lang="en-US" altLang="en-US" sz="2800" b="1" dirty="0"/>
              <a:t> con </a:t>
            </a:r>
            <a:r>
              <a:rPr lang="en-US" altLang="en-US" sz="2800" b="1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{</a:t>
            </a:r>
            <a:r>
              <a:rPr lang="en-US" altLang="en-US" sz="2800" b="1" dirty="0"/>
              <a:t>0</a:t>
            </a:r>
            <a:r>
              <a:rPr lang="en-US" altLang="en-US" sz="2800" dirty="0"/>
              <a:t>}.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thuật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ngữ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tổ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hợp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tuyến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bội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Span{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kí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dưới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.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4.1- </a:t>
            </a:r>
            <a:fld id="{A84DC091-7856-412B-AED9-400F063C8FA1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CON SINH BỞI MỘT TẬP HỢP</a:t>
            </a:r>
          </a:p>
        </p:txBody>
      </p:sp>
      <p:sp>
        <p:nvSpPr>
          <p:cNvPr id="71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534400" cy="5029200"/>
          </a:xfrm>
          <a:noFill/>
        </p:spPr>
        <p:txBody>
          <a:bodyPr/>
          <a:lstStyle/>
          <a:p>
            <a:pPr eaLnBrk="1" hangingPunct="1"/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10:</a:t>
            </a:r>
            <a:r>
              <a:rPr lang="en-US" altLang="en-US" sz="2800" dirty="0"/>
              <a:t> Cho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m</a:t>
            </a:r>
            <a:r>
              <a:rPr lang="vi-VN" altLang="en-US" sz="2800" dirty="0"/>
              <a:t>ột không gian vectơ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               .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 V</a:t>
            </a:r>
            <a:r>
              <a:rPr lang="vi-VN" altLang="en-US" sz="2800" dirty="0"/>
              <a:t>ectơ 0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                        . </a:t>
            </a:r>
          </a:p>
          <a:p>
            <a:pPr eaLnBrk="1" hangingPunct="1"/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cộng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lấy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, ,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	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             .</a:t>
            </a:r>
          </a:p>
          <a:p>
            <a:pPr eaLnBrk="1" hangingPunct="1"/>
            <a:r>
              <a:rPr lang="en-US" altLang="en-US" sz="2800" dirty="0"/>
              <a:t>Theo </a:t>
            </a:r>
            <a:r>
              <a:rPr lang="en-US" altLang="en-US" sz="2800" dirty="0" err="1"/>
              <a:t>Tiên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đề</a:t>
            </a:r>
            <a:r>
              <a:rPr lang="en-US" altLang="en-US" sz="2800" dirty="0"/>
              <a:t> 2, 3,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8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vi-VN" altLang="en-US" sz="2800" dirty="0"/>
              <a:t>không gian vectơ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,  </a:t>
            </a:r>
          </a:p>
        </p:txBody>
      </p:sp>
      <p:graphicFrame>
        <p:nvGraphicFramePr>
          <p:cNvPr id="7178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215032"/>
              </p:ext>
            </p:extLst>
          </p:nvPr>
        </p:nvGraphicFramePr>
        <p:xfrm>
          <a:off x="1295400" y="1854200"/>
          <a:ext cx="2717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7" name="Equation" r:id="rId3" imgW="2717800" imgH="482600" progId="">
                  <p:embed/>
                </p:oleObj>
              </mc:Choice>
              <mc:Fallback>
                <p:oleObj name="Equation" r:id="rId3" imgW="2717800" imgH="4826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854200"/>
                        <a:ext cx="2717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959933"/>
              </p:ext>
            </p:extLst>
          </p:nvPr>
        </p:nvGraphicFramePr>
        <p:xfrm>
          <a:off x="5930900" y="2794000"/>
          <a:ext cx="2070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8" name="Equation" r:id="rId5" imgW="2070100" imgH="482600" progId="">
                  <p:embed/>
                </p:oleObj>
              </mc:Choice>
              <mc:Fallback>
                <p:oleObj name="Equation" r:id="rId5" imgW="2070100" imgH="4826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0900" y="2794000"/>
                        <a:ext cx="20701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047221"/>
              </p:ext>
            </p:extLst>
          </p:nvPr>
        </p:nvGraphicFramePr>
        <p:xfrm>
          <a:off x="2362200" y="4241800"/>
          <a:ext cx="2209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9" name="Equation" r:id="rId7" imgW="2209800" imgH="482600" progId="">
                  <p:embed/>
                </p:oleObj>
              </mc:Choice>
              <mc:Fallback>
                <p:oleObj name="Equation" r:id="rId7" imgW="2209800" imgH="4826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241800"/>
                        <a:ext cx="2209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774606"/>
              </p:ext>
            </p:extLst>
          </p:nvPr>
        </p:nvGraphicFramePr>
        <p:xfrm>
          <a:off x="5499100" y="4241800"/>
          <a:ext cx="2197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0" name="Equation" r:id="rId9" imgW="2197100" imgH="482600" progId="">
                  <p:embed/>
                </p:oleObj>
              </mc:Choice>
              <mc:Fallback>
                <p:oleObj name="Equation" r:id="rId9" imgW="2197100" imgH="4826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100" y="4241800"/>
                        <a:ext cx="21971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786043"/>
              </p:ext>
            </p:extLst>
          </p:nvPr>
        </p:nvGraphicFramePr>
        <p:xfrm>
          <a:off x="1905000" y="5156200"/>
          <a:ext cx="53467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1" name="Equation" r:id="rId11" imgW="5346700" imgH="1092200" progId="">
                  <p:embed/>
                </p:oleObj>
              </mc:Choice>
              <mc:Fallback>
                <p:oleObj name="Equation" r:id="rId11" imgW="5346700" imgH="10922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156200"/>
                        <a:ext cx="5346700" cy="109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4.1- </a:t>
            </a:r>
            <a:fld id="{B9E852DE-0128-477A-841A-8EE76675AA0C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CON SINH BỞI MỘT TẬP HỢP</a:t>
            </a:r>
          </a:p>
        </p:txBody>
      </p:sp>
      <p:sp>
        <p:nvSpPr>
          <p:cNvPr id="71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610600" cy="5257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         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Hơn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nữa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đề</a:t>
            </a:r>
            <a:r>
              <a:rPr lang="en-US" altLang="en-US" sz="2800" dirty="0"/>
              <a:t> 7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9,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tỏ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dưới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vậy</a:t>
            </a:r>
            <a:r>
              <a:rPr lang="en-US" altLang="en-US" sz="2800" dirty="0"/>
              <a:t> H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188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056582"/>
              </p:ext>
            </p:extLst>
          </p:nvPr>
        </p:nvGraphicFramePr>
        <p:xfrm>
          <a:off x="1676400" y="1358900"/>
          <a:ext cx="939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8" name="Equation" r:id="rId3" imgW="939800" imgH="279400" progId="">
                  <p:embed/>
                </p:oleObj>
              </mc:Choice>
              <mc:Fallback>
                <p:oleObj name="Equation" r:id="rId3" imgW="939800" imgH="2794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358900"/>
                        <a:ext cx="9398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790685"/>
              </p:ext>
            </p:extLst>
          </p:nvPr>
        </p:nvGraphicFramePr>
        <p:xfrm>
          <a:off x="1828800" y="3022600"/>
          <a:ext cx="5803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" name="Equation" r:id="rId5" imgW="5803900" imgH="482600" progId="">
                  <p:embed/>
                </p:oleObj>
              </mc:Choice>
              <mc:Fallback>
                <p:oleObj name="Equation" r:id="rId5" imgW="5803900" imgH="4826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022600"/>
                        <a:ext cx="5803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4.1- </a:t>
            </a:r>
            <a:fld id="{16F41D21-685E-4B85-979F-5874D8939128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CON SINH BỞI MỘT TẬP HỢP</a:t>
            </a:r>
          </a:p>
        </p:txBody>
      </p:sp>
      <p:sp>
        <p:nvSpPr>
          <p:cNvPr id="71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eaLnBrk="1" hangingPunct="1"/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1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m</a:t>
            </a:r>
            <a:r>
              <a:rPr lang="vi-VN" altLang="en-US" sz="2800" dirty="0"/>
              <a:t>ột không gian vectơ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Span{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Ta </a:t>
            </a:r>
            <a:r>
              <a:rPr lang="en-US" altLang="en-US" sz="2800" dirty="0" err="1"/>
              <a:t>gọi</a:t>
            </a:r>
            <a:r>
              <a:rPr lang="en-US" altLang="en-US" sz="2800" dirty="0"/>
              <a:t> Span{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là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không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gian</a:t>
            </a:r>
            <a:r>
              <a:rPr lang="en-US" altLang="en-US" sz="2800" b="1" dirty="0"/>
              <a:t> con </a:t>
            </a:r>
            <a:r>
              <a:rPr lang="en-US" altLang="en-US" sz="2800" b="1" dirty="0" err="1"/>
              <a:t>sinh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bởi</a:t>
            </a:r>
            <a:r>
              <a:rPr lang="en-US" altLang="en-US" sz="2800" dirty="0"/>
              <a:t> 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}.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Cho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H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V,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tập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H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H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. </a:t>
            </a:r>
          </a:p>
        </p:txBody>
      </p:sp>
      <p:graphicFrame>
        <p:nvGraphicFramePr>
          <p:cNvPr id="719876" name="Object 4"/>
          <p:cNvGraphicFramePr>
            <a:graphicFrameLocks noChangeAspect="1"/>
          </p:cNvGraphicFramePr>
          <p:nvPr/>
        </p:nvGraphicFramePr>
        <p:xfrm>
          <a:off x="2933700" y="5765800"/>
          <a:ext cx="3048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Equation" r:id="rId3" imgW="3048000" imgH="520700" progId="">
                  <p:embed/>
                </p:oleObj>
              </mc:Choice>
              <mc:Fallback>
                <p:oleObj name="Equation" r:id="rId3" imgW="3048000" imgH="5207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700" y="5765800"/>
                        <a:ext cx="3048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12751</TotalTime>
  <Words>962</Words>
  <Application>Microsoft Office PowerPoint</Application>
  <PresentationFormat>On-screen Show (4:3)</PresentationFormat>
  <Paragraphs>94</Paragraphs>
  <Slides>11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Arial Narrow</vt:lpstr>
      <vt:lpstr>Bookshelf Symbol 2</vt:lpstr>
      <vt:lpstr>Symbol</vt:lpstr>
      <vt:lpstr>Times New Roman</vt:lpstr>
      <vt:lpstr>Wingdings</vt:lpstr>
      <vt:lpstr>Blends</vt:lpstr>
      <vt:lpstr>Equation</vt:lpstr>
      <vt:lpstr>MathType 6.0 Equation</vt:lpstr>
      <vt:lpstr>Không gian Vectơ</vt:lpstr>
      <vt:lpstr>KHÔNG GIAN VECTƠ VÀ KHÔNG GIAN CON</vt:lpstr>
      <vt:lpstr>KHÔNG GIAN VECTƠ VÀ KHÔNG GIAN CON</vt:lpstr>
      <vt:lpstr>KHÔNG GIAN VECTƠ VÀ KHÔNG GIAN CON</vt:lpstr>
      <vt:lpstr>KHÔNG GIAN VECTƠ VÀ KHÔNG GIAN CON</vt:lpstr>
      <vt:lpstr>KHÔNG GIAN CON</vt:lpstr>
      <vt:lpstr>KHÔNG GIAN CON</vt:lpstr>
      <vt:lpstr>KHÔNG GIAN CON SINH BỞI MỘT TẬP HỢP</vt:lpstr>
      <vt:lpstr>KHÔNG GIAN CON SINH BỞI MỘT TẬP HỢP</vt:lpstr>
      <vt:lpstr>KHÔNG GIAN CON SINH BỞI MỘT TẬP HỢP</vt:lpstr>
      <vt:lpstr>KHÔNG GIAN CON SINH BỞI MỘT TẬP HỢP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1150</cp:revision>
  <dcterms:created xsi:type="dcterms:W3CDTF">2005-10-22T18:34:54Z</dcterms:created>
  <dcterms:modified xsi:type="dcterms:W3CDTF">2016-07-31T13:10:21Z</dcterms:modified>
</cp:coreProperties>
</file>