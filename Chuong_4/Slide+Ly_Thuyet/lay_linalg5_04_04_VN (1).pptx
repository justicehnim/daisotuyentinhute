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9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791B"/>
    <a:srgbClr val="4C7816"/>
    <a:srgbClr val="528218"/>
    <a:srgbClr val="B6CEAA"/>
    <a:srgbClr val="ADC8A0"/>
    <a:srgbClr val="077C97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0" autoAdjust="0"/>
    <p:restoredTop sz="98675" autoAdjust="0"/>
  </p:normalViewPr>
  <p:slideViewPr>
    <p:cSldViewPr>
      <p:cViewPr varScale="1">
        <p:scale>
          <a:sx n="92" d="100"/>
          <a:sy n="92" d="100"/>
        </p:scale>
        <p:origin x="1118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EA76290-FB0C-4FC6-94DB-F22EBFA4FC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0417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40055561-0131-44F5-AAB3-BD328D638F16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105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8211218E-90C8-47A5-B2B0-064957514AB6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64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4.4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45458" y="2238670"/>
            <a:ext cx="3030610" cy="378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3309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26A74DC2-503B-4659-A551-D35C8FF9533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9358542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33F1D4FE-3AD5-4333-BCC8-B4BB75C72F4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93979521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BB4A662B-4C23-491A-99D8-D5116E7A68E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1235119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6C399428-3912-4F65-A681-50ADC12959B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2828879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BC050FB8-27A0-4B2C-8470-576BD65E555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0634230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03DD633E-04C0-4963-A6E0-40057B47AF5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7365112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5D006993-9B9E-4C46-A70C-44BC2D176DA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270023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821F2D66-D309-4535-852A-9EB184ED82E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66730896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D3BFA6D7-AA4A-4D33-9516-B58DA87D2C3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9898005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AD5BB5C4-E059-4C2A-9B69-B2E7DDA1237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5850684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624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427080C7-767E-421D-9CD8-D64258D5ADD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7496402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4.4- </a:t>
            </a:r>
            <a:fld id="{1A009CDF-BBE1-45F3-BBD6-CC37F513F23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5.bin"/><Relationship Id="rId3" Type="http://schemas.openxmlformats.org/officeDocument/2006/relationships/image" Target="../media/image20.png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.jpeg"/><Relationship Id="rId10" Type="http://schemas.openxmlformats.org/officeDocument/2006/relationships/image" Target="../media/image17.wmf"/><Relationship Id="rId4" Type="http://schemas.openxmlformats.org/officeDocument/2006/relationships/image" Target="../media/image21.png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0.bin"/><Relationship Id="rId3" Type="http://schemas.openxmlformats.org/officeDocument/2006/relationships/image" Target="../media/image20.png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jpeg"/><Relationship Id="rId11" Type="http://schemas.openxmlformats.org/officeDocument/2006/relationships/oleObject" Target="../embeddings/oleObject19.bin"/><Relationship Id="rId5" Type="http://schemas.openxmlformats.org/officeDocument/2006/relationships/image" Target="../media/image22.wmf"/><Relationship Id="rId10" Type="http://schemas.openxmlformats.org/officeDocument/2006/relationships/image" Target="../media/image24.wmf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0.png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0.png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3.wmf"/><Relationship Id="rId4" Type="http://schemas.openxmlformats.org/officeDocument/2006/relationships/image" Target="../media/image34.png"/><Relationship Id="rId9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0.bin"/><Relationship Id="rId3" Type="http://schemas.openxmlformats.org/officeDocument/2006/relationships/image" Target="../media/image20.png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7.wmf"/><Relationship Id="rId4" Type="http://schemas.openxmlformats.org/officeDocument/2006/relationships/image" Target="../media/image40.png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45.png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8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5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9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HỆ TỌA ĐỘ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35D42FF6-0987-4C12-AE83-D3A6BDD83058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BIỂU DIỄN DUY NHẤT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lí</a:t>
            </a:r>
            <a:r>
              <a:rPr lang="en-US" altLang="en-US" sz="2800" b="1" dirty="0">
                <a:cs typeface="Times New Roman" panose="02020603050405020304" pitchFamily="18" charset="0"/>
              </a:rPr>
              <a:t> 7:</a:t>
            </a:r>
            <a:r>
              <a:rPr lang="en-US" altLang="en-US" sz="2800" dirty="0">
                <a:cs typeface="Times New Roman" panose="02020603050405020304" pitchFamily="18" charset="0"/>
              </a:rPr>
              <a:t> Cho </a:t>
            </a:r>
            <a:r>
              <a:rPr lang="en-US" altLang="en-US" sz="2800" dirty="0">
                <a:latin typeface="Euclid Math One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cơ sở 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không gian 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tồn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duy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vô hướng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c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                           (1)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en-US" sz="2800" b="1" dirty="0" err="1">
                <a:cs typeface="Times New Roman" panose="02020603050405020304" pitchFamily="18" charset="0"/>
              </a:rPr>
              <a:t>Chứng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minh: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Euclid Math One" pitchFamily="18" charset="2"/>
                <a:cs typeface="Times New Roman" panose="02020603050405020304" pitchFamily="18" charset="0"/>
              </a:rPr>
              <a:t>B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sinh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tồn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vô hướng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(1)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thỏa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mãn</a:t>
            </a:r>
            <a:r>
              <a:rPr lang="en-US" altLang="en-US" sz="2800" dirty="0">
                <a:cs typeface="Times New Roman" panose="02020603050405020304" pitchFamily="18" charset="0"/>
              </a:rPr>
              <a:t>.  </a:t>
            </a:r>
          </a:p>
          <a:p>
            <a:pPr marL="609600" indent="-609600"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Giả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còn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diễn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các vô hướng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d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i="1" dirty="0">
                <a:cs typeface="Times New Roman" panose="02020603050405020304" pitchFamily="18" charset="0"/>
              </a:rPr>
              <a:t>d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3164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921609"/>
              </p:ext>
            </p:extLst>
          </p:nvPr>
        </p:nvGraphicFramePr>
        <p:xfrm>
          <a:off x="3733800" y="1435100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4" imgW="1892300" imgH="482600" progId="">
                  <p:embed/>
                </p:oleObj>
              </mc:Choice>
              <mc:Fallback>
                <p:oleObj name="Equation" r:id="rId4" imgW="1892300" imgH="4826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435100"/>
                        <a:ext cx="1892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0" name="Object 44"/>
          <p:cNvGraphicFramePr>
            <a:graphicFrameLocks noChangeAspect="1"/>
          </p:cNvGraphicFramePr>
          <p:nvPr/>
        </p:nvGraphicFramePr>
        <p:xfrm>
          <a:off x="2590800" y="2857500"/>
          <a:ext cx="285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6" imgW="2857500" imgH="482600" progId="">
                  <p:embed/>
                </p:oleObj>
              </mc:Choice>
              <mc:Fallback>
                <p:oleObj name="Equation" r:id="rId6" imgW="2857500" imgH="4826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857500"/>
                        <a:ext cx="2857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1" name="Object 45"/>
          <p:cNvGraphicFramePr>
            <a:graphicFrameLocks noChangeAspect="1"/>
          </p:cNvGraphicFramePr>
          <p:nvPr/>
        </p:nvGraphicFramePr>
        <p:xfrm>
          <a:off x="3429000" y="5334000"/>
          <a:ext cx="294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Equation" r:id="rId8" imgW="2946400" imgH="482600" progId="">
                  <p:embed/>
                </p:oleObj>
              </mc:Choice>
              <mc:Fallback>
                <p:oleObj name="Equation" r:id="rId8" imgW="2946400" imgH="4826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334000"/>
                        <a:ext cx="2946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32A3C68E-873F-4864-B3B4-B2A4263417F7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BIỂU DIỄN DUY NHẤT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trừ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 (2)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 is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trọng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(2)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0.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   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nghĩa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           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 </a:t>
            </a:r>
            <a:r>
              <a:rPr lang="vi-VN" altLang="en-US" sz="2800" b="1" dirty="0"/>
              <a:t>Tọa độ của x theo cơ sở</a:t>
            </a:r>
            <a:r>
              <a:rPr lang="en-US" altLang="en-US" sz="2800" b="1" dirty="0"/>
              <a:t> </a:t>
            </a:r>
            <a:r>
              <a:rPr lang="en-US" altLang="en-US" sz="2800" b="1" dirty="0">
                <a:latin typeface="Euclid Math One" pitchFamily="18" charset="2"/>
              </a:rPr>
              <a:t>B</a:t>
            </a:r>
            <a:r>
              <a:rPr lang="en-US" altLang="en-US" sz="2800" dirty="0"/>
              <a:t> (hay </a:t>
            </a:r>
            <a:r>
              <a:rPr lang="en-US" altLang="en-US" sz="2800" b="1" dirty="0">
                <a:latin typeface="Euclid Math One" pitchFamily="18" charset="2"/>
              </a:rPr>
              <a:t>B</a:t>
            </a:r>
            <a:r>
              <a:rPr lang="en-US" altLang="en-US" sz="2800" b="1" dirty="0"/>
              <a:t>-</a:t>
            </a:r>
            <a:r>
              <a:rPr lang="en-US" altLang="en-US" sz="2800" b="1" dirty="0" err="1"/>
              <a:t>tọa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độ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trọng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i="1" dirty="0" err="1"/>
              <a:t>c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graphicFrame>
        <p:nvGraphicFramePr>
          <p:cNvPr id="720900" name="Object 4"/>
          <p:cNvGraphicFramePr>
            <a:graphicFrameLocks noChangeAspect="1"/>
          </p:cNvGraphicFramePr>
          <p:nvPr/>
        </p:nvGraphicFramePr>
        <p:xfrm>
          <a:off x="914400" y="2006600"/>
          <a:ext cx="607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Equation" r:id="rId3" imgW="6070600" imgH="482600" progId="">
                  <p:embed/>
                </p:oleObj>
              </mc:Choice>
              <mc:Fallback>
                <p:oleObj name="Equation" r:id="rId3" imgW="6070600" imgH="4826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06600"/>
                        <a:ext cx="6070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152031"/>
              </p:ext>
            </p:extLst>
          </p:nvPr>
        </p:nvGraphicFramePr>
        <p:xfrm>
          <a:off x="4572000" y="3327400"/>
          <a:ext cx="1079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5" imgW="1079032" imgH="520474" progId="">
                  <p:embed/>
                </p:oleObj>
              </mc:Choice>
              <mc:Fallback>
                <p:oleObj name="Equation" r:id="rId5" imgW="1079032" imgH="520474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27400"/>
                        <a:ext cx="10795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754092"/>
              </p:ext>
            </p:extLst>
          </p:nvPr>
        </p:nvGraphicFramePr>
        <p:xfrm>
          <a:off x="6438900" y="3390900"/>
          <a:ext cx="12573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Equation" r:id="rId7" imgW="1358900" imgH="419100" progId="">
                  <p:embed/>
                </p:oleObj>
              </mc:Choice>
              <mc:Fallback>
                <p:oleObj name="Equation" r:id="rId7" imgW="1358900" imgH="4191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3390900"/>
                        <a:ext cx="125730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3" name="Object 7"/>
          <p:cNvGraphicFramePr>
            <a:graphicFrameLocks noChangeAspect="1"/>
          </p:cNvGraphicFramePr>
          <p:nvPr/>
        </p:nvGraphicFramePr>
        <p:xfrm>
          <a:off x="4184650" y="4229100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9" imgW="1892300" imgH="482600" progId="">
                  <p:embed/>
                </p:oleObj>
              </mc:Choice>
              <mc:Fallback>
                <p:oleObj name="Equation" r:id="rId9" imgW="1892300" imgH="4826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4229100"/>
                        <a:ext cx="1892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499174"/>
              </p:ext>
            </p:extLst>
          </p:nvPr>
        </p:nvGraphicFramePr>
        <p:xfrm>
          <a:off x="3505200" y="5537200"/>
          <a:ext cx="285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11" imgW="2857500" imgH="482600" progId="">
                  <p:embed/>
                </p:oleObj>
              </mc:Choice>
              <mc:Fallback>
                <p:oleObj name="Equation" r:id="rId11" imgW="2857500" imgH="4826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537200"/>
                        <a:ext cx="2857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6423861C-EEF9-44E7-9F72-57AFC27B536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BIỂU DIỄN DUY NHẤT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19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4800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i="1" dirty="0" err="1"/>
                  <a:t>c</a:t>
                </a:r>
                <a:r>
                  <a:rPr lang="en-US" altLang="en-US" sz="2800" i="1" baseline="-25000" dirty="0" err="1"/>
                  <a:t>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-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   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			 [x]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b="1" dirty="0"/>
                  <a:t>vectơ tọa độ của</a:t>
                </a:r>
                <a:r>
                  <a:rPr lang="en-US" altLang="en-US" sz="2800" b="1" dirty="0"/>
                  <a:t> x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theo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), hay </a:t>
                </a:r>
                <a:r>
                  <a:rPr lang="en-US" altLang="en-US" sz="2800" b="1" dirty="0">
                    <a:latin typeface="Euclid Math One" pitchFamily="18" charset="2"/>
                  </a:rPr>
                  <a:t>B</a:t>
                </a:r>
                <a:r>
                  <a:rPr lang="en-US" altLang="en-US" sz="2800" b="1" dirty="0"/>
                  <a:t>-</a:t>
                </a:r>
                <a:r>
                  <a:rPr lang="vi-VN" altLang="en-US" sz="2800" b="1" dirty="0"/>
                  <a:t>vectơ tọa độ của</a:t>
                </a:r>
                <a:r>
                  <a:rPr lang="en-US" altLang="en-US" sz="2800" b="1" dirty="0"/>
                  <a:t> x</a:t>
                </a:r>
                <a:r>
                  <a:rPr lang="en-US" altLang="en-US" sz="2800" dirty="0"/>
                  <a:t>.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              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 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(</a:t>
                </a:r>
                <a:r>
                  <a:rPr lang="en-US" altLang="en-US" sz="2800" b="1" dirty="0" err="1"/>
                  <a:t>xác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bởi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).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21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4800600"/>
              </a:xfrm>
              <a:blipFill>
                <a:blip r:embed="rId3"/>
                <a:stretch>
                  <a:fillRect l="-1259" t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862395"/>
              </p:ext>
            </p:extLst>
          </p:nvPr>
        </p:nvGraphicFramePr>
        <p:xfrm>
          <a:off x="4114800" y="1879600"/>
          <a:ext cx="10287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4" imgW="1028700" imgH="1778000" progId="">
                  <p:embed/>
                </p:oleObj>
              </mc:Choice>
              <mc:Fallback>
                <p:oleObj name="Equation" r:id="rId4" imgW="1028700" imgH="1778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879600"/>
                        <a:ext cx="10287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481207"/>
              </p:ext>
            </p:extLst>
          </p:nvPr>
        </p:nvGraphicFramePr>
        <p:xfrm>
          <a:off x="2046287" y="5414963"/>
          <a:ext cx="123031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Equation" r:id="rId6" imgW="1333500" imgH="558800" progId="">
                  <p:embed/>
                </p:oleObj>
              </mc:Choice>
              <mc:Fallback>
                <p:oleObj name="Equation" r:id="rId6" imgW="1333500" imgH="5588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7" y="5414963"/>
                        <a:ext cx="1230313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27CB722C-4CAB-42CE-AFC8-79BCE972BECD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44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TỌA ĐỘ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1024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29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562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một cơ 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dễ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dàng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-</a:t>
                </a:r>
                <a:r>
                  <a:rPr lang="vi-VN" altLang="en-US" sz="2800" dirty="0"/>
                  <a:t>vectơ tọa độ 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b="1" dirty="0" err="1"/>
                  <a:t>Ví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dụ</a:t>
                </a:r>
                <a:r>
                  <a:rPr lang="en-US" altLang="en-US" sz="2800" b="1" dirty="0"/>
                  <a:t> 1:</a:t>
                </a:r>
                <a:r>
                  <a:rPr lang="en-US" altLang="en-US" sz="2800" dirty="0"/>
                  <a:t> Cho                 ,                  ,               , </a:t>
                </a:r>
                <a:r>
                  <a:rPr lang="en-US" altLang="en-US" sz="2800" dirty="0" err="1"/>
                  <a:t>và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                . </a:t>
                </a:r>
                <a:r>
                  <a:rPr lang="en-US" altLang="en-US" sz="2800" dirty="0" err="1"/>
                  <a:t>Tìm</a:t>
                </a:r>
                <a:r>
                  <a:rPr lang="en-US" altLang="en-US" sz="2800" dirty="0"/>
                  <a:t>  </a:t>
                </a:r>
                <a:r>
                  <a:rPr lang="vi-VN" altLang="en-US" sz="2800" dirty="0"/>
                  <a:t>vectơ tọa độ</a:t>
                </a:r>
                <a:r>
                  <a:rPr lang="en-US" altLang="en-US" sz="2800" dirty="0"/>
                  <a:t> [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]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b="1" dirty="0" err="1"/>
                  <a:t>Lời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giải</a:t>
                </a:r>
                <a:r>
                  <a:rPr lang="en-US" altLang="en-US" sz="2800" b="1" dirty="0"/>
                  <a:t>: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-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</a:t>
                </a:r>
                <a:r>
                  <a:rPr lang="en-US" altLang="en-US" sz="2800" i="1" dirty="0"/>
                  <a:t>c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thỏa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mãn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229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562600"/>
              </a:xfrm>
              <a:blipFill>
                <a:blip r:embed="rId4"/>
                <a:stretch>
                  <a:fillRect l="-1481" t="-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2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978374"/>
              </p:ext>
            </p:extLst>
          </p:nvPr>
        </p:nvGraphicFramePr>
        <p:xfrm>
          <a:off x="3048000" y="2222500"/>
          <a:ext cx="132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name="Equation" r:id="rId5" imgW="1320800" imgH="1143000" progId="">
                  <p:embed/>
                </p:oleObj>
              </mc:Choice>
              <mc:Fallback>
                <p:oleObj name="Equation" r:id="rId5" imgW="1320800" imgH="11430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222500"/>
                        <a:ext cx="1320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231851"/>
              </p:ext>
            </p:extLst>
          </p:nvPr>
        </p:nvGraphicFramePr>
        <p:xfrm>
          <a:off x="4495800" y="2222500"/>
          <a:ext cx="1549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Equation" r:id="rId7" imgW="1549400" imgH="1143000" progId="">
                  <p:embed/>
                </p:oleObj>
              </mc:Choice>
              <mc:Fallback>
                <p:oleObj name="Equation" r:id="rId7" imgW="1549400" imgH="11430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222500"/>
                        <a:ext cx="15494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395034"/>
              </p:ext>
            </p:extLst>
          </p:nvPr>
        </p:nvGraphicFramePr>
        <p:xfrm>
          <a:off x="6248400" y="2222500"/>
          <a:ext cx="1231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name="Equation" r:id="rId9" imgW="1231900" imgH="1143000" progId="">
                  <p:embed/>
                </p:oleObj>
              </mc:Choice>
              <mc:Fallback>
                <p:oleObj name="Equation" r:id="rId9" imgW="1231900" imgH="1143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222500"/>
                        <a:ext cx="12319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014513"/>
              </p:ext>
            </p:extLst>
          </p:nvPr>
        </p:nvGraphicFramePr>
        <p:xfrm>
          <a:off x="914400" y="3530600"/>
          <a:ext cx="1460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name="Equation" r:id="rId11" imgW="1459866" imgH="482391" progId="">
                  <p:embed/>
                </p:oleObj>
              </mc:Choice>
              <mc:Fallback>
                <p:oleObj name="Equation" r:id="rId11" imgW="1459866" imgH="482391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30600"/>
                        <a:ext cx="1460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235605"/>
              </p:ext>
            </p:extLst>
          </p:nvPr>
        </p:nvGraphicFramePr>
        <p:xfrm>
          <a:off x="2667000" y="4876800"/>
          <a:ext cx="3365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7" name="Equation" r:id="rId13" imgW="3365500" imgH="1143000" progId="">
                  <p:embed/>
                </p:oleObj>
              </mc:Choice>
              <mc:Fallback>
                <p:oleObj name="Equation" r:id="rId13" imgW="3365500" imgH="1143000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876800"/>
                        <a:ext cx="33655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2957" name="Text Box 13" descr="Pink tissue paper"/>
          <p:cNvSpPr txBox="1">
            <a:spLocks noChangeArrowheads="1"/>
          </p:cNvSpPr>
          <p:nvPr/>
        </p:nvSpPr>
        <p:spPr bwMode="auto">
          <a:xfrm>
            <a:off x="2971800" y="6172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-25000">
                <a:solidFill>
                  <a:srgbClr val="0099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2958" name="Text Box 14" descr="Pink tissue paper"/>
          <p:cNvSpPr txBox="1">
            <a:spLocks noChangeArrowheads="1"/>
          </p:cNvSpPr>
          <p:nvPr/>
        </p:nvSpPr>
        <p:spPr bwMode="auto">
          <a:xfrm>
            <a:off x="4267200" y="6172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-25000">
                <a:solidFill>
                  <a:srgbClr val="0099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22959" name="Text Box 15" descr="Pink tissue paper"/>
          <p:cNvSpPr txBox="1">
            <a:spLocks noChangeArrowheads="1"/>
          </p:cNvSpPr>
          <p:nvPr/>
        </p:nvSpPr>
        <p:spPr bwMode="auto">
          <a:xfrm>
            <a:off x="5334000" y="6172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0099FF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89347029-F88E-4AC6-B515-D8259FDDB541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6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TỌA ĐỘ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1126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hay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(3)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/>
              <a:t>P</a:t>
            </a:r>
            <a:r>
              <a:rPr lang="vi-VN" altLang="en-US" sz="2800" dirty="0"/>
              <a:t>hương trình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động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bổ</a:t>
            </a:r>
            <a:r>
              <a:rPr lang="en-US" altLang="en-US" sz="2800" dirty="0"/>
              <a:t> sung </a:t>
            </a:r>
            <a:r>
              <a:rPr lang="en-US" altLang="en-US" sz="2800" dirty="0" err="1"/>
              <a:t>hoặc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trái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   ,           </a:t>
            </a:r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</a:t>
            </a:r>
          </a:p>
        </p:txBody>
      </p:sp>
      <p:graphicFrame>
        <p:nvGraphicFramePr>
          <p:cNvPr id="723973" name="Object 5"/>
          <p:cNvGraphicFramePr>
            <a:graphicFrameLocks noChangeAspect="1"/>
          </p:cNvGraphicFramePr>
          <p:nvPr/>
        </p:nvGraphicFramePr>
        <p:xfrm>
          <a:off x="2438400" y="1447800"/>
          <a:ext cx="3060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0" name="Equation" r:id="rId4" imgW="3060700" imgH="1143000" progId="">
                  <p:embed/>
                </p:oleObj>
              </mc:Choice>
              <mc:Fallback>
                <p:oleObj name="Equation" r:id="rId4" imgW="3060700" imgH="11430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447800"/>
                        <a:ext cx="3060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974" name="Text Box 6" descr="Pink tissue paper"/>
          <p:cNvSpPr txBox="1">
            <a:spLocks noChangeArrowheads="1"/>
          </p:cNvSpPr>
          <p:nvPr/>
        </p:nvSpPr>
        <p:spPr bwMode="auto">
          <a:xfrm>
            <a:off x="2438400" y="25908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6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-25000">
                <a:solidFill>
                  <a:srgbClr val="0099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3975" name="Text Box 7" descr="Pink tissue paper"/>
          <p:cNvSpPr txBox="1">
            <a:spLocks noChangeArrowheads="1"/>
          </p:cNvSpPr>
          <p:nvPr/>
        </p:nvSpPr>
        <p:spPr bwMode="auto">
          <a:xfrm>
            <a:off x="3124200" y="2590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6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-25000">
                <a:solidFill>
                  <a:srgbClr val="0099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23976" name="Text Box 8" descr="Pink tissue paper"/>
          <p:cNvSpPr txBox="1">
            <a:spLocks noChangeArrowheads="1"/>
          </p:cNvSpPr>
          <p:nvPr/>
        </p:nvSpPr>
        <p:spPr bwMode="auto">
          <a:xfrm>
            <a:off x="4876800" y="2590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6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0099FF"/>
                </a:solidFill>
                <a:latin typeface="Times New Roman" panose="02020603050405020304" pitchFamily="18" charset="0"/>
              </a:rPr>
              <a:t>x</a:t>
            </a:r>
          </a:p>
        </p:txBody>
      </p:sp>
      <p:graphicFrame>
        <p:nvGraphicFramePr>
          <p:cNvPr id="7239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36600"/>
              </p:ext>
            </p:extLst>
          </p:nvPr>
        </p:nvGraphicFramePr>
        <p:xfrm>
          <a:off x="6629400" y="4686300"/>
          <a:ext cx="838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1" name="Equation" r:id="rId7" imgW="888614" imgH="482391" progId="">
                  <p:embed/>
                </p:oleObj>
              </mc:Choice>
              <mc:Fallback>
                <p:oleObj name="Equation" r:id="rId7" imgW="888614" imgH="482391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686300"/>
                        <a:ext cx="83820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889583"/>
              </p:ext>
            </p:extLst>
          </p:nvPr>
        </p:nvGraphicFramePr>
        <p:xfrm>
          <a:off x="7620000" y="4673600"/>
          <a:ext cx="95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2" name="Equation" r:id="rId9" imgW="952087" imgH="482391" progId="">
                  <p:embed/>
                </p:oleObj>
              </mc:Choice>
              <mc:Fallback>
                <p:oleObj name="Equation" r:id="rId9" imgW="952087" imgH="482391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673600"/>
                        <a:ext cx="952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139906"/>
              </p:ext>
            </p:extLst>
          </p:nvPr>
        </p:nvGraphicFramePr>
        <p:xfrm>
          <a:off x="1892300" y="5194300"/>
          <a:ext cx="2070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3" name="Equation" r:id="rId11" imgW="2070100" imgH="482600" progId="">
                  <p:embed/>
                </p:oleObj>
              </mc:Choice>
              <mc:Fallback>
                <p:oleObj name="Equation" r:id="rId11" imgW="2070100" imgH="4826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5194300"/>
                        <a:ext cx="2070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81" name="Object 13"/>
          <p:cNvGraphicFramePr>
            <a:graphicFrameLocks noChangeAspect="1"/>
          </p:cNvGraphicFramePr>
          <p:nvPr/>
        </p:nvGraphicFramePr>
        <p:xfrm>
          <a:off x="3429000" y="5562600"/>
          <a:ext cx="2755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4" name="Equation" r:id="rId13" imgW="2755900" imgH="1143000" progId="">
                  <p:embed/>
                </p:oleObj>
              </mc:Choice>
              <mc:Fallback>
                <p:oleObj name="Equation" r:id="rId13" imgW="2755900" imgH="1143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562600"/>
                        <a:ext cx="27559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6A515659-4B21-4F8F-B54A-333E884B892E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2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TỌA ĐỘ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1229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49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5626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Xem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(3) </a:t>
                </a:r>
                <a:r>
                  <a:rPr lang="en-US" altLang="en-US" sz="2800" dirty="0" err="1"/>
                  <a:t>thay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-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tắc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  <a:buNone/>
                </a:pPr>
                <a:r>
                  <a:rPr lang="en-US" altLang="en-US" sz="2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một cơ 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                     . 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Cho </a:t>
                </a:r>
                <a:r>
                  <a:rPr lang="en-US" altLang="en-US" sz="2800" i="1" dirty="0"/>
                  <a:t>P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 </a:t>
                </a:r>
              </a:p>
            </p:txBody>
          </p:sp>
        </mc:Choice>
        <mc:Fallback>
          <p:sp>
            <p:nvSpPr>
              <p:cNvPr id="7249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562600"/>
              </a:xfrm>
              <a:blipFill>
                <a:blip r:embed="rId4"/>
                <a:stretch>
                  <a:fillRect l="-1259" t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4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213453"/>
              </p:ext>
            </p:extLst>
          </p:nvPr>
        </p:nvGraphicFramePr>
        <p:xfrm>
          <a:off x="3822700" y="5257800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5" imgW="1892300" imgH="482600" progId="">
                  <p:embed/>
                </p:oleObj>
              </mc:Choice>
              <mc:Fallback>
                <p:oleObj name="Equation" r:id="rId5" imgW="1892300" imgH="4826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5257800"/>
                        <a:ext cx="1892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108631"/>
              </p:ext>
            </p:extLst>
          </p:nvPr>
        </p:nvGraphicFramePr>
        <p:xfrm>
          <a:off x="2108200" y="5731119"/>
          <a:ext cx="3149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Equation" r:id="rId7" imgW="3149600" imgH="558800" progId="">
                  <p:embed/>
                </p:oleObj>
              </mc:Choice>
              <mc:Fallback>
                <p:oleObj name="Equation" r:id="rId7" imgW="3149600" imgH="5588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5731119"/>
                        <a:ext cx="31496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5002" name="Picture 10" descr="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700" y="1308100"/>
            <a:ext cx="259080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E42855D2-953E-476B-A842-5AF152090296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6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TỌA ĐỘ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1331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60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181600"/>
              </a:xfrm>
            </p:spPr>
            <p:txBody>
              <a:bodyPr/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phương trình vectơ</a:t>
                </a:r>
                <a:endParaRPr lang="en-US" altLang="en-US" sz="2800" dirty="0"/>
              </a:p>
              <a:p>
                <a:pPr eaLnBrk="1" hangingPunct="1">
                  <a:lnSpc>
                    <a:spcPct val="8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endParaRPr lang="en-US" altLang="en-US" sz="2800" dirty="0"/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(4)</a:t>
                </a:r>
              </a:p>
              <a:p>
                <a:pPr eaLnBrk="1" hangingPunct="1">
                  <a:lnSpc>
                    <a:spcPct val="80000"/>
                  </a:lnSpc>
                </a:pPr>
                <a:endParaRPr lang="en-US" altLang="en-US" sz="2800" i="1" dirty="0"/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en-US" sz="2800" i="1" dirty="0"/>
                  <a:t>P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gọi là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ma </a:t>
                </a:r>
                <a:r>
                  <a:rPr lang="en-US" altLang="en-US" sz="2800" b="1" dirty="0" err="1"/>
                  <a:t>trận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đổi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tọa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sang </a:t>
                </a:r>
                <a:r>
                  <a:rPr lang="vi-VN" altLang="en-US" sz="2800" dirty="0"/>
                  <a:t>cơ sở chính tắc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</a:p>
              <a:p>
                <a:pPr eaLnBrk="1" hangingPunct="1">
                  <a:lnSpc>
                    <a:spcPct val="8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P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 tọa độ</a:t>
                </a:r>
                <a:r>
                  <a:rPr lang="en-US" altLang="en-US" sz="2800" dirty="0"/>
                  <a:t> [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]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8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P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i="1" dirty="0"/>
                  <a:t>P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).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260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181600"/>
              </a:xfrm>
              <a:blipFill>
                <a:blip r:embed="rId4"/>
                <a:stretch>
                  <a:fillRect l="-1259" t="-2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6021" name="Object 5"/>
          <p:cNvGraphicFramePr>
            <a:graphicFrameLocks noChangeAspect="1"/>
          </p:cNvGraphicFramePr>
          <p:nvPr/>
        </p:nvGraphicFramePr>
        <p:xfrm>
          <a:off x="3048000" y="1676400"/>
          <a:ext cx="3873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6" name="Equation" r:id="rId5" imgW="3873500" imgH="482600" progId="">
                  <p:embed/>
                </p:oleObj>
              </mc:Choice>
              <mc:Fallback>
                <p:oleObj name="Equation" r:id="rId5" imgW="3873500" imgH="4826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676400"/>
                        <a:ext cx="3873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062793"/>
              </p:ext>
            </p:extLst>
          </p:nvPr>
        </p:nvGraphicFramePr>
        <p:xfrm>
          <a:off x="3175000" y="2438400"/>
          <a:ext cx="1854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7" name="Equation" r:id="rId7" imgW="1854200" imgH="660400" progId="">
                  <p:embed/>
                </p:oleObj>
              </mc:Choice>
              <mc:Fallback>
                <p:oleObj name="Equation" r:id="rId7" imgW="1854200" imgH="6604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2438400"/>
                        <a:ext cx="18542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/>
        </p:nvGraphicFramePr>
        <p:xfrm>
          <a:off x="4089400" y="25273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8" name="Equation" r:id="rId9" imgW="475104" imgH="810471" progId="">
                  <p:embed/>
                </p:oleObj>
              </mc:Choice>
              <mc:Fallback>
                <p:oleObj name="Equation" r:id="rId9" imgW="475104" imgH="810471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5273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832FEC2E-E3A5-4297-93B2-122C811BCE2A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40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TỌA ĐỘ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1434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70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382000" cy="4876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     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-</a:t>
                </a:r>
                <a:r>
                  <a:rPr lang="vi-VN" altLang="en-US" sz="2800" dirty="0"/>
                  <a:t>vectơ tọa độ</a:t>
                </a:r>
                <a:r>
                  <a:rPr lang="en-US" altLang="en-US" sz="2800" dirty="0"/>
                  <a:t>: 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              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tạo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 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. 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  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đơn cấu tuyến 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lên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7270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382000" cy="4876800"/>
              </a:xfrm>
              <a:blipFill>
                <a:blip r:embed="rId4"/>
                <a:stretch>
                  <a:fillRect l="-1236" t="-2000" r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648726"/>
              </p:ext>
            </p:extLst>
          </p:nvPr>
        </p:nvGraphicFramePr>
        <p:xfrm>
          <a:off x="3517900" y="1384300"/>
          <a:ext cx="520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8" name="Equation" r:id="rId5" imgW="520700" imgH="508000" progId="">
                  <p:embed/>
                </p:oleObj>
              </mc:Choice>
              <mc:Fallback>
                <p:oleObj name="Equation" r:id="rId5" imgW="520700" imgH="5080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1384300"/>
                        <a:ext cx="5207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213117"/>
              </p:ext>
            </p:extLst>
          </p:nvPr>
        </p:nvGraphicFramePr>
        <p:xfrm>
          <a:off x="3479800" y="2133600"/>
          <a:ext cx="1803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9" name="Equation" r:id="rId7" imgW="1803400" imgH="571500" progId="">
                  <p:embed/>
                </p:oleObj>
              </mc:Choice>
              <mc:Fallback>
                <p:oleObj name="Equation" r:id="rId7" imgW="1803400" imgH="5715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2133600"/>
                        <a:ext cx="18034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486314"/>
              </p:ext>
            </p:extLst>
          </p:nvPr>
        </p:nvGraphicFramePr>
        <p:xfrm>
          <a:off x="2514600" y="2908300"/>
          <a:ext cx="1333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0" name="Equation" r:id="rId9" imgW="1333500" imgH="558800" progId="">
                  <p:embed/>
                </p:oleObj>
              </mc:Choice>
              <mc:Fallback>
                <p:oleObj name="Equation" r:id="rId9" imgW="1333500" imgH="5588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908300"/>
                        <a:ext cx="13335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98046"/>
              </p:ext>
            </p:extLst>
          </p:nvPr>
        </p:nvGraphicFramePr>
        <p:xfrm>
          <a:off x="5867400" y="2933700"/>
          <a:ext cx="520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1" name="Equation" r:id="rId11" imgW="520700" imgH="508000" progId="">
                  <p:embed/>
                </p:oleObj>
              </mc:Choice>
              <mc:Fallback>
                <p:oleObj name="Equation" r:id="rId11" imgW="520700" imgH="508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933700"/>
                        <a:ext cx="5207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313206"/>
              </p:ext>
            </p:extLst>
          </p:nvPr>
        </p:nvGraphicFramePr>
        <p:xfrm>
          <a:off x="1371600" y="3962400"/>
          <a:ext cx="520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2" name="Equation" r:id="rId13" imgW="520700" imgH="508000" progId="">
                  <p:embed/>
                </p:oleObj>
              </mc:Choice>
              <mc:Fallback>
                <p:oleObj name="Equation" r:id="rId13" imgW="520700" imgH="5080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962400"/>
                        <a:ext cx="5207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62E65ABD-C953-4773-888B-3260EC7ADF4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806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524000"/>
                <a:ext cx="8458200" cy="4800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lí</a:t>
                </a:r>
                <a:r>
                  <a:rPr lang="en-US" altLang="en-US" sz="2800" b="1" dirty="0"/>
                  <a:t> 8:</a:t>
                </a:r>
                <a:r>
                  <a:rPr lang="en-US" altLang="en-US" sz="2800" dirty="0"/>
                  <a:t> Cho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                 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không gian vectơ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V. 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               </a:t>
                </a:r>
                <a:r>
                  <a:rPr lang="en-US" altLang="en-US" sz="2800" baseline="-250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đơn cấu tuyến 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lên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minh</a:t>
                </a:r>
                <a:r>
                  <a:rPr lang="en-US" altLang="en-US" sz="2800" b="1" dirty="0"/>
                  <a:t>: </a:t>
                </a:r>
                <a:r>
                  <a:rPr lang="en-US" altLang="en-US" sz="2800" dirty="0" err="1"/>
                  <a:t>Lấy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bât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, say,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toán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, </a:t>
                </a:r>
              </a:p>
            </p:txBody>
          </p:sp>
        </mc:Choice>
        <mc:Fallback>
          <p:sp>
            <p:nvSpPr>
              <p:cNvPr id="7280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524000"/>
                <a:ext cx="8458200" cy="4800600"/>
              </a:xfrm>
              <a:blipFill>
                <a:blip r:embed="rId3"/>
                <a:stretch>
                  <a:fillRect l="-1225" t="-2030" r="-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942871"/>
              </p:ext>
            </p:extLst>
          </p:nvPr>
        </p:nvGraphicFramePr>
        <p:xfrm>
          <a:off x="3429000" y="1511300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4" name="Equation" r:id="rId4" imgW="1892300" imgH="482600" progId="">
                  <p:embed/>
                </p:oleObj>
              </mc:Choice>
              <mc:Fallback>
                <p:oleObj name="Equation" r:id="rId4" imgW="1892300" imgH="4826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511300"/>
                        <a:ext cx="1892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09012"/>
              </p:ext>
            </p:extLst>
          </p:nvPr>
        </p:nvGraphicFramePr>
        <p:xfrm>
          <a:off x="6934200" y="1911350"/>
          <a:ext cx="1333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5" name="Equation" r:id="rId6" imgW="1333500" imgH="558800" progId="">
                  <p:embed/>
                </p:oleObj>
              </mc:Choice>
              <mc:Fallback>
                <p:oleObj name="Equation" r:id="rId6" imgW="1333500" imgH="5588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911350"/>
                        <a:ext cx="13335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1" name="Object 7"/>
          <p:cNvGraphicFramePr>
            <a:graphicFrameLocks noChangeAspect="1"/>
          </p:cNvGraphicFramePr>
          <p:nvPr/>
        </p:nvGraphicFramePr>
        <p:xfrm>
          <a:off x="3276600" y="4038600"/>
          <a:ext cx="30480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Equation" r:id="rId8" imgW="3048000" imgH="1092200" progId="">
                  <p:embed/>
                </p:oleObj>
              </mc:Choice>
              <mc:Fallback>
                <p:oleObj name="Equation" r:id="rId8" imgW="3048000" imgH="10922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38600"/>
                        <a:ext cx="30480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2" name="Object 8"/>
          <p:cNvGraphicFramePr>
            <a:graphicFrameLocks noChangeAspect="1"/>
          </p:cNvGraphicFramePr>
          <p:nvPr/>
        </p:nvGraphicFramePr>
        <p:xfrm>
          <a:off x="2209800" y="5867400"/>
          <a:ext cx="5473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7" name="Equation" r:id="rId10" imgW="5473700" imgH="482600" progId="">
                  <p:embed/>
                </p:oleObj>
              </mc:Choice>
              <mc:Fallback>
                <p:oleObj name="Equation" r:id="rId10" imgW="5473700" imgH="4826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867400"/>
                        <a:ext cx="5473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4DCC266A-C78D-40F9-B176-D30B5A376DE1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</a:t>
            </a:r>
            <a:endParaRPr lang="en-US" altLang="en-US" sz="2800" baseline="-25000" dirty="0">
              <a:latin typeface="Euclid Math One" pitchFamily="18" charset="2"/>
            </a:endParaRP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ánh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toàn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endParaRPr lang="en-US" altLang="en-US" sz="2800" dirty="0"/>
          </a:p>
        </p:txBody>
      </p:sp>
      <p:graphicFrame>
        <p:nvGraphicFramePr>
          <p:cNvPr id="729092" name="Object 4"/>
          <p:cNvGraphicFramePr>
            <a:graphicFrameLocks noChangeAspect="1"/>
          </p:cNvGraphicFramePr>
          <p:nvPr/>
        </p:nvGraphicFramePr>
        <p:xfrm>
          <a:off x="749300" y="2133600"/>
          <a:ext cx="75819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3" imgW="7581900" imgH="1778000" progId="">
                  <p:embed/>
                </p:oleObj>
              </mc:Choice>
              <mc:Fallback>
                <p:oleObj name="Equation" r:id="rId3" imgW="7581900" imgH="1778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2133600"/>
                        <a:ext cx="75819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086309"/>
              </p:ext>
            </p:extLst>
          </p:nvPr>
        </p:nvGraphicFramePr>
        <p:xfrm>
          <a:off x="1219200" y="5943600"/>
          <a:ext cx="706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quation" r:id="rId5" imgW="7061200" imgH="482600" progId="">
                  <p:embed/>
                </p:oleObj>
              </mc:Choice>
              <mc:Fallback>
                <p:oleObj name="Equation" r:id="rId5" imgW="7061200" imgH="4826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943600"/>
                        <a:ext cx="7061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EC6BD53A-486D-4293-89D4-9146A9524DB7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257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ánh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toàn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ánh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rộng</a:t>
            </a:r>
            <a:r>
              <a:rPr lang="en-US" altLang="en-US" sz="2800" dirty="0"/>
              <a:t> sang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extends to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/>
              <a:t>u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i="1" dirty="0" err="1"/>
              <a:t>c</a:t>
            </a:r>
            <a:r>
              <a:rPr lang="en-US" altLang="en-US" sz="2800" baseline="-25000" dirty="0" err="1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các vô hướng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                                                                           (5) </a:t>
            </a:r>
          </a:p>
        </p:txBody>
      </p:sp>
      <p:graphicFrame>
        <p:nvGraphicFramePr>
          <p:cNvPr id="730116" name="Object 4"/>
          <p:cNvGraphicFramePr>
            <a:graphicFrameLocks noChangeAspect="1"/>
          </p:cNvGraphicFramePr>
          <p:nvPr/>
        </p:nvGraphicFramePr>
        <p:xfrm>
          <a:off x="2279650" y="1447800"/>
          <a:ext cx="46863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name="Equation" r:id="rId3" imgW="4686300" imgH="1778000" progId="">
                  <p:embed/>
                </p:oleObj>
              </mc:Choice>
              <mc:Fallback>
                <p:oleObj name="Equation" r:id="rId3" imgW="4686300" imgH="1778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447800"/>
                        <a:ext cx="46863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703924"/>
              </p:ext>
            </p:extLst>
          </p:nvPr>
        </p:nvGraphicFramePr>
        <p:xfrm>
          <a:off x="1193800" y="5867400"/>
          <a:ext cx="6731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Equation" r:id="rId5" imgW="6731000" imgH="647700" progId="">
                  <p:embed/>
                </p:oleObj>
              </mc:Choice>
              <mc:Fallback>
                <p:oleObj name="Equation" r:id="rId5" imgW="6731000" imgH="6477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5867400"/>
                        <a:ext cx="67310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86148195-7911-452A-9078-F3ABB2C775CD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11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lời</a:t>
                </a:r>
                <a:r>
                  <a:rPr lang="en-US" altLang="en-US" sz="2800" dirty="0"/>
                  <a:t>, (5) </a:t>
                </a:r>
                <a:r>
                  <a:rPr lang="en-US" altLang="en-US" sz="2800" dirty="0" err="1"/>
                  <a:t>nói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>
                    <a:latin typeface="Euclid Math One" pitchFamily="18" charset="2"/>
                  </a:rPr>
                  <a:t>B</a:t>
                </a:r>
                <a:r>
                  <a:rPr lang="en-US" altLang="en-US" sz="2800" dirty="0"/>
                  <a:t>-</a:t>
                </a:r>
                <a:r>
                  <a:rPr lang="vi-VN" altLang="en-US" sz="2800" dirty="0"/>
                  <a:t>vectơ tọa độ 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b="1" dirty="0"/>
                  <a:t>u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 tọa 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nó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8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trọng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về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đẳng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cấu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lên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Tổng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quát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đơn cấu tuyến 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không gian vectơ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không gian vectơ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gọi 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đẳng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cấu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tuyến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lên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thuật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ngữ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V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nhưng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biệt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7311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2"/>
                <a:stretch>
                  <a:fillRect l="-1259" t="-2000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527DA21F-A093-41CA-B8BD-6F6E56A04FA7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i="1" dirty="0" err="1"/>
              <a:t>Mọi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tính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toán</a:t>
            </a:r>
            <a:r>
              <a:rPr lang="en-US" altLang="en-US" sz="2800" i="1" dirty="0"/>
              <a:t> </a:t>
            </a:r>
            <a:r>
              <a:rPr lang="vi-VN" altLang="en-US" sz="2800" i="1" dirty="0"/>
              <a:t>không gian vectơ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trong</a:t>
            </a:r>
            <a:r>
              <a:rPr lang="en-US" altLang="en-US" sz="2800" i="1" dirty="0"/>
              <a:t> V </a:t>
            </a:r>
            <a:r>
              <a:rPr lang="en-US" altLang="en-US" sz="2800" i="1" dirty="0" err="1"/>
              <a:t>được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sinh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ra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chính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xác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trong</a:t>
            </a:r>
            <a:r>
              <a:rPr lang="en-US" altLang="en-US" sz="2800" i="1" dirty="0"/>
              <a:t> W, </a:t>
            </a:r>
            <a:r>
              <a:rPr lang="en-US" altLang="en-US" sz="2800" i="1" dirty="0" err="1"/>
              <a:t>và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ngược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lại</a:t>
            </a:r>
            <a:r>
              <a:rPr lang="en-US" altLang="en-US" sz="2800" i="1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Đặc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vi-VN" altLang="en-US" sz="2800" dirty="0"/>
              <a:t>một 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biệt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7:</a:t>
            </a:r>
            <a:r>
              <a:rPr lang="en-US" altLang="en-US" sz="2800" dirty="0"/>
              <a:t> Cho                ,                  ,                  , 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                 .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.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liệu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i="1" dirty="0"/>
              <a:t>H </a:t>
            </a:r>
            <a:r>
              <a:rPr lang="en-US" altLang="en-US" sz="2800" dirty="0"/>
              <a:t>hay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hãy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vi-VN" altLang="en-US" sz="2800" dirty="0"/>
              <a:t>vectơ tọa độ 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.     </a:t>
            </a:r>
          </a:p>
        </p:txBody>
      </p:sp>
      <p:graphicFrame>
        <p:nvGraphicFramePr>
          <p:cNvPr id="73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38226"/>
              </p:ext>
            </p:extLst>
          </p:nvPr>
        </p:nvGraphicFramePr>
        <p:xfrm>
          <a:off x="6705600" y="2374900"/>
          <a:ext cx="45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Equation" r:id="rId3" imgW="457002" imgH="393529" progId="">
                  <p:embed/>
                </p:oleObj>
              </mc:Choice>
              <mc:Fallback>
                <p:oleObj name="Equation" r:id="rId3" imgW="457002" imgH="393529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374900"/>
                        <a:ext cx="45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622962"/>
              </p:ext>
            </p:extLst>
          </p:nvPr>
        </p:nvGraphicFramePr>
        <p:xfrm>
          <a:off x="2895600" y="3022600"/>
          <a:ext cx="13335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Equation" r:id="rId5" imgW="1333500" imgH="1778000" progId="">
                  <p:embed/>
                </p:oleObj>
              </mc:Choice>
              <mc:Fallback>
                <p:oleObj name="Equation" r:id="rId5" imgW="1333500" imgH="17780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22600"/>
                        <a:ext cx="13335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65854"/>
              </p:ext>
            </p:extLst>
          </p:nvPr>
        </p:nvGraphicFramePr>
        <p:xfrm>
          <a:off x="4381500" y="3022600"/>
          <a:ext cx="15621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Equation" r:id="rId7" imgW="1562100" imgH="1778000" progId="">
                  <p:embed/>
                </p:oleObj>
              </mc:Choice>
              <mc:Fallback>
                <p:oleObj name="Equation" r:id="rId7" imgW="1562100" imgH="17780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3022600"/>
                        <a:ext cx="15621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830971"/>
              </p:ext>
            </p:extLst>
          </p:nvPr>
        </p:nvGraphicFramePr>
        <p:xfrm>
          <a:off x="6248400" y="3022600"/>
          <a:ext cx="13843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7" name="Equation" r:id="rId9" imgW="1384300" imgH="1778000" progId="">
                  <p:embed/>
                </p:oleObj>
              </mc:Choice>
              <mc:Fallback>
                <p:oleObj name="Equation" r:id="rId9" imgW="1384300" imgH="17780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022600"/>
                        <a:ext cx="13843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309059"/>
              </p:ext>
            </p:extLst>
          </p:nvPr>
        </p:nvGraphicFramePr>
        <p:xfrm>
          <a:off x="1600200" y="4914900"/>
          <a:ext cx="1473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8" name="Equation" r:id="rId11" imgW="1473200" imgH="482600" progId="">
                  <p:embed/>
                </p:oleObj>
              </mc:Choice>
              <mc:Fallback>
                <p:oleObj name="Equation" r:id="rId11" imgW="1473200" imgH="4826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914900"/>
                        <a:ext cx="1473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780732"/>
              </p:ext>
            </p:extLst>
          </p:nvPr>
        </p:nvGraphicFramePr>
        <p:xfrm>
          <a:off x="901700" y="5346700"/>
          <a:ext cx="2717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" name="Equation" r:id="rId13" imgW="2717800" imgH="482600" progId="">
                  <p:embed/>
                </p:oleObj>
              </mc:Choice>
              <mc:Fallback>
                <p:oleObj name="Equation" r:id="rId13" imgW="2717800" imgH="482600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5346700"/>
                        <a:ext cx="2717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DF013072-DAE0-4705-891F-F553CBE41C07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C</a:t>
            </a:r>
            <a:r>
              <a:rPr lang="vi-VN" altLang="en-US" sz="2800" dirty="0"/>
              <a:t>ác vô hướng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-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33188" name="Object 4"/>
          <p:cNvGraphicFramePr>
            <a:graphicFrameLocks noChangeAspect="1"/>
          </p:cNvGraphicFramePr>
          <p:nvPr/>
        </p:nvGraphicFramePr>
        <p:xfrm>
          <a:off x="2819400" y="2667000"/>
          <a:ext cx="35306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3" imgW="3530600" imgH="1778000" progId="">
                  <p:embed/>
                </p:oleObj>
              </mc:Choice>
              <mc:Fallback>
                <p:oleObj name="Equation" r:id="rId3" imgW="3530600" imgH="17780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667000"/>
                        <a:ext cx="35306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91593BA6-7F20-4577-8073-1D2417D7D0BE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,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[</a:t>
            </a:r>
            <a:r>
              <a:rPr lang="en-US" altLang="en-US" sz="2800" b="1" dirty="0"/>
              <a:t>x</a:t>
            </a:r>
            <a:r>
              <a:rPr lang="en-US" altLang="en-US" sz="2800" dirty="0"/>
              <a:t>]</a:t>
            </a:r>
            <a:r>
              <a:rPr lang="en-US" altLang="en-US" sz="2800" baseline="-25000" dirty="0">
                <a:latin typeface="Euclid Math One" pitchFamily="18" charset="2"/>
              </a:rPr>
              <a:t>B</a:t>
            </a:r>
            <a:r>
              <a:rPr lang="en-US" altLang="en-US" sz="2800" dirty="0"/>
              <a:t>           . </a:t>
            </a:r>
          </a:p>
        </p:txBody>
      </p:sp>
      <p:graphicFrame>
        <p:nvGraphicFramePr>
          <p:cNvPr id="734212" name="Object 4"/>
          <p:cNvGraphicFramePr>
            <a:graphicFrameLocks noChangeAspect="1"/>
          </p:cNvGraphicFramePr>
          <p:nvPr/>
        </p:nvGraphicFramePr>
        <p:xfrm>
          <a:off x="2438400" y="2133600"/>
          <a:ext cx="42418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4" name="Equation" r:id="rId3" imgW="4241800" imgH="1778000" progId="">
                  <p:embed/>
                </p:oleObj>
              </mc:Choice>
              <mc:Fallback>
                <p:oleObj name="Equation" r:id="rId3" imgW="4241800" imgH="17780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33600"/>
                        <a:ext cx="42418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834963"/>
              </p:ext>
            </p:extLst>
          </p:nvPr>
        </p:nvGraphicFramePr>
        <p:xfrm>
          <a:off x="1905000" y="4699000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name="Equation" r:id="rId5" imgW="914400" imgH="482600" progId="">
                  <p:embed/>
                </p:oleObj>
              </mc:Choice>
              <mc:Fallback>
                <p:oleObj name="Equation" r:id="rId5" imgW="914400" imgH="4826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699000"/>
                        <a:ext cx="914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287917"/>
              </p:ext>
            </p:extLst>
          </p:nvPr>
        </p:nvGraphicFramePr>
        <p:xfrm>
          <a:off x="3035300" y="4699000"/>
          <a:ext cx="92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name="Equation" r:id="rId7" imgW="927100" imgH="482600" progId="">
                  <p:embed/>
                </p:oleObj>
              </mc:Choice>
              <mc:Fallback>
                <p:oleObj name="Equation" r:id="rId7" imgW="927100" imgH="4826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4699000"/>
                        <a:ext cx="927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5" name="Object 7"/>
          <p:cNvGraphicFramePr>
            <a:graphicFrameLocks noChangeAspect="1"/>
          </p:cNvGraphicFramePr>
          <p:nvPr/>
        </p:nvGraphicFramePr>
        <p:xfrm>
          <a:off x="5067300" y="4432300"/>
          <a:ext cx="914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" name="Equation" r:id="rId9" imgW="914400" imgH="1143000" progId="">
                  <p:embed/>
                </p:oleObj>
              </mc:Choice>
              <mc:Fallback>
                <p:oleObj name="Equation" r:id="rId9" imgW="914400" imgH="11430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4432300"/>
                        <a:ext cx="9144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469" y="2738735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4.4- </a:t>
            </a:r>
            <a:fld id="{15C5CA5C-EACB-4976-9FFD-7680566B1BFE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ÁNH XẠ TỌA ĐỘ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.</a:t>
            </a:r>
          </a:p>
        </p:txBody>
      </p:sp>
      <p:pic>
        <p:nvPicPr>
          <p:cNvPr id="735238" name="Picture 6" descr="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2971800"/>
            <a:ext cx="4105275" cy="3059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15830</TotalTime>
  <Words>833</Words>
  <Application>Microsoft Office PowerPoint</Application>
  <PresentationFormat>On-screen Show (4:3)</PresentationFormat>
  <Paragraphs>171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Narrow</vt:lpstr>
      <vt:lpstr>Bookshelf Symbol 2</vt:lpstr>
      <vt:lpstr>Cambria Math</vt:lpstr>
      <vt:lpstr>Euclid Math One</vt:lpstr>
      <vt:lpstr>Symbol</vt:lpstr>
      <vt:lpstr>Times New Roman</vt:lpstr>
      <vt:lpstr>Wingdings</vt:lpstr>
      <vt:lpstr>Blends</vt:lpstr>
      <vt:lpstr>Equation</vt:lpstr>
      <vt:lpstr>Không gian Vectơ</vt:lpstr>
      <vt:lpstr>ĐỊNH LÍ BIỂU DIỄN DUY NHẤT</vt:lpstr>
      <vt:lpstr>ĐỊNH LÍ BIỂU DIỄN DUY NHẤT</vt:lpstr>
      <vt:lpstr>ĐỊNH LÍ BIỂU DIỄN DUY NHẤT</vt:lpstr>
      <vt:lpstr>TỌA ĐỘ TRONG R^n</vt:lpstr>
      <vt:lpstr>TỌA ĐỘ TRONG R^n</vt:lpstr>
      <vt:lpstr>TỌA ĐỘ TRONG R^n</vt:lpstr>
      <vt:lpstr>TỌA ĐỘ TRONG R^n</vt:lpstr>
      <vt:lpstr>TỌA ĐỘ TRONG R^n</vt:lpstr>
      <vt:lpstr>ÁNH XẠ TỌA ĐỘ</vt:lpstr>
      <vt:lpstr>ÁNH XẠ TỌA ĐỘ</vt:lpstr>
      <vt:lpstr>ÁNH XẠ TỌA ĐỘ</vt:lpstr>
      <vt:lpstr>ÁNH XẠ TỌA ĐỘ</vt:lpstr>
      <vt:lpstr>ÁNH XẠ TỌA ĐỘ</vt:lpstr>
      <vt:lpstr>ÁNH XẠ TỌA ĐỘ</vt:lpstr>
      <vt:lpstr>ÁNH XẠ TỌA ĐỘ</vt:lpstr>
      <vt:lpstr>ÁNH XẠ TỌA ĐỘ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1316</cp:revision>
  <dcterms:created xsi:type="dcterms:W3CDTF">2005-10-22T18:34:54Z</dcterms:created>
  <dcterms:modified xsi:type="dcterms:W3CDTF">2016-08-02T10:28:10Z</dcterms:modified>
</cp:coreProperties>
</file>