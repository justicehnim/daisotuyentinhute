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44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1" autoAdjust="0"/>
    <p:restoredTop sz="98517" autoAdjust="0"/>
  </p:normalViewPr>
  <p:slideViewPr>
    <p:cSldViewPr>
      <p:cViewPr varScale="1">
        <p:scale>
          <a:sx n="88" d="100"/>
          <a:sy n="88" d="100"/>
        </p:scale>
        <p:origin x="1046" y="8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736EF8-F8CD-4F01-937A-743401D302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5969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83C7A559-C4E8-449A-AEBF-A070A94784DA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43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DAC64525-E0E0-4744-B597-C580D4CCECBD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673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6.1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14869" y="2196471"/>
            <a:ext cx="3095861" cy="386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2736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607F050E-2AA8-4BCE-A41A-CC3B55ADC5F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811606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1D0C2CF7-09A0-4ECE-9B3E-FE267D24FD8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9769266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31ECC622-28BA-489F-A706-694B2D67837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4119726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E1906918-0AAC-404E-806C-101084A8D0A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0047604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E53C5F9B-2CE1-46B6-85DC-72C6B2D8E3F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9061590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C7A2A3C2-7B6E-41BC-942C-AD3C7F3F2D0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02768058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39FBC7FC-AC8A-481D-A155-402236827DA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05557530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DA72EE27-422A-4B69-BA2F-0309DD3A4C7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2744055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D9FF3D7A-33ED-442E-AEA2-1A071F890A0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5847853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1948C2C9-9554-4D54-AFF1-FE2B327DE64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306405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CC563C05-7C4C-4585-9195-1350B0520E0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301254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6.1- </a:t>
            </a:r>
            <a:fld id="{C166DB3A-95DB-4AE4-9E51-416601D7347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image" Target="../media/image26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3.bin"/><Relationship Id="rId3" Type="http://schemas.openxmlformats.org/officeDocument/2006/relationships/image" Target="../media/image31.png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34.png"/><Relationship Id="rId10" Type="http://schemas.openxmlformats.org/officeDocument/2006/relationships/image" Target="../media/image25.wmf"/><Relationship Id="rId4" Type="http://schemas.openxmlformats.org/officeDocument/2006/relationships/image" Target="../media/image32.png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2.wmf"/><Relationship Id="rId3" Type="http://schemas.openxmlformats.org/officeDocument/2006/relationships/image" Target="../media/image31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png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45.png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49.png"/><Relationship Id="rId4" Type="http://schemas.openxmlformats.org/officeDocument/2006/relationships/image" Target="../media/image1.jpe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7.wmf"/><Relationship Id="rId3" Type="http://schemas.openxmlformats.org/officeDocument/2006/relationships/image" Target="../media/image56.png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7.bin"/><Relationship Id="rId3" Type="http://schemas.openxmlformats.org/officeDocument/2006/relationships/image" Target="../media/image65.png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52.wmf"/><Relationship Id="rId4" Type="http://schemas.openxmlformats.org/officeDocument/2006/relationships/image" Target="../media/image66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5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73.png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78.png"/><Relationship Id="rId5" Type="http://schemas.openxmlformats.org/officeDocument/2006/relationships/image" Target="../media/image60.wmf"/><Relationship Id="rId10" Type="http://schemas.openxmlformats.org/officeDocument/2006/relationships/image" Target="../media/image59.png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Chất</a:t>
            </a:r>
            <a:r>
              <a:rPr lang="en-US" altLang="en-US" dirty="0"/>
              <a:t> </a:t>
            </a:r>
            <a:r>
              <a:rPr lang="en-US" altLang="en-US" dirty="0" err="1"/>
              <a:t>Trực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br>
              <a:rPr lang="en-US" altLang="en-US" dirty="0"/>
            </a:br>
            <a:r>
              <a:rPr lang="en-US" altLang="en-US" dirty="0" err="1"/>
              <a:t>Bình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Tiểu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TÍCH TRONG, ĐỘ DÀI, VÀ TÍNH CHẤT TRỰC GIAO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391C49E6-8158-4C7B-90D2-0EA0D83DE2CA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TÍCH TRONG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5105400"/>
              </a:xfrm>
            </p:spPr>
            <p:txBody>
              <a:bodyPr/>
              <a:lstStyle/>
              <a:p>
                <a:pPr marL="609600" indent="-609600" eaLnBrk="1" hangingPunct="1">
                  <a:lnSpc>
                    <a:spcPct val="80000"/>
                  </a:lnSpc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các vectơ 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>
                  <a:lnSpc>
                    <a:spcPct val="80000"/>
                  </a:lnSpc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609600" indent="-609600" eaLnBrk="1" hangingPunct="1">
                  <a:lnSpc>
                    <a:spcPct val="80000"/>
                  </a:lnSpc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Chuyển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30000" dirty="0" err="1">
                    <a:cs typeface="Times New Roman" panose="02020603050405020304" pitchFamily="18" charset="0"/>
                  </a:rPr>
                  <a:t>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30000" dirty="0" err="1">
                    <a:cs typeface="Times New Roman" panose="02020603050405020304" pitchFamily="18" charset="0"/>
                  </a:rPr>
                  <a:t>T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sẽ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dùng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dấu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ngoặc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>
                  <a:lnSpc>
                    <a:spcPct val="80000"/>
                  </a:lnSpc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609600" indent="-609600" eaLnBrk="1" hangingPunct="1">
                  <a:lnSpc>
                    <a:spcPct val="80000"/>
                  </a:lnSpc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30000" dirty="0" err="1">
                    <a:cs typeface="Times New Roman" panose="02020603050405020304" pitchFamily="18" charset="0"/>
                  </a:rPr>
                  <a:t>T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>
                  <a:lnSpc>
                    <a:spcPct val="80000"/>
                  </a:lnSpc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609600" indent="-609600" eaLnBrk="1" hangingPunct="1">
                  <a:lnSpc>
                    <a:spcPct val="80000"/>
                  </a:lnSpc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còn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gọi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chấm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hay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5105400"/>
              </a:xfrm>
              <a:blipFill>
                <a:blip r:embed="rId4"/>
                <a:stretch>
                  <a:fillRect l="-1259" t="-2864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773122"/>
              </p:ext>
            </p:extLst>
          </p:nvPr>
        </p:nvGraphicFramePr>
        <p:xfrm>
          <a:off x="2057400" y="1714500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Equation" r:id="rId5" imgW="685800" imgH="342900" progId="">
                  <p:embed/>
                </p:oleObj>
              </mc:Choice>
              <mc:Fallback>
                <p:oleObj name="Equation" r:id="rId5" imgW="685800" imgH="3429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14500"/>
                        <a:ext cx="685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162549"/>
              </p:ext>
            </p:extLst>
          </p:nvPr>
        </p:nvGraphicFramePr>
        <p:xfrm>
          <a:off x="4114800" y="2603500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7" imgW="685800" imgH="342900" progId="">
                  <p:embed/>
                </p:oleObj>
              </mc:Choice>
              <mc:Fallback>
                <p:oleObj name="Equation" r:id="rId7" imgW="685800" imgH="3429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603500"/>
                        <a:ext cx="609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302337"/>
              </p:ext>
            </p:extLst>
          </p:nvPr>
        </p:nvGraphicFramePr>
        <p:xfrm>
          <a:off x="2743200" y="2971800"/>
          <a:ext cx="5080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9" imgW="609600" imgH="330200" progId="">
                  <p:embed/>
                </p:oleObj>
              </mc:Choice>
              <mc:Fallback>
                <p:oleObj name="Equation" r:id="rId9" imgW="609600" imgH="3302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971800"/>
                        <a:ext cx="508000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4D82D86C-F707-42FB-B5E0-D948825966EF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TÍCH TRONG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07365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 </a:t>
            </a:r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804960"/>
              </p:ext>
            </p:extLst>
          </p:nvPr>
        </p:nvGraphicFramePr>
        <p:xfrm>
          <a:off x="1587500" y="1333500"/>
          <a:ext cx="1231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3" imgW="1231900" imgH="2387600" progId="">
                  <p:embed/>
                </p:oleObj>
              </mc:Choice>
              <mc:Fallback>
                <p:oleObj name="Equation" r:id="rId3" imgW="1231900" imgH="23876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1333500"/>
                        <a:ext cx="1231900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800031"/>
              </p:ext>
            </p:extLst>
          </p:nvPr>
        </p:nvGraphicFramePr>
        <p:xfrm>
          <a:off x="3390900" y="1333500"/>
          <a:ext cx="13335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5" imgW="1333500" imgH="2387600" progId="">
                  <p:embed/>
                </p:oleObj>
              </mc:Choice>
              <mc:Fallback>
                <p:oleObj name="Equation" r:id="rId5" imgW="1333500" imgH="23876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1333500"/>
                        <a:ext cx="1333500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9960"/>
              </p:ext>
            </p:extLst>
          </p:nvPr>
        </p:nvGraphicFramePr>
        <p:xfrm>
          <a:off x="838200" y="3962400"/>
          <a:ext cx="71120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7" imgW="7112000" imgH="2387600" progId="">
                  <p:embed/>
                </p:oleObj>
              </mc:Choice>
              <mc:Fallback>
                <p:oleObj name="Equation" r:id="rId7" imgW="7112000" imgH="23876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62400"/>
                        <a:ext cx="7112000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243E42C0-629D-4718-93D4-0344EE46FCD3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TÍCH TRONG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19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1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vô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hướng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𝑐𝑢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800" dirty="0"/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altLang="en-US" sz="2800" dirty="0"/>
                  <a:t> và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800" dirty="0"/>
                  <a:t>nếu và chỉ nếu</a:t>
                </a:r>
              </a:p>
              <a:p>
                <a:pPr marL="609600" indent="-609600" eaLnBrk="1" hangingPunct="1"/>
                <a:endParaRPr lang="en-US" altLang="en-US" sz="2800" dirty="0"/>
              </a:p>
              <a:p>
                <a:pPr marL="609600" indent="-609600"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chất</a:t>
                </a:r>
                <a:r>
                  <a:rPr lang="en-US" altLang="en-US" sz="2800" dirty="0"/>
                  <a:t> (b)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(c)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dẫn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 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600" dirty="0"/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alt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en-US" sz="2600" dirty="0"/>
              </a:p>
            </p:txBody>
          </p:sp>
        </mc:Choice>
        <mc:Fallback xmlns="">
          <p:sp>
            <p:nvSpPr>
              <p:cNvPr id="72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481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19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254155"/>
              </p:ext>
            </p:extLst>
          </p:nvPr>
        </p:nvGraphicFramePr>
        <p:xfrm>
          <a:off x="7543800" y="3886200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4" imgW="850531" imgH="342751" progId="">
                  <p:embed/>
                </p:oleObj>
              </mc:Choice>
              <mc:Fallback>
                <p:oleObj name="Equation" r:id="rId4" imgW="850531" imgH="342751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886200"/>
                        <a:ext cx="85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8BF3E273-EBE2-435D-BB23-D5D6F1C601D7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ĐỘ DÀI CỦA </a:t>
            </a:r>
            <a:r>
              <a:rPr lang="vi-VN" altLang="en-US" dirty="0"/>
              <a:t>VECTƠ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29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768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i="1" dirty="0" err="1"/>
                  <a:t>v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the </a:t>
                </a:r>
                <a:r>
                  <a:rPr lang="en-US" altLang="en-US" sz="2800" dirty="0" err="1"/>
                  <a:t>căn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định nghĩa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âm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nghĩa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độ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dài</a:t>
                </a:r>
                <a:r>
                  <a:rPr lang="en-US" altLang="en-US" sz="2800" b="1" dirty="0"/>
                  <a:t> </a:t>
                </a:r>
                <a:r>
                  <a:rPr lang="en-US" altLang="en-US" sz="2800" dirty="0"/>
                  <a:t>(hay </a:t>
                </a:r>
                <a:r>
                  <a:rPr lang="en-US" altLang="en-US" sz="2800" b="1" dirty="0" err="1"/>
                  <a:t>chuẩn</a:t>
                </a:r>
                <a:r>
                  <a:rPr lang="en-US" altLang="en-US" sz="2800" dirty="0"/>
                  <a:t>)      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vô hướng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âm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8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8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rad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7229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76800"/>
              </a:xfrm>
              <a:blipFill>
                <a:blip r:embed="rId3"/>
                <a:stretch>
                  <a:fillRect l="-1481" t="-2250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2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388460"/>
              </p:ext>
            </p:extLst>
          </p:nvPr>
        </p:nvGraphicFramePr>
        <p:xfrm>
          <a:off x="5295900" y="3068955"/>
          <a:ext cx="495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Equation" r:id="rId4" imgW="495085" imgH="558558" progId="">
                  <p:embed/>
                </p:oleObj>
              </mc:Choice>
              <mc:Fallback>
                <p:oleObj name="Equation" r:id="rId4" imgW="495085" imgH="558558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3068955"/>
                        <a:ext cx="495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697009"/>
              </p:ext>
            </p:extLst>
          </p:nvPr>
        </p:nvGraphicFramePr>
        <p:xfrm>
          <a:off x="4064000" y="4781550"/>
          <a:ext cx="1231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Equation" r:id="rId6" imgW="1231900" imgH="1143000" progId="">
                  <p:embed/>
                </p:oleObj>
              </mc:Choice>
              <mc:Fallback>
                <p:oleObj name="Equation" r:id="rId6" imgW="1231900" imgH="1143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781550"/>
                        <a:ext cx="12319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1E6CC1E5-FB2E-4F63-91C9-1415AC57562C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ĐỘ DÀI CỦA </a:t>
            </a:r>
            <a:r>
              <a:rPr lang="vi-VN" altLang="en-US" dirty="0"/>
              <a:t>VECTƠ</a:t>
            </a:r>
            <a:endParaRPr lang="en-US" altLang="en-US" dirty="0"/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mặt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lệ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trùng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đoạn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tâm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Pythagor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tam </a:t>
            </a:r>
            <a:r>
              <a:rPr lang="en-US" altLang="en-US" sz="2800" dirty="0" err="1"/>
              <a:t>giác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    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v.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189417"/>
              </p:ext>
            </p:extLst>
          </p:nvPr>
        </p:nvGraphicFramePr>
        <p:xfrm>
          <a:off x="4457700" y="1574800"/>
          <a:ext cx="495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4" name="Equation" r:id="rId3" imgW="495085" imgH="558558" progId="">
                  <p:embed/>
                </p:oleObj>
              </mc:Choice>
              <mc:Fallback>
                <p:oleObj name="Equation" r:id="rId3" imgW="495085" imgH="558558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74800"/>
                        <a:ext cx="495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747173"/>
              </p:ext>
            </p:extLst>
          </p:nvPr>
        </p:nvGraphicFramePr>
        <p:xfrm>
          <a:off x="6934200" y="4942069"/>
          <a:ext cx="342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5" name="Equation" r:id="rId5" imgW="342751" imgH="558558" progId="">
                  <p:embed/>
                </p:oleObj>
              </mc:Choice>
              <mc:Fallback>
                <p:oleObj name="Equation" r:id="rId5" imgW="342751" imgH="558558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942069"/>
                        <a:ext cx="342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966757"/>
              </p:ext>
            </p:extLst>
          </p:nvPr>
        </p:nvGraphicFramePr>
        <p:xfrm>
          <a:off x="3543300" y="5765800"/>
          <a:ext cx="1866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Equation" r:id="rId7" imgW="1866900" imgH="558800" progId="">
                  <p:embed/>
                </p:oleObj>
              </mc:Choice>
              <mc:Fallback>
                <p:oleObj name="Equation" r:id="rId7" imgW="1866900" imgH="5588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5765800"/>
                        <a:ext cx="1866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3977" name="Picture 9" descr="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429000"/>
            <a:ext cx="2438400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2460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1F0BDCFC-044A-4E19-91DD-32BBE98FE78B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ĐỘ DÀI CỦA </a:t>
            </a:r>
            <a:r>
              <a:rPr lang="vi-VN" altLang="en-US" dirty="0"/>
              <a:t>VECTƠ</a:t>
            </a:r>
            <a:endParaRPr lang="en-US" altLang="en-US" dirty="0"/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1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b="1" dirty="0"/>
              <a:t>vectơ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đơn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vị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ta </a:t>
            </a:r>
            <a:r>
              <a:rPr lang="en-US" altLang="en-US" sz="2800" i="1" dirty="0"/>
              <a:t>chia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 khác không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- </a:t>
            </a:r>
            <a:r>
              <a:rPr lang="en-US" altLang="en-US" sz="2800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          - ta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dài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 .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Quy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chuẩn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ta </a:t>
            </a:r>
            <a:r>
              <a:rPr lang="en-US" altLang="en-US" sz="2800" dirty="0" err="1">
                <a:cs typeface="Times New Roman" panose="02020603050405020304" pitchFamily="18" charset="0"/>
              </a:rPr>
              <a:t>nói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536840"/>
              </p:ext>
            </p:extLst>
          </p:nvPr>
        </p:nvGraphicFramePr>
        <p:xfrm>
          <a:off x="4140200" y="3276600"/>
          <a:ext cx="889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3" imgW="889000" imgH="558800" progId="">
                  <p:embed/>
                </p:oleObj>
              </mc:Choice>
              <mc:Fallback>
                <p:oleObj name="Equation" r:id="rId3" imgW="889000" imgH="5588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276600"/>
                        <a:ext cx="889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056395"/>
              </p:ext>
            </p:extLst>
          </p:nvPr>
        </p:nvGraphicFramePr>
        <p:xfrm>
          <a:off x="6184900" y="3708400"/>
          <a:ext cx="166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5" imgW="1663700" imgH="558800" progId="">
                  <p:embed/>
                </p:oleObj>
              </mc:Choice>
              <mc:Fallback>
                <p:oleObj name="Equation" r:id="rId5" imgW="1663700" imgH="5588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708400"/>
                        <a:ext cx="16637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AF244485-29D1-43B0-8ECD-B90B8C66A142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ĐỘ DÀI CỦA </a:t>
            </a:r>
            <a:r>
              <a:rPr lang="vi-VN" altLang="en-US" dirty="0"/>
              <a:t>VECTƠ</a:t>
            </a:r>
            <a:endParaRPr lang="en-US" altLang="en-US" dirty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791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2:</a:t>
            </a:r>
            <a:r>
              <a:rPr lang="en-US" altLang="en-US" sz="2800" dirty="0"/>
              <a:t> Cho                         .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endParaRPr lang="en-US" altLang="en-US" sz="2800" dirty="0"/>
          </a:p>
        </p:txBody>
      </p:sp>
      <p:graphicFrame>
        <p:nvGraphicFramePr>
          <p:cNvPr id="72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125564"/>
              </p:ext>
            </p:extLst>
          </p:nvPr>
        </p:nvGraphicFramePr>
        <p:xfrm>
          <a:off x="2590800" y="1143000"/>
          <a:ext cx="21336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Equation" r:id="rId3" imgW="2286000" imgH="431800" progId="">
                  <p:embed/>
                </p:oleObj>
              </mc:Choice>
              <mc:Fallback>
                <p:oleObj name="Equation" r:id="rId3" imgW="2286000" imgH="431800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43000"/>
                        <a:ext cx="213360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1" name="Object 5"/>
          <p:cNvGraphicFramePr>
            <a:graphicFrameLocks noChangeAspect="1"/>
          </p:cNvGraphicFramePr>
          <p:nvPr/>
        </p:nvGraphicFramePr>
        <p:xfrm>
          <a:off x="1600200" y="2667000"/>
          <a:ext cx="62484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Equation" r:id="rId5" imgW="6375400" imgH="1346200" progId="">
                  <p:embed/>
                </p:oleObj>
              </mc:Choice>
              <mc:Fallback>
                <p:oleObj name="Equation" r:id="rId5" imgW="6375400" imgH="1346200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667000"/>
                        <a:ext cx="6248400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062503"/>
              </p:ext>
            </p:extLst>
          </p:nvPr>
        </p:nvGraphicFramePr>
        <p:xfrm>
          <a:off x="3657600" y="4064000"/>
          <a:ext cx="889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7" imgW="889000" imgH="558800" progId="">
                  <p:embed/>
                </p:oleObj>
              </mc:Choice>
              <mc:Fallback>
                <p:oleObj name="Equation" r:id="rId7" imgW="889000" imgH="5588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64000"/>
                        <a:ext cx="889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3" name="Object 7"/>
          <p:cNvGraphicFramePr>
            <a:graphicFrameLocks noChangeAspect="1"/>
          </p:cNvGraphicFramePr>
          <p:nvPr/>
        </p:nvGraphicFramePr>
        <p:xfrm>
          <a:off x="1828800" y="4573588"/>
          <a:ext cx="5257800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Equation" r:id="rId9" imgW="5435600" imgH="2362200" progId="">
                  <p:embed/>
                </p:oleObj>
              </mc:Choice>
              <mc:Fallback>
                <p:oleObj name="Equation" r:id="rId9" imgW="5435600" imgH="23622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3588"/>
                        <a:ext cx="5257800" cy="228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38400" y="2693314"/>
                <a:ext cx="9144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693314"/>
                <a:ext cx="91440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B0F287CF-20B3-4BF8-843B-E2A9AF2F8588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KHOẢNG CÁCH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34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0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            ,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             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nghĩa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b="1" dirty="0"/>
                  <a:t> v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b="1" dirty="0" err="1"/>
                  <a:t>khoảng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cách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giữa</a:t>
                </a:r>
                <a:r>
                  <a:rPr lang="en-US" altLang="en-US" sz="2800" b="1" dirty="0"/>
                  <a:t> u </a:t>
                </a:r>
                <a:r>
                  <a:rPr lang="en-US" altLang="en-US" sz="2800" b="1" dirty="0" err="1"/>
                  <a:t>và</a:t>
                </a:r>
                <a:r>
                  <a:rPr lang="en-US" altLang="en-US" sz="2800" b="1" dirty="0"/>
                  <a:t> v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dist</a:t>
                </a:r>
                <a:r>
                  <a:rPr lang="en-US" altLang="en-US" sz="2800" dirty="0"/>
                  <a:t> (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),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dài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          .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             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7270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334000"/>
              </a:xfrm>
              <a:blipFill>
                <a:blip r:embed="rId4"/>
                <a:stretch>
                  <a:fillRect l="-1474" t="-1143" r="-11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420931"/>
              </p:ext>
            </p:extLst>
          </p:nvPr>
        </p:nvGraphicFramePr>
        <p:xfrm>
          <a:off x="2438400" y="1219200"/>
          <a:ext cx="1016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name="Equation" r:id="rId5" imgW="1016000" imgH="558800" progId="">
                  <p:embed/>
                </p:oleObj>
              </mc:Choice>
              <mc:Fallback>
                <p:oleObj name="Equation" r:id="rId5" imgW="1016000" imgH="558800" progId="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19200"/>
                        <a:ext cx="1016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160473"/>
              </p:ext>
            </p:extLst>
          </p:nvPr>
        </p:nvGraphicFramePr>
        <p:xfrm>
          <a:off x="7200900" y="1155700"/>
          <a:ext cx="1181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name="Equation" r:id="rId7" imgW="1180588" imgH="622030" progId="">
                  <p:embed/>
                </p:oleObj>
              </mc:Choice>
              <mc:Fallback>
                <p:oleObj name="Equation" r:id="rId7" imgW="1180588" imgH="622030" progId="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1155700"/>
                        <a:ext cx="11811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/>
          <p:cNvGraphicFramePr>
            <a:graphicFrameLocks noChangeAspect="1"/>
          </p:cNvGraphicFramePr>
          <p:nvPr/>
        </p:nvGraphicFramePr>
        <p:xfrm>
          <a:off x="1676400" y="1828800"/>
          <a:ext cx="6299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2" name="Equation" r:id="rId9" imgW="6299200" imgH="2209800" progId="">
                  <p:embed/>
                </p:oleObj>
              </mc:Choice>
              <mc:Fallback>
                <p:oleObj name="Equation" r:id="rId9" imgW="6299200" imgH="2209800" progId="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62992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749876"/>
              </p:ext>
            </p:extLst>
          </p:nvPr>
        </p:nvGraphicFramePr>
        <p:xfrm>
          <a:off x="6096000" y="4876800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3" name="Equation" r:id="rId11" imgW="901309" imgH="228501" progId="">
                  <p:embed/>
                </p:oleObj>
              </mc:Choice>
              <mc:Fallback>
                <p:oleObj name="Equation" r:id="rId11" imgW="901309" imgH="228501" progId="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9017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849020"/>
              </p:ext>
            </p:extLst>
          </p:nvPr>
        </p:nvGraphicFramePr>
        <p:xfrm>
          <a:off x="3048000" y="5562600"/>
          <a:ext cx="293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4" name="Equation" r:id="rId13" imgW="2933700" imgH="558800" progId="">
                  <p:embed/>
                </p:oleObj>
              </mc:Choice>
              <mc:Fallback>
                <p:oleObj name="Equation" r:id="rId13" imgW="2933700" imgH="558800" progId="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562600"/>
                        <a:ext cx="29337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14600" y="2133600"/>
                <a:ext cx="9144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133600"/>
                <a:ext cx="914400" cy="52322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49F270FF-CCA6-4096-AF21-AF527C4A4871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KHOẢNG CÁCH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536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4: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khoảng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giữa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C</a:t>
            </a:r>
            <a:r>
              <a:rPr lang="vi-VN" altLang="en-US" sz="2800" dirty="0"/>
              <a:t>ác vectơ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ở slide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theo.</a:t>
            </a:r>
            <a:r>
              <a:rPr lang="en-US" altLang="en-US" sz="2800" dirty="0"/>
              <a:t> </a:t>
            </a:r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         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. </a:t>
            </a:r>
          </a:p>
        </p:txBody>
      </p:sp>
      <p:graphicFrame>
        <p:nvGraphicFramePr>
          <p:cNvPr id="72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004755"/>
              </p:ext>
            </p:extLst>
          </p:nvPr>
        </p:nvGraphicFramePr>
        <p:xfrm>
          <a:off x="6629400" y="1361894"/>
          <a:ext cx="13636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5" name="Equation" r:id="rId4" imgW="1397000" imgH="431800" progId="">
                  <p:embed/>
                </p:oleObj>
              </mc:Choice>
              <mc:Fallback>
                <p:oleObj name="Equation" r:id="rId4" imgW="1397000" imgH="431800" progId="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361894"/>
                        <a:ext cx="1363663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834910"/>
              </p:ext>
            </p:extLst>
          </p:nvPr>
        </p:nvGraphicFramePr>
        <p:xfrm>
          <a:off x="1828800" y="1809931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6" name="Equation" r:id="rId6" imgW="1447800" imgH="431800" progId="">
                  <p:embed/>
                </p:oleObj>
              </mc:Choice>
              <mc:Fallback>
                <p:oleObj name="Equation" r:id="rId6" imgW="1447800" imgH="431800" progId="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09931"/>
                        <a:ext cx="1447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1" name="Object 7"/>
          <p:cNvGraphicFramePr>
            <a:graphicFrameLocks noChangeAspect="1"/>
          </p:cNvGraphicFramePr>
          <p:nvPr/>
        </p:nvGraphicFramePr>
        <p:xfrm>
          <a:off x="2438400" y="2743200"/>
          <a:ext cx="4394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7" name="Equation" r:id="rId8" imgW="4394200" imgH="1905000" progId="">
                  <p:embed/>
                </p:oleObj>
              </mc:Choice>
              <mc:Fallback>
                <p:oleObj name="Equation" r:id="rId8" imgW="4394200" imgH="1905000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43200"/>
                        <a:ext cx="4394200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109831"/>
              </p:ext>
            </p:extLst>
          </p:nvPr>
        </p:nvGraphicFramePr>
        <p:xfrm>
          <a:off x="3517900" y="5029200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8" name="Equation" r:id="rId10" imgW="825500" imgH="254000" progId="">
                  <p:embed/>
                </p:oleObj>
              </mc:Choice>
              <mc:Fallback>
                <p:oleObj name="Equation" r:id="rId10" imgW="825500" imgH="254000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5029200"/>
                        <a:ext cx="825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623859"/>
              </p:ext>
            </p:extLst>
          </p:nvPr>
        </p:nvGraphicFramePr>
        <p:xfrm>
          <a:off x="2362200" y="6000750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9" name="Equation" r:id="rId12" imgW="825500" imgH="254000" progId="">
                  <p:embed/>
                </p:oleObj>
              </mc:Choice>
              <mc:Fallback>
                <p:oleObj name="Equation" r:id="rId12" imgW="825500" imgH="254000" progId="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000750"/>
                        <a:ext cx="825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40408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041E5BA8-619F-462F-8350-428C72855BF7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KHOẢNG CÁCH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63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Chú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khoảng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khoảng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		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0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42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156712"/>
              </p:ext>
            </p:extLst>
          </p:nvPr>
        </p:nvGraphicFramePr>
        <p:xfrm>
          <a:off x="914400" y="6051550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4" imgW="825500" imgH="254000" progId="">
                  <p:embed/>
                </p:oleObj>
              </mc:Choice>
              <mc:Fallback>
                <p:oleObj name="Equation" r:id="rId4" imgW="825500" imgH="254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6051550"/>
                        <a:ext cx="825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2408" name="Picture 8" descr="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4724400" cy="315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B3E010C5-BC3D-4045-9D76-D60FE52FDAD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VECTƠ TRỰC GIAO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11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Xét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</a:t>
                </a:r>
                <a:r>
                  <a:rPr lang="en-US" altLang="en-US" sz="2800" dirty="0"/>
                  <a:t> qua </a:t>
                </a:r>
                <a:r>
                  <a:rPr lang="en-US" altLang="en-US" sz="2800" dirty="0" err="1"/>
                  <a:t>gốc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vi-VN" altLang="en-US" sz="2800" dirty="0"/>
                  <a:t>Xem hình dưới đây</a:t>
                </a:r>
                <a:r>
                  <a:rPr lang="en-US" altLang="en-US" sz="2800" dirty="0"/>
                  <a:t>. Hai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     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3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259" t="-1240" r="-1259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799053"/>
              </p:ext>
            </p:extLst>
          </p:nvPr>
        </p:nvGraphicFramePr>
        <p:xfrm>
          <a:off x="4445000" y="3098800"/>
          <a:ext cx="482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4" imgW="482391" imgH="253890" progId="">
                  <p:embed/>
                </p:oleObj>
              </mc:Choice>
              <mc:Fallback>
                <p:oleObj name="Equation" r:id="rId4" imgW="482391" imgH="25389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3098800"/>
                        <a:ext cx="482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1145" name="Picture 9" descr="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429000"/>
            <a:ext cx="2819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EF39DC18-ECCF-4F85-9A76-3EE080257CB1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VECTƠ TRỰC GIAO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21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Bây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giờ</a:t>
                </a:r>
                <a:r>
                  <a:rPr lang="en-US" altLang="en-US" sz="2800" dirty="0"/>
                  <a:t>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  <m:d>
                            <m:d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−(−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en-US" sz="2800" i="1" dirty="0"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28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alt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8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US" altLang="en-US" sz="28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tỏ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</p:txBody>
          </p:sp>
        </mc:Choice>
        <mc:Fallback xmlns="">
          <p:sp>
            <p:nvSpPr>
              <p:cNvPr id="7321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410200"/>
              </a:xfrm>
              <a:blipFill>
                <a:blip r:embed="rId3"/>
                <a:stretch>
                  <a:fillRect l="-1236" t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2165" name="Text Box 5" descr="Pink tissue paper"/>
          <p:cNvSpPr txBox="1">
            <a:spLocks noChangeArrowheads="1"/>
          </p:cNvSpPr>
          <p:nvPr/>
        </p:nvSpPr>
        <p:spPr bwMode="auto">
          <a:xfrm>
            <a:off x="7239000" y="2641519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Định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lí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1(b)</a:t>
            </a:r>
          </a:p>
        </p:txBody>
      </p:sp>
      <p:sp>
        <p:nvSpPr>
          <p:cNvPr id="732166" name="Text Box 6" descr="Pink tissue paper"/>
          <p:cNvSpPr txBox="1">
            <a:spLocks noChangeArrowheads="1"/>
          </p:cNvSpPr>
          <p:nvPr/>
        </p:nvSpPr>
        <p:spPr bwMode="auto">
          <a:xfrm>
            <a:off x="6794241" y="3098719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Định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lí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1(a), (b)</a:t>
            </a:r>
          </a:p>
        </p:txBody>
      </p:sp>
      <p:sp>
        <p:nvSpPr>
          <p:cNvPr id="732167" name="Text Box 7" descr="Pink tissue paper"/>
          <p:cNvSpPr txBox="1">
            <a:spLocks noChangeArrowheads="1"/>
          </p:cNvSpPr>
          <p:nvPr/>
        </p:nvSpPr>
        <p:spPr bwMode="auto">
          <a:xfrm>
            <a:off x="7315200" y="3530559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Định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lí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1(a)</a:t>
            </a:r>
          </a:p>
        </p:txBody>
      </p:sp>
      <p:graphicFrame>
        <p:nvGraphicFramePr>
          <p:cNvPr id="7321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748632"/>
              </p:ext>
            </p:extLst>
          </p:nvPr>
        </p:nvGraphicFramePr>
        <p:xfrm>
          <a:off x="5410200" y="4467225"/>
          <a:ext cx="482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Equation" r:id="rId5" imgW="482391" imgH="253890" progId="">
                  <p:embed/>
                </p:oleObj>
              </mc:Choice>
              <mc:Fallback>
                <p:oleObj name="Equation" r:id="rId5" imgW="482391" imgH="25389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67225"/>
                        <a:ext cx="482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9" name="Object 9"/>
          <p:cNvGraphicFramePr>
            <a:graphicFrameLocks noChangeAspect="1"/>
          </p:cNvGraphicFramePr>
          <p:nvPr/>
        </p:nvGraphicFramePr>
        <p:xfrm>
          <a:off x="2362200" y="5334000"/>
          <a:ext cx="556260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Equation" r:id="rId7" imgW="5842000" imgH="1371600" progId="">
                  <p:embed/>
                </p:oleObj>
              </mc:Choice>
              <mc:Fallback>
                <p:oleObj name="Equation" r:id="rId7" imgW="5842000" imgH="13716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334000"/>
                        <a:ext cx="5562600" cy="1306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4214" y="5306766"/>
                <a:ext cx="191588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214" y="5306766"/>
                <a:ext cx="1915886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08914" y="6073637"/>
                <a:ext cx="168728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4" y="6073637"/>
                <a:ext cx="1687286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F604AE3C-50C2-47AF-90C7-FDC1D00DE98F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VECTƠ TRỰC GIAO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31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534400" cy="49530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Hai </a:t>
                </a:r>
                <a:r>
                  <a:rPr lang="en-US" altLang="en-US" sz="2800" dirty="0" err="1"/>
                  <a:t>bình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đương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đồng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học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qua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gốc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nghĩa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Hai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là </a:t>
                </a:r>
                <a:r>
                  <a:rPr lang="en-US" altLang="en-US" sz="2800" b="1" dirty="0"/>
                  <a:t>trực </a:t>
                </a:r>
                <a:r>
                  <a:rPr lang="en-US" altLang="en-US" sz="2800" b="1" dirty="0" err="1"/>
                  <a:t>giao</a:t>
                </a:r>
                <a:r>
                  <a:rPr lang="en-US" altLang="en-US" sz="2800" b="1" dirty="0"/>
                  <a:t> </a:t>
                </a:r>
                <a:r>
                  <a:rPr lang="en-US" altLang="en-US" sz="2800" dirty="0"/>
                  <a:t>(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V</a:t>
                </a:r>
                <a:r>
                  <a:rPr lang="vi-VN" altLang="en-US" sz="2800" dirty="0"/>
                  <a:t>ectơ 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bởi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              		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331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534400" cy="4953000"/>
              </a:xfrm>
              <a:blipFill>
                <a:blip r:embed="rId3"/>
                <a:stretch>
                  <a:fillRect l="-1429" t="-209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31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680261"/>
              </p:ext>
            </p:extLst>
          </p:nvPr>
        </p:nvGraphicFramePr>
        <p:xfrm>
          <a:off x="990600" y="5552259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" name="Equation" r:id="rId4" imgW="1218671" imgH="406224" progId="">
                  <p:embed/>
                </p:oleObj>
              </mc:Choice>
              <mc:Fallback>
                <p:oleObj name="Equation" r:id="rId4" imgW="1218671" imgH="406224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552259"/>
                        <a:ext cx="1219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C05CAA0C-5335-4E91-9B89-827DC11EE321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PYTHAGOR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42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458200" cy="52578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2:</a:t>
                </a:r>
                <a:r>
                  <a:rPr lang="en-US" altLang="en-US" sz="2800" dirty="0"/>
                  <a:t> Hai</a:t>
                </a:r>
                <a:r>
                  <a:rPr lang="vi-VN" altLang="en-US" sz="2800" dirty="0"/>
                  <a:t> 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                       </a:t>
                </a:r>
              </a:p>
              <a:p>
                <a:pPr eaLnBrk="1" hangingPunct="1"/>
                <a:endParaRPr lang="en-US" altLang="en-US" sz="2800" dirty="0"/>
              </a:p>
              <a:p>
                <a:pPr marL="0" indent="0" eaLnBrk="1" hangingPunct="1">
                  <a:buNone/>
                </a:pPr>
                <a:endParaRPr lang="en-US" altLang="en-US" sz="2800" b="1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Phần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Bù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Trực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Giao</a:t>
                </a:r>
                <a:endParaRPr lang="en-US" altLang="en-US" sz="2800" b="1" dirty="0"/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trực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giao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với</a:t>
                </a:r>
                <a:r>
                  <a:rPr lang="en-US" altLang="en-US" sz="2800" b="1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phần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bù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trực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giao</a:t>
                </a:r>
                <a:r>
                  <a:rPr lang="en-US" altLang="en-US" sz="2800" b="1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kí hiệu bởi</a:t>
                </a:r>
                <a:r>
                  <a:rPr lang="en-US" altLang="en-US" sz="2800" dirty="0"/>
                  <a:t>        (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đọc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“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” hay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giản</a:t>
                </a:r>
                <a:r>
                  <a:rPr lang="en-US" altLang="en-US" sz="2800" dirty="0"/>
                  <a:t> “</a:t>
                </a:r>
                <a:r>
                  <a:rPr lang="en-US" altLang="en-US" sz="2800" i="1" dirty="0" err="1"/>
                  <a:t>W</a:t>
                </a:r>
                <a:r>
                  <a:rPr lang="en-US" altLang="en-US" sz="2800" dirty="0" err="1"/>
                  <a:t>perp</a:t>
                </a:r>
                <a:r>
                  <a:rPr lang="en-US" altLang="en-US" sz="2800" dirty="0"/>
                  <a:t>”).</a:t>
                </a:r>
              </a:p>
            </p:txBody>
          </p:sp>
        </mc:Choice>
        <mc:Fallback xmlns="">
          <p:sp>
            <p:nvSpPr>
              <p:cNvPr id="7342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458200" cy="5257800"/>
              </a:xfrm>
              <a:blipFill>
                <a:blip r:embed="rId3"/>
                <a:stretch>
                  <a:fillRect l="-1441" t="-1159" r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4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977565"/>
              </p:ext>
            </p:extLst>
          </p:nvPr>
        </p:nvGraphicFramePr>
        <p:xfrm>
          <a:off x="2667000" y="1752600"/>
          <a:ext cx="3187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Equation" r:id="rId4" imgW="3187700" imgH="622300" progId="">
                  <p:embed/>
                </p:oleObj>
              </mc:Choice>
              <mc:Fallback>
                <p:oleObj name="Equation" r:id="rId4" imgW="3187700" imgH="6223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31877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408761"/>
              </p:ext>
            </p:extLst>
          </p:nvPr>
        </p:nvGraphicFramePr>
        <p:xfrm>
          <a:off x="6629400" y="50800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name="Equation" r:id="rId6" imgW="545626" imgH="406048" progId="">
                  <p:embed/>
                </p:oleObj>
              </mc:Choice>
              <mc:Fallback>
                <p:oleObj name="Equation" r:id="rId6" imgW="545626" imgH="406048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0800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2F82854E-BF4C-452C-9EDA-D557B94FA9D5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PHẦN BÙ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52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334000"/>
              </a:xfrm>
            </p:spPr>
            <p:txBody>
              <a:bodyPr/>
              <a:lstStyle/>
              <a:p>
                <a:pPr marL="1371600" lvl="2" indent="-457200" eaLnBrk="1" hangingPunct="1">
                  <a:buFont typeface="Wingdings" panose="05000000000000000000" pitchFamily="2" charset="2"/>
                  <a:buAutoNum type="arabicPeriod"/>
                </a:pP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      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rabicPeriod"/>
                </a:pPr>
                <a:r>
                  <a:rPr lang="en-US" altLang="en-US" sz="2800" dirty="0"/>
                  <a:t>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609600" indent="-609600" eaLnBrk="1" hangingPunct="1">
                  <a:buFont typeface="Wingdings" panose="05000000000000000000" pitchFamily="2" charset="2"/>
                  <a:buNone/>
                </a:pPr>
                <a:endParaRPr lang="en-US" altLang="en-US" sz="36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3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bù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bù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i="1" baseline="30000" dirty="0"/>
                  <a:t>T</a:t>
                </a:r>
                <a:r>
                  <a:rPr lang="en-US" altLang="en-US" sz="2800" dirty="0"/>
                  <a:t>:</a:t>
                </a:r>
              </a:p>
              <a:p>
                <a:pPr marL="609600" indent="-609600"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</a:p>
            </p:txBody>
          </p:sp>
        </mc:Choice>
        <mc:Fallback xmlns="">
          <p:sp>
            <p:nvSpPr>
              <p:cNvPr id="7352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334000"/>
              </a:xfrm>
              <a:blipFill>
                <a:blip r:embed="rId3"/>
                <a:stretch>
                  <a:fillRect l="-1455" t="-1257" r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5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875157"/>
              </p:ext>
            </p:extLst>
          </p:nvPr>
        </p:nvGraphicFramePr>
        <p:xfrm>
          <a:off x="4635500" y="11557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" name="Equation" r:id="rId4" imgW="545626" imgH="406048" progId="">
                  <p:embed/>
                </p:oleObj>
              </mc:Choice>
              <mc:Fallback>
                <p:oleObj name="Equation" r:id="rId4" imgW="545626" imgH="406048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11557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140894"/>
              </p:ext>
            </p:extLst>
          </p:nvPr>
        </p:nvGraphicFramePr>
        <p:xfrm>
          <a:off x="1905000" y="21336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2" name="Equation" r:id="rId6" imgW="545626" imgH="406048" progId="">
                  <p:embed/>
                </p:oleObj>
              </mc:Choice>
              <mc:Fallback>
                <p:oleObj name="Equation" r:id="rId6" imgW="545626" imgH="406048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36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51837"/>
              </p:ext>
            </p:extLst>
          </p:nvPr>
        </p:nvGraphicFramePr>
        <p:xfrm>
          <a:off x="4013200" y="34290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3" name="Equation" r:id="rId8" imgW="863225" imgH="253890" progId="">
                  <p:embed/>
                </p:oleObj>
              </mc:Choice>
              <mc:Fallback>
                <p:oleObj name="Equation" r:id="rId8" imgW="863225" imgH="253890" progId="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34290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828889"/>
              </p:ext>
            </p:extLst>
          </p:nvPr>
        </p:nvGraphicFramePr>
        <p:xfrm>
          <a:off x="1143000" y="5181600"/>
          <a:ext cx="297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4" name="Equation" r:id="rId10" imgW="2971800" imgH="482600" progId="">
                  <p:embed/>
                </p:oleObj>
              </mc:Choice>
              <mc:Fallback>
                <p:oleObj name="Equation" r:id="rId10" imgW="2971800" imgH="482600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81600"/>
                        <a:ext cx="2971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858864"/>
              </p:ext>
            </p:extLst>
          </p:nvPr>
        </p:nvGraphicFramePr>
        <p:xfrm>
          <a:off x="4800600" y="5156200"/>
          <a:ext cx="292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" name="Equation" r:id="rId12" imgW="2921000" imgH="482600" progId="">
                  <p:embed/>
                </p:oleObj>
              </mc:Choice>
              <mc:Fallback>
                <p:oleObj name="Equation" r:id="rId12" imgW="2921000" imgH="482600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156200"/>
                        <a:ext cx="2921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58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BC051B2C-5DE0-4A82-82AF-5054585020F5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PHẦN BÙ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625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02530"/>
                <a:ext cx="8839200" cy="5350669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Qui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hàng-cột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thấy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hang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).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of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Row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Ngược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lại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Row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dĩ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nhiên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         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đầu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tiên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7362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02530"/>
                <a:ext cx="8839200" cy="5350669"/>
              </a:xfrm>
              <a:blipFill>
                <a:blip r:embed="rId3"/>
                <a:stretch>
                  <a:fillRect l="-1379" t="-1139" b="-2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62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1254"/>
              </p:ext>
            </p:extLst>
          </p:nvPr>
        </p:nvGraphicFramePr>
        <p:xfrm>
          <a:off x="6216650" y="50292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4" imgW="1129810" imgH="342751" progId="">
                  <p:embed/>
                </p:oleObj>
              </mc:Choice>
              <mc:Fallback>
                <p:oleObj name="Equation" r:id="rId4" imgW="1129810" imgH="342751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650" y="50292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1EBAEE64-7D14-49CB-859C-001FE8295AE2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PHẦN BÙ TRỰC GIAO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.                      </a:t>
            </a:r>
          </a:p>
          <a:p>
            <a:pPr eaLnBrk="1" hangingPunct="1"/>
            <a:endParaRPr lang="en-US" altLang="en-US" dirty="0"/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860807"/>
              </p:ext>
            </p:extLst>
          </p:nvPr>
        </p:nvGraphicFramePr>
        <p:xfrm>
          <a:off x="3302000" y="5232400"/>
          <a:ext cx="264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Equation" r:id="rId3" imgW="2641600" imgH="406400" progId="">
                  <p:embed/>
                </p:oleObj>
              </mc:Choice>
              <mc:Fallback>
                <p:oleObj name="Equation" r:id="rId3" imgW="2641600" imgH="4064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5232400"/>
                        <a:ext cx="2641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0A558CEF-6DAA-48A8-BE23-7F2079FF508C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GÓC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dirty="0"/>
                  <a:t>(TÙY CHỌN)        </a:t>
                </a:r>
              </a:p>
            </p:txBody>
          </p:sp>
        </mc:Choice>
        <mc:Fallback xmlns="">
          <p:sp>
            <p:nvSpPr>
              <p:cNvPr id="2458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83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khác 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 hoặc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liên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hệ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tốt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giữa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chúng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    </a:t>
                </a:r>
                <a:r>
                  <a:rPr lang="en-US" altLang="en-US" sz="2800" dirty="0" err="1"/>
                  <a:t>giữa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đoạn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gốc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. 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Công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(2)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xét</a:t>
                </a:r>
                <a:r>
                  <a:rPr lang="en-US" altLang="en-US" sz="2800" dirty="0"/>
                  <a:t> tam </a:t>
                </a:r>
                <a:r>
                  <a:rPr lang="en-US" altLang="en-US" sz="2800" dirty="0" err="1"/>
                  <a:t>giác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ở slide </a:t>
                </a:r>
                <a:r>
                  <a:rPr lang="en-US" altLang="en-US" sz="2800" dirty="0" err="1"/>
                  <a:t>tiếp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dài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   ,      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 .</a:t>
                </a:r>
              </a:p>
            </p:txBody>
          </p:sp>
        </mc:Choice>
        <mc:Fallback xmlns="">
          <p:sp>
            <p:nvSpPr>
              <p:cNvPr id="7383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4"/>
                <a:stretch>
                  <a:fillRect l="-1259" t="-2029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83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563171"/>
              </p:ext>
            </p:extLst>
          </p:nvPr>
        </p:nvGraphicFramePr>
        <p:xfrm>
          <a:off x="1854200" y="19812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9" name="Equation" r:id="rId5" imgW="279279" imgH="342751" progId="">
                  <p:embed/>
                </p:oleObj>
              </mc:Choice>
              <mc:Fallback>
                <p:oleObj name="Equation" r:id="rId5" imgW="279279" imgH="342751" progId="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1981200"/>
                        <a:ext cx="27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721564"/>
              </p:ext>
            </p:extLst>
          </p:nvPr>
        </p:nvGraphicFramePr>
        <p:xfrm>
          <a:off x="4102100" y="3200400"/>
          <a:ext cx="2832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0" name="Equation" r:id="rId7" imgW="2832100" imgH="558800" progId="">
                  <p:embed/>
                </p:oleObj>
              </mc:Choice>
              <mc:Fallback>
                <p:oleObj name="Equation" r:id="rId7" imgW="2832100" imgH="558800" progId="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3200400"/>
                        <a:ext cx="28321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713078"/>
              </p:ext>
            </p:extLst>
          </p:nvPr>
        </p:nvGraphicFramePr>
        <p:xfrm>
          <a:off x="3505200" y="4978400"/>
          <a:ext cx="495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1" name="Equation" r:id="rId9" imgW="495085" imgH="558558" progId="">
                  <p:embed/>
                </p:oleObj>
              </mc:Choice>
              <mc:Fallback>
                <p:oleObj name="Equation" r:id="rId9" imgW="495085" imgH="558558" progId="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978400"/>
                        <a:ext cx="495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550976"/>
              </p:ext>
            </p:extLst>
          </p:nvPr>
        </p:nvGraphicFramePr>
        <p:xfrm>
          <a:off x="4102100" y="4978400"/>
          <a:ext cx="495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2" name="Equation" r:id="rId11" imgW="495085" imgH="558558" progId="">
                  <p:embed/>
                </p:oleObj>
              </mc:Choice>
              <mc:Fallback>
                <p:oleObj name="Equation" r:id="rId11" imgW="495085" imgH="558558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4978400"/>
                        <a:ext cx="495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886946"/>
              </p:ext>
            </p:extLst>
          </p:nvPr>
        </p:nvGraphicFramePr>
        <p:xfrm>
          <a:off x="5181600" y="4978400"/>
          <a:ext cx="1066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3" name="Equation" r:id="rId13" imgW="1066800" imgH="558800" progId="">
                  <p:embed/>
                </p:oleObj>
              </mc:Choice>
              <mc:Fallback>
                <p:oleObj name="Equation" r:id="rId13" imgW="1066800" imgH="558800" progId="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78400"/>
                        <a:ext cx="1066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ADB977B8-463C-4A5F-96E7-CE3C8B56F034}" type="slidenum">
              <a:rPr lang="en-US" altLang="en-US" sz="1200">
                <a:latin typeface="Arial" panose="020B0604020202020204" pitchFamily="34" charset="0"/>
              </a:rPr>
              <a:pPr algn="r"/>
              <a:t>20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73933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3657600"/>
            <a:ext cx="8229600" cy="28194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Theo </a:t>
            </a:r>
            <a:r>
              <a:rPr lang="en-US" altLang="en-US" sz="2800" dirty="0" err="1"/>
              <a:t>công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cosin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slide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theo.</a:t>
            </a:r>
            <a:endParaRPr lang="en-US" altLang="en-US" sz="2800" dirty="0"/>
          </a:p>
        </p:txBody>
      </p:sp>
      <p:graphicFrame>
        <p:nvGraphicFramePr>
          <p:cNvPr id="739336" name="Object 8"/>
          <p:cNvGraphicFramePr>
            <a:graphicFrameLocks noChangeAspect="1"/>
          </p:cNvGraphicFramePr>
          <p:nvPr/>
        </p:nvGraphicFramePr>
        <p:xfrm>
          <a:off x="1828800" y="4648200"/>
          <a:ext cx="5664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Equation" r:id="rId3" imgW="5664200" imgH="622300" progId="">
                  <p:embed/>
                </p:oleObj>
              </mc:Choice>
              <mc:Fallback>
                <p:oleObj name="Equation" r:id="rId3" imgW="5664200" imgH="6223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8200"/>
                        <a:ext cx="56642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9339" name="Picture 11" descr="6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676400"/>
            <a:ext cx="5010150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06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GÓC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dirty="0"/>
                  <a:t>(TÙY CHỌN) </a:t>
                </a:r>
              </a:p>
            </p:txBody>
          </p:sp>
        </mc:Choice>
        <mc:Fallback>
          <p:sp>
            <p:nvSpPr>
              <p:cNvPr id="11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066800"/>
              </a:xfrm>
              <a:blipFill>
                <a:blip r:embed="rId6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6.1- </a:t>
            </a:r>
            <a:fld id="{73DFAD8E-5B99-4877-845B-2299377EFC0A}" type="slidenum">
              <a:rPr lang="en-US" altLang="en-US" sz="1200">
                <a:latin typeface="Arial" panose="020B0604020202020204" pitchFamily="34" charset="0"/>
              </a:rPr>
              <a:pPr algn="r"/>
              <a:t>21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13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4102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         , </a:t>
                </a:r>
                <a:r>
                  <a:rPr lang="en-US" altLang="en-US" sz="2800" dirty="0" err="1"/>
                  <a:t>công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(2)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dung </a:t>
                </a: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định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nghĩa</a:t>
                </a:r>
                <a:r>
                  <a:rPr lang="en-US" altLang="en-US" sz="2800" i="1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giữa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vi-VN" altLang="en-US" sz="2800" dirty="0"/>
                  <a:t> vectơ 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thống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kê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          </a:t>
                </a:r>
                <a:r>
                  <a:rPr lang="en-US" altLang="en-US" sz="2800" dirty="0" err="1"/>
                  <a:t>xác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(2)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thích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hệ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số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tương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quan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413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410200"/>
              </a:xfrm>
              <a:blipFill>
                <a:blip r:embed="rId3"/>
                <a:stretch>
                  <a:fillRect l="-1236" r="-1164" b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1382" name="Object 6"/>
          <p:cNvGraphicFramePr>
            <a:graphicFrameLocks noChangeAspect="1"/>
          </p:cNvGraphicFramePr>
          <p:nvPr/>
        </p:nvGraphicFramePr>
        <p:xfrm>
          <a:off x="546100" y="1092200"/>
          <a:ext cx="8229600" cy="290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1" name="Equation" r:id="rId4" imgW="8978900" imgH="3175000" progId="">
                  <p:embed/>
                </p:oleObj>
              </mc:Choice>
              <mc:Fallback>
                <p:oleObj name="Equation" r:id="rId4" imgW="8978900" imgH="3175000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092200"/>
                        <a:ext cx="8229600" cy="290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032933"/>
              </p:ext>
            </p:extLst>
          </p:nvPr>
        </p:nvGraphicFramePr>
        <p:xfrm>
          <a:off x="1549400" y="4483100"/>
          <a:ext cx="81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2" name="Equation" r:id="rId6" imgW="812447" imgH="342751" progId="">
                  <p:embed/>
                </p:oleObj>
              </mc:Choice>
              <mc:Fallback>
                <p:oleObj name="Equation" r:id="rId6" imgW="812447" imgH="342751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4483100"/>
                        <a:ext cx="812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536511"/>
              </p:ext>
            </p:extLst>
          </p:nvPr>
        </p:nvGraphicFramePr>
        <p:xfrm>
          <a:off x="4724400" y="5310188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3" name="Equation" r:id="rId8" imgW="863225" imgH="342751" progId="">
                  <p:embed/>
                </p:oleObj>
              </mc:Choice>
              <mc:Fallback>
                <p:oleObj name="Equation" r:id="rId8" imgW="863225" imgH="342751" progId="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310188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06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GÓC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dirty="0"/>
                  <a:t>(TÙY CHỌN) </a:t>
                </a:r>
              </a:p>
            </p:txBody>
          </p:sp>
        </mc:Choice>
        <mc:Fallback>
          <p:sp>
            <p:nvSpPr>
              <p:cNvPr id="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066800"/>
              </a:xfrm>
              <a:blipFill>
                <a:blip r:embed="rId10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14600" y="3505200"/>
                <a:ext cx="1053193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505200"/>
                <a:ext cx="1053193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18067</TotalTime>
  <Words>921</Words>
  <Application>Microsoft Office PowerPoint</Application>
  <PresentationFormat>On-screen Show (4:3)</PresentationFormat>
  <Paragraphs>203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Tính Chất Trực Giao và Bình Phương Tối Tiểu</vt:lpstr>
      <vt:lpstr>TÍCH TRONG</vt:lpstr>
      <vt:lpstr>TÍCH TRONG</vt:lpstr>
      <vt:lpstr>TÍCH TRONG</vt:lpstr>
      <vt:lpstr>ĐỘ DÀI CỦA VECTƠ</vt:lpstr>
      <vt:lpstr>ĐỘ DÀI CỦA VECTƠ</vt:lpstr>
      <vt:lpstr>ĐỘ DÀI CỦA VECTƠ</vt:lpstr>
      <vt:lpstr>ĐỘ DÀI CỦA VECTƠ</vt:lpstr>
      <vt:lpstr>KHOẢNG CÁCH TRONG R^n</vt:lpstr>
      <vt:lpstr>KHOẢNG CÁCH TRONG R^n</vt:lpstr>
      <vt:lpstr>KHOẢNG CÁCH TRONG R^n</vt:lpstr>
      <vt:lpstr>CÁC VECTƠ TRỰC GIAO</vt:lpstr>
      <vt:lpstr>CÁC VECTƠ TRỰC GIAO</vt:lpstr>
      <vt:lpstr>CÁC VECTƠ TRỰC GIAO</vt:lpstr>
      <vt:lpstr>ĐỊNH LÍ PYTHAGOR</vt:lpstr>
      <vt:lpstr>PHẦN BÙ TRỰC GIAO</vt:lpstr>
      <vt:lpstr>PHẦN BÙ TRỰC GIAO</vt:lpstr>
      <vt:lpstr>PHẦN BÙ TRỰC GIAO</vt:lpstr>
      <vt:lpstr>GÓC TRONG R^2  VÀ R^3(TÙY CHỌN)        </vt:lpstr>
      <vt:lpstr>GÓC TRONG R^2  VÀ R^3(TÙY CHỌN) </vt:lpstr>
      <vt:lpstr>GÓC TRONG R^2  VÀ R^3(TÙY CHỌN) 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1361</cp:revision>
  <dcterms:created xsi:type="dcterms:W3CDTF">2005-10-22T18:34:54Z</dcterms:created>
  <dcterms:modified xsi:type="dcterms:W3CDTF">2016-08-07T08:01:03Z</dcterms:modified>
</cp:coreProperties>
</file>