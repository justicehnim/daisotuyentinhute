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2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0099FF"/>
    <a:srgbClr val="D7791B"/>
    <a:srgbClr val="4C7816"/>
    <a:srgbClr val="528218"/>
    <a:srgbClr val="B6CEAA"/>
    <a:srgbClr val="ADC8A0"/>
    <a:srgbClr val="CD80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86413" autoAdjust="0"/>
  </p:normalViewPr>
  <p:slideViewPr>
    <p:cSldViewPr>
      <p:cViewPr varScale="1">
        <p:scale>
          <a:sx n="92" d="100"/>
          <a:sy n="92" d="100"/>
        </p:scale>
        <p:origin x="1406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-9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1745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01297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014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17956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3822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5095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0921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7834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D8019"/>
                </a:solidFill>
                <a:latin typeface="Arial" panose="020B0604020202020204" pitchFamily="34" charset="0"/>
              </a:rPr>
              <a:t>6.4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Chất</a:t>
            </a:r>
            <a:r>
              <a:rPr lang="en-US" altLang="en-US" dirty="0"/>
              <a:t> </a:t>
            </a:r>
            <a:r>
              <a:rPr lang="en-US" altLang="en-US" dirty="0" err="1"/>
              <a:t>Trực</a:t>
            </a:r>
            <a:r>
              <a:rPr lang="en-US" altLang="en-US" dirty="0"/>
              <a:t> </a:t>
            </a:r>
            <a:r>
              <a:rPr lang="en-US" altLang="en-US" dirty="0" err="1"/>
              <a:t>Giao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br>
              <a:rPr lang="en-US" altLang="en-US" dirty="0"/>
            </a:br>
            <a:r>
              <a:rPr lang="en-US" altLang="en-US" dirty="0" err="1"/>
              <a:t>Bình</a:t>
            </a:r>
            <a:r>
              <a:rPr lang="en-US" altLang="en-US" dirty="0"/>
              <a:t> </a:t>
            </a:r>
            <a:r>
              <a:rPr lang="en-US" altLang="en-US" dirty="0" err="1"/>
              <a:t>Phương</a:t>
            </a:r>
            <a:r>
              <a:rPr lang="en-US" altLang="en-US" dirty="0"/>
              <a:t> </a:t>
            </a:r>
            <a:r>
              <a:rPr lang="en-US" altLang="en-US" dirty="0" err="1"/>
              <a:t>Tối</a:t>
            </a:r>
            <a:r>
              <a:rPr lang="en-US" altLang="en-US" dirty="0"/>
              <a:t> </a:t>
            </a:r>
            <a:r>
              <a:rPr lang="en-US" altLang="en-US" dirty="0" err="1"/>
              <a:t>Tiểu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57200" y="2819400"/>
            <a:ext cx="4724400" cy="33528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PHƯƠNG PHÁP TRỰC GIAO HÓA GRAM-SCHMIDT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PHƯƠNG PHÁP GRAM-SCHMIDT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143000"/>
                <a:ext cx="88392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11:  </a:t>
                </a:r>
                <a:r>
                  <a:rPr lang="vi-VN" altLang="en-US" sz="2700" b="1" dirty="0">
                    <a:cs typeface="Times New Roman" panose="02020603050405020304" pitchFamily="18" charset="0"/>
                  </a:rPr>
                  <a:t>Phương Pháp Gram-schmidt</a:t>
                </a:r>
                <a:endParaRPr lang="en-US" altLang="en-US" sz="2700" b="1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Cho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{x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. . . , 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nghĩa</a:t>
                </a:r>
                <a:endParaRPr lang="en-US" altLang="en-US" sz="27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en-US" sz="27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a:rPr lang="en-US" altLang="en-US" sz="2700" b="0" i="0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en-US" sz="27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en-US" sz="27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a:rPr lang="en-US" altLang="en-US" sz="2700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0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en-US" sz="2700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7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7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en-US" sz="27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a:rPr lang="en-US" altLang="en-US" sz="2700" b="0" i="0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en-US" sz="24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𝑥𝑝</m:t>
                      </m:r>
                      <m:r>
                        <a:rPr lang="en-US" alt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a:rPr lang="en-US" altLang="en-US" sz="2400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en-US" sz="24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a:rPr lang="en-US" altLang="en-US" sz="2400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 . . . − </m:t>
                      </m:r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en-US" sz="24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en-US" sz="24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−1∙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en-US" sz="2400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a:rPr lang="en-US" altLang="en-US" sz="2400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en-US" sz="2400" i="1" baseline="-250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altLang="en-US" sz="25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{v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, . . . , 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 trực giao 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nữa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Span{v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. . . , 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= Span{x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. . . , 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143000"/>
                <a:ext cx="8839200" cy="5181600"/>
              </a:xfrm>
              <a:blipFill>
                <a:blip r:embed="rId3"/>
                <a:stretch>
                  <a:fillRect l="-1310" t="-1176" r="-621" b="-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590800" y="4283471"/>
            <a:ext cx="381000" cy="517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dirty="0">
                <a:latin typeface="+mn-lt"/>
              </a:rPr>
              <a:t>.</a:t>
            </a:r>
          </a:p>
          <a:p>
            <a:pPr>
              <a:lnSpc>
                <a:spcPts val="1000"/>
              </a:lnSpc>
            </a:pPr>
            <a:r>
              <a:rPr lang="en-US" dirty="0">
                <a:latin typeface="+mn-lt"/>
              </a:rPr>
              <a:t>.</a:t>
            </a:r>
          </a:p>
          <a:p>
            <a:pPr>
              <a:lnSpc>
                <a:spcPts val="1000"/>
              </a:lnSpc>
            </a:pPr>
            <a:r>
              <a:rPr lang="en-US" dirty="0">
                <a:latin typeface="+mn-lt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586740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(1)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PHƯƠNG PHÁP GRAM-SCHMIDT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219200"/>
                <a:ext cx="88392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500" b="1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5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b="1" dirty="0" err="1">
                    <a:cs typeface="Times New Roman" panose="02020603050405020304" pitchFamily="18" charset="0"/>
                  </a:rPr>
                  <a:t>minh</a:t>
                </a:r>
                <a:r>
                  <a:rPr lang="en-US" altLang="en-US" sz="2500" b="1" dirty="0">
                    <a:cs typeface="Times New Roman" panose="02020603050405020304" pitchFamily="18" charset="0"/>
                  </a:rPr>
                  <a:t>: 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en-US" sz="25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= Span{x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. . . , 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}.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Đặt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= 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sao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Span{v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} = Span {x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}.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Giả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&lt;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p, 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ta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đã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xây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dựng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. . . ,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v</a:t>
                </a:r>
                <a:r>
                  <a:rPr lang="en-US" altLang="en-US" sz="2500" baseline="-25000" dirty="0" err="1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sao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{v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. . . , 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500" dirty="0">
                    <a:cs typeface="Times New Roman" panose="02020603050405020304" pitchFamily="18" charset="0"/>
                  </a:rPr>
                  <a:t>cơ sở trực giao của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nghĩa</a:t>
                </a:r>
                <a:endParaRPr lang="en-US" altLang="en-US" sz="25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en-US" altLang="en-US" sz="2500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+1 = 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k+1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– proj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500" baseline="-44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k+1</a:t>
                </a:r>
              </a:p>
              <a:p>
                <a:pPr eaLnBrk="1" hangingPunct="1"/>
                <a:r>
                  <a:rPr lang="en-US" altLang="en-US" sz="2500" dirty="0">
                    <a:cs typeface="Times New Roman" panose="02020603050405020304" pitchFamily="18" charset="0"/>
                  </a:rPr>
                  <a:t>Theo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Phân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k+1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Hơn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nữa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k+1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≠ 0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k+1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W</a:t>
                </a:r>
                <a:r>
                  <a:rPr lang="en-US" altLang="en-US" sz="2500" baseline="-25000" dirty="0" err="1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= Span{x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. . . , 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}</a:t>
                </a:r>
              </a:p>
              <a:p>
                <a:pPr eaLnBrk="1" hangingPunct="1"/>
                <a:r>
                  <a:rPr lang="en-US" altLang="en-US" sz="2500" dirty="0">
                    <a:cs typeface="Times New Roman" panose="02020603050405020304" pitchFamily="18" charset="0"/>
                  </a:rPr>
                  <a:t>Do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{v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, . . . , 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giao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500" dirty="0">
                    <a:cs typeface="Times New Roman" panose="02020603050405020304" pitchFamily="18" charset="0"/>
                  </a:rPr>
                  <a:t>các vectơ khác không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(k + 1)-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chiều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W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k+1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. Theo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Cơ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sở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Mục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4.5,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500" dirty="0">
                    <a:cs typeface="Times New Roman" panose="02020603050405020304" pitchFamily="18" charset="0"/>
                  </a:rPr>
                  <a:t>cơ sở trực giao của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W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k+1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vậy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W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k+1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= Span{v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. . . , v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k+1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}.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k + 1 =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kết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thúc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tiến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trình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219200"/>
                <a:ext cx="8839200" cy="5181600"/>
              </a:xfrm>
              <a:blipFill>
                <a:blip r:embed="rId3"/>
                <a:stretch>
                  <a:fillRect l="-1103" t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077200" y="2819400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61598319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CƠ SỞ TRỰC CHUẨN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5344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3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1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xây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 trực giao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 trực chuẩn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en-US" sz="26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en-US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  <m:r>
                              <a:rPr lang="en-US" altLang="en-US" sz="2600" b="0" i="1" baseline="-250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US" altLang="en-US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 altLang="en-US" sz="2600" b="0" i="0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en-US" sz="26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en-US" sz="2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45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altLang="en-US" sz="2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4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1/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  <m:e>
                            <m:r>
                              <a:rPr lang="en-US" alt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  <m:e>
                            <m: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 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altLang="en-US" sz="24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  <m:r>
                                <a:rPr lang="en-US" altLang="en-US" sz="2400" b="0" i="1" baseline="-250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en-US" alt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a:rPr lang="en-US" altLang="en-US" sz="2400" b="0" i="0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534400" cy="5181600"/>
              </a:xfrm>
              <a:blipFill>
                <a:blip r:embed="rId3"/>
                <a:stretch>
                  <a:fillRect l="-1357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91635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NHÂN TỬ HÓA QR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12: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Nhân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hóa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QR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m</a:t>
                </a:r>
                <a14:m>
                  <m:oMath xmlns:m="http://schemas.openxmlformats.org/officeDocument/2006/math">
                    <m:r>
                      <a:rPr lang="en-US" altLang="en-US" sz="27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700" i="1" dirty="0">
                    <a:cs typeface="Times New Roman" panose="02020603050405020304" pitchFamily="18" charset="0"/>
                  </a:rPr>
                  <a:t>n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nhân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hóa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QR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m</a:t>
                </a:r>
                <a14:m>
                  <m:oMath xmlns:m="http://schemas.openxmlformats.org/officeDocument/2006/math">
                    <m:r>
                      <a:rPr lang="en-US" altLang="en-US" sz="27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700" i="1" dirty="0">
                    <a:cs typeface="Times New Roman" panose="02020603050405020304" pitchFamily="18" charset="0"/>
                  </a:rPr>
                  <a:t>n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 trực chuẩn 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Col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R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n</a:t>
                </a:r>
                <a14:m>
                  <m:oMath xmlns:m="http://schemas.openxmlformats.org/officeDocument/2006/math">
                    <m:r>
                      <a:rPr lang="en-US" altLang="en-US" sz="27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700" i="1" dirty="0">
                    <a:cs typeface="Times New Roman" panose="02020603050405020304" pitchFamily="18" charset="0"/>
                  </a:rPr>
                  <a:t>n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tam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chéo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minh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{x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. . . , 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Col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xây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 trực chuẩn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{u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. . . , 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W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Col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chất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(1)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11. C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ơ sở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xây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Phương Pháp Gram-schmidt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hay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  <a:blipFill>
                <a:blip r:embed="rId3"/>
                <a:stretch>
                  <a:fillRect l="-1357" t="-1176" r="-2071" b="-4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84040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NHÂN TỬ HÓA QR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Cho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en-US" sz="27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u</m:t>
                      </m:r>
                      <m:r>
                        <a:rPr lang="en-US" altLang="en-US" sz="2700" b="0" i="0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en-US" sz="27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u</m:t>
                      </m:r>
                      <m:r>
                        <a:rPr lang="en-US" altLang="en-US" sz="2700" b="0" i="0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en-US" sz="27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. . .</m:t>
                      </m:r>
                      <m:r>
                        <m:rPr>
                          <m:sty m:val="p"/>
                        </m:rPr>
                        <a:rPr lang="en-US" altLang="en-US" sz="27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altLang="en-US" sz="2700" b="0" i="0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n</m:t>
                      </m:r>
                      <m:r>
                        <a:rPr lang="en-US" altLang="en-US" sz="27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1 , . . . 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baseline="-25000" dirty="0" err="1">
                    <a:cs typeface="Times New Roman" panose="02020603050405020304" pitchFamily="18" charset="0"/>
                  </a:rPr>
                  <a:t>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nằm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Span{x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. . . , 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= Span{u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. . . , 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}.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r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, . . . , r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kk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en-US" sz="2700" b="0" i="0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altLang="en-US" sz="27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u</m:t>
                      </m:r>
                      <m:r>
                        <a:rPr lang="en-US" altLang="en-US" sz="2700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+…+</m:t>
                      </m:r>
                      <m:r>
                        <m:rPr>
                          <m:nor/>
                        </m:rPr>
                        <a:rPr lang="en-US" altLang="en-US" sz="2700" dirty="0">
                          <a:cs typeface="Times New Roman" panose="020206030504050203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en-US" sz="2700" baseline="-25000" dirty="0">
                          <a:cs typeface="Times New Roman" panose="02020603050405020304" pitchFamily="18" charset="0"/>
                        </a:rPr>
                        <m:t>kk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+0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𝑢𝑘</m:t>
                      </m:r>
                      <m:r>
                        <a:rPr lang="en-US" altLang="en-US" sz="27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+1+…+0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en-US" sz="27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altLang="en-US" sz="2700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n</m:t>
                      </m:r>
                    </m:oMath>
                  </m:oMathPara>
                </a14:m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baseline="-250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r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kk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≥ 0.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</a:t>
                </a:r>
                <a:r>
                  <a:rPr lang="en-US" altLang="en-US" sz="2700" baseline="-25000" dirty="0" err="1">
                    <a:cs typeface="Times New Roman" panose="02020603050405020304" pitchFamily="18" charset="0"/>
                  </a:rPr>
                  <a:t>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tổ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trọng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19200"/>
                <a:ext cx="8534400" cy="5181600"/>
              </a:xfrm>
              <a:blipFill>
                <a:blip r:embed="rId3"/>
                <a:stretch>
                  <a:fillRect l="-1143" t="-1176" r="-1071" b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1403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NHÂN TỬ HÓA QR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5181600"/>
              </a:xfrm>
            </p:spPr>
            <p:txBody>
              <a:bodyPr/>
              <a:lstStyle/>
              <a:p>
                <a:pPr marL="0" indent="0" eaLnBrk="1" hangingPunct="1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𝑟𝑘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altLang="en-US" sz="20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altLang="en-US" sz="2000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en-US" sz="2000" dirty="0">
                                  <a:cs typeface="Times New Roman" panose="02020603050405020304" pitchFamily="18" charset="0"/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altLang="en-US" sz="2000" baseline="-25000" dirty="0">
                                  <a:cs typeface="Times New Roman" panose="02020603050405020304" pitchFamily="18" charset="0"/>
                                </a:rPr>
                                <m:t>kk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US" altLang="en-US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5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Qr</a:t>
                </a:r>
                <a:r>
                  <a:rPr lang="en-US" altLang="en-US" sz="2500" baseline="-25000" dirty="0" err="1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= 1, . . . ,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. Cho R = [r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. . . r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].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= [x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. . . x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] = [Qr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. . . Qr</a:t>
                </a:r>
                <a:r>
                  <a:rPr lang="en-US" altLang="en-US" sz="2500" baseline="-25000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] =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QR</a:t>
                </a: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500" dirty="0" err="1">
                    <a:cs typeface="Times New Roman" panose="02020603050405020304" pitchFamily="18" charset="0"/>
                  </a:rPr>
                  <a:t>Việc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R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nghich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suy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ra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dễ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dàng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thông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tin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độc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i="1" dirty="0">
                    <a:cs typeface="Times New Roman" panose="02020603050405020304" pitchFamily="18" charset="0"/>
                  </a:rPr>
                  <a:t>R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tam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giác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trên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chéo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khong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âm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phải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500" dirty="0" err="1">
                    <a:cs typeface="Times New Roman" panose="02020603050405020304" pitchFamily="18" charset="0"/>
                  </a:rPr>
                  <a:t>dương</a:t>
                </a:r>
                <a:r>
                  <a:rPr lang="en-US" altLang="en-US" sz="25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5181600"/>
              </a:xfrm>
              <a:blipFill>
                <a:blip r:embed="rId3"/>
                <a:stretch>
                  <a:fillRect l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30938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NHÂN TỬ HÓA QR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5181600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4: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nhân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hóa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QR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0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các 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2.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 trực giao 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Col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Span{x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7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en-US" sz="270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−2/3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1/3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1/3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5181600"/>
              </a:xfrm>
              <a:blipFill>
                <a:blip r:embed="rId3"/>
                <a:stretch>
                  <a:fillRect l="-1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42552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NHÂN TỬ HÓA QR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5181600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giản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hóa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toán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3v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chuẩn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hóa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ba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 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u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dùng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các 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spcBef>
                    <a:spcPts val="0"/>
                  </a:spcBef>
                  <a:buNone/>
                </a:pPr>
                <a:r>
                  <a:rPr lang="en-US" altLang="en-US" sz="27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/2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1/2</m:t>
                                  </m:r>
                                </m:e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1/2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1/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en-US" sz="27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en-US" sz="27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12</m:t>
                                      </m:r>
                                    </m:e>
                                  </m:rad>
                                </m:e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1/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en-US" sz="27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en-US" sz="27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12</m:t>
                                      </m:r>
                                    </m:e>
                                  </m:rad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/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en-US" sz="27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en-US" sz="27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e>
                                <m:e>
                                  <m:r>
                                    <a:rPr lang="en-US" altLang="en-US" sz="27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lang="en-US" altLang="en-US" sz="27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/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en-US" sz="27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en-US" sz="27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0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 eaLnBrk="1" hangingPunct="1">
                  <a:spcBef>
                    <a:spcPts val="0"/>
                  </a:spcBef>
                  <a:buNone/>
                </a:pPr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Theo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xây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đầu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cơ sở trực chuẩn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Span{x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, . . . , x</a:t>
                </a:r>
                <a:r>
                  <a:rPr lang="en-US" altLang="en-US" sz="2700" baseline="-25000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}. 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5181600"/>
              </a:xfrm>
              <a:blipFill>
                <a:blip r:embed="rId3"/>
                <a:stretch>
                  <a:fillRect l="-1193" t="-1176" r="-1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93168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6.4-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NHÂN TỬ HÓA QR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5181600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minh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12,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QR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R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nào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tìm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R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thấy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2700" i="1" baseline="30000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bởi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Q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trực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chuẩn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altLang="en-US" sz="2700" b="0" i="1" baseline="30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𝑄𝑇</m:t>
                      </m:r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𝑄𝑅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𝐼𝑅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</m:oMath>
                  </m:oMathPara>
                </a14:m>
                <a:endParaRPr lang="en-US" altLang="en-US" sz="2700" b="0" dirty="0"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R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/2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e>
                              </m:rad>
                            </m:e>
                          </m:mr>
                        </m:m>
                        <m:r>
                          <a:rPr lang="en-US" alt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6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:endParaRPr lang="en-US" altLang="en-US" sz="20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:r>
                  <a:rPr lang="en-US" altLang="en-US" sz="2400" dirty="0">
                    <a:cs typeface="Times New Roman" panose="02020603050405020304" pitchFamily="18" charset="0"/>
                  </a:rPr>
                  <a:t>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3/2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3/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</m:oMath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5181600"/>
              </a:xfrm>
              <a:blipFill>
                <a:blip r:embed="rId3"/>
                <a:stretch>
                  <a:fillRect l="-1333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35037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19896</TotalTime>
  <Words>792</Words>
  <Application>Microsoft Office PowerPoint</Application>
  <PresentationFormat>On-screen Show (4:3)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Tính Chất Trực Giao và Bình Phương Tối Tiểu</vt:lpstr>
      <vt:lpstr>PHƯƠNG PHÁP GRAM-SCHMIDT</vt:lpstr>
      <vt:lpstr>PHƯƠNG PHÁP GRAM-SCHMIDT</vt:lpstr>
      <vt:lpstr>CƠ SỞ TRỰC CHUẨN</vt:lpstr>
      <vt:lpstr>NHÂN TỬ HÓA QR MA TRẬN</vt:lpstr>
      <vt:lpstr>NHÂN TỬ HÓA QR MA TRẬN</vt:lpstr>
      <vt:lpstr>NHÂN TỬ HÓA QR MA TRẬN</vt:lpstr>
      <vt:lpstr>NHÂN TỬ HÓA QR MA TRẬN</vt:lpstr>
      <vt:lpstr>NHÂN TỬ HÓA QR MA TRẬN</vt:lpstr>
      <vt:lpstr>NHÂN TỬ HÓA QR MA TRẬN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1049</cp:revision>
  <dcterms:created xsi:type="dcterms:W3CDTF">2005-10-22T18:34:54Z</dcterms:created>
  <dcterms:modified xsi:type="dcterms:W3CDTF">2016-08-07T10:05:43Z</dcterms:modified>
</cp:coreProperties>
</file>