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0"/>
  </p:notesMasterIdLst>
  <p:sldIdLst>
    <p:sldId id="424" r:id="rId2"/>
    <p:sldId id="442" r:id="rId3"/>
    <p:sldId id="443" r:id="rId4"/>
    <p:sldId id="444" r:id="rId5"/>
    <p:sldId id="445" r:id="rId6"/>
    <p:sldId id="446" r:id="rId7"/>
    <p:sldId id="447" r:id="rId8"/>
    <p:sldId id="448" r:id="rId9"/>
    <p:sldId id="449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07" autoAdjust="0"/>
    <p:restoredTop sz="98725" autoAdjust="0"/>
  </p:normalViewPr>
  <p:slideViewPr>
    <p:cSldViewPr>
      <p:cViewPr varScale="1">
        <p:scale>
          <a:sx n="92" d="100"/>
          <a:sy n="92" d="100"/>
        </p:scale>
        <p:origin x="1382" y="86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12" Type="http://schemas.openxmlformats.org/officeDocument/2006/relationships/image" Target="../media/image35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11" Type="http://schemas.openxmlformats.org/officeDocument/2006/relationships/image" Target="../media/image34.wmf"/><Relationship Id="rId5" Type="http://schemas.openxmlformats.org/officeDocument/2006/relationships/image" Target="../media/image28.w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4" Type="http://schemas.openxmlformats.org/officeDocument/2006/relationships/image" Target="../media/image7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EE295DF-F7F5-4571-B7AA-5C60A9403D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6308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8AFD9912-57CC-4E9D-933D-07D918B8C787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281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6.3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29169" y="2305363"/>
            <a:ext cx="2867261" cy="358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4150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51E90A6D-B65D-47C2-AFA8-71AA6CB82EB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39870851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0EFEE700-0523-47B7-933F-BBD387268E5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72333676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CE935016-A412-4BCC-A0F0-D090AD02F8A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57808582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F69AFCFF-4ECA-4D46-B052-1E143FF600A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10137305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5781D9C3-82B0-4B7D-8A0A-3A361C07E09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69806774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844A8A5C-E29A-4C76-A2F9-B289A3BDCB78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59653591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60BA92E2-0CB2-4A95-B635-FA3AD3718490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02190092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35D752EC-2DD1-4D90-A1EE-47C62E2950C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04801200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64F0F557-9DEA-4712-960C-6C78AB2DFEF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68142085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6140B305-9D51-4E10-A7D7-51F5FD4FF9D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31339906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6.3- </a:t>
            </a:r>
            <a:fld id="{C89737F5-F242-425C-A7CF-587A75CEADE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7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w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3.wmf"/><Relationship Id="rId1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9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image" Target="../media/image20.png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24.bin"/><Relationship Id="rId26" Type="http://schemas.openxmlformats.org/officeDocument/2006/relationships/oleObject" Target="../embeddings/oleObject28.bin"/><Relationship Id="rId3" Type="http://schemas.openxmlformats.org/officeDocument/2006/relationships/image" Target="../media/image36.png"/><Relationship Id="rId21" Type="http://schemas.openxmlformats.org/officeDocument/2006/relationships/image" Target="../media/image32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30.wmf"/><Relationship Id="rId25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7.wmf"/><Relationship Id="rId24" Type="http://schemas.openxmlformats.org/officeDocument/2006/relationships/oleObject" Target="../embeddings/oleObject27.bin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23" Type="http://schemas.openxmlformats.org/officeDocument/2006/relationships/image" Target="../media/image33.w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31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2.bin"/><Relationship Id="rId22" Type="http://schemas.openxmlformats.org/officeDocument/2006/relationships/oleObject" Target="../embeddings/oleObject26.bin"/><Relationship Id="rId27" Type="http://schemas.openxmlformats.org/officeDocument/2006/relationships/image" Target="../media/image3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oleObject" Target="../embeddings/oleObject32.bin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49.png"/><Relationship Id="rId4" Type="http://schemas.openxmlformats.org/officeDocument/2006/relationships/image" Target="../media/image40.wmf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53.wmf"/><Relationship Id="rId3" Type="http://schemas.openxmlformats.org/officeDocument/2006/relationships/image" Target="../media/image56.png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7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4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63.wmf"/><Relationship Id="rId3" Type="http://schemas.openxmlformats.org/officeDocument/2006/relationships/image" Target="../media/image64.png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6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5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73.png"/><Relationship Id="rId7" Type="http://schemas.openxmlformats.org/officeDocument/2006/relationships/image" Target="../media/image7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7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7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7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76.wmf"/><Relationship Id="rId4" Type="http://schemas.openxmlformats.org/officeDocument/2006/relationships/oleObject" Target="../embeddings/oleObject6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79.wmf"/><Relationship Id="rId4" Type="http://schemas.openxmlformats.org/officeDocument/2006/relationships/oleObject" Target="../embeddings/oleObject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Chất</a:t>
            </a:r>
            <a:r>
              <a:rPr lang="en-US" altLang="en-US" dirty="0"/>
              <a:t> </a:t>
            </a:r>
            <a:r>
              <a:rPr lang="en-US" altLang="en-US" dirty="0" err="1"/>
              <a:t>Trực</a:t>
            </a:r>
            <a:r>
              <a:rPr lang="en-US" altLang="en-US" dirty="0"/>
              <a:t> </a:t>
            </a:r>
            <a:r>
              <a:rPr lang="en-US" altLang="en-US" dirty="0" err="1"/>
              <a:t>Giao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br>
              <a:rPr lang="en-US" altLang="en-US" dirty="0"/>
            </a:br>
            <a:r>
              <a:rPr lang="en-US" altLang="en-US" dirty="0" err="1"/>
              <a:t>Bình</a:t>
            </a:r>
            <a:r>
              <a:rPr lang="en-US" altLang="en-US" dirty="0"/>
              <a:t> </a:t>
            </a:r>
            <a:r>
              <a:rPr lang="en-US" altLang="en-US" dirty="0" err="1"/>
              <a:t>Phương</a:t>
            </a:r>
            <a:r>
              <a:rPr lang="en-US" altLang="en-US" dirty="0"/>
              <a:t>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Tiểu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HÌNH CHIẾU TRỰC GIAO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908" name="Picture 28" descr="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495800"/>
            <a:ext cx="2895600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D99698D6-F321-4AC1-BD5C-7A0E5106E4C3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HÌNH CHIẾU TRỰC GIAO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288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334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>
                    <a:cs typeface="Times New Roman" panose="02020603050405020304" pitchFamily="18" charset="0"/>
                  </a:rPr>
                  <a:t>Hình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chiếu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điểm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dirty="0" err="1">
                    <a:cs typeface="Times New Roman" panose="02020603050405020304" pitchFamily="18" charset="0"/>
                  </a:rPr>
                  <a:t>lên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thẳng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qua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điểm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gốc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mở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rộng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tự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quan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trọng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800" dirty="0">
                    <a:cs typeface="Times New Roman" panose="02020603050405020304" pitchFamily="18" charset="0"/>
                  </a:rPr>
                  <a:t>Cho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tồn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tại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sao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(1)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duy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(2)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duy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y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628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334000"/>
              </a:xfrm>
              <a:blipFill>
                <a:blip r:embed="rId4"/>
                <a:stretch>
                  <a:fillRect l="-1259" t="-1143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628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789942"/>
              </p:ext>
            </p:extLst>
          </p:nvPr>
        </p:nvGraphicFramePr>
        <p:xfrm>
          <a:off x="3365500" y="3095625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name="Equation" r:id="rId5" imgW="253780" imgH="444114" progId="">
                  <p:embed/>
                </p:oleObj>
              </mc:Choice>
              <mc:Fallback>
                <p:oleObj name="Equation" r:id="rId5" imgW="253780" imgH="444114" progId="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3095625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450507"/>
              </p:ext>
            </p:extLst>
          </p:nvPr>
        </p:nvGraphicFramePr>
        <p:xfrm>
          <a:off x="7607300" y="3470275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2" name="Equation" r:id="rId7" imgW="253780" imgH="444114" progId="">
                  <p:embed/>
                </p:oleObj>
              </mc:Choice>
              <mc:Fallback>
                <p:oleObj name="Equation" r:id="rId7" imgW="253780" imgH="444114" progId="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3470275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878632"/>
              </p:ext>
            </p:extLst>
          </p:nvPr>
        </p:nvGraphicFramePr>
        <p:xfrm>
          <a:off x="3367925" y="3470275"/>
          <a:ext cx="83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" name="Equation" r:id="rId9" imgW="837836" imgH="444307" progId="">
                  <p:embed/>
                </p:oleObj>
              </mc:Choice>
              <mc:Fallback>
                <p:oleObj name="Equation" r:id="rId9" imgW="837836" imgH="444307" progId="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925" y="3470275"/>
                        <a:ext cx="8382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467955"/>
              </p:ext>
            </p:extLst>
          </p:nvPr>
        </p:nvGraphicFramePr>
        <p:xfrm>
          <a:off x="6527800" y="3095625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11" imgW="253780" imgH="444114" progId="">
                  <p:embed/>
                </p:oleObj>
              </mc:Choice>
              <mc:Fallback>
                <p:oleObj name="Equation" r:id="rId11" imgW="253780" imgH="444114" progId="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3095625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E9EA3B7F-975B-4C16-9550-30B2E07EC9D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ĐỊNH LÍ PHÂN TÍCH TRỰC GIAO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49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257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/>
                  <a:t>Hai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   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ta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chìa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khóa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tìm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tối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tiểu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hệ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trình</a:t>
                </a:r>
                <a:r>
                  <a:rPr lang="en-US" altLang="en-US" sz="2800" dirty="0"/>
                  <a:t>.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8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Cho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viết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dưới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dạng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(1)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  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      .</a:t>
                </a:r>
              </a:p>
              <a:p>
                <a:pPr eaLnBrk="1" hangingPunct="1"/>
                <a:r>
                  <a:rPr lang="en-US" altLang="en-US" sz="2800" dirty="0" err="1"/>
                  <a:t>Thực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vậy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,…,</a:t>
                </a:r>
                <a:r>
                  <a:rPr lang="en-US" altLang="en-US" sz="2800" b="1" dirty="0"/>
                  <a:t>u</a:t>
                </a:r>
                <a:r>
                  <a:rPr lang="en-US" altLang="en-US" sz="2800" i="1" baseline="-25000" dirty="0"/>
                  <a:t>p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cơ sở trực 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kì</a:t>
                </a:r>
                <a:r>
                  <a:rPr lang="vi-VN" altLang="en-US" sz="2800" dirty="0"/>
                  <a:t> 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(2)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                .</a:t>
                </a:r>
              </a:p>
              <a:p>
                <a:pPr eaLnBrk="1" hangingPunct="1"/>
                <a:endParaRPr lang="en-US" altLang="en-US" sz="2800" dirty="0"/>
              </a:p>
            </p:txBody>
          </p:sp>
        </mc:Choice>
        <mc:Fallback>
          <p:sp>
            <p:nvSpPr>
              <p:cNvPr id="7649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257800"/>
              </a:xfrm>
              <a:blipFill>
                <a:blip r:embed="rId3"/>
                <a:stretch>
                  <a:fillRect l="-1481" t="-1159" r="-519" b="-5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649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900367"/>
              </p:ext>
            </p:extLst>
          </p:nvPr>
        </p:nvGraphicFramePr>
        <p:xfrm>
          <a:off x="3987800" y="13081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" name="Equation" r:id="rId4" imgW="253780" imgH="444114" progId="">
                  <p:embed/>
                </p:oleObj>
              </mc:Choice>
              <mc:Fallback>
                <p:oleObj name="Equation" r:id="rId4" imgW="253780" imgH="444114" progId="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13081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5" name="Object 7"/>
          <p:cNvGraphicFramePr>
            <a:graphicFrameLocks noChangeAspect="1"/>
          </p:cNvGraphicFramePr>
          <p:nvPr/>
        </p:nvGraphicFramePr>
        <p:xfrm>
          <a:off x="3276600" y="3149600"/>
          <a:ext cx="142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" name="Equation" r:id="rId6" imgW="1422400" imgH="444500" progId="">
                  <p:embed/>
                </p:oleObj>
              </mc:Choice>
              <mc:Fallback>
                <p:oleObj name="Equation" r:id="rId6" imgW="1422400" imgH="444500" progId="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149600"/>
                        <a:ext cx="14224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756489"/>
              </p:ext>
            </p:extLst>
          </p:nvPr>
        </p:nvGraphicFramePr>
        <p:xfrm>
          <a:off x="2133600" y="36576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" name="Equation" r:id="rId8" imgW="253780" imgH="444114" progId="">
                  <p:embed/>
                </p:oleObj>
              </mc:Choice>
              <mc:Fallback>
                <p:oleObj name="Equation" r:id="rId8" imgW="253780" imgH="444114" progId="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6576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584775"/>
              </p:ext>
            </p:extLst>
          </p:nvPr>
        </p:nvGraphicFramePr>
        <p:xfrm>
          <a:off x="6629400" y="3676650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" name="Equation" r:id="rId10" imgW="545626" imgH="406048" progId="">
                  <p:embed/>
                </p:oleObj>
              </mc:Choice>
              <mc:Fallback>
                <p:oleObj name="Equation" r:id="rId10" imgW="545626" imgH="406048" progId="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676650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796655"/>
              </p:ext>
            </p:extLst>
          </p:nvPr>
        </p:nvGraphicFramePr>
        <p:xfrm>
          <a:off x="1981200" y="4813300"/>
          <a:ext cx="44069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" name="Equation" r:id="rId12" imgW="4406900" imgH="1130300" progId="">
                  <p:embed/>
                </p:oleObj>
              </mc:Choice>
              <mc:Fallback>
                <p:oleObj name="Equation" r:id="rId12" imgW="4406900" imgH="1130300" progId="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813300"/>
                        <a:ext cx="4406900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9" name="Object 11"/>
          <p:cNvGraphicFramePr>
            <a:graphicFrameLocks noChangeAspect="1"/>
          </p:cNvGraphicFramePr>
          <p:nvPr/>
        </p:nvGraphicFramePr>
        <p:xfrm>
          <a:off x="1498600" y="6146800"/>
          <a:ext cx="142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" name="Equation" r:id="rId14" imgW="1422400" imgH="444500" progId="">
                  <p:embed/>
                </p:oleObj>
              </mc:Choice>
              <mc:Fallback>
                <p:oleObj name="Equation" r:id="rId14" imgW="1422400" imgH="444500" progId="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6146800"/>
                        <a:ext cx="14224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503714" y="4810780"/>
                <a:ext cx="107768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714" y="4810780"/>
                <a:ext cx="1077686" cy="52322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351314" y="5420380"/>
                <a:ext cx="12192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314" y="5420380"/>
                <a:ext cx="1219200" cy="52322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942114" y="4776155"/>
                <a:ext cx="1077686" cy="5564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114" y="4776155"/>
                <a:ext cx="1077686" cy="556434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800600" y="5410200"/>
                <a:ext cx="1219200" cy="5564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5410200"/>
                <a:ext cx="1219200" cy="556434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A3673AF7-E242-4604-BA7C-F1D9CEDDC6EF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PHÂN TÍCH TRỰC GIAO</a:t>
            </a:r>
          </a:p>
        </p:txBody>
      </p:sp>
      <p:sp>
        <p:nvSpPr>
          <p:cNvPr id="76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</a:t>
            </a:r>
            <a:r>
              <a:rPr lang="vi-VN" altLang="en-US" sz="2800" dirty="0"/>
              <a:t>ectơ</a:t>
            </a:r>
            <a:r>
              <a:rPr lang="en-US" altLang="en-US" sz="2800" dirty="0"/>
              <a:t>    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(1)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b="1" dirty="0"/>
              <a:t> y </a:t>
            </a:r>
            <a:r>
              <a:rPr lang="en-US" altLang="en-US" sz="2800" b="1" dirty="0" err="1"/>
              <a:t>lên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proj</a:t>
            </a:r>
            <a:r>
              <a:rPr lang="en-US" altLang="en-US" sz="2800" i="1" baseline="-25000" dirty="0" err="1"/>
              <a:t>W</a:t>
            </a:r>
            <a:r>
              <a:rPr lang="en-US" altLang="en-US" sz="2800" b="1" dirty="0" err="1"/>
              <a:t>y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: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mtrongh</a:t>
            </a:r>
            <a:r>
              <a:rPr lang="en-US" altLang="en-US" sz="2800" b="1" dirty="0"/>
              <a:t>:</a:t>
            </a:r>
            <a:r>
              <a:rPr lang="en-US" altLang="en-US" sz="2800" dirty="0"/>
              <a:t> Cho {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/>
              <a:t>u</a:t>
            </a:r>
            <a:r>
              <a:rPr lang="en-US" altLang="en-US" sz="2800" i="1" baseline="-25000" dirty="0"/>
              <a:t>p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trực giao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vi-VN" altLang="en-US" sz="2800" dirty="0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  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(2).</a:t>
            </a:r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   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/>
              <a:t>u</a:t>
            </a:r>
            <a:r>
              <a:rPr lang="en-US" altLang="en-US" sz="2800" i="1" baseline="-25000" dirty="0"/>
              <a:t>p</a:t>
            </a:r>
            <a:r>
              <a:rPr lang="en-US" altLang="en-US" sz="2800" baseline="-25000" dirty="0"/>
              <a:t>.</a:t>
            </a:r>
          </a:p>
        </p:txBody>
      </p:sp>
      <p:graphicFrame>
        <p:nvGraphicFramePr>
          <p:cNvPr id="7659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836705"/>
              </p:ext>
            </p:extLst>
          </p:nvPr>
        </p:nvGraphicFramePr>
        <p:xfrm>
          <a:off x="1752600" y="12319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3" imgW="253780" imgH="444114" progId="">
                  <p:embed/>
                </p:oleObj>
              </mc:Choice>
              <mc:Fallback>
                <p:oleObj name="Equation" r:id="rId3" imgW="253780" imgH="444114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2319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39399"/>
              </p:ext>
            </p:extLst>
          </p:nvPr>
        </p:nvGraphicFramePr>
        <p:xfrm>
          <a:off x="4114800" y="5077691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Equation" r:id="rId5" imgW="253780" imgH="444114" progId="">
                  <p:embed/>
                </p:oleObj>
              </mc:Choice>
              <mc:Fallback>
                <p:oleObj name="Equation" r:id="rId5" imgW="253780" imgH="444114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077691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372197"/>
              </p:ext>
            </p:extLst>
          </p:nvPr>
        </p:nvGraphicFramePr>
        <p:xfrm>
          <a:off x="2006600" y="55499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Equation" r:id="rId7" imgW="253780" imgH="444114" progId="">
                  <p:embed/>
                </p:oleObj>
              </mc:Choice>
              <mc:Fallback>
                <p:oleObj name="Equation" r:id="rId7" imgW="253780" imgH="444114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55499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167222"/>
              </p:ext>
            </p:extLst>
          </p:nvPr>
        </p:nvGraphicFramePr>
        <p:xfrm>
          <a:off x="5293129" y="5570538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Equation" r:id="rId9" imgW="253780" imgH="444114" progId="">
                  <p:embed/>
                </p:oleObj>
              </mc:Choice>
              <mc:Fallback>
                <p:oleObj name="Equation" r:id="rId9" imgW="253780" imgH="444114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3129" y="5570538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65961" name="Picture 9" descr="6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590800"/>
            <a:ext cx="4038600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687CDAC4-6078-41E7-A2EA-4C7EAB4843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PHÂN TÍCH TRỰC GIAO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69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382000" cy="51054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/>
                  <a:t>Cho                  .</a:t>
                </a:r>
              </a:p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2</a:t>
                </a:r>
                <a:r>
                  <a:rPr lang="en-US" altLang="en-US" sz="2800" dirty="0"/>
                  <a:t>,…,</a:t>
                </a:r>
                <a:r>
                  <a:rPr lang="en-US" altLang="en-US" sz="2800" b="1" dirty="0"/>
                  <a:t>u</a:t>
                </a:r>
                <a:r>
                  <a:rPr lang="en-US" altLang="en-US" sz="2800" i="1" baseline="-25000" dirty="0"/>
                  <a:t>p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(2) </a:t>
                </a:r>
                <a:r>
                  <a:rPr lang="en-US" altLang="en-US" sz="2800" dirty="0" err="1"/>
                  <a:t>rằng</a:t>
                </a:r>
                <a:endParaRPr lang="en-US" altLang="en-US" sz="2800" dirty="0"/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800" dirty="0"/>
                  <a:t>-0…0-0</a:t>
                </a: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800" dirty="0"/>
                  <a:t>-</a:t>
                </a: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800" dirty="0"/>
                  <a:t>=0</a:t>
                </a:r>
              </a:p>
              <a:p>
                <a:pPr eaLnBrk="1" hangingPunct="1"/>
                <a:r>
                  <a:rPr lang="en-US" altLang="en-US" sz="2800" dirty="0"/>
                  <a:t>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tự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u</a:t>
                </a:r>
                <a:r>
                  <a:rPr lang="en-US" altLang="en-US" sz="2800" i="1" baseline="-25000" dirty="0" err="1"/>
                  <a:t>j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Vậy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      .</a:t>
                </a:r>
              </a:p>
            </p:txBody>
          </p:sp>
        </mc:Choice>
        <mc:Fallback>
          <p:sp>
            <p:nvSpPr>
              <p:cNvPr id="7669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382000" cy="5105400"/>
              </a:xfrm>
              <a:blipFill>
                <a:blip r:embed="rId3"/>
                <a:stretch>
                  <a:fillRect l="-1236" t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669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066666"/>
              </p:ext>
            </p:extLst>
          </p:nvPr>
        </p:nvGraphicFramePr>
        <p:xfrm>
          <a:off x="1625600" y="1346200"/>
          <a:ext cx="142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0" name="Equation" r:id="rId4" imgW="1422400" imgH="444500" progId="">
                  <p:embed/>
                </p:oleObj>
              </mc:Choice>
              <mc:Fallback>
                <p:oleObj name="Equation" r:id="rId4" imgW="1422400" imgH="4445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1346200"/>
                        <a:ext cx="14224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69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171692"/>
              </p:ext>
            </p:extLst>
          </p:nvPr>
        </p:nvGraphicFramePr>
        <p:xfrm>
          <a:off x="4102100" y="5232400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1" name="Equation" r:id="rId6" imgW="545626" imgH="406048" progId="">
                  <p:embed/>
                </p:oleObj>
              </mc:Choice>
              <mc:Fallback>
                <p:oleObj name="Equation" r:id="rId6" imgW="545626" imgH="406048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5232400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82BD4735-3160-4259-A8D0-4E4803DB60E7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PHÂN TÍCH TRỰC GIAO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800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sự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(1)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giả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còn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viết</a:t>
                </a:r>
                <a:r>
                  <a:rPr lang="en-US" altLang="en-US" sz="2800" dirty="0"/>
                  <a:t>                   ,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    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z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      .</a:t>
                </a:r>
              </a:p>
              <a:p>
                <a:pPr eaLnBrk="1" hangingPunct="1"/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                         (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vế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bằng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),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do </a:t>
                </a:r>
                <a:r>
                  <a:rPr lang="en-US" altLang="en-US" sz="2800" dirty="0" err="1"/>
                  <a:t>đó</a:t>
                </a: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Đẳng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                 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      (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z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    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   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con).</a:t>
                </a:r>
              </a:p>
              <a:p>
                <a:pPr eaLnBrk="1" hangingPunct="1"/>
                <a:r>
                  <a:rPr lang="en-US" altLang="en-US" sz="2800" dirty="0" err="1"/>
                  <a:t>Vậy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          .</a:t>
                </a:r>
              </a:p>
              <a:p>
                <a:pPr eaLnBrk="1" hangingPunct="1"/>
                <a:r>
                  <a:rPr lang="en-US" altLang="en-US" sz="2800" dirty="0" err="1"/>
                  <a:t>Điều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          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           .</a:t>
                </a:r>
              </a:p>
            </p:txBody>
          </p:sp>
        </mc:Choice>
        <mc:Fallback>
          <p:sp>
            <p:nvSpPr>
              <p:cNvPr id="7680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  <a:blipFill>
                <a:blip r:embed="rId3"/>
                <a:stretch>
                  <a:fillRect l="-1259" t="-1240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680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462876"/>
              </p:ext>
            </p:extLst>
          </p:nvPr>
        </p:nvGraphicFramePr>
        <p:xfrm>
          <a:off x="5918200" y="1612900"/>
          <a:ext cx="1625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6" name="Equation" r:id="rId4" imgW="1625600" imgH="482600" progId="">
                  <p:embed/>
                </p:oleObj>
              </mc:Choice>
              <mc:Fallback>
                <p:oleObj name="Equation" r:id="rId4" imgW="1625600" imgH="482600" progId="">
                  <p:embed/>
                  <p:pic>
                    <p:nvPicPr>
                      <p:cNvPr id="0" name="Picture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1612900"/>
                        <a:ext cx="1625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80322"/>
              </p:ext>
            </p:extLst>
          </p:nvPr>
        </p:nvGraphicFramePr>
        <p:xfrm>
          <a:off x="3771900" y="2054225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7" name="Equation" r:id="rId6" imgW="545626" imgH="406048" progId="">
                  <p:embed/>
                </p:oleObj>
              </mc:Choice>
              <mc:Fallback>
                <p:oleObj name="Equation" r:id="rId6" imgW="545626" imgH="406048" progId="">
                  <p:embed/>
                  <p:pic>
                    <p:nvPicPr>
                      <p:cNvPr id="0" name="Picture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2054225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610980"/>
              </p:ext>
            </p:extLst>
          </p:nvPr>
        </p:nvGraphicFramePr>
        <p:xfrm>
          <a:off x="2057400" y="2552700"/>
          <a:ext cx="218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8" name="Equation" r:id="rId8" imgW="2184400" imgH="482600" progId="">
                  <p:embed/>
                </p:oleObj>
              </mc:Choice>
              <mc:Fallback>
                <p:oleObj name="Equation" r:id="rId8" imgW="2184400" imgH="482600" progId="">
                  <p:embed/>
                  <p:pic>
                    <p:nvPicPr>
                      <p:cNvPr id="0" name="Picture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52700"/>
                        <a:ext cx="2184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07" name="Object 7"/>
          <p:cNvGraphicFramePr>
            <a:graphicFrameLocks noChangeAspect="1"/>
          </p:cNvGraphicFramePr>
          <p:nvPr/>
        </p:nvGraphicFramePr>
        <p:xfrm>
          <a:off x="3429000" y="3200400"/>
          <a:ext cx="2209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9" name="Equation" r:id="rId10" imgW="2209800" imgH="482600" progId="">
                  <p:embed/>
                </p:oleObj>
              </mc:Choice>
              <mc:Fallback>
                <p:oleObj name="Equation" r:id="rId10" imgW="2209800" imgH="482600" progId="">
                  <p:embed/>
                  <p:pic>
                    <p:nvPicPr>
                      <p:cNvPr id="0" name="Picture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200400"/>
                        <a:ext cx="2209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456936"/>
              </p:ext>
            </p:extLst>
          </p:nvPr>
        </p:nvGraphicFramePr>
        <p:xfrm>
          <a:off x="5562600" y="4000500"/>
          <a:ext cx="1536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0" name="Equation" r:id="rId12" imgW="1536700" imgH="482600" progId="">
                  <p:embed/>
                </p:oleObj>
              </mc:Choice>
              <mc:Fallback>
                <p:oleObj name="Equation" r:id="rId12" imgW="1536700" imgH="482600" progId="">
                  <p:embed/>
                  <p:pic>
                    <p:nvPicPr>
                      <p:cNvPr id="0" name="Picture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000500"/>
                        <a:ext cx="1536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058347"/>
              </p:ext>
            </p:extLst>
          </p:nvPr>
        </p:nvGraphicFramePr>
        <p:xfrm>
          <a:off x="2603500" y="4419600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1" name="Equation" r:id="rId14" imgW="545626" imgH="406048" progId="">
                  <p:embed/>
                </p:oleObj>
              </mc:Choice>
              <mc:Fallback>
                <p:oleObj name="Equation" r:id="rId14" imgW="545626" imgH="406048" progId="">
                  <p:embed/>
                  <p:pic>
                    <p:nvPicPr>
                      <p:cNvPr id="0" name="Picture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4419600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380943"/>
              </p:ext>
            </p:extLst>
          </p:nvPr>
        </p:nvGraphicFramePr>
        <p:xfrm>
          <a:off x="7270750" y="4419600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2" name="Equation" r:id="rId16" imgW="545626" imgH="406048" progId="">
                  <p:embed/>
                </p:oleObj>
              </mc:Choice>
              <mc:Fallback>
                <p:oleObj name="Equation" r:id="rId16" imgW="545626" imgH="406048" progId="">
                  <p:embed/>
                  <p:pic>
                    <p:nvPicPr>
                      <p:cNvPr id="0" name="Picture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4419600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07808"/>
              </p:ext>
            </p:extLst>
          </p:nvPr>
        </p:nvGraphicFramePr>
        <p:xfrm>
          <a:off x="8248650" y="4419600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3" name="Equation" r:id="rId18" imgW="545626" imgH="406048" progId="">
                  <p:embed/>
                </p:oleObj>
              </mc:Choice>
              <mc:Fallback>
                <p:oleObj name="Equation" r:id="rId18" imgW="545626" imgH="406048" progId="">
                  <p:embed/>
                  <p:pic>
                    <p:nvPicPr>
                      <p:cNvPr id="0" name="Picture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8650" y="4419600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749664"/>
              </p:ext>
            </p:extLst>
          </p:nvPr>
        </p:nvGraphicFramePr>
        <p:xfrm>
          <a:off x="4800600" y="5410200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4" name="Equation" r:id="rId20" imgW="837836" imgH="342751" progId="">
                  <p:embed/>
                </p:oleObj>
              </mc:Choice>
              <mc:Fallback>
                <p:oleObj name="Equation" r:id="rId20" imgW="837836" imgH="342751" progId="">
                  <p:embed/>
                  <p:pic>
                    <p:nvPicPr>
                      <p:cNvPr id="0" name="Picture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410200"/>
                        <a:ext cx="838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83554"/>
              </p:ext>
            </p:extLst>
          </p:nvPr>
        </p:nvGraphicFramePr>
        <p:xfrm>
          <a:off x="4743450" y="5905500"/>
          <a:ext cx="952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" name="Equation" r:id="rId22" imgW="952087" imgH="482391" progId="">
                  <p:embed/>
                </p:oleObj>
              </mc:Choice>
              <mc:Fallback>
                <p:oleObj name="Equation" r:id="rId22" imgW="952087" imgH="482391" progId="">
                  <p:embed/>
                  <p:pic>
                    <p:nvPicPr>
                      <p:cNvPr id="0" name="Picture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5905500"/>
                        <a:ext cx="952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084694"/>
              </p:ext>
            </p:extLst>
          </p:nvPr>
        </p:nvGraphicFramePr>
        <p:xfrm>
          <a:off x="6324600" y="5918200"/>
          <a:ext cx="927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" name="Equation" r:id="rId24" imgW="927100" imgH="482600" progId="">
                  <p:embed/>
                </p:oleObj>
              </mc:Choice>
              <mc:Fallback>
                <p:oleObj name="Equation" r:id="rId24" imgW="927100" imgH="482600" progId="">
                  <p:embed/>
                  <p:pic>
                    <p:nvPicPr>
                      <p:cNvPr id="0" name="Picture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918200"/>
                        <a:ext cx="927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073641"/>
              </p:ext>
            </p:extLst>
          </p:nvPr>
        </p:nvGraphicFramePr>
        <p:xfrm>
          <a:off x="8178800" y="1649802"/>
          <a:ext cx="342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7" name="Equation" r:id="rId26" imgW="342751" imgH="482391" progId="">
                  <p:embed/>
                </p:oleObj>
              </mc:Choice>
              <mc:Fallback>
                <p:oleObj name="Equation" r:id="rId26" imgW="342751" imgH="482391" progId="">
                  <p:embed/>
                  <p:pic>
                    <p:nvPicPr>
                      <p:cNvPr id="0" name="Picture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800" y="1649802"/>
                        <a:ext cx="342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183E4206-4D30-411B-B5A4-2DA3E4910588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PHÂN TÍCH TRỰC GIAO</a:t>
            </a:r>
          </a:p>
        </p:txBody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58200" cy="51816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Sự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(1)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  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phụ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phụ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dùng</a:t>
            </a:r>
            <a:r>
              <a:rPr lang="en-US" altLang="en-US" sz="2800" dirty="0"/>
              <a:t> (2).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1:</a:t>
            </a:r>
            <a:r>
              <a:rPr lang="en-US" altLang="en-US" sz="2800" dirty="0"/>
              <a:t> Cho                                                            .</a:t>
            </a:r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{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trực giao của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.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690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501648"/>
              </p:ext>
            </p:extLst>
          </p:nvPr>
        </p:nvGraphicFramePr>
        <p:xfrm>
          <a:off x="2209800" y="177165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name="Equation" r:id="rId3" imgW="253780" imgH="444114" progId="">
                  <p:embed/>
                </p:oleObj>
              </mc:Choice>
              <mc:Fallback>
                <p:oleObj name="Equation" r:id="rId3" imgW="253780" imgH="444114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7165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556666"/>
              </p:ext>
            </p:extLst>
          </p:nvPr>
        </p:nvGraphicFramePr>
        <p:xfrm>
          <a:off x="3048000" y="2565400"/>
          <a:ext cx="52959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" name="Equation" r:id="rId5" imgW="5295900" imgH="1778000" progId="">
                  <p:embed/>
                </p:oleObj>
              </mc:Choice>
              <mc:Fallback>
                <p:oleObj name="Equation" r:id="rId5" imgW="5295900" imgH="17780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65400"/>
                        <a:ext cx="52959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30" name="Object 6"/>
          <p:cNvGraphicFramePr>
            <a:graphicFrameLocks noChangeAspect="1"/>
          </p:cNvGraphicFramePr>
          <p:nvPr/>
        </p:nvGraphicFramePr>
        <p:xfrm>
          <a:off x="914400" y="5270500"/>
          <a:ext cx="2755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6" name="Equation" r:id="rId7" imgW="2755900" imgH="482600" progId="">
                  <p:embed/>
                </p:oleObj>
              </mc:Choice>
              <mc:Fallback>
                <p:oleObj name="Equation" r:id="rId7" imgW="2755900" imgH="4826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270500"/>
                        <a:ext cx="2755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BBDC4F9D-6B91-42C7-B858-A536AB9E2218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PHÂN TÍCH TRỰC GIAO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5626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lên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 </a:t>
            </a:r>
          </a:p>
        </p:txBody>
      </p:sp>
      <p:graphicFrame>
        <p:nvGraphicFramePr>
          <p:cNvPr id="770052" name="Object 4"/>
          <p:cNvGraphicFramePr>
            <a:graphicFrameLocks noChangeAspect="1"/>
          </p:cNvGraphicFramePr>
          <p:nvPr/>
        </p:nvGraphicFramePr>
        <p:xfrm>
          <a:off x="533400" y="1752600"/>
          <a:ext cx="8153400" cy="288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Equation" r:id="rId3" imgW="8331200" imgH="2946400" progId="">
                  <p:embed/>
                </p:oleObj>
              </mc:Choice>
              <mc:Fallback>
                <p:oleObj name="Equation" r:id="rId3" imgW="8331200" imgH="29464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52600"/>
                        <a:ext cx="8153400" cy="288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0053" name="Object 5"/>
          <p:cNvGraphicFramePr>
            <a:graphicFrameLocks noChangeAspect="1"/>
          </p:cNvGraphicFramePr>
          <p:nvPr/>
        </p:nvGraphicFramePr>
        <p:xfrm>
          <a:off x="2133600" y="4876800"/>
          <a:ext cx="487680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5" imgW="4991100" imgH="1778000" progId="">
                  <p:embed/>
                </p:oleObj>
              </mc:Choice>
              <mc:Fallback>
                <p:oleObj name="Equation" r:id="rId5" imgW="4991100" imgH="17780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76800"/>
                        <a:ext cx="4876800" cy="173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0600" y="1686580"/>
                <a:ext cx="107768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686580"/>
                <a:ext cx="1077686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01486" y="2343151"/>
                <a:ext cx="12192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486" y="2343151"/>
                <a:ext cx="121920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656114" y="1686580"/>
                <a:ext cx="107768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114" y="1686580"/>
                <a:ext cx="1077686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514600" y="2286000"/>
                <a:ext cx="12192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286000"/>
                <a:ext cx="1219200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FDCBE2DE-0D43-49CF-8F41-87809FA20488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PHÂN TÍCH TRỰC GIAO</a:t>
            </a:r>
          </a:p>
        </p:txBody>
      </p:sp>
      <p:sp>
        <p:nvSpPr>
          <p:cNvPr id="77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8 </a:t>
            </a:r>
            <a:r>
              <a:rPr lang="en-US" altLang="en-US" sz="2800" dirty="0" err="1"/>
              <a:t>bảo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   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      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toán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hãy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  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toàn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bộ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Sự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yêu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endParaRPr lang="en-US" altLang="en-US" sz="2800" dirty="0"/>
          </a:p>
        </p:txBody>
      </p:sp>
      <p:graphicFrame>
        <p:nvGraphicFramePr>
          <p:cNvPr id="771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795827"/>
              </p:ext>
            </p:extLst>
          </p:nvPr>
        </p:nvGraphicFramePr>
        <p:xfrm>
          <a:off x="4267200" y="1498600"/>
          <a:ext cx="83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2" name="Equation" r:id="rId3" imgW="837836" imgH="444307" progId="">
                  <p:embed/>
                </p:oleObj>
              </mc:Choice>
              <mc:Fallback>
                <p:oleObj name="Equation" r:id="rId3" imgW="837836" imgH="444307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498600"/>
                        <a:ext cx="8382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508834"/>
              </p:ext>
            </p:extLst>
          </p:nvPr>
        </p:nvGraphicFramePr>
        <p:xfrm>
          <a:off x="6781800" y="1462578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3" name="Equation" r:id="rId5" imgW="545626" imgH="406048" progId="">
                  <p:embed/>
                </p:oleObj>
              </mc:Choice>
              <mc:Fallback>
                <p:oleObj name="Equation" r:id="rId5" imgW="545626" imgH="406048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462578"/>
                        <a:ext cx="546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187481"/>
              </p:ext>
            </p:extLst>
          </p:nvPr>
        </p:nvGraphicFramePr>
        <p:xfrm>
          <a:off x="7239000" y="2553739"/>
          <a:ext cx="83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4" name="Equation" r:id="rId7" imgW="837836" imgH="444307" progId="">
                  <p:embed/>
                </p:oleObj>
              </mc:Choice>
              <mc:Fallback>
                <p:oleObj name="Equation" r:id="rId7" imgW="837836" imgH="444307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553739"/>
                        <a:ext cx="8382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79" name="Object 7"/>
          <p:cNvGraphicFramePr>
            <a:graphicFrameLocks noChangeAspect="1"/>
          </p:cNvGraphicFramePr>
          <p:nvPr/>
        </p:nvGraphicFramePr>
        <p:xfrm>
          <a:off x="2590800" y="4572000"/>
          <a:ext cx="4267200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5" name="Equation" r:id="rId9" imgW="4406900" imgH="1778000" progId="">
                  <p:embed/>
                </p:oleObj>
              </mc:Choice>
              <mc:Fallback>
                <p:oleObj name="Equation" r:id="rId9" imgW="4406900" imgH="17780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572000"/>
                        <a:ext cx="4267200" cy="172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FB91F751-83A2-44DC-A124-DE484735A223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HÌNH CHIẾU TRỰC GIAO</a:t>
            </a:r>
          </a:p>
        </p:txBody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{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/>
              <a:t>u</a:t>
            </a:r>
            <a:r>
              <a:rPr lang="en-US" altLang="en-US" sz="2800" i="1" baseline="-25000" dirty="0"/>
              <a:t>p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trực giao 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b="1" dirty="0"/>
              <a:t>y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proj</a:t>
            </a:r>
            <a:r>
              <a:rPr lang="en-US" altLang="en-US" sz="2800" i="1" baseline="-25000" dirty="0" err="1"/>
              <a:t>W</a:t>
            </a:r>
            <a:r>
              <a:rPr lang="en-US" altLang="en-US" sz="2800" b="1" dirty="0" err="1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diễn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5 ở </a:t>
            </a:r>
            <a:r>
              <a:rPr lang="en-US" altLang="en-US" sz="2800" dirty="0" err="1"/>
              <a:t>Mục</a:t>
            </a:r>
            <a:r>
              <a:rPr lang="en-US" altLang="en-US" sz="2800" dirty="0"/>
              <a:t> 6.2.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                  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                                     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                   </a:t>
            </a:r>
          </a:p>
        </p:txBody>
      </p:sp>
      <p:graphicFrame>
        <p:nvGraphicFramePr>
          <p:cNvPr id="772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413959"/>
              </p:ext>
            </p:extLst>
          </p:nvPr>
        </p:nvGraphicFramePr>
        <p:xfrm>
          <a:off x="4114800" y="3352800"/>
          <a:ext cx="1714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0" name="Equation" r:id="rId3" imgW="1714500" imgH="482600" progId="">
                  <p:embed/>
                </p:oleObj>
              </mc:Choice>
              <mc:Fallback>
                <p:oleObj name="Equation" r:id="rId3" imgW="1714500" imgH="4826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52800"/>
                        <a:ext cx="1714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21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404822"/>
              </p:ext>
            </p:extLst>
          </p:nvPr>
        </p:nvGraphicFramePr>
        <p:xfrm>
          <a:off x="3422650" y="4408285"/>
          <a:ext cx="330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1" name="Equation" r:id="rId5" imgW="3302000" imgH="520700" progId="">
                  <p:embed/>
                </p:oleObj>
              </mc:Choice>
              <mc:Fallback>
                <p:oleObj name="Equation" r:id="rId5" imgW="3302000" imgH="5207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0" y="4408285"/>
                        <a:ext cx="3302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21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711429"/>
              </p:ext>
            </p:extLst>
          </p:nvPr>
        </p:nvGraphicFramePr>
        <p:xfrm>
          <a:off x="3810000" y="4965007"/>
          <a:ext cx="1714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2" name="Equation" r:id="rId7" imgW="1714500" imgH="482600" progId="">
                  <p:embed/>
                </p:oleObj>
              </mc:Choice>
              <mc:Fallback>
                <p:oleObj name="Equation" r:id="rId7" imgW="1714500" imgH="4826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965007"/>
                        <a:ext cx="1714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D8B9F690-0ABD-497F-B0E6-CD5C1FFB3216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XẤP XỈ TỐT NHẤT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312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143000"/>
                <a:ext cx="8610600" cy="53340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9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Cho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tùy</a:t>
                </a:r>
                <a:r>
                  <a:rPr lang="en-US" altLang="en-US" sz="2800" dirty="0"/>
                  <a:t> ý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 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chiếu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lên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  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gần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nghĩa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(3)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 </a:t>
                </a:r>
                <a:r>
                  <a:rPr lang="en-US" altLang="en-US" sz="2800" dirty="0" err="1"/>
                  <a:t>khác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i="1" dirty="0"/>
                  <a:t>   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/>
                  <a:t>V</a:t>
                </a:r>
                <a:r>
                  <a:rPr lang="vi-VN" altLang="en-US" sz="2800" dirty="0"/>
                  <a:t>ectơ</a:t>
                </a:r>
                <a:r>
                  <a:rPr lang="en-US" altLang="en-US" sz="2800" dirty="0"/>
                  <a:t>   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9 </a:t>
                </a:r>
                <a:r>
                  <a:rPr lang="vi-VN" altLang="en-US" sz="2800" dirty="0"/>
                  <a:t>được gọi là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xấp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xỉ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tốt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nhất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của</a:t>
                </a:r>
                <a:r>
                  <a:rPr lang="en-US" altLang="en-US" sz="2800" b="1" dirty="0"/>
                  <a:t> y </a:t>
                </a:r>
                <a:r>
                  <a:rPr lang="en-US" altLang="en-US" sz="2800" b="1" dirty="0" err="1"/>
                  <a:t>bởi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các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phần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tử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của</a:t>
                </a:r>
                <a:r>
                  <a:rPr lang="en-US" altLang="en-US" sz="2800" b="1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Khoảng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tới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            ,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xem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như</a:t>
                </a:r>
                <a:r>
                  <a:rPr lang="en-US" altLang="en-US" sz="2800" dirty="0"/>
                  <a:t> “</a:t>
                </a:r>
                <a:r>
                  <a:rPr lang="en-US" altLang="en-US" sz="2800" dirty="0" err="1"/>
                  <a:t>sai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”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việc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dụng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thay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9 </a:t>
                </a:r>
                <a:r>
                  <a:rPr lang="en-US" altLang="en-US" sz="2800" dirty="0" err="1"/>
                  <a:t>nói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giảm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tối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         .</a:t>
                </a:r>
              </a:p>
            </p:txBody>
          </p:sp>
        </mc:Choice>
        <mc:Fallback>
          <p:sp>
            <p:nvSpPr>
              <p:cNvPr id="7731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143000"/>
                <a:ext cx="8610600" cy="5334000"/>
              </a:xfrm>
              <a:blipFill>
                <a:blip r:embed="rId3"/>
                <a:stretch>
                  <a:fillRect l="-1415" t="-1257" r="-708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3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690227"/>
              </p:ext>
            </p:extLst>
          </p:nvPr>
        </p:nvGraphicFramePr>
        <p:xfrm>
          <a:off x="5232400" y="16129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" name="Equation" r:id="rId4" imgW="253780" imgH="444114" progId="">
                  <p:embed/>
                </p:oleObj>
              </mc:Choice>
              <mc:Fallback>
                <p:oleObj name="Equation" r:id="rId4" imgW="253780" imgH="444114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16129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343943"/>
              </p:ext>
            </p:extLst>
          </p:nvPr>
        </p:nvGraphicFramePr>
        <p:xfrm>
          <a:off x="1600200" y="40386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" name="Equation" r:id="rId6" imgW="253780" imgH="444114" progId="">
                  <p:embed/>
                </p:oleObj>
              </mc:Choice>
              <mc:Fallback>
                <p:oleObj name="Equation" r:id="rId6" imgW="253780" imgH="444114" progId="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0386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090538"/>
              </p:ext>
            </p:extLst>
          </p:nvPr>
        </p:nvGraphicFramePr>
        <p:xfrm>
          <a:off x="4699000" y="35179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5" name="Equation" r:id="rId8" imgW="253780" imgH="444114" progId="">
                  <p:embed/>
                </p:oleObj>
              </mc:Choice>
              <mc:Fallback>
                <p:oleObj name="Equation" r:id="rId8" imgW="253780" imgH="444114" progId="">
                  <p:embed/>
                  <p:pic>
                    <p:nvPicPr>
                      <p:cNvPr id="0" name="Picture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35179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29" name="Object 9"/>
          <p:cNvGraphicFramePr>
            <a:graphicFrameLocks noChangeAspect="1"/>
          </p:cNvGraphicFramePr>
          <p:nvPr/>
        </p:nvGraphicFramePr>
        <p:xfrm>
          <a:off x="3505200" y="2946400"/>
          <a:ext cx="2501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6" name="Equation" r:id="rId10" imgW="2501900" imgH="558800" progId="">
                  <p:embed/>
                </p:oleObj>
              </mc:Choice>
              <mc:Fallback>
                <p:oleObj name="Equation" r:id="rId10" imgW="2501900" imgH="558800" progId="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946400"/>
                        <a:ext cx="25019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225949"/>
              </p:ext>
            </p:extLst>
          </p:nvPr>
        </p:nvGraphicFramePr>
        <p:xfrm>
          <a:off x="3378200" y="2073275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7" name="Equation" r:id="rId12" imgW="253780" imgH="444114" progId="">
                  <p:embed/>
                </p:oleObj>
              </mc:Choice>
              <mc:Fallback>
                <p:oleObj name="Equation" r:id="rId12" imgW="253780" imgH="444114" progId="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2073275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922229"/>
              </p:ext>
            </p:extLst>
          </p:nvPr>
        </p:nvGraphicFramePr>
        <p:xfrm>
          <a:off x="5334000" y="4927600"/>
          <a:ext cx="1066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8" name="Equation" r:id="rId14" imgW="1066800" imgH="558800" progId="">
                  <p:embed/>
                </p:oleObj>
              </mc:Choice>
              <mc:Fallback>
                <p:oleObj name="Equation" r:id="rId14" imgW="1066800" imgH="558800" progId="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927600"/>
                        <a:ext cx="10668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32" name="Object 12"/>
          <p:cNvGraphicFramePr>
            <a:graphicFrameLocks noChangeAspect="1"/>
          </p:cNvGraphicFramePr>
          <p:nvPr/>
        </p:nvGraphicFramePr>
        <p:xfrm>
          <a:off x="7823200" y="5905500"/>
          <a:ext cx="863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9" name="Equation" r:id="rId16" imgW="863225" imgH="444307" progId="">
                  <p:embed/>
                </p:oleObj>
              </mc:Choice>
              <mc:Fallback>
                <p:oleObj name="Equation" r:id="rId16" imgW="863225" imgH="444307" progId="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3200" y="5905500"/>
                        <a:ext cx="8636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3F5E5EFB-1BAB-44F9-A318-14F9D107E2AE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XẤP XỈ TỐT NHẤT</a:t>
            </a:r>
          </a:p>
        </p:txBody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(3) </a:t>
            </a:r>
            <a:r>
              <a:rPr lang="en-US" altLang="en-US" sz="2800" dirty="0" err="1"/>
              <a:t>dẫn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phụ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toán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trực 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vi-VN" altLang="en-US" sz="2800" dirty="0"/>
              <a:t> 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dung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gần</a:t>
            </a:r>
            <a:r>
              <a:rPr lang="en-US" altLang="en-US" sz="2800" dirty="0"/>
              <a:t> </a:t>
            </a:r>
            <a:r>
              <a:rPr lang="en-US" altLang="en-US" sz="2800" b="1" dirty="0"/>
              <a:t>y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  </a:t>
            </a:r>
          </a:p>
        </p:txBody>
      </p:sp>
      <p:graphicFrame>
        <p:nvGraphicFramePr>
          <p:cNvPr id="774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383520"/>
              </p:ext>
            </p:extLst>
          </p:nvPr>
        </p:nvGraphicFramePr>
        <p:xfrm>
          <a:off x="8443884" y="16002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Equation" r:id="rId3" imgW="253780" imgH="444114" progId="">
                  <p:embed/>
                </p:oleObj>
              </mc:Choice>
              <mc:Fallback>
                <p:oleObj name="Equation" r:id="rId3" imgW="253780" imgH="444114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3884" y="16002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4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318779"/>
              </p:ext>
            </p:extLst>
          </p:nvPr>
        </p:nvGraphicFramePr>
        <p:xfrm>
          <a:off x="8311342" y="43434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3" name="Equation" r:id="rId5" imgW="253780" imgH="444114" progId="">
                  <p:embed/>
                </p:oleObj>
              </mc:Choice>
              <mc:Fallback>
                <p:oleObj name="Equation" r:id="rId5" imgW="253780" imgH="444114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1342" y="43434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178" name="Picture 10" descr="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676400"/>
            <a:ext cx="4343400" cy="249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15C849E5-6498-4FD2-B1EC-B8ED138508DA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XẤP XỈ TỐT NHẤT</a:t>
            </a:r>
          </a:p>
        </p:txBody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Lấy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. </a:t>
            </a:r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: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          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Theo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,          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Đặc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,          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(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W </a:t>
            </a:r>
            <a:r>
              <a:rPr lang="en-US" altLang="en-US" sz="2800" dirty="0"/>
              <a:t>).</a:t>
            </a:r>
          </a:p>
        </p:txBody>
      </p:sp>
      <p:graphicFrame>
        <p:nvGraphicFramePr>
          <p:cNvPr id="7751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431637"/>
              </p:ext>
            </p:extLst>
          </p:nvPr>
        </p:nvGraphicFramePr>
        <p:xfrm>
          <a:off x="6096000" y="1218045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5" name="Equation" r:id="rId4" imgW="253780" imgH="444114" progId="">
                  <p:embed/>
                </p:oleObj>
              </mc:Choice>
              <mc:Fallback>
                <p:oleObj name="Equation" r:id="rId4" imgW="253780" imgH="444114" progId="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218045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5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792416"/>
              </p:ext>
            </p:extLst>
          </p:nvPr>
        </p:nvGraphicFramePr>
        <p:xfrm>
          <a:off x="2057400" y="4274171"/>
          <a:ext cx="82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6" name="Equation" r:id="rId6" imgW="825142" imgH="444307" progId="">
                  <p:embed/>
                </p:oleObj>
              </mc:Choice>
              <mc:Fallback>
                <p:oleObj name="Equation" r:id="rId6" imgW="825142" imgH="444307" progId="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74171"/>
                        <a:ext cx="8255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5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433424"/>
              </p:ext>
            </p:extLst>
          </p:nvPr>
        </p:nvGraphicFramePr>
        <p:xfrm>
          <a:off x="6096000" y="4818842"/>
          <a:ext cx="83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7" name="Equation" r:id="rId8" imgW="837836" imgH="444307" progId="">
                  <p:embed/>
                </p:oleObj>
              </mc:Choice>
              <mc:Fallback>
                <p:oleObj name="Equation" r:id="rId8" imgW="837836" imgH="444307" progId="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18842"/>
                        <a:ext cx="8382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5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004492"/>
              </p:ext>
            </p:extLst>
          </p:nvPr>
        </p:nvGraphicFramePr>
        <p:xfrm>
          <a:off x="2286000" y="5727672"/>
          <a:ext cx="83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8" name="Equation" r:id="rId10" imgW="837836" imgH="444307" progId="">
                  <p:embed/>
                </p:oleObj>
              </mc:Choice>
              <mc:Fallback>
                <p:oleObj name="Equation" r:id="rId10" imgW="837836" imgH="444307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727672"/>
                        <a:ext cx="8382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5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311619"/>
              </p:ext>
            </p:extLst>
          </p:nvPr>
        </p:nvGraphicFramePr>
        <p:xfrm>
          <a:off x="5080000" y="5727672"/>
          <a:ext cx="82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9" name="Equation" r:id="rId12" imgW="825142" imgH="444307" progId="">
                  <p:embed/>
                </p:oleObj>
              </mc:Choice>
              <mc:Fallback>
                <p:oleObj name="Equation" r:id="rId12" imgW="825142" imgH="444307" progId="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0" y="5727672"/>
                        <a:ext cx="8255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1B4B6094-4B46-4022-86C6-D90035B40DF4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XẤP XỈ TỐT NHẤT</a:t>
            </a:r>
          </a:p>
        </p:txBody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Vì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Pythagor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ta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(</a:t>
            </a:r>
            <a:r>
              <a:rPr lang="en-US" altLang="en-US" sz="2800" dirty="0" err="1"/>
              <a:t>Xem</a:t>
            </a:r>
            <a:r>
              <a:rPr lang="en-US" altLang="en-US" sz="2800" dirty="0"/>
              <a:t> tam </a:t>
            </a:r>
            <a:r>
              <a:rPr lang="en-US" altLang="en-US" sz="2800" dirty="0" err="1"/>
              <a:t>giác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màu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ở slide </a:t>
            </a:r>
            <a:r>
              <a:rPr lang="en-US" altLang="en-US" sz="2800" dirty="0" err="1"/>
              <a:t>trước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cạnh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gắn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nhãn</a:t>
            </a:r>
            <a:r>
              <a:rPr lang="en-US" altLang="en-US" sz="2800" dirty="0"/>
              <a:t>.)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Bây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giờ</a:t>
            </a:r>
            <a:r>
              <a:rPr lang="en-US" altLang="en-US" sz="2800" dirty="0"/>
              <a:t>                   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               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(3).</a:t>
            </a:r>
          </a:p>
        </p:txBody>
      </p:sp>
      <p:graphicFrame>
        <p:nvGraphicFramePr>
          <p:cNvPr id="776196" name="Object 4"/>
          <p:cNvGraphicFramePr>
            <a:graphicFrameLocks noChangeAspect="1"/>
          </p:cNvGraphicFramePr>
          <p:nvPr/>
        </p:nvGraphicFramePr>
        <p:xfrm>
          <a:off x="2590800" y="1905000"/>
          <a:ext cx="3746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2" name="Equation" r:id="rId3" imgW="3746500" imgH="444500" progId="">
                  <p:embed/>
                </p:oleObj>
              </mc:Choice>
              <mc:Fallback>
                <p:oleObj name="Equation" r:id="rId3" imgW="3746500" imgH="44450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905000"/>
                        <a:ext cx="37465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6197" name="Object 5"/>
          <p:cNvGraphicFramePr>
            <a:graphicFrameLocks noChangeAspect="1"/>
          </p:cNvGraphicFramePr>
          <p:nvPr/>
        </p:nvGraphicFramePr>
        <p:xfrm>
          <a:off x="2457450" y="3200400"/>
          <a:ext cx="43434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3" name="Equation" r:id="rId5" imgW="4343400" imgH="622300" progId="">
                  <p:embed/>
                </p:oleObj>
              </mc:Choice>
              <mc:Fallback>
                <p:oleObj name="Equation" r:id="rId5" imgW="4343400" imgH="6223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200400"/>
                        <a:ext cx="43434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61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999295"/>
              </p:ext>
            </p:extLst>
          </p:nvPr>
        </p:nvGraphicFramePr>
        <p:xfrm>
          <a:off x="2057400" y="5283200"/>
          <a:ext cx="16129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4" name="Equation" r:id="rId7" imgW="1816100" imgH="622300" progId="">
                  <p:embed/>
                </p:oleObj>
              </mc:Choice>
              <mc:Fallback>
                <p:oleObj name="Equation" r:id="rId7" imgW="1816100" imgH="6223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283200"/>
                        <a:ext cx="1612900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61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883491"/>
              </p:ext>
            </p:extLst>
          </p:nvPr>
        </p:nvGraphicFramePr>
        <p:xfrm>
          <a:off x="4711700" y="5372100"/>
          <a:ext cx="13081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5" name="Equation" r:id="rId9" imgW="1422400" imgH="444500" progId="">
                  <p:embed/>
                </p:oleObj>
              </mc:Choice>
              <mc:Fallback>
                <p:oleObj name="Equation" r:id="rId9" imgW="1422400" imgH="4445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5372100"/>
                        <a:ext cx="13081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77C18818-2C22-4209-8695-6C5BBD391FD1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HÌNH CHIẾU TRỰC GIAO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72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Ví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dụ</a:t>
                </a:r>
                <a:r>
                  <a:rPr lang="en-US" altLang="en-US" sz="2800" b="1" dirty="0"/>
                  <a:t> 4: </a:t>
                </a:r>
                <a:r>
                  <a:rPr lang="en-US" altLang="en-US" sz="2800" dirty="0" err="1"/>
                  <a:t>Khoảng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khoẳng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Tìm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khoảng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tới</a:t>
                </a:r>
                <a:r>
                  <a:rPr lang="en-US" altLang="en-US" sz="2800" dirty="0"/>
                  <a:t> 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                          ,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Lời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giải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Theo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Xấp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Tốt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khoảng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tới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             ,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                  . </a:t>
                </a:r>
              </a:p>
            </p:txBody>
          </p:sp>
        </mc:Choice>
        <mc:Fallback>
          <p:sp>
            <p:nvSpPr>
              <p:cNvPr id="7772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3"/>
                <a:stretch>
                  <a:fillRect l="-1481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7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614800"/>
              </p:ext>
            </p:extLst>
          </p:nvPr>
        </p:nvGraphicFramePr>
        <p:xfrm>
          <a:off x="609600" y="2705100"/>
          <a:ext cx="2755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8" name="Equation" r:id="rId4" imgW="2755900" imgH="482600" progId="">
                  <p:embed/>
                </p:oleObj>
              </mc:Choice>
              <mc:Fallback>
                <p:oleObj name="Equation" r:id="rId4" imgW="2755900" imgH="4826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705100"/>
                        <a:ext cx="2755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2" name="Object 6"/>
          <p:cNvGraphicFramePr>
            <a:graphicFrameLocks noChangeAspect="1"/>
          </p:cNvGraphicFramePr>
          <p:nvPr/>
        </p:nvGraphicFramePr>
        <p:xfrm>
          <a:off x="2057400" y="3276600"/>
          <a:ext cx="48387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9" name="Equation" r:id="rId6" imgW="4838700" imgH="1778000" progId="">
                  <p:embed/>
                </p:oleObj>
              </mc:Choice>
              <mc:Fallback>
                <p:oleObj name="Equation" r:id="rId6" imgW="4838700" imgH="17780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276600"/>
                        <a:ext cx="48387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979506"/>
              </p:ext>
            </p:extLst>
          </p:nvPr>
        </p:nvGraphicFramePr>
        <p:xfrm>
          <a:off x="2510905" y="5654964"/>
          <a:ext cx="1079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0" name="Equation" r:id="rId8" imgW="1079500" imgH="558800" progId="">
                  <p:embed/>
                </p:oleObj>
              </mc:Choice>
              <mc:Fallback>
                <p:oleObj name="Equation" r:id="rId8" imgW="1079500" imgH="558800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0905" y="5654964"/>
                        <a:ext cx="10795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72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362534"/>
              </p:ext>
            </p:extLst>
          </p:nvPr>
        </p:nvGraphicFramePr>
        <p:xfrm>
          <a:off x="4953000" y="5708650"/>
          <a:ext cx="1714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name="Equation" r:id="rId10" imgW="1714500" imgH="482600" progId="">
                  <p:embed/>
                </p:oleObj>
              </mc:Choice>
              <mc:Fallback>
                <p:oleObj name="Equation" r:id="rId10" imgW="1714500" imgH="482600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708650"/>
                        <a:ext cx="1714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B546F2A8-1B60-4593-8E21-EF09B6DFFBA5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HÌNH CHIẾU TRỰC GIAO</a:t>
            </a:r>
          </a:p>
        </p:txBody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{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trực giao 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,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Khoảng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W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                    . </a:t>
            </a:r>
          </a:p>
        </p:txBody>
      </p:sp>
      <p:graphicFrame>
        <p:nvGraphicFramePr>
          <p:cNvPr id="778244" name="Object 4"/>
          <p:cNvGraphicFramePr>
            <a:graphicFrameLocks noChangeAspect="1"/>
          </p:cNvGraphicFramePr>
          <p:nvPr/>
        </p:nvGraphicFramePr>
        <p:xfrm>
          <a:off x="688975" y="1570038"/>
          <a:ext cx="7689850" cy="425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Equation" r:id="rId3" imgW="8013700" imgH="4432300" progId="">
                  <p:embed/>
                </p:oleObj>
              </mc:Choice>
              <mc:Fallback>
                <p:oleObj name="Equation" r:id="rId3" imgW="8013700" imgH="44323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1570038"/>
                        <a:ext cx="7689850" cy="425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377624"/>
              </p:ext>
            </p:extLst>
          </p:nvPr>
        </p:nvGraphicFramePr>
        <p:xfrm>
          <a:off x="4724400" y="5715000"/>
          <a:ext cx="1816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Equation" r:id="rId5" imgW="1816100" imgH="508000" progId="">
                  <p:embed/>
                </p:oleObj>
              </mc:Choice>
              <mc:Fallback>
                <p:oleObj name="Equation" r:id="rId5" imgW="1816100" imgH="5080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715000"/>
                        <a:ext cx="18161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FA6BA2E5-B8EE-45C7-B5F5-4BFA9CB990D7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HÌNH CHIẾU TRỰC GIAO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926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71600"/>
                <a:ext cx="85344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10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,…,</a:t>
                </a:r>
                <a:r>
                  <a:rPr lang="en-US" altLang="en-US" sz="2800" b="1" dirty="0"/>
                  <a:t>u</a:t>
                </a:r>
                <a:r>
                  <a:rPr lang="en-US" altLang="en-US" sz="2800" i="1" baseline="-25000" dirty="0"/>
                  <a:t>p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cơ sở trực giao 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endParaRPr lang="en-US" altLang="en-US" sz="2800" dirty="0"/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𝑝𝑟𝑜𝑗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d>
                      <m:d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en-US" sz="28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dirty="0"/>
                  <a:t> (4)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                                          , </a:t>
                </a:r>
                <a:r>
                  <a:rPr lang="en-US" altLang="en-US" sz="2800" dirty="0" err="1"/>
                  <a:t>thì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None/>
                </a:pP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:                                         (5)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Chứng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minh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Biểu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thức</a:t>
                </a:r>
                <a:r>
                  <a:rPr lang="en-US" altLang="en-US" sz="2800" dirty="0"/>
                  <a:t> (4)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(2)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8.</a:t>
                </a:r>
              </a:p>
            </p:txBody>
          </p:sp>
        </mc:Choice>
        <mc:Fallback>
          <p:sp>
            <p:nvSpPr>
              <p:cNvPr id="7792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534400" cy="5181600"/>
              </a:xfrm>
              <a:blipFill>
                <a:blip r:embed="rId3"/>
                <a:stretch>
                  <a:fillRect l="-1429" t="-1176" r="-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9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073414"/>
              </p:ext>
            </p:extLst>
          </p:nvPr>
        </p:nvGraphicFramePr>
        <p:xfrm>
          <a:off x="1612900" y="3403600"/>
          <a:ext cx="3721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5" name="Equation" r:id="rId4" imgW="3721100" imgH="635000" progId="">
                  <p:embed/>
                </p:oleObj>
              </mc:Choice>
              <mc:Fallback>
                <p:oleObj name="Equation" r:id="rId4" imgW="3721100" imgH="6350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3403600"/>
                        <a:ext cx="37211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902488"/>
              </p:ext>
            </p:extLst>
          </p:nvPr>
        </p:nvGraphicFramePr>
        <p:xfrm>
          <a:off x="3962400" y="4419600"/>
          <a:ext cx="2476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" name="Equation" r:id="rId6" imgW="2476500" imgH="508000" progId="">
                  <p:embed/>
                </p:oleObj>
              </mc:Choice>
              <mc:Fallback>
                <p:oleObj name="Equation" r:id="rId6" imgW="2476500" imgH="50800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419600"/>
                        <a:ext cx="2476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6.3- </a:t>
            </a:r>
            <a:fld id="{26078551-F58E-4FF0-9A68-D7D1CE3CA65C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HÌNH CHIẾU TRỰC GIAO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02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447800"/>
                <a:ext cx="8839200" cy="4572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tự</a:t>
                </a:r>
                <a:r>
                  <a:rPr lang="en-US" altLang="en-US" sz="2800" dirty="0"/>
                  <a:t>, (4)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proj</a:t>
                </a:r>
                <a:r>
                  <a:rPr lang="en-US" altLang="en-US" sz="2800" i="1" baseline="-25000" dirty="0" err="1"/>
                  <a:t>W</a:t>
                </a:r>
                <a:r>
                  <a:rPr lang="en-US" altLang="en-US" sz="2800" b="1" dirty="0" err="1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tổ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trọng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trọng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viết</a:t>
                </a:r>
                <a:r>
                  <a:rPr lang="en-US" altLang="en-US" sz="2800" dirty="0"/>
                  <a:t>                              ,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thấy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chúng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U</a:t>
                </a:r>
                <a:r>
                  <a:rPr lang="en-US" altLang="en-US" sz="2800" i="1" baseline="30000" dirty="0" err="1"/>
                  <a:t>T</a:t>
                </a:r>
                <a:r>
                  <a:rPr lang="en-US" altLang="en-US" sz="2800" b="1" dirty="0" err="1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/>
                  <a:t> (</a:t>
                </a:r>
                <a:r>
                  <a:rPr lang="en-US" altLang="en-US" sz="2800" dirty="0"/>
                  <a:t>5).</a:t>
                </a:r>
              </a:p>
            </p:txBody>
          </p:sp>
        </mc:Choice>
        <mc:Fallback>
          <p:sp>
            <p:nvSpPr>
              <p:cNvPr id="7802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447800"/>
                <a:ext cx="8839200" cy="4572000"/>
              </a:xfrm>
              <a:blipFill>
                <a:blip r:embed="rId3"/>
                <a:stretch>
                  <a:fillRect l="-1172" t="-1467" r="-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802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526120"/>
              </p:ext>
            </p:extLst>
          </p:nvPr>
        </p:nvGraphicFramePr>
        <p:xfrm>
          <a:off x="4876800" y="2959100"/>
          <a:ext cx="2628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Equation" r:id="rId4" imgW="2628900" imgH="546100" progId="">
                  <p:embed/>
                </p:oleObj>
              </mc:Choice>
              <mc:Fallback>
                <p:oleObj name="Equation" r:id="rId4" imgW="2628900" imgH="5461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959100"/>
                        <a:ext cx="26289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17970</TotalTime>
  <Words>907</Words>
  <Application>Microsoft Office PowerPoint</Application>
  <PresentationFormat>On-screen Show (4:3)</PresentationFormat>
  <Paragraphs>174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Tính Chất Trực Giao và Bình Phương Tối Tiểu</vt:lpstr>
      <vt:lpstr>HÌNH CHIẾU TRỰC GIAO</vt:lpstr>
      <vt:lpstr> ĐỊNH LÍ PHÂN TÍCH TRỰC GIAO</vt:lpstr>
      <vt:lpstr>ĐỊNH LÍ PHÂN TÍCH TRỰC GIAO</vt:lpstr>
      <vt:lpstr>ĐỊNH LÍ PHÂN TÍCH TRỰC GIAO</vt:lpstr>
      <vt:lpstr>ĐỊNH LÍ PHÂN TÍCH TRỰC GIAO</vt:lpstr>
      <vt:lpstr>ĐỊNH LÍ PHÂN TÍCH TRỰC GIAO</vt:lpstr>
      <vt:lpstr>ĐỊNH LÍ PHÂN TÍCH TRỰC GIAO</vt:lpstr>
      <vt:lpstr>ĐỊNH LÍ PHÂN TÍCH TRỰC GIAO</vt:lpstr>
      <vt:lpstr>CÁC TÍNH CHẤT CỦA HÌNH CHIẾU TRỰC GIAO</vt:lpstr>
      <vt:lpstr>ĐỊNH LÍ XẤP XỈ TỐT NHẤT</vt:lpstr>
      <vt:lpstr>ĐỊNH LÍ XẤP XỈ TỐT NHẤT</vt:lpstr>
      <vt:lpstr>ĐỊNH LÍ XẤP XỈ TỐT NHẤT</vt:lpstr>
      <vt:lpstr>ĐỊNH LÍ XẤP XỈ TỐT NHẤT</vt:lpstr>
      <vt:lpstr>CÁC TÍNH CHẤT CỦA HÌNH CHIẾU TRỰC GIAO</vt:lpstr>
      <vt:lpstr>CÁC TÍNH CHẤT CỦA HÌNH CHIẾU TRỰC GIAO</vt:lpstr>
      <vt:lpstr>CÁC TÍNH CHẤT CỦA HÌNH CHIẾU TRỰC GIAO</vt:lpstr>
      <vt:lpstr>CÁC TÍNH CHẤT CỦA HÌNH CHIẾU TRỰC GIAO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1652</cp:revision>
  <dcterms:created xsi:type="dcterms:W3CDTF">2005-10-22T18:34:54Z</dcterms:created>
  <dcterms:modified xsi:type="dcterms:W3CDTF">2016-08-07T09:12:44Z</dcterms:modified>
</cp:coreProperties>
</file>