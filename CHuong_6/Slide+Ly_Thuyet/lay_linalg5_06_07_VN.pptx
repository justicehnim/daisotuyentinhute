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2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0099FF"/>
    <a:srgbClr val="D7791B"/>
    <a:srgbClr val="4C7816"/>
    <a:srgbClr val="528218"/>
    <a:srgbClr val="B6CEAA"/>
    <a:srgbClr val="ADC8A0"/>
    <a:srgbClr val="CD80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86413" autoAdjust="0"/>
  </p:normalViewPr>
  <p:slideViewPr>
    <p:cSldViewPr>
      <p:cViewPr varScale="1">
        <p:scale>
          <a:sx n="92" d="100"/>
          <a:sy n="92" d="100"/>
        </p:scale>
        <p:origin x="1406" y="38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-9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14538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9415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7766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51974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95278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8092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50887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860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D8019"/>
                </a:solidFill>
                <a:latin typeface="Arial" panose="020B0604020202020204" pitchFamily="34" charset="0"/>
              </a:rPr>
              <a:t>6.7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Chất</a:t>
            </a:r>
            <a:r>
              <a:rPr lang="en-US" altLang="en-US" dirty="0"/>
              <a:t> </a:t>
            </a:r>
            <a:r>
              <a:rPr lang="en-US" altLang="en-US" dirty="0" err="1"/>
              <a:t>Trực</a:t>
            </a:r>
            <a:r>
              <a:rPr lang="en-US" altLang="en-US" dirty="0"/>
              <a:t> </a:t>
            </a:r>
            <a:r>
              <a:rPr lang="en-US" altLang="en-US" dirty="0" err="1"/>
              <a:t>Giao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br>
              <a:rPr lang="en-US" altLang="en-US" dirty="0"/>
            </a:br>
            <a:r>
              <a:rPr lang="en-US" altLang="en-US" dirty="0" err="1"/>
              <a:t>Bình</a:t>
            </a:r>
            <a:r>
              <a:rPr lang="en-US" altLang="en-US" dirty="0"/>
              <a:t> </a:t>
            </a:r>
            <a:r>
              <a:rPr lang="en-US" altLang="en-US" dirty="0" err="1"/>
              <a:t>Phương</a:t>
            </a:r>
            <a:r>
              <a:rPr lang="en-US" altLang="en-US" dirty="0"/>
              <a:t> </a:t>
            </a:r>
            <a:r>
              <a:rPr lang="en-US" altLang="en-US" dirty="0" err="1"/>
              <a:t>Tối</a:t>
            </a:r>
            <a:r>
              <a:rPr lang="en-US" altLang="en-US" dirty="0"/>
              <a:t> </a:t>
            </a:r>
            <a:r>
              <a:rPr lang="en-US" altLang="en-US" dirty="0" err="1"/>
              <a:t>Tiểu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KHÔNG GIAN VECTƠ EUCLID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VECTƠ EUCLID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một không gian 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gắn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cặp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thực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thỏa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mãn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mọi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mọi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vô hướng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marL="514350" indent="-51435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  <m:r>
                      <a:rPr lang="en-US" altLang="en-US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514350" indent="-51435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</m:d>
                    <m:r>
                      <a:rPr lang="en-US" altLang="en-US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514350" indent="-51435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  <m:r>
                      <a:rPr lang="en-US" altLang="en-US" sz="27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514350" indent="-514350" eaLnBrk="1" hangingPunct="1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  <m:r>
                      <a:rPr lang="en-US" altLang="en-US" sz="270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en-US" sz="2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  và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  <m:r>
                      <a:rPr lang="en-US" altLang="en-US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chỉ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 = 0</a:t>
                </a:r>
              </a:p>
              <a:p>
                <a:pPr marL="514350" indent="-514350" eaLnBrk="1" hangingPunct="1">
                  <a:buFont typeface="+mj-lt"/>
                  <a:buAutoNum type="arabicPeriod"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M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ột không gian 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được gọi 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b="1" dirty="0">
                    <a:cs typeface="Times New Roman" panose="02020603050405020304" pitchFamily="18" charset="0"/>
                  </a:rPr>
                  <a:t>không gian vectơ Euclid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  <a:blipFill>
                <a:blip r:embed="rId3"/>
                <a:stretch>
                  <a:fillRect l="-1357" t="-1176" b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VECTƠ EUCLID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1: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đinh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tùy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ý –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4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5 -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 = (u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(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đặt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sz="2700" i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u</m:t>
                          </m:r>
                          <m:r>
                            <a:rPr lang="en-US" altLang="en-US" sz="2700" i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altLang="en-US" sz="2700" i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v</m:t>
                          </m:r>
                        </m:e>
                      </m:d>
                      <m:r>
                        <a:rPr lang="en-US" altLang="en-US" sz="27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+5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minh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(1)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Dĩ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1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thỏa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mãn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  <m:r>
                      <a:rPr lang="en-US" altLang="en-US" sz="2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  <a:blipFill>
                <a:blip r:embed="rId3"/>
                <a:stretch>
                  <a:fillRect l="-114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077200" y="2662535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311493109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VECTƠ EUCLID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(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),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</m:d>
                    <m:r>
                      <a:rPr lang="en-US" altLang="en-US" sz="2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en-US" sz="2700" i="1" dirty="0">
                        <a:cs typeface="Times New Roman" panose="020206030504050203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altLang="en-US" sz="2700" baseline="-25000" dirty="0"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)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            </m:t>
                    </m:r>
                    <m:r>
                      <a:rPr lang="en-US" altLang="en-US" sz="27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en-US" sz="2700" i="1" dirty="0">
                        <a:cs typeface="Times New Roman" panose="020206030504050203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altLang="en-US" sz="2700" baseline="-25000" dirty="0"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en-US" sz="2700" i="1" dirty="0">
                        <a:cs typeface="Times New Roman" panose="020206030504050203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altLang="en-US" sz="2700" baseline="-25000" dirty="0"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                                  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w</m:t>
                        </m: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Điều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minh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2.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3,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  <m:r>
                      <a:rPr lang="en-US" altLang="en-US" sz="2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d>
                      <m:dPr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en-US" sz="26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6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</m:t>
                    </m:r>
                    <m:d>
                      <m:dPr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en-US" sz="26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6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en-US" sz="26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6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6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</m:t>
                    </m:r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6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6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600" dirty="0">
                    <a:cs typeface="Times New Roman" panose="02020603050405020304" pitchFamily="18" charset="0"/>
                  </a:rPr>
                  <a:t>)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d>
                      <m:dPr>
                        <m:begChr m:val="⟨"/>
                        <m:endChr m:val="⟩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US" altLang="en-US" sz="26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  <a:blipFill>
                <a:blip r:embed="rId3"/>
                <a:stretch>
                  <a:fillRect l="-114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921241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VECTƠ EUCLID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Với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4, 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ú ý 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ằ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𝑛𝑔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  <m:sSubSup>
                      <m:sSubSupPr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</m:t>
                    </m:r>
                    <m:sSubSup>
                      <m:sSub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27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sSubSup>
                      <m:sSub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+5</m:t>
                    </m:r>
                    <m:sSubSup>
                      <m:sSub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27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chỉ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0,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u = 0. 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tự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(1)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tr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ê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  <a:blipFill>
                <a:blip r:embed="rId3"/>
                <a:stretch>
                  <a:fillRect l="-1143" t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0099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ĐỘ DÀI, KHOẢNG CÁCH VÀ TÍNH CHẤT TRỰC GIAO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Cho V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không gian vectơ Euclid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hiệu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Như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dài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hay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chuẩn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v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vô hướng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en-US" sz="2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en-US" sz="2700" b="0" i="1" baseline="30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vi-VN" altLang="en-US" sz="2700" b="1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dài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1.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Khoảng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cách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giữa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u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altLang="en-US" sz="27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en-US" sz="27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V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s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7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= 0.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  <a:blipFill>
                <a:blip r:embed="rId3"/>
                <a:stretch>
                  <a:fillRect l="-114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73983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HAI BẤT ĐẲNG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Cho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không gian vectơ Euclid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hữu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chiều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Pythagor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phân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en-US" sz="2700" i="1" baseline="30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𝑝𝑟𝑜𝑗</m:t>
                        </m:r>
                        <m:r>
                          <a:rPr lang="en-US" altLang="en-US" sz="27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en-US" sz="2700" i="1" baseline="30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𝑝𝑟𝑜𝑗</m:t>
                        </m:r>
                        <m:r>
                          <a:rPr lang="en-US" altLang="en-US" sz="27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en-US" sz="2700" i="1" baseline="30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Xem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2 ở slide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tiếp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theo.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Đặc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biệt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điều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chỉ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chuẩn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chiếu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vượt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quá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chuẩn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xét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dẫn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đẳng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quan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trọng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  <a:blipFill>
                <a:blip r:embed="rId3"/>
                <a:stretch>
                  <a:fillRect l="-114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4732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HAI BẤT ĐẲNG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</p:spPr>
            <p:txBody>
              <a:bodyPr/>
              <a:lstStyle/>
              <a:p>
                <a:pPr marL="0" indent="0" algn="ctr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16: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đẳng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Cauchy-Schwarz: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mọi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u, v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en-US" sz="2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en-US" sz="27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en-US" sz="2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  <a:blipFill>
                <a:blip r:embed="rId3"/>
                <a:stretch>
                  <a:fillRect l="-1357" r="-1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1295400"/>
            <a:ext cx="3457452" cy="29512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8200" y="556260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210622279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HAI BẤT ĐẲNG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>
                    <a:cs typeface="Times New Roman" panose="02020603050405020304" pitchFamily="18" charset="0"/>
                  </a:rPr>
                  <a:t>Chứng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minh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 = 0,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vế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(4)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đều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0,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đẳng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đúng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 </a:t>
                </a:r>
                <a14:m>
                  <m:oMath xmlns:m="http://schemas.openxmlformats.org/officeDocument/2006/math"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0,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sinh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Nhắc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lại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14:m>
                  <m:oMath xmlns:m="http://schemas.openxmlformats.org/officeDocument/2006/math">
                    <m:r>
                      <a:rPr lang="en-US" altLang="en-US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𝑐𝑢</m:t>
                        </m:r>
                      </m:e>
                    </m:d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|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|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với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vô hướng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tùy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ý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𝑝𝑟𝑜𝑗</m:t>
                        </m:r>
                        <m:r>
                          <a:rPr lang="en-US" altLang="en-US" sz="27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27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en-US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 sz="27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v</m:t>
                                </m:r>
                                <m:r>
                                  <a:rPr lang="en-US" altLang="en-US" sz="27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en-US" sz="27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u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en-US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 sz="27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u</m:t>
                                </m:r>
                                <m:r>
                                  <a:rPr lang="en-US" altLang="en-US" sz="27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en-US" sz="27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u</m:t>
                                </m:r>
                              </m:e>
                            </m:d>
                          </m:den>
                        </m:f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  <m: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</m:d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  <m: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</m:d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den>
                    </m:f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  <m: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</m:d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en-US" sz="2700" b="0" i="1" baseline="30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en-US" sz="27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  <m: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en-US" sz="27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</m:d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</m:d>
                      </m:den>
                    </m:f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𝑝𝑟𝑜𝑗</m:t>
                        </m:r>
                        <m:r>
                          <a:rPr lang="en-US" altLang="en-US" sz="27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  <m: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en-US" sz="27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v</m:t>
                            </m:r>
                          </m:e>
                        </m:d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</m:d>
                      </m:den>
                    </m:f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suy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(4).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  <a:blipFill>
                <a:blip r:embed="rId3"/>
                <a:stretch>
                  <a:fillRect l="-1357" t="-1176" r="-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96652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6.7-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HAI BẤT ĐẲNG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17 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đẳng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Tam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giác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mọi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u, v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en-US" sz="2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b="1" dirty="0">
                    <a:cs typeface="Times New Roman" panose="02020603050405020304" pitchFamily="18" charset="0"/>
                  </a:rPr>
                  <a:t>Chứng minh:</a:t>
                </a:r>
                <a14:m>
                  <m:oMath xmlns:m="http://schemas.openxmlformats.org/officeDocument/2006/math">
                    <m:r>
                      <a:rPr lang="en-US" altLang="en-US" sz="2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d>
                      <m:dPr>
                        <m:begChr m:val="‖"/>
                        <m:endChr m:val="‖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en-US" sz="2600" baseline="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  <m:r>
                      <a:rPr lang="en-US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</m:t>
                    </m:r>
                    <m:d>
                      <m:dPr>
                        <m:begChr m:val="⟨"/>
                        <m:endChr m:val="⟩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  <m:r>
                      <a:rPr lang="en-US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altLang="en-US" sz="2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  <m:r>
                          <a:rPr lang="en-US" altLang="en-US" sz="26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</m:oMath>
                </a14:m>
                <a:endParaRPr lang="en-US" altLang="en-US" sz="26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6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		         </a:t>
                </a:r>
                <a14:m>
                  <m:oMath xmlns:m="http://schemas.openxmlformats.org/officeDocument/2006/math">
                    <m:r>
                      <a:rPr lang="en-US" alt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altLang="en-US" sz="2600" baseline="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+ 2|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en-US" sz="26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</m:d>
                  </m:oMath>
                </a14:m>
                <a:r>
                  <a:rPr lang="en-US" altLang="en-US" sz="2600" dirty="0">
                    <a:cs typeface="Times New Roman" panose="02020603050405020304" pitchFamily="18" charset="0"/>
                  </a:rPr>
                  <a:t>| +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en-US" sz="2600" baseline="30000" dirty="0"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         </m:t>
                    </m:r>
                    <m:r>
                      <a:rPr lang="en-US" alt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altLang="en-US" sz="2600" baseline="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+ 2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en-US" sz="2600" dirty="0"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en-US" sz="2600" baseline="30000" dirty="0"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		          = (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‖"/>
                        <m:endChr m:val="‖"/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)</a:t>
                </a:r>
                <a:r>
                  <a:rPr lang="en-US" altLang="en-US" sz="2700" baseline="30000" dirty="0"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 eaLnBrk="1" hangingPunct="1">
                  <a:buNone/>
                </a:pPr>
                <a:endParaRPr lang="en-US" altLang="en-US" sz="2700" baseline="300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đẳng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tam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suy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việc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lấy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căn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bậc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vế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95400"/>
                <a:ext cx="8534400" cy="5181600"/>
              </a:xfrm>
              <a:blipFill>
                <a:blip r:embed="rId3"/>
                <a:stretch>
                  <a:fillRect l="-1357" t="-1176" b="-8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97111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20407</TotalTime>
  <Words>407</Words>
  <Application>Microsoft Office PowerPoint</Application>
  <PresentationFormat>On-screen Show (4:3)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Tính Chất Trực Giao và Bình Phương Tối Tiểu</vt:lpstr>
      <vt:lpstr>KHÔNG GIAN VECTƠ EUCLID</vt:lpstr>
      <vt:lpstr>KHÔNG GIAN VECTƠ EUCLID</vt:lpstr>
      <vt:lpstr>KHÔNG GIAN VECTƠ EUCLID</vt:lpstr>
      <vt:lpstr>KHÔNG GIAN VECTƠ EUCLID</vt:lpstr>
      <vt:lpstr>ĐỘ DÀI, KHOẢNG CÁCH VÀ TÍNH CHẤT TRỰC GIAO</vt:lpstr>
      <vt:lpstr>HAI BẤT ĐẲNG THỨC</vt:lpstr>
      <vt:lpstr>HAI BẤT ĐẲNG THỨC</vt:lpstr>
      <vt:lpstr>HAI BẤT ĐẲNG THỨC</vt:lpstr>
      <vt:lpstr>HAI BẤT ĐẲNG THỨC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1057</cp:revision>
  <dcterms:created xsi:type="dcterms:W3CDTF">2005-10-22T18:34:54Z</dcterms:created>
  <dcterms:modified xsi:type="dcterms:W3CDTF">2016-08-07T10:29:27Z</dcterms:modified>
</cp:coreProperties>
</file>