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1"/>
  </p:notesMasterIdLst>
  <p:sldIdLst>
    <p:sldId id="424" r:id="rId2"/>
    <p:sldId id="44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7" autoAdjust="0"/>
    <p:restoredTop sz="95833" autoAdjust="0"/>
  </p:normalViewPr>
  <p:slideViewPr>
    <p:cSldViewPr>
      <p:cViewPr varScale="1">
        <p:scale>
          <a:sx n="88" d="100"/>
          <a:sy n="88" d="100"/>
        </p:scale>
        <p:origin x="1502" y="67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EDA8DED-CB7F-4E59-9856-CD670B9E03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0108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5E79F4A1-A312-4277-AAC5-6203493F8D78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8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DA8DED-CB7F-4E59-9856-CD670B9E0369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41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6.2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40274" y="2232370"/>
            <a:ext cx="2946526" cy="368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061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139A3190-8443-48CE-9A01-63DFC19595F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60976858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BD9D84DE-1BE2-4FDC-94D4-564A1DBBE3E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816185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5B78199E-57B4-4A28-8AE6-BE4B7F098A8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0765863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5431B2EF-9752-46C4-BFF7-A85A3153CA7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20571426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97EF0476-866F-4177-A958-9AD2F74DC86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0560181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FC5BF111-B92A-4062-8DA4-845C3893B21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699959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4E9968BA-8E57-4762-BFEE-B4CD80715B2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10010566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6C326128-98BE-424A-9EA2-E59C698EDB4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951959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AAB4C0F8-AC12-41FC-9733-DF60C98CB40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8345193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3AC1D0FC-FBF1-4F44-9C41-D4E326ED943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0895004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2229ECA9-C6CC-46D9-97FC-5DED660A1BE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09659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6.2- </a:t>
            </a:r>
            <a:fld id="{04A5AEC1-3509-4F93-90EF-5CFA8015541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4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22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4.png"/><Relationship Id="rId5" Type="http://schemas.openxmlformats.org/officeDocument/2006/relationships/image" Target="../media/image9.wmf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13.wmf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30.png"/><Relationship Id="rId5" Type="http://schemas.openxmlformats.org/officeDocument/2006/relationships/image" Target="../media/image12.wmf"/><Relationship Id="rId10" Type="http://schemas.openxmlformats.org/officeDocument/2006/relationships/image" Target="../media/image27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3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46.png"/><Relationship Id="rId3" Type="http://schemas.openxmlformats.org/officeDocument/2006/relationships/oleObject" Target="../embeddings/oleObject14.bin"/><Relationship Id="rId21" Type="http://schemas.openxmlformats.org/officeDocument/2006/relationships/image" Target="../media/image49.png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4.wmf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23.wmf"/><Relationship Id="rId19" Type="http://schemas.openxmlformats.org/officeDocument/2006/relationships/image" Target="../media/image47.png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5.wmf"/><Relationship Id="rId22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56.png"/><Relationship Id="rId4" Type="http://schemas.openxmlformats.org/officeDocument/2006/relationships/image" Target="../media/image26.wmf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79.png"/><Relationship Id="rId3" Type="http://schemas.openxmlformats.org/officeDocument/2006/relationships/image" Target="../media/image62.png"/><Relationship Id="rId7" Type="http://schemas.openxmlformats.org/officeDocument/2006/relationships/image" Target="../media/image40.wmf"/><Relationship Id="rId12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71.png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6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82.png"/><Relationship Id="rId7" Type="http://schemas.openxmlformats.org/officeDocument/2006/relationships/image" Target="../media/image65.wmf"/><Relationship Id="rId12" Type="http://schemas.openxmlformats.org/officeDocument/2006/relationships/image" Target="../media/image10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66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Chất</a:t>
            </a:r>
            <a:r>
              <a:rPr lang="en-US" altLang="en-US" dirty="0"/>
              <a:t> </a:t>
            </a:r>
            <a:r>
              <a:rPr lang="en-US" altLang="en-US" dirty="0" err="1"/>
              <a:t>Trực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br>
              <a:rPr lang="en-US" altLang="en-US" dirty="0"/>
            </a:br>
            <a:r>
              <a:rPr lang="en-US" altLang="en-US" dirty="0" err="1"/>
              <a:t>Bình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Tiểu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TẬP TRỰC GIAO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F5A75311-308D-4754-BF76-268BBC02EA58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288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: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{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,…,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cặp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phân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biệt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4: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   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các 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cơ sở 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28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1481" t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28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643329"/>
              </p:ext>
            </p:extLst>
          </p:nvPr>
        </p:nvGraphicFramePr>
        <p:xfrm>
          <a:off x="1752600" y="3048000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5" imgW="761669" imgH="393529" progId="">
                  <p:embed/>
                </p:oleObj>
              </mc:Choice>
              <mc:Fallback>
                <p:oleObj name="Equation" r:id="rId5" imgW="761669" imgH="393529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762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890735"/>
              </p:ext>
            </p:extLst>
          </p:nvPr>
        </p:nvGraphicFramePr>
        <p:xfrm>
          <a:off x="3124200" y="4042287"/>
          <a:ext cx="2057400" cy="45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7" imgW="2362200" imgH="520700" progId="">
                  <p:embed/>
                </p:oleObj>
              </mc:Choice>
              <mc:Fallback>
                <p:oleObj name="Equation" r:id="rId7" imgW="2362200" imgH="5207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42287"/>
                        <a:ext cx="2057400" cy="453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928E6CE8-B50A-4845-92D7-69B35D5B1A32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GIAO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   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i="1" dirty="0" err="1"/>
              <a:t>c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,…,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. 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             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,…,</a:t>
            </a:r>
            <a:r>
              <a:rPr lang="en-US" altLang="en-US" sz="2800" i="1" dirty="0" err="1"/>
              <a:t>c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0.</a:t>
            </a:r>
          </a:p>
        </p:txBody>
      </p:sp>
      <p:graphicFrame>
        <p:nvGraphicFramePr>
          <p:cNvPr id="74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312002"/>
              </p:ext>
            </p:extLst>
          </p:nvPr>
        </p:nvGraphicFramePr>
        <p:xfrm>
          <a:off x="3352800" y="1257300"/>
          <a:ext cx="2984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Equation" r:id="rId3" imgW="2984500" imgH="520700" progId="">
                  <p:embed/>
                </p:oleObj>
              </mc:Choice>
              <mc:Fallback>
                <p:oleObj name="Equation" r:id="rId3" imgW="2984500" imgH="5207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57300"/>
                        <a:ext cx="29845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9" name="Object 5"/>
          <p:cNvGraphicFramePr>
            <a:graphicFrameLocks noChangeAspect="1"/>
          </p:cNvGraphicFramePr>
          <p:nvPr/>
        </p:nvGraphicFramePr>
        <p:xfrm>
          <a:off x="1447800" y="2133600"/>
          <a:ext cx="6400800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Equation" r:id="rId5" imgW="6400800" imgH="2463800" progId="">
                  <p:embed/>
                </p:oleObj>
              </mc:Choice>
              <mc:Fallback>
                <p:oleObj name="Equation" r:id="rId5" imgW="6400800" imgH="24638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6400800" cy="246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434545"/>
              </p:ext>
            </p:extLst>
          </p:nvPr>
        </p:nvGraphicFramePr>
        <p:xfrm>
          <a:off x="7556500" y="5308600"/>
          <a:ext cx="901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7" imgW="901309" imgH="482391" progId="">
                  <p:embed/>
                </p:oleObj>
              </mc:Choice>
              <mc:Fallback>
                <p:oleObj name="Equation" r:id="rId7" imgW="901309" imgH="482391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5308600"/>
                        <a:ext cx="901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05000" y="2057400"/>
                <a:ext cx="10668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057400"/>
                <a:ext cx="1066800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58000" y="213360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133600"/>
                <a:ext cx="609600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895600" y="277495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774950"/>
                <a:ext cx="60960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48200" y="343918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439180"/>
                <a:ext cx="609600" cy="523220"/>
              </a:xfrm>
              <a:prstGeom prst="rect">
                <a:avLst/>
              </a:prstGeom>
              <a:blipFill rotWithShape="0">
                <a:blip r:embed="rId12"/>
                <a:stretch>
                  <a:fillRect r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743200" y="339216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392160"/>
                <a:ext cx="60960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239000" y="3437316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437316"/>
                <a:ext cx="6096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r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819400" y="412498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124980"/>
                <a:ext cx="609600" cy="523220"/>
              </a:xfrm>
              <a:prstGeom prst="rect">
                <a:avLst/>
              </a:prstGeom>
              <a:blipFill rotWithShape="0">
                <a:blip r:embed="rId15"/>
                <a:stretch>
                  <a:fillRect r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724400" y="277495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74950"/>
                <a:ext cx="60960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55329" y="2750810"/>
                <a:ext cx="609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329" y="2750810"/>
                <a:ext cx="609600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14800" y="5191780"/>
                <a:ext cx="1289957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5191780"/>
                <a:ext cx="128995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C067F647-1C70-4709-A790-33D8FBF1231F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44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S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nghĩa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: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cơ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sở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trực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giao</a:t>
                </a:r>
                <a:r>
                  <a:rPr lang="en-US" altLang="en-US" sz="2800" b="1" dirty="0"/>
                  <a:t> </a:t>
                </a:r>
                <a:r>
                  <a:rPr lang="vi-VN" altLang="en-US" sz="2800" dirty="0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i="1" dirty="0"/>
                  <a:t>W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là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còn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5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trực giao 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trọng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7444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404" t="-1176" r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4454" name="Object 6"/>
          <p:cNvGraphicFramePr>
            <a:graphicFrameLocks noChangeAspect="1"/>
          </p:cNvGraphicFramePr>
          <p:nvPr/>
        </p:nvGraphicFramePr>
        <p:xfrm>
          <a:off x="2895600" y="4724400"/>
          <a:ext cx="300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4" imgW="3009900" imgH="520700" progId="">
                  <p:embed/>
                </p:oleObj>
              </mc:Choice>
              <mc:Fallback>
                <p:oleObj name="Equation" r:id="rId4" imgW="3009900" imgH="5207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724400"/>
                        <a:ext cx="3009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5" name="Object 7"/>
          <p:cNvGraphicFramePr>
            <a:graphicFrameLocks noChangeAspect="1"/>
          </p:cNvGraphicFramePr>
          <p:nvPr/>
        </p:nvGraphicFramePr>
        <p:xfrm>
          <a:off x="2743200" y="5334000"/>
          <a:ext cx="17018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6" imgW="1701800" imgH="1130300" progId="">
                  <p:embed/>
                </p:oleObj>
              </mc:Choice>
              <mc:Fallback>
                <p:oleObj name="Equation" r:id="rId6" imgW="1701800" imgH="11303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34000"/>
                        <a:ext cx="1701800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6" name="Object 8"/>
          <p:cNvGraphicFramePr>
            <a:graphicFrameLocks noChangeAspect="1"/>
          </p:cNvGraphicFramePr>
          <p:nvPr/>
        </p:nvGraphicFramePr>
        <p:xfrm>
          <a:off x="4953000" y="5651500"/>
          <a:ext cx="196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8" imgW="1968500" imgH="431800" progId="">
                  <p:embed/>
                </p:oleObj>
              </mc:Choice>
              <mc:Fallback>
                <p:oleObj name="Equation" r:id="rId8" imgW="1968500" imgH="4318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651500"/>
                        <a:ext cx="1968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376801" y="5334000"/>
                <a:ext cx="1195199" cy="4914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801" y="5334000"/>
                <a:ext cx="1195199" cy="491417"/>
              </a:xfrm>
              <a:prstGeom prst="rect">
                <a:avLst/>
              </a:prstGeom>
              <a:blipFill rotWithShape="0">
                <a:blip r:embed="rId10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429000" y="5943600"/>
                <a:ext cx="1143000" cy="4914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943600"/>
                <a:ext cx="1143000" cy="491417"/>
              </a:xfrm>
              <a:prstGeom prst="rect">
                <a:avLst/>
              </a:prstGeom>
              <a:blipFill rotWithShape="0">
                <a:blip r:embed="rId11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EA7F0596-32B8-46DA-849D-37B31B05D7C8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54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7244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/>
                  <a:t> không bằng không,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tìm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c</a:t>
                </a:r>
                <a:r>
                  <a:rPr lang="en-US" altLang="en-US" sz="2800" i="1" baseline="-25000" dirty="0" err="1"/>
                  <a:t>j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                   ,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giải</a:t>
                </a:r>
                <a:r>
                  <a:rPr lang="en-US" altLang="en-US" sz="2800" dirty="0"/>
                  <a:t>       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c</a:t>
                </a:r>
                <a:r>
                  <a:rPr lang="en-US" altLang="en-US" sz="2800" i="1" baseline="-25000" dirty="0" err="1"/>
                  <a:t>j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454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724400"/>
              </a:xfrm>
              <a:blipFill>
                <a:blip r:embed="rId3"/>
                <a:stretch>
                  <a:fillRect l="-1481" t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5476" name="Object 4"/>
          <p:cNvGraphicFramePr>
            <a:graphicFrameLocks noChangeAspect="1"/>
          </p:cNvGraphicFramePr>
          <p:nvPr/>
        </p:nvGraphicFramePr>
        <p:xfrm>
          <a:off x="1295400" y="2286000"/>
          <a:ext cx="7073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4" imgW="7073900" imgH="520700" progId="">
                  <p:embed/>
                </p:oleObj>
              </mc:Choice>
              <mc:Fallback>
                <p:oleObj name="Equation" r:id="rId4" imgW="7073900" imgH="5207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0"/>
                        <a:ext cx="7073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8" name="Object 6"/>
          <p:cNvGraphicFramePr>
            <a:graphicFrameLocks noChangeAspect="1"/>
          </p:cNvGraphicFramePr>
          <p:nvPr/>
        </p:nvGraphicFramePr>
        <p:xfrm>
          <a:off x="2806700" y="5105400"/>
          <a:ext cx="1765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6" imgW="1765300" imgH="419100" progId="">
                  <p:embed/>
                </p:oleObj>
              </mc:Choice>
              <mc:Fallback>
                <p:oleObj name="Equation" r:id="rId6" imgW="1765300" imgH="4191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5105400"/>
                        <a:ext cx="1765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25608"/>
              </p:ext>
            </p:extLst>
          </p:nvPr>
        </p:nvGraphicFramePr>
        <p:xfrm>
          <a:off x="7112000" y="5105400"/>
          <a:ext cx="736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8" imgW="736600" imgH="520700" progId="">
                  <p:embed/>
                </p:oleObj>
              </mc:Choice>
              <mc:Fallback>
                <p:oleObj name="Equation" r:id="rId8" imgW="736600" imgH="5207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5105400"/>
                        <a:ext cx="736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257800" y="5071183"/>
                <a:ext cx="838200" cy="4914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5071183"/>
                <a:ext cx="838200" cy="491417"/>
              </a:xfrm>
              <a:prstGeom prst="rect">
                <a:avLst/>
              </a:prstGeom>
              <a:blipFill>
                <a:blip r:embed="rId10"/>
                <a:stretch>
                  <a:fillRect l="-2190" r="-3650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64693" y="2286000"/>
                <a:ext cx="8382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693" y="2286000"/>
                <a:ext cx="83820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2174" r="-2174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254421" y="2345035"/>
                <a:ext cx="8382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421" y="2345035"/>
                <a:ext cx="838200" cy="461665"/>
              </a:xfrm>
              <a:prstGeom prst="rect">
                <a:avLst/>
              </a:prstGeom>
              <a:blipFill rotWithShape="0">
                <a:blip r:embed="rId12"/>
                <a:stretch>
                  <a:fillRect r="-18116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096000" y="2286000"/>
                <a:ext cx="5334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86000"/>
                <a:ext cx="533400" cy="461665"/>
              </a:xfrm>
              <a:prstGeom prst="rect">
                <a:avLst/>
              </a:prstGeom>
              <a:blipFill rotWithShape="0">
                <a:blip r:embed="rId13"/>
                <a:stretch>
                  <a:fillRect r="-14773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303AAD3A-4941-463F-8553-5FA99BD8C63C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64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Cho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khác không</a:t>
                </a:r>
                <a:r>
                  <a:rPr lang="en-US" altLang="en-US" sz="2800" b="1" dirty="0"/>
                  <a:t> u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hãy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xét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bài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vi-VN" altLang="en-US" sz="2800" dirty="0"/>
                  <a:t> vectơ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bội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còn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Ta </a:t>
                </a:r>
                <a:r>
                  <a:rPr lang="en-US" altLang="en-US" sz="2800" dirty="0" err="1"/>
                  <a:t>muốn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(1)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         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vô hướng</a:t>
                </a:r>
                <a:r>
                  <a:rPr lang="en-US" altLang="en-US" sz="2800" dirty="0"/>
                  <a:t> </a:t>
                </a:r>
                <a:r>
                  <a:rPr lang="el-GR" altLang="en-US" sz="2800" dirty="0">
                    <a:cs typeface="Times New Roman" panose="02020603050405020304" pitchFamily="18" charset="0"/>
                  </a:rPr>
                  <a:t>α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z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464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3"/>
                <a:stretch>
                  <a:fillRect l="-1481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6502" name="Object 6"/>
          <p:cNvGraphicFramePr>
            <a:graphicFrameLocks noChangeAspect="1"/>
          </p:cNvGraphicFramePr>
          <p:nvPr/>
        </p:nvGraphicFramePr>
        <p:xfrm>
          <a:off x="3581400" y="3505200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Equation" r:id="rId4" imgW="1422400" imgH="444500" progId="">
                  <p:embed/>
                </p:oleObj>
              </mc:Choice>
              <mc:Fallback>
                <p:oleObj name="Equation" r:id="rId4" imgW="1422400" imgH="4445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05200"/>
                        <a:ext cx="14224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34375"/>
              </p:ext>
            </p:extLst>
          </p:nvPr>
        </p:nvGraphicFramePr>
        <p:xfrm>
          <a:off x="2133600" y="4013200"/>
          <a:ext cx="114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name="Equation" r:id="rId6" imgW="1143000" imgH="444500" progId="">
                  <p:embed/>
                </p:oleObj>
              </mc:Choice>
              <mc:Fallback>
                <p:oleObj name="Equation" r:id="rId6" imgW="1143000" imgH="4445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13200"/>
                        <a:ext cx="1143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6506" name="Picture 10" descr="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876800"/>
            <a:ext cx="3733800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44F006C8-CD34-48E0-98D9-01599619820A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Cho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l-GR" altLang="en-US" sz="2800" dirty="0">
                <a:cs typeface="Times New Roman" panose="02020603050405020304" pitchFamily="18" charset="0"/>
              </a:rPr>
              <a:t>α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,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(1).</a:t>
            </a:r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     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(1)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z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			   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/>
              <a:t>V</a:t>
            </a:r>
            <a:r>
              <a:rPr lang="vi-VN" altLang="en-US" sz="2800" dirty="0"/>
              <a:t>ectơ</a:t>
            </a:r>
            <a:r>
              <a:rPr lang="en-US" altLang="en-US" sz="2800" dirty="0"/>
              <a:t>    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hình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chiếu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trực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b="1" dirty="0"/>
              <a:t> y </a:t>
            </a:r>
            <a:r>
              <a:rPr lang="en-US" altLang="en-US" sz="2800" b="1" dirty="0" err="1"/>
              <a:t>lên</a:t>
            </a:r>
            <a:r>
              <a:rPr lang="en-US" altLang="en-US" sz="2800" b="1" dirty="0"/>
              <a:t> 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b="1" dirty="0"/>
              <a:t>z</a:t>
            </a:r>
            <a:r>
              <a:rPr lang="en-US" altLang="en-US" sz="2800" dirty="0"/>
              <a:t>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thành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phần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của</a:t>
            </a:r>
            <a:r>
              <a:rPr lang="en-US" altLang="en-US" sz="2800" b="1" dirty="0"/>
              <a:t> y </a:t>
            </a:r>
            <a:r>
              <a:rPr lang="en-US" altLang="en-US" sz="2800" b="1" dirty="0" err="1"/>
              <a:t>trực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giao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với</a:t>
            </a:r>
            <a:r>
              <a:rPr lang="en-US" altLang="en-US" sz="2800" b="1" dirty="0"/>
              <a:t> u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730192"/>
              </p:ext>
            </p:extLst>
          </p:nvPr>
        </p:nvGraphicFramePr>
        <p:xfrm>
          <a:off x="4860471" y="1325072"/>
          <a:ext cx="1689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Equation" r:id="rId3" imgW="1689100" imgH="330200" progId="">
                  <p:embed/>
                </p:oleObj>
              </mc:Choice>
              <mc:Fallback>
                <p:oleObj name="Equation" r:id="rId3" imgW="1689100" imgH="330200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471" y="1325072"/>
                        <a:ext cx="16891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608883"/>
              </p:ext>
            </p:extLst>
          </p:nvPr>
        </p:nvGraphicFramePr>
        <p:xfrm>
          <a:off x="2057400" y="2133600"/>
          <a:ext cx="838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Equation" r:id="rId5" imgW="837836" imgH="444307" progId="">
                  <p:embed/>
                </p:oleObj>
              </mc:Choice>
              <mc:Fallback>
                <p:oleObj name="Equation" r:id="rId5" imgW="837836" imgH="444307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33600"/>
                        <a:ext cx="8382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7" name="Object 7"/>
          <p:cNvGraphicFramePr>
            <a:graphicFrameLocks noChangeAspect="1"/>
          </p:cNvGraphicFramePr>
          <p:nvPr/>
        </p:nvGraphicFramePr>
        <p:xfrm>
          <a:off x="914400" y="2667000"/>
          <a:ext cx="726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" name="Equation" r:id="rId7" imgW="7264400" imgH="431800" progId="">
                  <p:embed/>
                </p:oleObj>
              </mc:Choice>
              <mc:Fallback>
                <p:oleObj name="Equation" r:id="rId7" imgW="7264400" imgH="4318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7264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8" name="Object 8"/>
          <p:cNvGraphicFramePr>
            <a:graphicFrameLocks noChangeAspect="1"/>
          </p:cNvGraphicFramePr>
          <p:nvPr/>
        </p:nvGraphicFramePr>
        <p:xfrm>
          <a:off x="1917700" y="3924300"/>
          <a:ext cx="1346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" name="Equation" r:id="rId9" imgW="1346200" imgH="952500" progId="">
                  <p:embed/>
                </p:oleObj>
              </mc:Choice>
              <mc:Fallback>
                <p:oleObj name="Equation" r:id="rId9" imgW="1346200" imgH="9525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3924300"/>
                        <a:ext cx="13462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9" name="Object 9"/>
          <p:cNvGraphicFramePr>
            <a:graphicFrameLocks noChangeAspect="1"/>
          </p:cNvGraphicFramePr>
          <p:nvPr/>
        </p:nvGraphicFramePr>
        <p:xfrm>
          <a:off x="4000500" y="3924300"/>
          <a:ext cx="1562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" name="Equation" r:id="rId11" imgW="1562100" imgH="952500" progId="">
                  <p:embed/>
                </p:oleObj>
              </mc:Choice>
              <mc:Fallback>
                <p:oleObj name="Equation" r:id="rId11" imgW="1562100" imgH="95250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924300"/>
                        <a:ext cx="15621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984889"/>
              </p:ext>
            </p:extLst>
          </p:nvPr>
        </p:nvGraphicFramePr>
        <p:xfrm>
          <a:off x="1790700" y="5146675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" name="Equation" r:id="rId13" imgW="253780" imgH="444114" progId="">
                  <p:embed/>
                </p:oleObj>
              </mc:Choice>
              <mc:Fallback>
                <p:oleObj name="Equation" r:id="rId13" imgW="253780" imgH="444114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5146675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870200" y="2652067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200" y="2652067"/>
                <a:ext cx="482600" cy="461665"/>
              </a:xfrm>
              <a:prstGeom prst="rect">
                <a:avLst/>
              </a:prstGeom>
              <a:blipFill rotWithShape="0">
                <a:blip r:embed="rId15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860800" y="2605385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00" y="2605385"/>
                <a:ext cx="482600" cy="461665"/>
              </a:xfrm>
              <a:prstGeom prst="rect">
                <a:avLst/>
              </a:prstGeom>
              <a:blipFill rotWithShape="0">
                <a:blip r:embed="rId1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308600" y="2605385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2605385"/>
                <a:ext cx="482600" cy="461665"/>
              </a:xfrm>
              <a:prstGeom prst="rect">
                <a:avLst/>
              </a:prstGeom>
              <a:blipFill rotWithShape="0">
                <a:blip r:embed="rId17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299200" y="2652067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2652067"/>
                <a:ext cx="482600" cy="461665"/>
              </a:xfrm>
              <a:prstGeom prst="rect">
                <a:avLst/>
              </a:prstGeom>
              <a:blipFill rotWithShape="0">
                <a:blip r:embed="rId18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20000" y="2637135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637135"/>
                <a:ext cx="482600" cy="461665"/>
              </a:xfrm>
              <a:prstGeom prst="rect">
                <a:avLst/>
              </a:prstGeom>
              <a:blipFill rotWithShape="0">
                <a:blip r:embed="rId19"/>
                <a:stretch>
                  <a:fillRect r="-44304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819400" y="3880201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880201"/>
                <a:ext cx="48260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864757" y="4471342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757" y="4471342"/>
                <a:ext cx="482600" cy="461665"/>
              </a:xfrm>
              <a:prstGeom prst="rect">
                <a:avLst/>
              </a:prstGeom>
              <a:blipFill rotWithShape="0">
                <a:blip r:embed="rId21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860471" y="3880201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471" y="3880201"/>
                <a:ext cx="482600" cy="461665"/>
              </a:xfrm>
              <a:prstGeom prst="rect">
                <a:avLst/>
              </a:prstGeom>
              <a:blipFill rotWithShape="0">
                <a:blip r:embed="rId22"/>
                <a:stretch>
                  <a:fillRect r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862285" y="4499045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285" y="4499045"/>
                <a:ext cx="482600" cy="461665"/>
              </a:xfrm>
              <a:prstGeom prst="rect">
                <a:avLst/>
              </a:prstGeom>
              <a:blipFill rotWithShape="0">
                <a:blip r:embed="rId23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9E50BA03-E7DB-4EA3-A6EE-51898855B8BC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không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gian</a:t>
            </a:r>
            <a:r>
              <a:rPr lang="en-US" altLang="en-US" sz="2800" i="1" dirty="0"/>
              <a:t> con</a:t>
            </a:r>
            <a:r>
              <a:rPr lang="en-US" altLang="en-US" sz="2800" dirty="0"/>
              <a:t> </a:t>
            </a:r>
            <a:r>
              <a:rPr lang="en-US" altLang="en-US" sz="2800" i="1" dirty="0"/>
              <a:t>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thẳng</a:t>
            </a:r>
            <a:r>
              <a:rPr lang="en-US" altLang="en-US" sz="2800" dirty="0"/>
              <a:t> qua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0</a:t>
            </a:r>
            <a:r>
              <a:rPr lang="en-US" altLang="en-US" sz="2800" dirty="0"/>
              <a:t>).</a:t>
            </a:r>
          </a:p>
          <a:p>
            <a:pPr eaLnBrk="1" hangingPunct="1"/>
            <a:r>
              <a:rPr lang="en-US" altLang="en-US" sz="2800" dirty="0"/>
              <a:t>   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vi-VN" altLang="en-US" sz="2800" dirty="0"/>
              <a:t>được kí hiệu 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proj</a:t>
            </a:r>
            <a:r>
              <a:rPr lang="en-US" altLang="en-US" sz="2800" i="1" baseline="-25000" dirty="0" err="1"/>
              <a:t>L</a:t>
            </a:r>
            <a:r>
              <a:rPr lang="en-US" altLang="en-US" sz="2800" b="1" dirty="0" err="1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hình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chiếu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trực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giao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của</a:t>
            </a:r>
            <a:r>
              <a:rPr lang="en-US" altLang="en-US" sz="2800" b="1" dirty="0"/>
              <a:t> y </a:t>
            </a:r>
            <a:r>
              <a:rPr lang="en-US" altLang="en-US" sz="2800" b="1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L</a:t>
            </a:r>
            <a:r>
              <a:rPr lang="en-US" altLang="en-US" sz="2800" dirty="0"/>
              <a:t>. </a:t>
            </a:r>
          </a:p>
          <a:p>
            <a:pPr eaLnBrk="1" hangingPunct="1"/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(2)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48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352238"/>
              </p:ext>
            </p:extLst>
          </p:nvPr>
        </p:nvGraphicFramePr>
        <p:xfrm>
          <a:off x="4902200" y="19050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3" imgW="253780" imgH="444114" progId="">
                  <p:embed/>
                </p:oleObj>
              </mc:Choice>
              <mc:Fallback>
                <p:oleObj name="Equation" r:id="rId3" imgW="253780" imgH="444114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19050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670614"/>
              </p:ext>
            </p:extLst>
          </p:nvPr>
        </p:nvGraphicFramePr>
        <p:xfrm>
          <a:off x="914400" y="4191000"/>
          <a:ext cx="25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5" imgW="253780" imgH="444114" progId="">
                  <p:embed/>
                </p:oleObj>
              </mc:Choice>
              <mc:Fallback>
                <p:oleObj name="Equation" r:id="rId5" imgW="253780" imgH="444114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91000"/>
                        <a:ext cx="254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550" name="Object 6"/>
          <p:cNvGraphicFramePr>
            <a:graphicFrameLocks noChangeAspect="1"/>
          </p:cNvGraphicFramePr>
          <p:nvPr/>
        </p:nvGraphicFramePr>
        <p:xfrm>
          <a:off x="3200400" y="5346700"/>
          <a:ext cx="2959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7" imgW="2959100" imgH="952500" progId="">
                  <p:embed/>
                </p:oleObj>
              </mc:Choice>
              <mc:Fallback>
                <p:oleObj name="Equation" r:id="rId7" imgW="2959100" imgH="9525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46700"/>
                        <a:ext cx="29591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029200" y="5346700"/>
                <a:ext cx="90714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346700"/>
                <a:ext cx="907143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453743" y="5882332"/>
                <a:ext cx="4826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743" y="5882332"/>
                <a:ext cx="48260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A23B5D34-97EE-483F-8766-AD962CB0846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Cho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.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Span{</a:t>
            </a:r>
            <a:r>
              <a:rPr lang="en-US" altLang="en-US" sz="2800" b="1" dirty="0"/>
              <a:t>u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endParaRPr lang="en-US" altLang="en-US" sz="2800" dirty="0"/>
          </a:p>
        </p:txBody>
      </p:sp>
      <p:graphicFrame>
        <p:nvGraphicFramePr>
          <p:cNvPr id="749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064396"/>
              </p:ext>
            </p:extLst>
          </p:nvPr>
        </p:nvGraphicFramePr>
        <p:xfrm>
          <a:off x="2590800" y="1384300"/>
          <a:ext cx="1219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3" imgW="1219200" imgH="1143000" progId="">
                  <p:embed/>
                </p:oleObj>
              </mc:Choice>
              <mc:Fallback>
                <p:oleObj name="Equation" r:id="rId3" imgW="1219200" imgH="11430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384300"/>
                        <a:ext cx="1219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265265"/>
              </p:ext>
            </p:extLst>
          </p:nvPr>
        </p:nvGraphicFramePr>
        <p:xfrm>
          <a:off x="4267200" y="1371600"/>
          <a:ext cx="1219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Equation" r:id="rId5" imgW="1219200" imgH="1143000" progId="">
                  <p:embed/>
                </p:oleObj>
              </mc:Choice>
              <mc:Fallback>
                <p:oleObj name="Equation" r:id="rId5" imgW="1219200" imgH="11430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371600"/>
                        <a:ext cx="1219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2460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349500" y="5504883"/>
                <a:ext cx="4432300" cy="8092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0" y="5504883"/>
                <a:ext cx="4432300" cy="80926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355850" y="4724400"/>
                <a:ext cx="4432300" cy="80797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50" y="4724400"/>
                <a:ext cx="4432300" cy="80797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A073B999-B0AC-4FA4-936D-5E03002D3447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b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vi-VN" altLang="en-US" sz="2800" dirty="0"/>
              <a:t>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50596" name="Object 4"/>
          <p:cNvGraphicFramePr>
            <a:graphicFrameLocks noChangeAspect="1"/>
          </p:cNvGraphicFramePr>
          <p:nvPr/>
        </p:nvGraphicFramePr>
        <p:xfrm>
          <a:off x="2133600" y="1981200"/>
          <a:ext cx="48641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3" imgW="4864100" imgH="1143000" progId="">
                  <p:embed/>
                </p:oleObj>
              </mc:Choice>
              <mc:Fallback>
                <p:oleObj name="Equation" r:id="rId3" imgW="4864100" imgH="11430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81200"/>
                        <a:ext cx="48641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7" name="Object 5"/>
          <p:cNvGraphicFramePr>
            <a:graphicFrameLocks noChangeAspect="1"/>
          </p:cNvGraphicFramePr>
          <p:nvPr/>
        </p:nvGraphicFramePr>
        <p:xfrm>
          <a:off x="2590800" y="4191000"/>
          <a:ext cx="3886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5" imgW="3886200" imgH="1143000" progId="">
                  <p:embed/>
                </p:oleObj>
              </mc:Choice>
              <mc:Fallback>
                <p:oleObj name="Equation" r:id="rId5" imgW="3886200" imgH="1143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3886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2460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590800" y="1981200"/>
                <a:ext cx="8636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981200"/>
                <a:ext cx="86360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514600" y="2590800"/>
                <a:ext cx="9525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590800"/>
                <a:ext cx="95250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77B4DD96-7DA4-4290-8FE9-EAE8FC8A0D9B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</p:txBody>
      </p:sp>
      <p:graphicFrame>
        <p:nvGraphicFramePr>
          <p:cNvPr id="751620" name="Object 4"/>
          <p:cNvGraphicFramePr>
            <a:graphicFrameLocks noChangeAspect="1"/>
          </p:cNvGraphicFramePr>
          <p:nvPr/>
        </p:nvGraphicFramePr>
        <p:xfrm>
          <a:off x="3200400" y="1447800"/>
          <a:ext cx="2692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Equation" r:id="rId3" imgW="2692400" imgH="1143000" progId="">
                  <p:embed/>
                </p:oleObj>
              </mc:Choice>
              <mc:Fallback>
                <p:oleObj name="Equation" r:id="rId3" imgW="2692400" imgH="11430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447800"/>
                        <a:ext cx="26924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1" name="Line 5"/>
          <p:cNvSpPr>
            <a:spLocks noChangeShapeType="1"/>
          </p:cNvSpPr>
          <p:nvPr/>
        </p:nvSpPr>
        <p:spPr bwMode="auto">
          <a:xfrm flipV="1">
            <a:off x="3505200" y="2667000"/>
            <a:ext cx="0" cy="3810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1622" name="Line 6"/>
          <p:cNvSpPr>
            <a:spLocks noChangeShapeType="1"/>
          </p:cNvSpPr>
          <p:nvPr/>
        </p:nvSpPr>
        <p:spPr bwMode="auto">
          <a:xfrm flipV="1">
            <a:off x="4495800" y="2667000"/>
            <a:ext cx="0" cy="3810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1623" name="Line 7"/>
          <p:cNvSpPr>
            <a:spLocks noChangeShapeType="1"/>
          </p:cNvSpPr>
          <p:nvPr/>
        </p:nvSpPr>
        <p:spPr bwMode="auto">
          <a:xfrm flipV="1">
            <a:off x="5486400" y="2667000"/>
            <a:ext cx="0" cy="3810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1626" name="Object 10"/>
          <p:cNvGraphicFramePr>
            <a:graphicFrameLocks noChangeAspect="1"/>
          </p:cNvGraphicFramePr>
          <p:nvPr/>
        </p:nvGraphicFramePr>
        <p:xfrm>
          <a:off x="4394200" y="3098800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Equation" r:id="rId5" imgW="253780" imgH="444114" progId="">
                  <p:embed/>
                </p:oleObj>
              </mc:Choice>
              <mc:Fallback>
                <p:oleObj name="Equation" r:id="rId5" imgW="253780" imgH="444114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3098800"/>
                        <a:ext cx="190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7" name="Object 11"/>
          <p:cNvGraphicFramePr>
            <a:graphicFrameLocks noChangeAspect="1"/>
          </p:cNvGraphicFramePr>
          <p:nvPr/>
        </p:nvGraphicFramePr>
        <p:xfrm>
          <a:off x="3403600" y="3124200"/>
          <a:ext cx="1762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7" imgW="253890" imgH="330057" progId="">
                  <p:embed/>
                </p:oleObj>
              </mc:Choice>
              <mc:Fallback>
                <p:oleObj name="Equation" r:id="rId7" imgW="253890" imgH="330057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3124200"/>
                        <a:ext cx="176213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8" name="Object 12"/>
          <p:cNvGraphicFramePr>
            <a:graphicFrameLocks noChangeAspect="1"/>
          </p:cNvGraphicFramePr>
          <p:nvPr/>
        </p:nvGraphicFramePr>
        <p:xfrm>
          <a:off x="5092700" y="3048000"/>
          <a:ext cx="8382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Equation" r:id="rId9" imgW="1117115" imgH="444307" progId="">
                  <p:embed/>
                </p:oleObj>
              </mc:Choice>
              <mc:Fallback>
                <p:oleObj name="Equation" r:id="rId9" imgW="1117115" imgH="444307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3048000"/>
                        <a:ext cx="8382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51629" name="Picture 13" descr="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267200"/>
            <a:ext cx="3733800" cy="225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1B04164D-CD55-4372-A556-BE26A98E01A3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CHIẾU TRỰC GIAO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6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143000"/>
                <a:ext cx="87630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i="1" dirty="0"/>
                  <a:t>Note: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đúng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                 </a:t>
                </a:r>
                <a:r>
                  <a:rPr lang="en-US" altLang="en-US" sz="2800" dirty="0" err="1"/>
                  <a:t>sẽ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tính</a:t>
                </a:r>
                <a:endParaRPr lang="en-US" altLang="en-US" sz="28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  <m:r>
                        <a:rPr lang="en-US" alt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=−8+8=0</m:t>
                      </m:r>
                    </m:oMath>
                  </m:oMathPara>
                </a14:m>
                <a:endParaRPr lang="en-US" altLang="en-US" sz="2800" dirty="0"/>
              </a:p>
              <a:p>
                <a:pPr marL="0" indent="0" eaLnBrk="1" hangingPunct="1">
                  <a:buNone/>
                </a:pPr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đọan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ở slide </a:t>
                </a:r>
                <a:r>
                  <a:rPr lang="en-US" altLang="en-US" sz="2800" dirty="0" err="1"/>
                  <a:t>trước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giữa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en-US" sz="2800" dirty="0"/>
                  <a:t>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góc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L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đồng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 </a:t>
                </a:r>
                <a:r>
                  <a:rPr lang="en-US" altLang="en-US" sz="2800" i="1" dirty="0"/>
                  <a:t>L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526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143000"/>
                <a:ext cx="8763000" cy="5334000"/>
              </a:xfrm>
              <a:blipFill>
                <a:blip r:embed="rId3"/>
                <a:stretch>
                  <a:fillRect l="-125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2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573189"/>
              </p:ext>
            </p:extLst>
          </p:nvPr>
        </p:nvGraphicFramePr>
        <p:xfrm>
          <a:off x="6400800" y="1193800"/>
          <a:ext cx="148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Equation" r:id="rId4" imgW="1485255" imgH="444307" progId="">
                  <p:embed/>
                </p:oleObj>
              </mc:Choice>
              <mc:Fallback>
                <p:oleObj name="Equation" r:id="rId4" imgW="1485255" imgH="444307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193800"/>
                        <a:ext cx="1485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90CDE4B2-B83C-4838-9A4C-60439265ED89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36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143000"/>
                <a:ext cx="84582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tập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trực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chuẩn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gồm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vi-VN" altLang="en-US" sz="2800" dirty="0"/>
                  <a:t> 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gian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vậy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/>
                  <a:t>u</a:t>
                </a:r>
                <a:r>
                  <a:rPr lang="en-US" altLang="en-US" sz="2800" baseline="-25000" dirty="0"/>
                  <a:t>p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b="1" dirty="0"/>
                  <a:t>cơ sở trực chuẩn 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W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4.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Ví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về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chuẩn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 err="1"/>
                  <a:t>e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con </a:t>
                </a:r>
                <a:r>
                  <a:rPr lang="en-US" altLang="en-US" sz="2800" dirty="0" err="1"/>
                  <a:t>khác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rỗng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,…,</a:t>
                </a:r>
                <a:r>
                  <a:rPr lang="en-US" altLang="en-US" sz="2800" b="1" dirty="0" err="1"/>
                  <a:t>e</a:t>
                </a:r>
                <a:r>
                  <a:rPr lang="en-US" altLang="en-US" sz="2800" i="1" baseline="-25000" dirty="0" err="1"/>
                  <a:t>n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cũng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chuẩn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7536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143000"/>
                <a:ext cx="8458200" cy="5410200"/>
              </a:xfrm>
              <a:blipFill>
                <a:blip r:embed="rId2"/>
                <a:stretch>
                  <a:fillRect l="-1298" t="-1240" r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B0DB9A53-B303-4662-9667-E34612647753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46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Ví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dụ</a:t>
                </a:r>
                <a:r>
                  <a:rPr lang="en-US" altLang="en-US" sz="2800" b="1" dirty="0"/>
                  <a:t> 2: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3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trực chuẩn 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endParaRPr lang="en-US" altLang="en-US" sz="2800" dirty="0"/>
              </a:p>
              <a:p>
                <a:pPr marL="0" indent="0" eaLnBrk="1" hangingPunct="1">
                  <a:buNone/>
                </a:pP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,                           ,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Lời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giải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7546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3"/>
                <a:stretch>
                  <a:fillRect l="-1481" t="-1257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4693" name="Object 5"/>
          <p:cNvGraphicFramePr>
            <a:graphicFrameLocks noChangeAspect="1"/>
          </p:cNvGraphicFramePr>
          <p:nvPr/>
        </p:nvGraphicFramePr>
        <p:xfrm>
          <a:off x="914400" y="2362200"/>
          <a:ext cx="21336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Equation" r:id="rId4" imgW="2209800" imgH="2133600" progId="">
                  <p:embed/>
                </p:oleObj>
              </mc:Choice>
              <mc:Fallback>
                <p:oleObj name="Equation" r:id="rId4" imgW="2209800" imgH="21336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62200"/>
                        <a:ext cx="2133600" cy="206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4" name="Object 6"/>
          <p:cNvGraphicFramePr>
            <a:graphicFrameLocks noChangeAspect="1"/>
          </p:cNvGraphicFramePr>
          <p:nvPr/>
        </p:nvGraphicFramePr>
        <p:xfrm>
          <a:off x="3238500" y="2349500"/>
          <a:ext cx="22860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Equation" r:id="rId6" imgW="2336800" imgH="2133600" progId="">
                  <p:embed/>
                </p:oleObj>
              </mc:Choice>
              <mc:Fallback>
                <p:oleObj name="Equation" r:id="rId6" imgW="2336800" imgH="21336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349500"/>
                        <a:ext cx="2286000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5" name="Object 7"/>
          <p:cNvGraphicFramePr>
            <a:graphicFrameLocks noChangeAspect="1"/>
          </p:cNvGraphicFramePr>
          <p:nvPr/>
        </p:nvGraphicFramePr>
        <p:xfrm>
          <a:off x="5753100" y="2374900"/>
          <a:ext cx="24384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Equation" r:id="rId8" imgW="2552700" imgH="2133600" progId="">
                  <p:embed/>
                </p:oleObj>
              </mc:Choice>
              <mc:Fallback>
                <p:oleObj name="Equation" r:id="rId8" imgW="2552700" imgH="21336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2374900"/>
                        <a:ext cx="2438400" cy="203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6" name="Object 8"/>
          <p:cNvGraphicFramePr>
            <a:graphicFrameLocks noChangeAspect="1"/>
          </p:cNvGraphicFramePr>
          <p:nvPr/>
        </p:nvGraphicFramePr>
        <p:xfrm>
          <a:off x="1295400" y="5105400"/>
          <a:ext cx="6781800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Equation" r:id="rId10" imgW="6946900" imgH="1270000" progId="">
                  <p:embed/>
                </p:oleObj>
              </mc:Choice>
              <mc:Fallback>
                <p:oleObj name="Equation" r:id="rId10" imgW="6946900" imgH="12700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105400"/>
                        <a:ext cx="6781800" cy="1239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143000" y="5132362"/>
                <a:ext cx="10668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132362"/>
                <a:ext cx="1066800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69158" y="5825430"/>
                <a:ext cx="10668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58" y="5825430"/>
                <a:ext cx="106680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FB0DAB5C-9A5E-4429-8A03-39A8940A91D4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57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3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tự</a:t>
                </a:r>
                <a:r>
                  <a:rPr lang="en-US" altLang="en-US" sz="2800" dirty="0"/>
                  <a:t>,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3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{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2</a:t>
                </a:r>
                <a:r>
                  <a:rPr lang="en-US" altLang="en-US" sz="2800" dirty="0"/>
                  <a:t>, </a:t>
                </a:r>
                <a:r>
                  <a:rPr lang="en-US" altLang="en-US" sz="2800" b="1" dirty="0"/>
                  <a:t>v</a:t>
                </a:r>
                <a:r>
                  <a:rPr lang="en-US" altLang="en-US" sz="2800" baseline="-25000" dirty="0"/>
                  <a:t>3</a:t>
                </a:r>
                <a:r>
                  <a:rPr lang="en-US" altLang="en-US" sz="2800" dirty="0"/>
                  <a:t>}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chuẩn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ba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cơ sở 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ở slide </a:t>
                </a:r>
                <a:r>
                  <a:rPr lang="en-US" altLang="en-US" sz="2800" dirty="0" err="1"/>
                  <a:t>tiếp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theo.</a:t>
                </a:r>
                <a:r>
                  <a:rPr lang="en-US" altLang="en-US" sz="2800" dirty="0"/>
                  <a:t>  </a:t>
                </a:r>
              </a:p>
            </p:txBody>
          </p:sp>
        </mc:Choice>
        <mc:Fallback xmlns="">
          <p:sp>
            <p:nvSpPr>
              <p:cNvPr id="7557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5716" name="Object 4"/>
          <p:cNvGraphicFramePr>
            <a:graphicFrameLocks noChangeAspect="1"/>
          </p:cNvGraphicFramePr>
          <p:nvPr/>
        </p:nvGraphicFramePr>
        <p:xfrm>
          <a:off x="990600" y="1295400"/>
          <a:ext cx="6642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Equation" r:id="rId4" imgW="6642100" imgH="571500" progId="">
                  <p:embed/>
                </p:oleObj>
              </mc:Choice>
              <mc:Fallback>
                <p:oleObj name="Equation" r:id="rId4" imgW="6642100" imgH="5715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95400"/>
                        <a:ext cx="66421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280393"/>
              </p:ext>
            </p:extLst>
          </p:nvPr>
        </p:nvGraphicFramePr>
        <p:xfrm>
          <a:off x="2362200" y="2590800"/>
          <a:ext cx="541020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Equation" r:id="rId6" imgW="5461000" imgH="1727200" progId="">
                  <p:embed/>
                </p:oleObj>
              </mc:Choice>
              <mc:Fallback>
                <p:oleObj name="Equation" r:id="rId6" imgW="5461000" imgH="17272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90800"/>
                        <a:ext cx="5410200" cy="171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7B646B25-46D0-4867-B9FB-A3DCA5944B00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p:sp>
        <p:nvSpPr>
          <p:cNvPr id="756741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038600"/>
            <a:ext cx="8229600" cy="2362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được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chuẩn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, </a:t>
            </a:r>
            <a:r>
              <a:rPr lang="vi-VN" altLang="en-US" sz="2800" dirty="0"/>
              <a:t>các 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còn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chuẩn</a:t>
            </a:r>
            <a:r>
              <a:rPr lang="en-US" altLang="en-US" sz="2800" dirty="0"/>
              <a:t>.</a:t>
            </a:r>
          </a:p>
        </p:txBody>
      </p:sp>
      <p:pic>
        <p:nvPicPr>
          <p:cNvPr id="756742" name="Picture 6" descr="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1447800"/>
            <a:ext cx="2895600" cy="2362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DDFE7FC0-7DE1-461E-9701-D787D15FCC9B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7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371600"/>
                <a:ext cx="8686800" cy="5181600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6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   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minh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giản</a:t>
                </a:r>
                <a:r>
                  <a:rPr lang="en-US" altLang="en-US" sz="2800" dirty="0"/>
                  <a:t>, ta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Cho                         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(4)</a:t>
                </a:r>
              </a:p>
            </p:txBody>
          </p:sp>
        </mc:Choice>
        <mc:Fallback xmlns="">
          <p:sp>
            <p:nvSpPr>
              <p:cNvPr id="7587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371600"/>
                <a:ext cx="8686800" cy="5181600"/>
              </a:xfrm>
              <a:blipFill>
                <a:blip r:embed="rId3"/>
                <a:stretch>
                  <a:fillRect l="-1474" t="-2000" r="-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58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516311"/>
              </p:ext>
            </p:extLst>
          </p:nvPr>
        </p:nvGraphicFramePr>
        <p:xfrm>
          <a:off x="2514600" y="15113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0" name="Equation" r:id="rId4" imgW="863225" imgH="253890" progId="">
                  <p:embed/>
                </p:oleObj>
              </mc:Choice>
              <mc:Fallback>
                <p:oleObj name="Equation" r:id="rId4" imgW="863225" imgH="25389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113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718928"/>
              </p:ext>
            </p:extLst>
          </p:nvPr>
        </p:nvGraphicFramePr>
        <p:xfrm>
          <a:off x="1447800" y="1733369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6" imgW="1396394" imgH="406224" progId="">
                  <p:embed/>
                </p:oleObj>
              </mc:Choice>
              <mc:Fallback>
                <p:oleObj name="Equation" r:id="rId6" imgW="1396394" imgH="406224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733369"/>
                        <a:ext cx="1397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099616"/>
              </p:ext>
            </p:extLst>
          </p:nvPr>
        </p:nvGraphicFramePr>
        <p:xfrm>
          <a:off x="1447800" y="3517900"/>
          <a:ext cx="2844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Equation" r:id="rId8" imgW="2844800" imgH="558800" progId="">
                  <p:embed/>
                </p:oleObj>
              </mc:Choice>
              <mc:Fallback>
                <p:oleObj name="Equation" r:id="rId8" imgW="2844800" imgH="5588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17900"/>
                        <a:ext cx="2844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2" name="Object 8"/>
          <p:cNvGraphicFramePr>
            <a:graphicFrameLocks noChangeAspect="1"/>
          </p:cNvGraphicFramePr>
          <p:nvPr/>
        </p:nvGraphicFramePr>
        <p:xfrm>
          <a:off x="457200" y="4191000"/>
          <a:ext cx="78486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" name="Equation" r:id="rId10" imgW="7848600" imgH="1828800" progId="">
                  <p:embed/>
                </p:oleObj>
              </mc:Choice>
              <mc:Fallback>
                <p:oleObj name="Equation" r:id="rId10" imgW="7848600" imgH="18288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78486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A743D1BC-0C1B-4BDF-86F2-E3BEB382782D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chuyển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,                            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   (5)</a:t>
            </a:r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,                ,                                               (6)</a:t>
            </a:r>
          </a:p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(4)</a:t>
            </a:r>
            <a:r>
              <a:rPr lang="en-US" altLang="en-US" sz="2800" dirty="0">
                <a:cs typeface="Times New Roman" panose="02020603050405020304" pitchFamily="18" charset="0"/>
              </a:rPr>
              <a:t>–(6).</a:t>
            </a:r>
          </a:p>
        </p:txBody>
      </p:sp>
      <p:graphicFrame>
        <p:nvGraphicFramePr>
          <p:cNvPr id="759812" name="Object 4"/>
          <p:cNvGraphicFramePr>
            <a:graphicFrameLocks noChangeAspect="1"/>
          </p:cNvGraphicFramePr>
          <p:nvPr/>
        </p:nvGraphicFramePr>
        <p:xfrm>
          <a:off x="838200" y="2997200"/>
          <a:ext cx="248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" name="Equation" r:id="rId3" imgW="2489200" imgH="508000" progId="">
                  <p:embed/>
                </p:oleObj>
              </mc:Choice>
              <mc:Fallback>
                <p:oleObj name="Equation" r:id="rId3" imgW="2489200" imgH="508000" progId="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97200"/>
                        <a:ext cx="2489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5"/>
          <p:cNvGraphicFramePr>
            <a:graphicFrameLocks noChangeAspect="1"/>
          </p:cNvGraphicFramePr>
          <p:nvPr/>
        </p:nvGraphicFramePr>
        <p:xfrm>
          <a:off x="2959100" y="19177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19177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4" name="Object 6"/>
          <p:cNvGraphicFramePr>
            <a:graphicFrameLocks noChangeAspect="1"/>
          </p:cNvGraphicFramePr>
          <p:nvPr/>
        </p:nvGraphicFramePr>
        <p:xfrm>
          <a:off x="3403600" y="2997200"/>
          <a:ext cx="247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" name="Equation" r:id="rId7" imgW="2476500" imgH="508000" progId="">
                  <p:embed/>
                </p:oleObj>
              </mc:Choice>
              <mc:Fallback>
                <p:oleObj name="Equation" r:id="rId7" imgW="2476500" imgH="508000" progId="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2997200"/>
                        <a:ext cx="2476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5" name="Object 7"/>
          <p:cNvGraphicFramePr>
            <a:graphicFrameLocks noChangeAspect="1"/>
          </p:cNvGraphicFramePr>
          <p:nvPr/>
        </p:nvGraphicFramePr>
        <p:xfrm>
          <a:off x="5981700" y="2997200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" name="Equation" r:id="rId9" imgW="2514600" imgH="508000" progId="">
                  <p:embed/>
                </p:oleObj>
              </mc:Choice>
              <mc:Fallback>
                <p:oleObj name="Equation" r:id="rId9" imgW="2514600" imgH="508000" progId="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2997200"/>
                        <a:ext cx="2514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6" name="Object 8"/>
          <p:cNvGraphicFramePr>
            <a:graphicFrameLocks noChangeAspect="1"/>
          </p:cNvGraphicFramePr>
          <p:nvPr/>
        </p:nvGraphicFramePr>
        <p:xfrm>
          <a:off x="990600" y="4533900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3" name="Equation" r:id="rId11" imgW="1270000" imgH="508000" progId="">
                  <p:embed/>
                </p:oleObj>
              </mc:Choice>
              <mc:Fallback>
                <p:oleObj name="Equation" r:id="rId11" imgW="1270000" imgH="508000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33900"/>
                        <a:ext cx="1270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7" name="Object 9"/>
          <p:cNvGraphicFramePr>
            <a:graphicFrameLocks noChangeAspect="1"/>
          </p:cNvGraphicFramePr>
          <p:nvPr/>
        </p:nvGraphicFramePr>
        <p:xfrm>
          <a:off x="2438400" y="4533900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" name="Equation" r:id="rId13" imgW="1308100" imgH="508000" progId="">
                  <p:embed/>
                </p:oleObj>
              </mc:Choice>
              <mc:Fallback>
                <p:oleObj name="Equation" r:id="rId13" imgW="1308100" imgH="508000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33900"/>
                        <a:ext cx="13081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8" name="Object 10"/>
          <p:cNvGraphicFramePr>
            <a:graphicFrameLocks noChangeAspect="1"/>
          </p:cNvGraphicFramePr>
          <p:nvPr/>
        </p:nvGraphicFramePr>
        <p:xfrm>
          <a:off x="3962400" y="4533900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Equation" r:id="rId15" imgW="1295400" imgH="508000" progId="">
                  <p:embed/>
                </p:oleObj>
              </mc:Choice>
              <mc:Fallback>
                <p:oleObj name="Equation" r:id="rId15" imgW="1295400" imgH="508000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33900"/>
                        <a:ext cx="1295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6.2- </a:t>
            </a:r>
            <a:fld id="{DFCAA7F4-E40C-46F2-9264-79CAD25975FC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TẬP TRỰC CHUẨN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08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lí</a:t>
                </a:r>
                <a:r>
                  <a:rPr lang="en-US" altLang="en-US" sz="2800" b="1" dirty="0"/>
                  <a:t> 7:</a:t>
                </a:r>
                <a:r>
                  <a:rPr lang="en-US" altLang="en-US" sz="2800" dirty="0"/>
                  <a:t> Cho </a:t>
                </a:r>
                <a:r>
                  <a:rPr lang="en-US" altLang="en-US" sz="2800" i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gồm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609600" indent="-609600"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</a:t>
                </a:r>
              </a:p>
              <a:p>
                <a:pPr marL="1428750" lvl="2" indent="-514350" eaLnBrk="1" hangingPunct="1">
                  <a:buFont typeface="+mj-lt"/>
                  <a:buAutoNum type="alphaLcPeriod"/>
                </a:pPr>
                <a:r>
                  <a:rPr lang="en-US" altLang="en-US" sz="2800" dirty="0"/>
                  <a:t> 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:r>
                  <a:rPr lang="en-US" altLang="en-US" sz="2800" dirty="0"/>
                  <a:t> 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𝑈𝑥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𝑈𝑦</m:t>
                        </m:r>
                      </m:e>
                    </m:d>
                  </m:oMath>
                </a14:m>
                <a:r>
                  <a:rPr lang="en-US" altLang="en-US" sz="2800" dirty="0"/>
                  <a:t> nếu và chỉ nếu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=0</a:t>
                </a:r>
                <a:endParaRPr lang="en-US" altLang="en-US" sz="2800" dirty="0"/>
              </a:p>
              <a:p>
                <a:pPr marL="609600" indent="-609600" eaLnBrk="1" hangingPunct="1"/>
                <a:endParaRPr lang="en-US" altLang="en-US" sz="2800" dirty="0"/>
              </a:p>
              <a:p>
                <a:pPr marL="609600" indent="-609600"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chất</a:t>
                </a:r>
                <a:r>
                  <a:rPr lang="en-US" altLang="en-US" sz="2800" dirty="0"/>
                  <a:t> (a)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(c) </a:t>
                </a:r>
                <a:r>
                  <a:rPr lang="en-US" altLang="en-US" sz="2800" dirty="0" err="1"/>
                  <a:t>nói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                		   </a:t>
                </a:r>
                <a:r>
                  <a:rPr lang="en-US" altLang="en-US" sz="2800" dirty="0" err="1"/>
                  <a:t>bảo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toàn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dài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/>
                  <a:t>giao.      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7608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3"/>
                <a:stretch>
                  <a:fillRect l="-1481" t="-1143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0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919458"/>
              </p:ext>
            </p:extLst>
          </p:nvPr>
        </p:nvGraphicFramePr>
        <p:xfrm>
          <a:off x="4038600" y="13843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name="Equation" r:id="rId4" imgW="863225" imgH="253890" progId="">
                  <p:embed/>
                </p:oleObj>
              </mc:Choice>
              <mc:Fallback>
                <p:oleObj name="Equation" r:id="rId4" imgW="863225" imgH="253890" progId="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843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8" name="Object 6"/>
          <p:cNvGraphicFramePr>
            <a:graphicFrameLocks noChangeAspect="1"/>
          </p:cNvGraphicFramePr>
          <p:nvPr/>
        </p:nvGraphicFramePr>
        <p:xfrm>
          <a:off x="1905000" y="2679700"/>
          <a:ext cx="1612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9" name="Equation" r:id="rId6" imgW="1612900" imgH="558800" progId="">
                  <p:embed/>
                </p:oleObj>
              </mc:Choice>
              <mc:Fallback>
                <p:oleObj name="Equation" r:id="rId6" imgW="1612900" imgH="558800" progId="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79700"/>
                        <a:ext cx="1612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1"/>
          <p:cNvGraphicFramePr>
            <a:graphicFrameLocks noChangeAspect="1"/>
          </p:cNvGraphicFramePr>
          <p:nvPr/>
        </p:nvGraphicFramePr>
        <p:xfrm>
          <a:off x="2959100" y="19177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0" name="Equation" r:id="rId8" imgW="475104" imgH="810471" progId="">
                  <p:embed/>
                </p:oleObj>
              </mc:Choice>
              <mc:Fallback>
                <p:oleObj name="Equation" r:id="rId8" imgW="475104" imgH="810471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19177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84656"/>
              </p:ext>
            </p:extLst>
          </p:nvPr>
        </p:nvGraphicFramePr>
        <p:xfrm>
          <a:off x="1219200" y="5232400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1" name="Equation" r:id="rId10" imgW="1320227" imgH="342751" progId="">
                  <p:embed/>
                </p:oleObj>
              </mc:Choice>
              <mc:Fallback>
                <p:oleObj name="Equation" r:id="rId10" imgW="1320227" imgH="342751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232400"/>
                        <a:ext cx="1320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816100" y="3200400"/>
                <a:ext cx="3060700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100" y="3200400"/>
                <a:ext cx="3060700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17464</TotalTime>
  <Words>893</Words>
  <Application>Microsoft Office PowerPoint</Application>
  <PresentationFormat>On-screen Show (4:3)</PresentationFormat>
  <Paragraphs>207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Tính Chất Trực Giao và Bình Phương Tối Tiểu</vt:lpstr>
      <vt:lpstr>TẬP TRỰC GIAO</vt:lpstr>
      <vt:lpstr>TẬP TRỰC GIAO</vt:lpstr>
      <vt:lpstr>TẬP TRỰC GIAO</vt:lpstr>
      <vt:lpstr>TẬP TRỰC GIAO</vt:lpstr>
      <vt:lpstr>PHÉP CHIẾU TRỰC GIAO</vt:lpstr>
      <vt:lpstr>PHÉP CHIẾU TRỰC GIAO</vt:lpstr>
      <vt:lpstr>PHÉP CHIẾU TRỰC GIAO</vt:lpstr>
      <vt:lpstr>PHÉP CHIẾU TRỰC GIAO</vt:lpstr>
      <vt:lpstr>PHÉP CHIẾU TRỰC GIAO</vt:lpstr>
      <vt:lpstr>PHÉP CHIẾU TRỰC GIAO</vt:lpstr>
      <vt:lpstr>PHÉP CHIẾU TRỰC GIAO</vt:lpstr>
      <vt:lpstr>TẬP TRỰC CHUẨN</vt:lpstr>
      <vt:lpstr>TẬP TRỰC CHUẨN</vt:lpstr>
      <vt:lpstr>TẬP TRỰC CHUẨN</vt:lpstr>
      <vt:lpstr>TẬP TRỰC CHUẨN</vt:lpstr>
      <vt:lpstr>TẬP TRỰC CHUẨN</vt:lpstr>
      <vt:lpstr>TẬP TRỰC CHUẨN</vt:lpstr>
      <vt:lpstr>TẬP TRỰC CHUẨN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1510</cp:revision>
  <dcterms:created xsi:type="dcterms:W3CDTF">2005-10-22T18:34:54Z</dcterms:created>
  <dcterms:modified xsi:type="dcterms:W3CDTF">2016-08-07T07:59:52Z</dcterms:modified>
</cp:coreProperties>
</file>